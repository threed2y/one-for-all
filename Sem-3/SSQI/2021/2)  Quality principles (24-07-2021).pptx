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3.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notesSlides/notesSlide4.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4" r:id="rId1"/>
  </p:sldMasterIdLst>
  <p:notesMasterIdLst>
    <p:notesMasterId r:id="rId15"/>
  </p:notesMasterIdLst>
  <p:handoutMasterIdLst>
    <p:handoutMasterId r:id="rId16"/>
  </p:handoutMasterIdLst>
  <p:sldIdLst>
    <p:sldId id="502" r:id="rId2"/>
    <p:sldId id="423" r:id="rId3"/>
    <p:sldId id="494" r:id="rId4"/>
    <p:sldId id="493" r:id="rId5"/>
    <p:sldId id="496" r:id="rId6"/>
    <p:sldId id="497" r:id="rId7"/>
    <p:sldId id="503" r:id="rId8"/>
    <p:sldId id="504" r:id="rId9"/>
    <p:sldId id="498" r:id="rId10"/>
    <p:sldId id="499" r:id="rId11"/>
    <p:sldId id="500" r:id="rId12"/>
    <p:sldId id="501" r:id="rId13"/>
    <p:sldId id="445" r:id="rId14"/>
  </p:sldIdLst>
  <p:sldSz cx="9144000" cy="6858000" type="screen4x3"/>
  <p:notesSz cx="7315200" cy="9601200"/>
  <p:defaultTextStyle>
    <a:defPPr>
      <a:defRPr lang="en-US"/>
    </a:defPPr>
    <a:lvl1pPr algn="l" rtl="0" fontAlgn="base">
      <a:spcBef>
        <a:spcPct val="0"/>
      </a:spcBef>
      <a:spcAft>
        <a:spcPct val="0"/>
      </a:spcAft>
      <a:defRPr sz="2400" kern="1200">
        <a:solidFill>
          <a:schemeClr val="folHlink"/>
        </a:solidFill>
        <a:latin typeface="Charlotte Sans Bold LET"/>
        <a:ea typeface="+mn-ea"/>
        <a:cs typeface="Arial" pitchFamily="34" charset="0"/>
      </a:defRPr>
    </a:lvl1pPr>
    <a:lvl2pPr marL="457200" algn="l" rtl="0" fontAlgn="base">
      <a:spcBef>
        <a:spcPct val="0"/>
      </a:spcBef>
      <a:spcAft>
        <a:spcPct val="0"/>
      </a:spcAft>
      <a:defRPr sz="2400" kern="1200">
        <a:solidFill>
          <a:schemeClr val="folHlink"/>
        </a:solidFill>
        <a:latin typeface="Charlotte Sans Bold LET"/>
        <a:ea typeface="+mn-ea"/>
        <a:cs typeface="Arial" pitchFamily="34" charset="0"/>
      </a:defRPr>
    </a:lvl2pPr>
    <a:lvl3pPr marL="914400" algn="l" rtl="0" fontAlgn="base">
      <a:spcBef>
        <a:spcPct val="0"/>
      </a:spcBef>
      <a:spcAft>
        <a:spcPct val="0"/>
      </a:spcAft>
      <a:defRPr sz="2400" kern="1200">
        <a:solidFill>
          <a:schemeClr val="folHlink"/>
        </a:solidFill>
        <a:latin typeface="Charlotte Sans Bold LET"/>
        <a:ea typeface="+mn-ea"/>
        <a:cs typeface="Arial" pitchFamily="34" charset="0"/>
      </a:defRPr>
    </a:lvl3pPr>
    <a:lvl4pPr marL="1371600" algn="l" rtl="0" fontAlgn="base">
      <a:spcBef>
        <a:spcPct val="0"/>
      </a:spcBef>
      <a:spcAft>
        <a:spcPct val="0"/>
      </a:spcAft>
      <a:defRPr sz="2400" kern="1200">
        <a:solidFill>
          <a:schemeClr val="folHlink"/>
        </a:solidFill>
        <a:latin typeface="Charlotte Sans Bold LET"/>
        <a:ea typeface="+mn-ea"/>
        <a:cs typeface="Arial" pitchFamily="34" charset="0"/>
      </a:defRPr>
    </a:lvl4pPr>
    <a:lvl5pPr marL="1828800" algn="l" rtl="0" fontAlgn="base">
      <a:spcBef>
        <a:spcPct val="0"/>
      </a:spcBef>
      <a:spcAft>
        <a:spcPct val="0"/>
      </a:spcAft>
      <a:defRPr sz="2400" kern="1200">
        <a:solidFill>
          <a:schemeClr val="folHlink"/>
        </a:solidFill>
        <a:latin typeface="Charlotte Sans Bold LET"/>
        <a:ea typeface="+mn-ea"/>
        <a:cs typeface="Arial" pitchFamily="34" charset="0"/>
      </a:defRPr>
    </a:lvl5pPr>
    <a:lvl6pPr marL="2286000" algn="l" defTabSz="914400" rtl="0" eaLnBrk="1" latinLnBrk="0" hangingPunct="1">
      <a:defRPr sz="2400" kern="1200">
        <a:solidFill>
          <a:schemeClr val="folHlink"/>
        </a:solidFill>
        <a:latin typeface="Charlotte Sans Bold LET"/>
        <a:ea typeface="+mn-ea"/>
        <a:cs typeface="Arial" pitchFamily="34" charset="0"/>
      </a:defRPr>
    </a:lvl6pPr>
    <a:lvl7pPr marL="2743200" algn="l" defTabSz="914400" rtl="0" eaLnBrk="1" latinLnBrk="0" hangingPunct="1">
      <a:defRPr sz="2400" kern="1200">
        <a:solidFill>
          <a:schemeClr val="folHlink"/>
        </a:solidFill>
        <a:latin typeface="Charlotte Sans Bold LET"/>
        <a:ea typeface="+mn-ea"/>
        <a:cs typeface="Arial" pitchFamily="34" charset="0"/>
      </a:defRPr>
    </a:lvl7pPr>
    <a:lvl8pPr marL="3200400" algn="l" defTabSz="914400" rtl="0" eaLnBrk="1" latinLnBrk="0" hangingPunct="1">
      <a:defRPr sz="2400" kern="1200">
        <a:solidFill>
          <a:schemeClr val="folHlink"/>
        </a:solidFill>
        <a:latin typeface="Charlotte Sans Bold LET"/>
        <a:ea typeface="+mn-ea"/>
        <a:cs typeface="Arial" pitchFamily="34" charset="0"/>
      </a:defRPr>
    </a:lvl8pPr>
    <a:lvl9pPr marL="3657600" algn="l" defTabSz="914400" rtl="0" eaLnBrk="1" latinLnBrk="0" hangingPunct="1">
      <a:defRPr sz="2400" kern="1200">
        <a:solidFill>
          <a:schemeClr val="folHlink"/>
        </a:solidFill>
        <a:latin typeface="Charlotte Sans Bold LET"/>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0000FF"/>
    <a:srgbClr val="0033CC"/>
    <a:srgbClr val="FF0000"/>
    <a:srgbClr val="808080"/>
    <a:srgbClr val="5F5F5F"/>
    <a:srgbClr val="000066"/>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13" autoAdjust="0"/>
    <p:restoredTop sz="91039" autoAdjust="0"/>
  </p:normalViewPr>
  <p:slideViewPr>
    <p:cSldViewPr snapToGrid="0">
      <p:cViewPr varScale="1">
        <p:scale>
          <a:sx n="65" d="100"/>
          <a:sy n="65" d="100"/>
        </p:scale>
        <p:origin x="-1770" y="-114"/>
      </p:cViewPr>
      <p:guideLst>
        <p:guide orient="horz" pos="442"/>
        <p:guide orient="horz" pos="1100"/>
        <p:guide orient="horz" pos="3861"/>
        <p:guide orient="horz" pos="1429"/>
        <p:guide pos="1192"/>
        <p:guide pos="4109"/>
        <p:guide pos="5598"/>
      </p:guideLst>
    </p:cSldViewPr>
  </p:slideViewPr>
  <p:outlineViewPr>
    <p:cViewPr>
      <p:scale>
        <a:sx n="100" d="100"/>
        <a:sy n="100" d="100"/>
      </p:scale>
      <p:origin x="0" y="0"/>
    </p:cViewPr>
  </p:outlineViewPr>
  <p:notesTextViewPr>
    <p:cViewPr>
      <p:scale>
        <a:sx n="100" d="100"/>
        <a:sy n="100" d="100"/>
      </p:scale>
      <p:origin x="0" y="0"/>
    </p:cViewPr>
  </p:notesTextViewPr>
  <p:sorterViewPr>
    <p:cViewPr>
      <p:scale>
        <a:sx n="66" d="100"/>
        <a:sy n="66" d="100"/>
      </p:scale>
      <p:origin x="0" y="3534"/>
    </p:cViewPr>
  </p:sorterViewPr>
  <p:notesViewPr>
    <p:cSldViewPr snapToGrid="0">
      <p:cViewPr>
        <p:scale>
          <a:sx n="100" d="100"/>
          <a:sy n="100" d="100"/>
        </p:scale>
        <p:origin x="-744" y="2238"/>
      </p:cViewPr>
      <p:guideLst>
        <p:guide orient="horz" pos="3024"/>
        <p:guide pos="230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95795" tIns="47898" rIns="95795" bIns="47898" numCol="1" anchor="t" anchorCtr="0" compatLnSpc="1">
            <a:prstTxWarp prst="textNoShape">
              <a:avLst/>
            </a:prstTxWarp>
          </a:bodyPr>
          <a:lstStyle>
            <a:lvl1pPr defTabSz="958387" eaLnBrk="0" hangingPunct="0">
              <a:defRPr sz="1200" b="1">
                <a:solidFill>
                  <a:schemeClr val="tx1"/>
                </a:solidFill>
                <a:latin typeface="Times New Roman" pitchFamily="18" charset="0"/>
                <a:cs typeface="+mn-cs"/>
              </a:defRPr>
            </a:lvl1pPr>
          </a:lstStyle>
          <a:p>
            <a:pPr>
              <a:defRPr/>
            </a:pPr>
            <a:endParaRPr lang="en-US"/>
          </a:p>
        </p:txBody>
      </p:sp>
      <p:sp>
        <p:nvSpPr>
          <p:cNvPr id="4099" name="Rectangle 3"/>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square" lIns="95795" tIns="47898" rIns="95795" bIns="47898" numCol="1" anchor="t" anchorCtr="0" compatLnSpc="1">
            <a:prstTxWarp prst="textNoShape">
              <a:avLst/>
            </a:prstTxWarp>
          </a:bodyPr>
          <a:lstStyle>
            <a:lvl1pPr algn="r" defTabSz="958387" eaLnBrk="0" hangingPunct="0">
              <a:defRPr sz="1200" b="1">
                <a:solidFill>
                  <a:schemeClr val="tx1"/>
                </a:solidFill>
                <a:latin typeface="Times New Roman" pitchFamily="18" charset="0"/>
                <a:cs typeface="+mn-cs"/>
              </a:defRPr>
            </a:lvl1pPr>
          </a:lstStyle>
          <a:p>
            <a:pPr>
              <a:defRPr/>
            </a:pPr>
            <a:fld id="{A287A4FF-EB06-412C-B796-5C016AFD0C00}" type="datetime8">
              <a:rPr lang="en-US"/>
              <a:pPr>
                <a:defRPr/>
              </a:pPr>
              <a:t>8/31/2020 2:28 PM</a:t>
            </a:fld>
            <a:endParaRPr lang="en-US"/>
          </a:p>
        </p:txBody>
      </p:sp>
      <p:sp>
        <p:nvSpPr>
          <p:cNvPr id="4100" name="Rectangle 4"/>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square" lIns="95795" tIns="47898" rIns="95795" bIns="47898" numCol="1" anchor="b" anchorCtr="0" compatLnSpc="1">
            <a:prstTxWarp prst="textNoShape">
              <a:avLst/>
            </a:prstTxWarp>
          </a:bodyPr>
          <a:lstStyle>
            <a:lvl1pPr defTabSz="958387" eaLnBrk="0" hangingPunct="0">
              <a:defRPr sz="1200" b="1">
                <a:solidFill>
                  <a:schemeClr val="tx1"/>
                </a:solidFill>
                <a:latin typeface="Times New Roman" pitchFamily="18" charset="0"/>
                <a:cs typeface="+mn-cs"/>
              </a:defRPr>
            </a:lvl1pPr>
          </a:lstStyle>
          <a:p>
            <a:pPr>
              <a:defRPr/>
            </a:pPr>
            <a:r>
              <a:rPr lang="en-US"/>
              <a:t>April 19, 2001</a:t>
            </a:r>
          </a:p>
        </p:txBody>
      </p:sp>
      <p:sp>
        <p:nvSpPr>
          <p:cNvPr id="4101"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square" lIns="95795" tIns="47898" rIns="95795" bIns="47898" numCol="1" anchor="b" anchorCtr="0" compatLnSpc="1">
            <a:prstTxWarp prst="textNoShape">
              <a:avLst/>
            </a:prstTxWarp>
          </a:bodyPr>
          <a:lstStyle>
            <a:lvl1pPr algn="r" defTabSz="958387" eaLnBrk="0" hangingPunct="0">
              <a:defRPr sz="1200" b="1">
                <a:solidFill>
                  <a:schemeClr val="tx1"/>
                </a:solidFill>
                <a:latin typeface="Times New Roman" pitchFamily="18" charset="0"/>
                <a:cs typeface="+mn-cs"/>
              </a:defRPr>
            </a:lvl1pPr>
          </a:lstStyle>
          <a:p>
            <a:pPr>
              <a:defRPr/>
            </a:pPr>
            <a:fld id="{B3F22434-A8B6-463A-A77B-0BA0056D16B6}"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95795" tIns="47898" rIns="95795" bIns="47898" numCol="1" anchor="t" anchorCtr="0" compatLnSpc="1">
            <a:prstTxWarp prst="textNoShape">
              <a:avLst/>
            </a:prstTxWarp>
          </a:bodyPr>
          <a:lstStyle>
            <a:lvl1pPr defTabSz="958387">
              <a:defRPr sz="1200">
                <a:solidFill>
                  <a:schemeClr val="tx1"/>
                </a:solidFill>
                <a:latin typeface="Times New Roman" pitchFamily="18" charset="0"/>
                <a:cs typeface="+mn-cs"/>
              </a:defRPr>
            </a:lvl1pPr>
          </a:lstStyle>
          <a:p>
            <a:pPr>
              <a:defRPr/>
            </a:pPr>
            <a:endParaRPr lang="en-US"/>
          </a:p>
        </p:txBody>
      </p:sp>
      <p:sp>
        <p:nvSpPr>
          <p:cNvPr id="2051" name="Rectangle 3"/>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square" lIns="95795" tIns="47898" rIns="95795" bIns="47898" numCol="1" anchor="t" anchorCtr="0" compatLnSpc="1">
            <a:prstTxWarp prst="textNoShape">
              <a:avLst/>
            </a:prstTxWarp>
          </a:bodyPr>
          <a:lstStyle>
            <a:lvl1pPr algn="r" defTabSz="958387">
              <a:defRPr sz="1200">
                <a:solidFill>
                  <a:schemeClr val="tx1"/>
                </a:solidFill>
                <a:latin typeface="Times New Roman" pitchFamily="18" charset="0"/>
                <a:cs typeface="+mn-cs"/>
              </a:defRPr>
            </a:lvl1pPr>
          </a:lstStyle>
          <a:p>
            <a:pPr>
              <a:defRPr/>
            </a:pPr>
            <a:fld id="{BA652B03-C831-426D-9D83-EFC876CE41AF}" type="datetime8">
              <a:rPr lang="en-US"/>
              <a:pPr>
                <a:defRPr/>
              </a:pPr>
              <a:t>8/31/2020 2:28 PM</a:t>
            </a:fld>
            <a:endParaRPr lang="en-US"/>
          </a:p>
        </p:txBody>
      </p:sp>
      <p:sp>
        <p:nvSpPr>
          <p:cNvPr id="50180" name="Rectangle 4"/>
          <p:cNvSpPr>
            <a:spLocks noGrp="1" noRot="1" noChangeAspect="1" noChangeArrowheads="1" noTextEdit="1"/>
          </p:cNvSpPr>
          <p:nvPr>
            <p:ph type="sldImg" idx="2"/>
          </p:nvPr>
        </p:nvSpPr>
        <p:spPr bwMode="auto">
          <a:xfrm>
            <a:off x="1258888" y="722313"/>
            <a:ext cx="4799012" cy="3598862"/>
          </a:xfrm>
          <a:prstGeom prst="rect">
            <a:avLst/>
          </a:prstGeom>
          <a:noFill/>
          <a:ln w="12700">
            <a:solidFill>
              <a:srgbClr val="000000"/>
            </a:solidFill>
            <a:miter lim="800000"/>
            <a:headEnd/>
            <a:tailEnd/>
          </a:ln>
        </p:spPr>
      </p:sp>
      <p:sp>
        <p:nvSpPr>
          <p:cNvPr id="2053" name="Rectangle 5"/>
          <p:cNvSpPr>
            <a:spLocks noGrp="1" noChangeArrowheads="1"/>
          </p:cNvSpPr>
          <p:nvPr>
            <p:ph type="body" sz="quarter" idx="3"/>
          </p:nvPr>
        </p:nvSpPr>
        <p:spPr bwMode="auto">
          <a:xfrm>
            <a:off x="976313" y="4562475"/>
            <a:ext cx="5362575" cy="4318000"/>
          </a:xfrm>
          <a:prstGeom prst="rect">
            <a:avLst/>
          </a:prstGeom>
          <a:noFill/>
          <a:ln w="9525">
            <a:noFill/>
            <a:miter lim="800000"/>
            <a:headEnd/>
            <a:tailEnd/>
          </a:ln>
          <a:effectLst/>
        </p:spPr>
        <p:txBody>
          <a:bodyPr vert="horz" wrap="square" lIns="95795" tIns="47898" rIns="95795" bIns="4789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55" name="Rectangle 7"/>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square" lIns="95795" tIns="47898" rIns="95795" bIns="47898" numCol="1" anchor="b" anchorCtr="0" compatLnSpc="1">
            <a:prstTxWarp prst="textNoShape">
              <a:avLst/>
            </a:prstTxWarp>
          </a:bodyPr>
          <a:lstStyle>
            <a:lvl1pPr algn="r" defTabSz="958387">
              <a:defRPr sz="1200">
                <a:solidFill>
                  <a:schemeClr val="tx1"/>
                </a:solidFill>
                <a:latin typeface="Times New Roman" pitchFamily="18" charset="0"/>
                <a:cs typeface="+mn-cs"/>
              </a:defRPr>
            </a:lvl1pPr>
          </a:lstStyle>
          <a:p>
            <a:pPr>
              <a:defRPr/>
            </a:pPr>
            <a:fld id="{78A55446-FBA9-45E8-AFB7-6D3806BDA11C}"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marL="114300" indent="-114300" algn="l" rtl="0" eaLnBrk="0" fontAlgn="base" hangingPunct="0">
      <a:spcBef>
        <a:spcPct val="30000"/>
      </a:spcBef>
      <a:spcAft>
        <a:spcPct val="0"/>
      </a:spcAft>
      <a:buChar char="•"/>
      <a:defRPr sz="1200" kern="1200">
        <a:solidFill>
          <a:schemeClr val="tx1"/>
        </a:solidFill>
        <a:latin typeface="Charlotte Sans Book LET" pitchFamily="2" charset="0"/>
        <a:ea typeface="+mn-ea"/>
        <a:cs typeface="+mn-cs"/>
      </a:defRPr>
    </a:lvl1pPr>
    <a:lvl2pPr marL="342900" indent="-114300" algn="l" rtl="0" eaLnBrk="0" fontAlgn="base" hangingPunct="0">
      <a:spcBef>
        <a:spcPct val="30000"/>
      </a:spcBef>
      <a:spcAft>
        <a:spcPct val="0"/>
      </a:spcAft>
      <a:buChar char="•"/>
      <a:defRPr sz="1200" kern="1200">
        <a:solidFill>
          <a:schemeClr val="tx1"/>
        </a:solidFill>
        <a:latin typeface="Charlotte Sans Book LET" pitchFamily="2" charset="0"/>
        <a:ea typeface="+mn-ea"/>
        <a:cs typeface="+mn-cs"/>
      </a:defRPr>
    </a:lvl2pPr>
    <a:lvl3pPr marL="628650" indent="-114300" algn="l" rtl="0" eaLnBrk="0" fontAlgn="base" hangingPunct="0">
      <a:spcBef>
        <a:spcPct val="30000"/>
      </a:spcBef>
      <a:spcAft>
        <a:spcPct val="0"/>
      </a:spcAft>
      <a:buChar char="•"/>
      <a:defRPr sz="1200" kern="1200">
        <a:solidFill>
          <a:schemeClr val="tx1"/>
        </a:solidFill>
        <a:latin typeface="Charlotte Sans Book LET" pitchFamily="2" charset="0"/>
        <a:ea typeface="+mn-ea"/>
        <a:cs typeface="+mn-cs"/>
      </a:defRPr>
    </a:lvl3pPr>
    <a:lvl4pPr marL="914400" indent="-114300" algn="l" rtl="0" eaLnBrk="0" fontAlgn="base" hangingPunct="0">
      <a:spcBef>
        <a:spcPct val="30000"/>
      </a:spcBef>
      <a:spcAft>
        <a:spcPct val="0"/>
      </a:spcAft>
      <a:buChar char="•"/>
      <a:defRPr sz="1200" kern="1200">
        <a:solidFill>
          <a:schemeClr val="tx1"/>
        </a:solidFill>
        <a:latin typeface="Charlotte Sans Book LET" pitchFamily="2" charset="0"/>
        <a:ea typeface="+mn-ea"/>
        <a:cs typeface="+mn-cs"/>
      </a:defRPr>
    </a:lvl4pPr>
    <a:lvl5pPr marL="1200150" indent="-114300" algn="l" rtl="0" eaLnBrk="0" fontAlgn="base" hangingPunct="0">
      <a:spcBef>
        <a:spcPct val="30000"/>
      </a:spcBef>
      <a:spcAft>
        <a:spcPct val="0"/>
      </a:spcAft>
      <a:buChar char="•"/>
      <a:defRPr sz="1200" kern="1200">
        <a:solidFill>
          <a:schemeClr val="tx1"/>
        </a:solidFill>
        <a:latin typeface="Charlotte Sans Book LET"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1265238" y="747713"/>
            <a:ext cx="4786312" cy="3589337"/>
          </a:xfrm>
          <a:ln cap="flat">
            <a:solidFill>
              <a:schemeClr val="tx1"/>
            </a:solidFill>
          </a:ln>
        </p:spPr>
      </p:sp>
      <p:sp>
        <p:nvSpPr>
          <p:cNvPr id="52227" name="Rectangle 3"/>
          <p:cNvSpPr>
            <a:spLocks noGrp="1" noChangeArrowheads="1"/>
          </p:cNvSpPr>
          <p:nvPr>
            <p:ph type="body" idx="1"/>
          </p:nvPr>
        </p:nvSpPr>
        <p:spPr>
          <a:xfrm>
            <a:off x="976313" y="4603750"/>
            <a:ext cx="5362575" cy="4356100"/>
          </a:xfrm>
          <a:noFill/>
          <a:ln/>
        </p:spPr>
        <p:txBody>
          <a:bodyPr lIns="97447" tIns="49550" rIns="97447" bIns="49550"/>
          <a:lstStyle/>
          <a:p>
            <a:pPr eaLnBrk="1" hangingPunct="1">
              <a:buFontTx/>
              <a:buNone/>
            </a:pPr>
            <a:r>
              <a:rPr lang="en-US" sz="1500" b="1" smtClean="0">
                <a:latin typeface="Charlotte Sans Book LET"/>
              </a:rPr>
              <a:t>What is Six Sigma?</a:t>
            </a:r>
          </a:p>
          <a:p>
            <a:pPr eaLnBrk="1" hangingPunct="1">
              <a:buFontTx/>
              <a:buNone/>
            </a:pPr>
            <a:endParaRPr lang="en-US" smtClean="0">
              <a:latin typeface="Charlotte Sans Book LET"/>
            </a:endParaRPr>
          </a:p>
          <a:p>
            <a:pPr eaLnBrk="1" hangingPunct="1"/>
            <a:r>
              <a:rPr lang="en-US" smtClean="0">
                <a:latin typeface="Charlotte Sans Book LET"/>
              </a:rPr>
              <a:t>It is a business process, a level of performance, a measurement, a set of statistical tools and a commitment to our customer.</a:t>
            </a:r>
          </a:p>
          <a:p>
            <a:pPr eaLnBrk="1" hangingPunct="1"/>
            <a:endParaRPr lang="en-US" smtClean="0">
              <a:latin typeface="Charlotte Sans Book LET"/>
            </a:endParaRPr>
          </a:p>
          <a:p>
            <a:pPr eaLnBrk="1" hangingPunct="1"/>
            <a:r>
              <a:rPr lang="en-US" smtClean="0">
                <a:latin typeface="Charlotte Sans Book LET"/>
              </a:rPr>
              <a:t>It’s a way of thinking, acting and delivering what we promised.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1265238" y="747713"/>
            <a:ext cx="4786312" cy="3589337"/>
          </a:xfrm>
          <a:ln cap="flat">
            <a:solidFill>
              <a:schemeClr val="tx1"/>
            </a:solidFill>
          </a:ln>
        </p:spPr>
      </p:sp>
      <p:sp>
        <p:nvSpPr>
          <p:cNvPr id="52227" name="Rectangle 3"/>
          <p:cNvSpPr>
            <a:spLocks noGrp="1" noChangeArrowheads="1"/>
          </p:cNvSpPr>
          <p:nvPr>
            <p:ph type="body" idx="1"/>
          </p:nvPr>
        </p:nvSpPr>
        <p:spPr>
          <a:xfrm>
            <a:off x="976313" y="4603750"/>
            <a:ext cx="5362575" cy="4356100"/>
          </a:xfrm>
          <a:noFill/>
          <a:ln/>
        </p:spPr>
        <p:txBody>
          <a:bodyPr lIns="97447" tIns="49550" rIns="97447" bIns="49550"/>
          <a:lstStyle/>
          <a:p>
            <a:pPr eaLnBrk="1" hangingPunct="1">
              <a:buFontTx/>
              <a:buNone/>
            </a:pPr>
            <a:r>
              <a:rPr lang="en-US" sz="1500" b="1" smtClean="0">
                <a:latin typeface="Charlotte Sans Book LET"/>
              </a:rPr>
              <a:t>What is Six Sigma?</a:t>
            </a:r>
          </a:p>
          <a:p>
            <a:pPr eaLnBrk="1" hangingPunct="1">
              <a:buFontTx/>
              <a:buNone/>
            </a:pPr>
            <a:endParaRPr lang="en-US" smtClean="0">
              <a:latin typeface="Charlotte Sans Book LET"/>
            </a:endParaRPr>
          </a:p>
          <a:p>
            <a:pPr eaLnBrk="1" hangingPunct="1"/>
            <a:r>
              <a:rPr lang="en-US" smtClean="0">
                <a:latin typeface="Charlotte Sans Book LET"/>
              </a:rPr>
              <a:t>It is a business process, a level of performance, a measurement, a set of statistical tools and a commitment to our customer.</a:t>
            </a:r>
          </a:p>
          <a:p>
            <a:pPr eaLnBrk="1" hangingPunct="1"/>
            <a:endParaRPr lang="en-US" smtClean="0">
              <a:latin typeface="Charlotte Sans Book LET"/>
            </a:endParaRPr>
          </a:p>
          <a:p>
            <a:pPr eaLnBrk="1" hangingPunct="1"/>
            <a:r>
              <a:rPr lang="en-US" smtClean="0">
                <a:latin typeface="Charlotte Sans Book LET"/>
              </a:rPr>
              <a:t>It’s a way of thinking, acting and delivering what we promised.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265238" y="747713"/>
            <a:ext cx="4786312" cy="3589337"/>
          </a:xfrm>
          <a:ln cap="flat">
            <a:solidFill>
              <a:schemeClr val="tx1"/>
            </a:solidFill>
          </a:ln>
        </p:spPr>
      </p:sp>
      <p:sp>
        <p:nvSpPr>
          <p:cNvPr id="53251" name="Rectangle 3"/>
          <p:cNvSpPr>
            <a:spLocks noGrp="1" noChangeArrowheads="1"/>
          </p:cNvSpPr>
          <p:nvPr>
            <p:ph type="body" idx="1"/>
          </p:nvPr>
        </p:nvSpPr>
        <p:spPr>
          <a:xfrm>
            <a:off x="976313" y="4603750"/>
            <a:ext cx="5362575" cy="4356100"/>
          </a:xfrm>
          <a:noFill/>
          <a:ln/>
        </p:spPr>
        <p:txBody>
          <a:bodyPr lIns="97447" tIns="49550" rIns="97447" bIns="49550"/>
          <a:lstStyle/>
          <a:p>
            <a:pPr eaLnBrk="1" hangingPunct="1">
              <a:buFontTx/>
              <a:buNone/>
            </a:pPr>
            <a:r>
              <a:rPr lang="en-US" sz="1500" b="1" smtClean="0">
                <a:latin typeface="Charlotte Sans Book LET"/>
              </a:rPr>
              <a:t>What is Six Sigma?</a:t>
            </a:r>
          </a:p>
          <a:p>
            <a:pPr eaLnBrk="1" hangingPunct="1">
              <a:buFontTx/>
              <a:buNone/>
            </a:pPr>
            <a:endParaRPr lang="en-US" smtClean="0">
              <a:latin typeface="Charlotte Sans Book LET"/>
            </a:endParaRPr>
          </a:p>
          <a:p>
            <a:pPr eaLnBrk="1" hangingPunct="1"/>
            <a:r>
              <a:rPr lang="en-US" smtClean="0">
                <a:latin typeface="Charlotte Sans Book LET"/>
              </a:rPr>
              <a:t>It is a business process, a level of performance, a measurement, a set of statistical tools and a commitment to our customer.</a:t>
            </a:r>
          </a:p>
          <a:p>
            <a:pPr eaLnBrk="1" hangingPunct="1"/>
            <a:endParaRPr lang="en-US" smtClean="0">
              <a:latin typeface="Charlotte Sans Book LET"/>
            </a:endParaRPr>
          </a:p>
          <a:p>
            <a:pPr eaLnBrk="1" hangingPunct="1"/>
            <a:r>
              <a:rPr lang="en-US" smtClean="0">
                <a:latin typeface="Charlotte Sans Book LET"/>
              </a:rPr>
              <a:t>It’s a way of thinking, acting and delivering what we promised.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265238" y="747713"/>
            <a:ext cx="4786312" cy="3589337"/>
          </a:xfrm>
          <a:ln cap="flat">
            <a:solidFill>
              <a:schemeClr val="tx1"/>
            </a:solidFill>
          </a:ln>
        </p:spPr>
      </p:sp>
      <p:sp>
        <p:nvSpPr>
          <p:cNvPr id="53251" name="Rectangle 3"/>
          <p:cNvSpPr>
            <a:spLocks noGrp="1" noChangeArrowheads="1"/>
          </p:cNvSpPr>
          <p:nvPr>
            <p:ph type="body" idx="1"/>
          </p:nvPr>
        </p:nvSpPr>
        <p:spPr>
          <a:xfrm>
            <a:off x="976313" y="4603750"/>
            <a:ext cx="5362575" cy="4356100"/>
          </a:xfrm>
          <a:noFill/>
          <a:ln/>
        </p:spPr>
        <p:txBody>
          <a:bodyPr lIns="97447" tIns="49550" rIns="97447" bIns="49550"/>
          <a:lstStyle/>
          <a:p>
            <a:pPr eaLnBrk="1" hangingPunct="1">
              <a:buFontTx/>
              <a:buNone/>
            </a:pPr>
            <a:r>
              <a:rPr lang="en-US" sz="1500" b="1" smtClean="0">
                <a:latin typeface="Charlotte Sans Book LET"/>
              </a:rPr>
              <a:t>What is Six Sigma?</a:t>
            </a:r>
          </a:p>
          <a:p>
            <a:pPr eaLnBrk="1" hangingPunct="1">
              <a:buFontTx/>
              <a:buNone/>
            </a:pPr>
            <a:endParaRPr lang="en-US" smtClean="0">
              <a:latin typeface="Charlotte Sans Book LET"/>
            </a:endParaRPr>
          </a:p>
          <a:p>
            <a:pPr eaLnBrk="1" hangingPunct="1"/>
            <a:r>
              <a:rPr lang="en-US" smtClean="0">
                <a:latin typeface="Charlotte Sans Book LET"/>
              </a:rPr>
              <a:t>It is a business process, a level of performance, a measurement, a set of statistical tools and a commitment to our customer.</a:t>
            </a:r>
          </a:p>
          <a:p>
            <a:pPr eaLnBrk="1" hangingPunct="1"/>
            <a:endParaRPr lang="en-US" smtClean="0">
              <a:latin typeface="Charlotte Sans Book LET"/>
            </a:endParaRPr>
          </a:p>
          <a:p>
            <a:pPr eaLnBrk="1" hangingPunct="1"/>
            <a:r>
              <a:rPr lang="en-US" smtClean="0">
                <a:latin typeface="Charlotte Sans Book LET"/>
              </a:rPr>
              <a:t>It’s a way of thinking, acting and delivering what we promised.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717550" y="2209800"/>
            <a:ext cx="33909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260850" y="2209800"/>
            <a:ext cx="33909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6049962"/>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60499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SmartArt Placeholder 2"/>
          <p:cNvSpPr>
            <a:spLocks noGrp="1"/>
          </p:cNvSpPr>
          <p:nvPr>
            <p:ph type="dgm" idx="1"/>
          </p:nvPr>
        </p:nvSpPr>
        <p:spPr>
          <a:xfrm>
            <a:off x="717550" y="2209800"/>
            <a:ext cx="6934200" cy="4114800"/>
          </a:xfrm>
        </p:spPr>
        <p:txBody>
          <a:bodyPr/>
          <a:lstStyle/>
          <a:p>
            <a:pPr lvl="0"/>
            <a:endParaRPr lang="en-US" noProof="0" smtClean="0"/>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prstGeom prst="rect">
            <a:avLst/>
          </a:prstGeo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a:xfrm>
            <a:off x="457200" y="6356350"/>
            <a:ext cx="2133600" cy="365125"/>
          </a:xfrm>
          <a:prstGeom prst="rect">
            <a:avLst/>
          </a:prstGeom>
        </p:spPr>
        <p:txBody>
          <a:bodyPr/>
          <a:lstStyle/>
          <a:p>
            <a:fld id="{53D68094-37D2-48FC-9170-7D06BC38C1EA}" type="datetimeFigureOut">
              <a:rPr lang="en-US" smtClean="0"/>
              <a:pPr/>
              <a:t>8/31/2020</a:t>
            </a:fld>
            <a:endParaRPr lang="en-US"/>
          </a:p>
        </p:txBody>
      </p:sp>
      <p:sp>
        <p:nvSpPr>
          <p:cNvPr id="19" name="Footer Placeholder 18"/>
          <p:cNvSpPr>
            <a:spLocks noGrp="1"/>
          </p:cNvSpPr>
          <p:nvPr>
            <p:ph type="ftr" sz="quarter" idx="11"/>
          </p:nvPr>
        </p:nvSpPr>
        <p:spPr>
          <a:xfrm>
            <a:off x="2667000" y="6356350"/>
            <a:ext cx="3352800" cy="365125"/>
          </a:xfrm>
          <a:prstGeom prst="rect">
            <a:avLst/>
          </a:prstGeom>
        </p:spPr>
        <p:txBody>
          <a:bodyPr/>
          <a:lstStyle/>
          <a:p>
            <a:endParaRPr lang="en-US"/>
          </a:p>
        </p:txBody>
      </p:sp>
      <p:sp>
        <p:nvSpPr>
          <p:cNvPr id="27" name="Slide Number Placeholder 26"/>
          <p:cNvSpPr>
            <a:spLocks noGrp="1"/>
          </p:cNvSpPr>
          <p:nvPr>
            <p:ph type="sldNum" sz="quarter" idx="12"/>
          </p:nvPr>
        </p:nvSpPr>
        <p:spPr>
          <a:xfrm>
            <a:off x="7924800" y="6356350"/>
            <a:ext cx="762000" cy="365125"/>
          </a:xfrm>
          <a:prstGeom prst="rect">
            <a:avLst/>
          </a:prstGeom>
        </p:spPr>
        <p:txBody>
          <a:bodyPr/>
          <a:lstStyle/>
          <a:p>
            <a:fld id="{387D4FCD-B6B5-4FE7-9103-36BC734156F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2FA"/>
        </a:solidFill>
        <a:effectLst/>
      </p:bgPr>
    </p:bg>
    <p:spTree>
      <p:nvGrpSpPr>
        <p:cNvPr id="1" name=""/>
        <p:cNvGrpSpPr/>
        <p:nvPr/>
      </p:nvGrpSpPr>
      <p:grpSpPr>
        <a:xfrm>
          <a:off x="0" y="0"/>
          <a:ext cx="0" cy="0"/>
          <a:chOff x="0" y="0"/>
          <a:chExt cx="0" cy="0"/>
        </a:xfrm>
      </p:grpSpPr>
      <p:sp>
        <p:nvSpPr>
          <p:cNvPr id="5122" name="Rectangle 3"/>
          <p:cNvSpPr>
            <a:spLocks noGrp="1" noChangeArrowheads="1"/>
          </p:cNvSpPr>
          <p:nvPr>
            <p:ph type="body" idx="1"/>
          </p:nvPr>
        </p:nvSpPr>
        <p:spPr bwMode="auto">
          <a:xfrm>
            <a:off x="717550" y="2209800"/>
            <a:ext cx="6934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level6</a:t>
            </a: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ransition spd="med">
    <p:wipe dir="r"/>
  </p:transition>
  <p:hf hdr="0" dt="0"/>
  <p:txStyles>
    <p:titleStyle>
      <a:lvl1pPr algn="r" rtl="0" eaLnBrk="0" fontAlgn="base" hangingPunct="0">
        <a:lnSpc>
          <a:spcPct val="90000"/>
        </a:lnSpc>
        <a:spcBef>
          <a:spcPct val="0"/>
        </a:spcBef>
        <a:spcAft>
          <a:spcPct val="0"/>
        </a:spcAft>
        <a:defRPr sz="4400">
          <a:solidFill>
            <a:srgbClr val="FF0000"/>
          </a:solidFill>
          <a:latin typeface="+mj-lt"/>
          <a:ea typeface="+mj-ea"/>
          <a:cs typeface="+mj-cs"/>
        </a:defRPr>
      </a:lvl1pPr>
      <a:lvl2pPr algn="r" rtl="0" eaLnBrk="0" fontAlgn="base" hangingPunct="0">
        <a:lnSpc>
          <a:spcPct val="90000"/>
        </a:lnSpc>
        <a:spcBef>
          <a:spcPct val="0"/>
        </a:spcBef>
        <a:spcAft>
          <a:spcPct val="0"/>
        </a:spcAft>
        <a:defRPr sz="4400">
          <a:solidFill>
            <a:srgbClr val="FF0000"/>
          </a:solidFill>
          <a:latin typeface="Charlotte Bold LET" pitchFamily="2" charset="0"/>
        </a:defRPr>
      </a:lvl2pPr>
      <a:lvl3pPr algn="r" rtl="0" eaLnBrk="0" fontAlgn="base" hangingPunct="0">
        <a:lnSpc>
          <a:spcPct val="90000"/>
        </a:lnSpc>
        <a:spcBef>
          <a:spcPct val="0"/>
        </a:spcBef>
        <a:spcAft>
          <a:spcPct val="0"/>
        </a:spcAft>
        <a:defRPr sz="4400">
          <a:solidFill>
            <a:srgbClr val="FF0000"/>
          </a:solidFill>
          <a:latin typeface="Charlotte Bold LET" pitchFamily="2" charset="0"/>
        </a:defRPr>
      </a:lvl3pPr>
      <a:lvl4pPr algn="r" rtl="0" eaLnBrk="0" fontAlgn="base" hangingPunct="0">
        <a:lnSpc>
          <a:spcPct val="90000"/>
        </a:lnSpc>
        <a:spcBef>
          <a:spcPct val="0"/>
        </a:spcBef>
        <a:spcAft>
          <a:spcPct val="0"/>
        </a:spcAft>
        <a:defRPr sz="4400">
          <a:solidFill>
            <a:srgbClr val="FF0000"/>
          </a:solidFill>
          <a:latin typeface="Charlotte Bold LET" pitchFamily="2" charset="0"/>
        </a:defRPr>
      </a:lvl4pPr>
      <a:lvl5pPr algn="r" rtl="0" eaLnBrk="0" fontAlgn="base" hangingPunct="0">
        <a:lnSpc>
          <a:spcPct val="90000"/>
        </a:lnSpc>
        <a:spcBef>
          <a:spcPct val="0"/>
        </a:spcBef>
        <a:spcAft>
          <a:spcPct val="0"/>
        </a:spcAft>
        <a:defRPr sz="4400">
          <a:solidFill>
            <a:srgbClr val="FF0000"/>
          </a:solidFill>
          <a:latin typeface="Charlotte Bold LET" pitchFamily="2" charset="0"/>
        </a:defRPr>
      </a:lvl5pPr>
      <a:lvl6pPr marL="457200" algn="r" rtl="0" fontAlgn="base">
        <a:lnSpc>
          <a:spcPct val="90000"/>
        </a:lnSpc>
        <a:spcBef>
          <a:spcPct val="0"/>
        </a:spcBef>
        <a:spcAft>
          <a:spcPct val="0"/>
        </a:spcAft>
        <a:defRPr sz="4400">
          <a:solidFill>
            <a:srgbClr val="FF0000"/>
          </a:solidFill>
          <a:latin typeface="Charlotte Bold LET" pitchFamily="2" charset="0"/>
        </a:defRPr>
      </a:lvl6pPr>
      <a:lvl7pPr marL="914400" algn="r" rtl="0" fontAlgn="base">
        <a:lnSpc>
          <a:spcPct val="90000"/>
        </a:lnSpc>
        <a:spcBef>
          <a:spcPct val="0"/>
        </a:spcBef>
        <a:spcAft>
          <a:spcPct val="0"/>
        </a:spcAft>
        <a:defRPr sz="4400">
          <a:solidFill>
            <a:srgbClr val="FF0000"/>
          </a:solidFill>
          <a:latin typeface="Charlotte Bold LET" pitchFamily="2" charset="0"/>
        </a:defRPr>
      </a:lvl7pPr>
      <a:lvl8pPr marL="1371600" algn="r" rtl="0" fontAlgn="base">
        <a:lnSpc>
          <a:spcPct val="90000"/>
        </a:lnSpc>
        <a:spcBef>
          <a:spcPct val="0"/>
        </a:spcBef>
        <a:spcAft>
          <a:spcPct val="0"/>
        </a:spcAft>
        <a:defRPr sz="4400">
          <a:solidFill>
            <a:srgbClr val="FF0000"/>
          </a:solidFill>
          <a:latin typeface="Charlotte Bold LET" pitchFamily="2" charset="0"/>
        </a:defRPr>
      </a:lvl8pPr>
      <a:lvl9pPr marL="1828800" algn="r" rtl="0" fontAlgn="base">
        <a:lnSpc>
          <a:spcPct val="90000"/>
        </a:lnSpc>
        <a:spcBef>
          <a:spcPct val="0"/>
        </a:spcBef>
        <a:spcAft>
          <a:spcPct val="0"/>
        </a:spcAft>
        <a:defRPr sz="4400">
          <a:solidFill>
            <a:srgbClr val="FF0000"/>
          </a:solidFill>
          <a:latin typeface="Charlotte Bold LET" pitchFamily="2" charset="0"/>
        </a:defRPr>
      </a:lvl9pPr>
    </p:titleStyle>
    <p:bodyStyle>
      <a:lvl1pPr marL="342900" indent="-342900" algn="l" rtl="0" eaLnBrk="0" fontAlgn="base" hangingPunct="0">
        <a:lnSpc>
          <a:spcPct val="90000"/>
        </a:lnSpc>
        <a:spcBef>
          <a:spcPct val="20000"/>
        </a:spcBef>
        <a:spcAft>
          <a:spcPct val="0"/>
        </a:spcAft>
        <a:buClr>
          <a:srgbClr val="FF6600"/>
        </a:buClr>
        <a:buChar char="•"/>
        <a:defRPr sz="2800">
          <a:solidFill>
            <a:schemeClr val="tx1"/>
          </a:solidFill>
          <a:latin typeface="+mn-lt"/>
          <a:ea typeface="+mn-ea"/>
          <a:cs typeface="+mn-cs"/>
        </a:defRPr>
      </a:lvl1pPr>
      <a:lvl2pPr marL="742950" indent="-285750" algn="l" rtl="0" eaLnBrk="0" fontAlgn="base" hangingPunct="0">
        <a:lnSpc>
          <a:spcPct val="90000"/>
        </a:lnSpc>
        <a:spcBef>
          <a:spcPct val="20000"/>
        </a:spcBef>
        <a:spcAft>
          <a:spcPct val="0"/>
        </a:spcAft>
        <a:buClr>
          <a:schemeClr val="tx2"/>
        </a:buClr>
        <a:buChar char="–"/>
        <a:defRPr sz="2400">
          <a:solidFill>
            <a:schemeClr val="tx1"/>
          </a:solidFill>
          <a:latin typeface="+mn-lt"/>
        </a:defRPr>
      </a:lvl2pPr>
      <a:lvl3pPr marL="1143000" indent="-228600" algn="l" rtl="0" eaLnBrk="0" fontAlgn="base" hangingPunct="0">
        <a:lnSpc>
          <a:spcPct val="90000"/>
        </a:lnSpc>
        <a:spcBef>
          <a:spcPct val="20000"/>
        </a:spcBef>
        <a:spcAft>
          <a:spcPct val="0"/>
        </a:spcAft>
        <a:buClr>
          <a:srgbClr val="FF6600"/>
        </a:buClr>
        <a:buChar char="•"/>
        <a:defRPr sz="2000">
          <a:solidFill>
            <a:schemeClr val="tx1"/>
          </a:solidFill>
          <a:latin typeface="+mn-lt"/>
        </a:defRPr>
      </a:lvl3pPr>
      <a:lvl4pPr marL="1600200" indent="-228600" algn="l" rtl="0" eaLnBrk="0" fontAlgn="base" hangingPunct="0">
        <a:lnSpc>
          <a:spcPct val="90000"/>
        </a:lnSpc>
        <a:spcBef>
          <a:spcPct val="20000"/>
        </a:spcBef>
        <a:spcAft>
          <a:spcPct val="0"/>
        </a:spcAft>
        <a:buChar char="–"/>
        <a:defRPr sz="2000">
          <a:solidFill>
            <a:schemeClr val="tx1"/>
          </a:solidFill>
          <a:latin typeface="+mn-lt"/>
        </a:defRPr>
      </a:lvl4pPr>
      <a:lvl5pPr marL="2057400" indent="-228600" algn="l" rtl="0" eaLnBrk="0" fontAlgn="base" hangingPunct="0">
        <a:lnSpc>
          <a:spcPct val="90000"/>
        </a:lnSpc>
        <a:spcBef>
          <a:spcPct val="20000"/>
        </a:spcBef>
        <a:spcAft>
          <a:spcPct val="0"/>
        </a:spcAft>
        <a:buChar char="»"/>
        <a:defRPr sz="1600">
          <a:solidFill>
            <a:schemeClr val="tx1"/>
          </a:solidFill>
          <a:latin typeface="+mn-lt"/>
        </a:defRPr>
      </a:lvl5pPr>
      <a:lvl6pPr marL="2514600" indent="-228600" algn="l" rtl="0" fontAlgn="base">
        <a:lnSpc>
          <a:spcPct val="90000"/>
        </a:lnSpc>
        <a:spcBef>
          <a:spcPct val="20000"/>
        </a:spcBef>
        <a:spcAft>
          <a:spcPct val="0"/>
        </a:spcAft>
        <a:buChar char="»"/>
        <a:defRPr sz="1600">
          <a:solidFill>
            <a:schemeClr val="tx1"/>
          </a:solidFill>
          <a:latin typeface="+mn-lt"/>
        </a:defRPr>
      </a:lvl6pPr>
      <a:lvl7pPr marL="2971800" indent="-228600" algn="l" rtl="0" fontAlgn="base">
        <a:lnSpc>
          <a:spcPct val="90000"/>
        </a:lnSpc>
        <a:spcBef>
          <a:spcPct val="20000"/>
        </a:spcBef>
        <a:spcAft>
          <a:spcPct val="0"/>
        </a:spcAft>
        <a:buChar char="»"/>
        <a:defRPr sz="1600">
          <a:solidFill>
            <a:schemeClr val="tx1"/>
          </a:solidFill>
          <a:latin typeface="+mn-lt"/>
        </a:defRPr>
      </a:lvl7pPr>
      <a:lvl8pPr marL="3429000" indent="-228600" algn="l" rtl="0" fontAlgn="base">
        <a:lnSpc>
          <a:spcPct val="90000"/>
        </a:lnSpc>
        <a:spcBef>
          <a:spcPct val="20000"/>
        </a:spcBef>
        <a:spcAft>
          <a:spcPct val="0"/>
        </a:spcAft>
        <a:buChar char="»"/>
        <a:defRPr sz="1600">
          <a:solidFill>
            <a:schemeClr val="tx1"/>
          </a:solidFill>
          <a:latin typeface="+mn-lt"/>
        </a:defRPr>
      </a:lvl8pPr>
      <a:lvl9pPr marL="3886200" indent="-228600" algn="l" rtl="0" fontAlgn="base">
        <a:lnSpc>
          <a:spcPct val="90000"/>
        </a:lnSpc>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 TargetMode="External"/><Relationship Id="rId2" Type="http://schemas.openxmlformats.org/officeDocument/2006/relationships/slideLayout" Target="../slideLayouts/slideLayout13.xml"/><Relationship Id="rId1" Type="http://schemas.openxmlformats.org/officeDocument/2006/relationships/vmlDrawing" Target="../drawings/vmlDrawing1.v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DDEBCF"/>
            </a:gs>
            <a:gs pos="50000">
              <a:srgbClr val="9CB86E"/>
            </a:gs>
            <a:gs pos="100000">
              <a:srgbClr val="156B13"/>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1447800"/>
          </a:xfrm>
        </p:spPr>
        <p:txBody>
          <a:bodyPr>
            <a:normAutofit fontScale="90000"/>
          </a:bodyPr>
          <a:lstStyle/>
          <a:p>
            <a:r>
              <a:rPr lang="en-US" sz="5400" dirty="0" smtClean="0"/>
              <a:t>SSQI: Quality and its dimensions </a:t>
            </a:r>
            <a:endParaRPr lang="en-US" sz="3600" dirty="0"/>
          </a:p>
        </p:txBody>
      </p:sp>
      <p:sp>
        <p:nvSpPr>
          <p:cNvPr id="3" name="Subtitle 2"/>
          <p:cNvSpPr>
            <a:spLocks noGrp="1"/>
          </p:cNvSpPr>
          <p:nvPr>
            <p:ph type="subTitle" idx="1"/>
          </p:nvPr>
        </p:nvSpPr>
        <p:spPr>
          <a:xfrm>
            <a:off x="609600" y="3581400"/>
            <a:ext cx="7854696" cy="2590800"/>
          </a:xfrm>
        </p:spPr>
        <p:txBody>
          <a:bodyPr>
            <a:normAutofit lnSpcReduction="10000"/>
          </a:bodyPr>
          <a:lstStyle/>
          <a:p>
            <a:pPr>
              <a:lnSpc>
                <a:spcPct val="90000"/>
              </a:lnSpc>
            </a:pPr>
            <a:r>
              <a:rPr lang="en-US" sz="3600" dirty="0" smtClean="0"/>
              <a:t>K. </a:t>
            </a:r>
            <a:r>
              <a:rPr lang="en-US" sz="3600" dirty="0" err="1" smtClean="0"/>
              <a:t>Muralidharan</a:t>
            </a:r>
            <a:endParaRPr lang="en-US" sz="3600" dirty="0" smtClean="0"/>
          </a:p>
          <a:p>
            <a:pPr>
              <a:lnSpc>
                <a:spcPct val="90000"/>
              </a:lnSpc>
            </a:pPr>
            <a:r>
              <a:rPr lang="en-US" dirty="0" smtClean="0"/>
              <a:t>Department of Statistics, Faculty of Science</a:t>
            </a:r>
          </a:p>
          <a:p>
            <a:pPr>
              <a:lnSpc>
                <a:spcPct val="90000"/>
              </a:lnSpc>
            </a:pPr>
            <a:r>
              <a:rPr lang="en-US" dirty="0" smtClean="0"/>
              <a:t>The </a:t>
            </a:r>
            <a:r>
              <a:rPr lang="en-US" dirty="0" err="1" smtClean="0"/>
              <a:t>Mahraja</a:t>
            </a:r>
            <a:r>
              <a:rPr lang="en-US" dirty="0" smtClean="0"/>
              <a:t> </a:t>
            </a:r>
            <a:r>
              <a:rPr lang="en-US" dirty="0" err="1" smtClean="0"/>
              <a:t>Sayajirao</a:t>
            </a:r>
            <a:r>
              <a:rPr lang="en-US" dirty="0" smtClean="0"/>
              <a:t>  University of Baroda</a:t>
            </a:r>
          </a:p>
          <a:p>
            <a:pPr>
              <a:lnSpc>
                <a:spcPct val="90000"/>
              </a:lnSpc>
            </a:pPr>
            <a:r>
              <a:rPr lang="en-US" dirty="0" err="1" smtClean="0"/>
              <a:t>Vadodara</a:t>
            </a:r>
            <a:r>
              <a:rPr lang="en-US" dirty="0" smtClean="0"/>
              <a:t>, 390002</a:t>
            </a:r>
          </a:p>
          <a:p>
            <a:pPr>
              <a:lnSpc>
                <a:spcPct val="90000"/>
              </a:lnSpc>
            </a:pPr>
            <a:r>
              <a:rPr lang="en-US" sz="2000" b="1" dirty="0" smtClean="0">
                <a:solidFill>
                  <a:srgbClr val="FFFF00"/>
                </a:solidFill>
              </a:rPr>
              <a:t>email: muralikustat@gmail.com,   </a:t>
            </a:r>
          </a:p>
          <a:p>
            <a:pPr>
              <a:lnSpc>
                <a:spcPct val="90000"/>
              </a:lnSpc>
            </a:pPr>
            <a:r>
              <a:rPr lang="en-US" sz="2000" b="1" dirty="0" smtClean="0">
                <a:solidFill>
                  <a:srgbClr val="FFFF00"/>
                </a:solidFill>
              </a:rPr>
              <a:t> email: muralidharan.k-stat@msubaroda.ac.in</a:t>
            </a:r>
          </a:p>
          <a:p>
            <a:pPr>
              <a:lnSpc>
                <a:spcPct val="90000"/>
              </a:lnSpc>
            </a:pPr>
            <a:endParaRPr lang="en-US" sz="2000" dirty="0" smtClean="0">
              <a:solidFill>
                <a:srgbClr val="FFFF00"/>
              </a:solidFill>
            </a:endParaRPr>
          </a:p>
          <a:p>
            <a:endParaRPr lang="en-US" dirty="0"/>
          </a:p>
        </p:txBody>
      </p:sp>
      <p:graphicFrame>
        <p:nvGraphicFramePr>
          <p:cNvPr id="1026" name="Object 5"/>
          <p:cNvGraphicFramePr>
            <a:graphicFrameLocks noChangeAspect="1"/>
          </p:cNvGraphicFramePr>
          <p:nvPr/>
        </p:nvGraphicFramePr>
        <p:xfrm>
          <a:off x="7543800" y="685800"/>
          <a:ext cx="838200" cy="804797"/>
        </p:xfrm>
        <a:graphic>
          <a:graphicData uri="http://schemas.openxmlformats.org/presentationml/2006/ole">
            <p:oleObj spid="_x0000_s16386" name="Document" r:id="rId3" imgW="1020572" imgH="981478" progId="Word.Document.12">
              <p:link updateAutomatic="1"/>
            </p:oleObj>
          </a:graphicData>
        </a:graphic>
      </p:graphicFrame>
      <p:sp>
        <p:nvSpPr>
          <p:cNvPr id="5" name="TextBox 4"/>
          <p:cNvSpPr txBox="1"/>
          <p:nvPr/>
        </p:nvSpPr>
        <p:spPr>
          <a:xfrm>
            <a:off x="1524000" y="990600"/>
            <a:ext cx="1486304" cy="461665"/>
          </a:xfrm>
          <a:prstGeom prst="rect">
            <a:avLst/>
          </a:prstGeom>
          <a:noFill/>
        </p:spPr>
        <p:txBody>
          <a:bodyPr wrap="none" rtlCol="0">
            <a:spAutoFit/>
          </a:bodyPr>
          <a:lstStyle/>
          <a:p>
            <a:r>
              <a:rPr lang="en-US" dirty="0" smtClean="0"/>
              <a:t>Lecture-2</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6988175" y="6391275"/>
            <a:ext cx="1905000" cy="457200"/>
          </a:xfrm>
          <a:prstGeom prst="rect">
            <a:avLst/>
          </a:prstGeom>
          <a:noFill/>
          <a:ln w="9525">
            <a:noFill/>
            <a:miter lim="800000"/>
            <a:headEnd/>
            <a:tailEnd/>
          </a:ln>
        </p:spPr>
        <p:txBody>
          <a:bodyPr wrap="none" lIns="90488" tIns="44450" rIns="90488" bIns="44450" anchor="ctr"/>
          <a:lstStyle/>
          <a:p>
            <a:pPr eaLnBrk="0" hangingPunct="0">
              <a:spcBef>
                <a:spcPct val="50000"/>
              </a:spcBef>
            </a:pPr>
            <a:endParaRPr lang="en-US">
              <a:solidFill>
                <a:schemeClr val="tx1"/>
              </a:solidFill>
              <a:latin typeface="Times New Roman" pitchFamily="18" charset="0"/>
            </a:endParaRPr>
          </a:p>
        </p:txBody>
      </p:sp>
      <p:sp>
        <p:nvSpPr>
          <p:cNvPr id="7171" name="Rectangle 3"/>
          <p:cNvSpPr>
            <a:spLocks noChangeArrowheads="1"/>
          </p:cNvSpPr>
          <p:nvPr/>
        </p:nvSpPr>
        <p:spPr bwMode="auto">
          <a:xfrm>
            <a:off x="3276600" y="6248400"/>
            <a:ext cx="2895600" cy="457200"/>
          </a:xfrm>
          <a:prstGeom prst="rect">
            <a:avLst/>
          </a:prstGeom>
          <a:noFill/>
          <a:ln w="9525">
            <a:noFill/>
            <a:miter lim="800000"/>
            <a:headEnd/>
            <a:tailEnd/>
          </a:ln>
        </p:spPr>
        <p:txBody>
          <a:bodyPr wrap="none" lIns="92075" tIns="46038" rIns="92075" bIns="46038" anchor="ctr"/>
          <a:lstStyle/>
          <a:p>
            <a:pPr eaLnBrk="0" hangingPunct="0">
              <a:spcBef>
                <a:spcPct val="50000"/>
              </a:spcBef>
            </a:pPr>
            <a:endParaRPr lang="en-US">
              <a:solidFill>
                <a:schemeClr val="tx1"/>
              </a:solidFill>
              <a:latin typeface="Times New Roman" pitchFamily="18" charset="0"/>
            </a:endParaRPr>
          </a:p>
        </p:txBody>
      </p:sp>
      <p:sp>
        <p:nvSpPr>
          <p:cNvPr id="7172" name="Rectangle 4"/>
          <p:cNvSpPr>
            <a:spLocks noChangeArrowheads="1"/>
          </p:cNvSpPr>
          <p:nvPr/>
        </p:nvSpPr>
        <p:spPr bwMode="auto">
          <a:xfrm>
            <a:off x="611188" y="1619250"/>
            <a:ext cx="8072437" cy="4214813"/>
          </a:xfrm>
          <a:prstGeom prst="rect">
            <a:avLst/>
          </a:prstGeom>
          <a:noFill/>
          <a:ln w="9525">
            <a:noFill/>
            <a:miter lim="800000"/>
            <a:headEnd/>
            <a:tailEnd/>
          </a:ln>
        </p:spPr>
        <p:txBody>
          <a:bodyPr lIns="92075" tIns="46038" rIns="92075" bIns="46038"/>
          <a:lstStyle/>
          <a:p>
            <a:pPr marL="230188" indent="-230188" eaLnBrk="0" hangingPunct="0">
              <a:buClr>
                <a:srgbClr val="FF6600"/>
              </a:buClr>
              <a:buFont typeface="Symbol" pitchFamily="18" charset="2"/>
              <a:buChar char="s"/>
            </a:pPr>
            <a:r>
              <a:rPr lang="en-US" dirty="0">
                <a:solidFill>
                  <a:srgbClr val="0D03DF"/>
                </a:solidFill>
                <a:latin typeface="Arial" pitchFamily="34" charset="0"/>
              </a:rPr>
              <a:t>Deming’s Quality concept  </a:t>
            </a:r>
            <a:r>
              <a:rPr lang="en-US" sz="1600" dirty="0">
                <a:solidFill>
                  <a:srgbClr val="0D03DF"/>
                </a:solidFill>
                <a:latin typeface="Arial" pitchFamily="34" charset="0"/>
              </a:rPr>
              <a:t>(Dr. Edward Deming, 1900-1993)</a:t>
            </a:r>
          </a:p>
          <a:p>
            <a:pPr marL="230188" indent="-230188" eaLnBrk="0" hangingPunct="0">
              <a:buClr>
                <a:srgbClr val="FF6600"/>
              </a:buClr>
            </a:pPr>
            <a:r>
              <a:rPr lang="en-US" sz="2800" dirty="0">
                <a:solidFill>
                  <a:srgbClr val="0D03DF"/>
                </a:solidFill>
                <a:latin typeface="Arial" pitchFamily="34" charset="0"/>
              </a:rPr>
              <a:t>	</a:t>
            </a:r>
            <a:r>
              <a:rPr lang="en-US" sz="1800" b="1" dirty="0">
                <a:solidFill>
                  <a:srgbClr val="00B050"/>
                </a:solidFill>
                <a:latin typeface="Arial" pitchFamily="34" charset="0"/>
              </a:rPr>
              <a:t>- </a:t>
            </a:r>
            <a:r>
              <a:rPr lang="en-US" sz="1800" b="1" dirty="0" smtClean="0">
                <a:solidFill>
                  <a:srgbClr val="00B050"/>
                </a:solidFill>
                <a:latin typeface="Arial" pitchFamily="34" charset="0"/>
              </a:rPr>
              <a:t>Fourteen </a:t>
            </a:r>
            <a:r>
              <a:rPr lang="en-US" sz="1800" b="1" dirty="0">
                <a:solidFill>
                  <a:srgbClr val="00B050"/>
                </a:solidFill>
                <a:latin typeface="Arial" pitchFamily="34" charset="0"/>
              </a:rPr>
              <a:t>principles for Management</a:t>
            </a:r>
          </a:p>
          <a:p>
            <a:pPr marL="230188" indent="-230188" eaLnBrk="0" hangingPunct="0">
              <a:buClr>
                <a:srgbClr val="FF6600"/>
              </a:buClr>
            </a:pPr>
            <a:r>
              <a:rPr lang="en-US" sz="1800" b="1" dirty="0">
                <a:solidFill>
                  <a:srgbClr val="00B050"/>
                </a:solidFill>
                <a:latin typeface="Arial" pitchFamily="34" charset="0"/>
              </a:rPr>
              <a:t>	- </a:t>
            </a:r>
            <a:r>
              <a:rPr lang="en-US" sz="1800" b="1" dirty="0" smtClean="0">
                <a:solidFill>
                  <a:srgbClr val="00B050"/>
                </a:solidFill>
                <a:latin typeface="Arial" pitchFamily="34" charset="0"/>
              </a:rPr>
              <a:t>Seven </a:t>
            </a:r>
            <a:r>
              <a:rPr lang="en-US" sz="1800" b="1" dirty="0">
                <a:solidFill>
                  <a:srgbClr val="00B050"/>
                </a:solidFill>
                <a:latin typeface="Arial" pitchFamily="34" charset="0"/>
              </a:rPr>
              <a:t>deadly diseases</a:t>
            </a:r>
          </a:p>
          <a:p>
            <a:pPr marL="230188" indent="-230188" eaLnBrk="0" hangingPunct="0">
              <a:buClr>
                <a:srgbClr val="FF6600"/>
              </a:buClr>
            </a:pPr>
            <a:r>
              <a:rPr lang="en-US" sz="1800" b="1" dirty="0">
                <a:solidFill>
                  <a:srgbClr val="00B050"/>
                </a:solidFill>
                <a:latin typeface="Arial" pitchFamily="34" charset="0"/>
              </a:rPr>
              <a:t>	- Plan, Do, Study, Act </a:t>
            </a:r>
          </a:p>
          <a:p>
            <a:pPr marL="230188" indent="-230188" eaLnBrk="0" hangingPunct="0">
              <a:buClr>
                <a:srgbClr val="FF6600"/>
              </a:buClr>
            </a:pPr>
            <a:endParaRPr lang="en-US" sz="1800" b="1" dirty="0">
              <a:solidFill>
                <a:srgbClr val="00B050"/>
              </a:solidFill>
              <a:latin typeface="Arial" pitchFamily="34" charset="0"/>
            </a:endParaRPr>
          </a:p>
          <a:p>
            <a:pPr marL="230188" indent="-230188" eaLnBrk="0" hangingPunct="0">
              <a:buClr>
                <a:srgbClr val="FF6600"/>
              </a:buClr>
            </a:pPr>
            <a:endParaRPr lang="en-US" sz="1800" b="1" dirty="0">
              <a:solidFill>
                <a:srgbClr val="00B050"/>
              </a:solidFill>
              <a:latin typeface="Arial" pitchFamily="34" charset="0"/>
            </a:endParaRPr>
          </a:p>
          <a:p>
            <a:pPr marL="230188" indent="-230188" algn="just" eaLnBrk="0" hangingPunct="0">
              <a:buClr>
                <a:srgbClr val="FF6600"/>
              </a:buClr>
              <a:buFont typeface="Symbol" pitchFamily="18" charset="2"/>
              <a:buChar char="s"/>
            </a:pPr>
            <a:r>
              <a:rPr lang="en-US" sz="2000" dirty="0">
                <a:solidFill>
                  <a:srgbClr val="0D03DF"/>
                </a:solidFill>
                <a:latin typeface="Arial" pitchFamily="34" charset="0"/>
              </a:rPr>
              <a:t> </a:t>
            </a:r>
            <a:r>
              <a:rPr lang="en-IN" sz="2000" dirty="0" smtClean="0"/>
              <a:t>"Dr. W. Edwards Deming taught that by adopting appropriate principles of management, organizations can increase quality and simultaneously reduce costs (by reducing waste, rework, staff attrition and litigation while increasing customer loyalty). </a:t>
            </a:r>
          </a:p>
          <a:p>
            <a:pPr marL="230188" indent="-230188" algn="just" eaLnBrk="0" hangingPunct="0">
              <a:buClr>
                <a:srgbClr val="FF6600"/>
              </a:buClr>
              <a:buFont typeface="Symbol" pitchFamily="18" charset="2"/>
              <a:buChar char="s"/>
            </a:pPr>
            <a:r>
              <a:rPr lang="en-IN" sz="2000" dirty="0" smtClean="0"/>
              <a:t>The key is to practice continual improvement and think of manufacturing as a system, not as bits and pieces.” </a:t>
            </a:r>
            <a:endParaRPr lang="en-US" sz="2000" dirty="0" smtClean="0"/>
          </a:p>
          <a:p>
            <a:pPr marL="230188" indent="-230188" eaLnBrk="0" hangingPunct="0">
              <a:buClr>
                <a:srgbClr val="FF6600"/>
              </a:buClr>
              <a:buFont typeface="Symbol" pitchFamily="18" charset="2"/>
              <a:buChar char="s"/>
            </a:pPr>
            <a:endParaRPr lang="en-US" sz="2800" dirty="0">
              <a:solidFill>
                <a:srgbClr val="0D03DF"/>
              </a:solidFill>
              <a:latin typeface="Arial" pitchFamily="34" charset="0"/>
            </a:endParaRPr>
          </a:p>
          <a:p>
            <a:pPr marL="230188" indent="-230188" eaLnBrk="0" hangingPunct="0">
              <a:buClr>
                <a:srgbClr val="FF6600"/>
              </a:buClr>
              <a:buFont typeface="Symbol" pitchFamily="18" charset="2"/>
              <a:buChar char="s"/>
            </a:pPr>
            <a:endParaRPr lang="en-US" sz="2800" dirty="0">
              <a:solidFill>
                <a:srgbClr val="0D03DF"/>
              </a:solidFill>
              <a:latin typeface="Arial" pitchFamily="34" charset="0"/>
            </a:endParaRPr>
          </a:p>
        </p:txBody>
      </p:sp>
      <p:sp>
        <p:nvSpPr>
          <p:cNvPr id="23565" name="Rectangle 13"/>
          <p:cNvSpPr>
            <a:spLocks noGrp="1" noChangeArrowheads="1"/>
          </p:cNvSpPr>
          <p:nvPr>
            <p:ph type="title"/>
          </p:nvPr>
        </p:nvSpPr>
        <p:spPr bwMode="auto">
          <a:xfrm>
            <a:off x="1093788" y="493713"/>
            <a:ext cx="6894512" cy="681037"/>
          </a:xfrm>
          <a:ln>
            <a:miter lim="800000"/>
            <a:headEnd/>
            <a:tailEnd/>
          </a:ln>
          <a:effectLst>
            <a:outerShdw dist="17961" dir="2700000" algn="ctr" rotWithShape="0">
              <a:schemeClr val="tx1"/>
            </a:outerShdw>
          </a:effectLst>
        </p:spPr>
        <p:txBody>
          <a:bodyPr vert="horz" wrap="square" lIns="92075" tIns="46038" rIns="92075" bIns="46038" numCol="1" anchor="ctr" anchorCtr="0" compatLnSpc="1">
            <a:prstTxWarp prst="textNoShape">
              <a:avLst/>
            </a:prstTxWarp>
          </a:bodyPr>
          <a:lstStyle/>
          <a:p>
            <a:pPr algn="ctr" eaLnBrk="1" hangingPunct="1">
              <a:defRPr/>
            </a:pPr>
            <a:r>
              <a:rPr lang="en-US" sz="3600" kern="1200" dirty="0">
                <a:latin typeface="Arial" charset="0"/>
                <a:ea typeface="+mn-ea"/>
                <a:cs typeface="+mn-cs"/>
              </a:rPr>
              <a:t>Quality </a:t>
            </a:r>
            <a:r>
              <a:rPr lang="en-US" sz="3600" kern="1200" dirty="0" smtClean="0">
                <a:latin typeface="Arial" charset="0"/>
              </a:rPr>
              <a:t>Initiators</a:t>
            </a:r>
            <a:endParaRPr lang="en-US" sz="3600" kern="1200" dirty="0">
              <a:latin typeface="Arial" charset="0"/>
              <a:ea typeface="+mn-ea"/>
              <a:cs typeface="+mn-cs"/>
            </a:endParaRPr>
          </a:p>
        </p:txBody>
      </p:sp>
      <p:pic>
        <p:nvPicPr>
          <p:cNvPr id="7175" name="Picture 5" descr="image0022"/>
          <p:cNvPicPr>
            <a:picLocks noChangeAspect="1" noChangeArrowheads="1"/>
          </p:cNvPicPr>
          <p:nvPr/>
        </p:nvPicPr>
        <p:blipFill>
          <a:blip r:embed="rId3" cstate="print"/>
          <a:srcRect/>
          <a:stretch>
            <a:fillRect/>
          </a:stretch>
        </p:blipFill>
        <p:spPr bwMode="auto">
          <a:xfrm>
            <a:off x="7389813" y="188913"/>
            <a:ext cx="1504950" cy="1479550"/>
          </a:xfrm>
          <a:prstGeom prst="rect">
            <a:avLst/>
          </a:prstGeom>
          <a:noFill/>
          <a:ln w="9525">
            <a:noFill/>
            <a:miter lim="800000"/>
            <a:headEnd/>
            <a:tailEnd/>
          </a:ln>
        </p:spPr>
      </p:pic>
    </p:spTree>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6988175" y="6391275"/>
            <a:ext cx="1905000" cy="457200"/>
          </a:xfrm>
          <a:prstGeom prst="rect">
            <a:avLst/>
          </a:prstGeom>
          <a:noFill/>
          <a:ln w="9525">
            <a:noFill/>
            <a:miter lim="800000"/>
            <a:headEnd/>
            <a:tailEnd/>
          </a:ln>
        </p:spPr>
        <p:txBody>
          <a:bodyPr wrap="none" lIns="90488" tIns="44450" rIns="90488" bIns="44450" anchor="ctr"/>
          <a:lstStyle/>
          <a:p>
            <a:pPr eaLnBrk="0" hangingPunct="0">
              <a:spcBef>
                <a:spcPct val="50000"/>
              </a:spcBef>
            </a:pPr>
            <a:endParaRPr lang="en-US">
              <a:solidFill>
                <a:schemeClr val="tx1"/>
              </a:solidFill>
              <a:latin typeface="Times New Roman" pitchFamily="18" charset="0"/>
            </a:endParaRPr>
          </a:p>
        </p:txBody>
      </p:sp>
      <p:sp>
        <p:nvSpPr>
          <p:cNvPr id="7171" name="Rectangle 3"/>
          <p:cNvSpPr>
            <a:spLocks noChangeArrowheads="1"/>
          </p:cNvSpPr>
          <p:nvPr/>
        </p:nvSpPr>
        <p:spPr bwMode="auto">
          <a:xfrm>
            <a:off x="3276600" y="6248400"/>
            <a:ext cx="2895600" cy="457200"/>
          </a:xfrm>
          <a:prstGeom prst="rect">
            <a:avLst/>
          </a:prstGeom>
          <a:noFill/>
          <a:ln w="9525">
            <a:noFill/>
            <a:miter lim="800000"/>
            <a:headEnd/>
            <a:tailEnd/>
          </a:ln>
        </p:spPr>
        <p:txBody>
          <a:bodyPr wrap="none" lIns="92075" tIns="46038" rIns="92075" bIns="46038" anchor="ctr"/>
          <a:lstStyle/>
          <a:p>
            <a:pPr eaLnBrk="0" hangingPunct="0">
              <a:spcBef>
                <a:spcPct val="50000"/>
              </a:spcBef>
            </a:pPr>
            <a:endParaRPr lang="en-US">
              <a:solidFill>
                <a:schemeClr val="tx1"/>
              </a:solidFill>
              <a:latin typeface="Times New Roman" pitchFamily="18" charset="0"/>
            </a:endParaRPr>
          </a:p>
        </p:txBody>
      </p:sp>
      <p:sp>
        <p:nvSpPr>
          <p:cNvPr id="7172" name="Rectangle 4"/>
          <p:cNvSpPr>
            <a:spLocks noChangeArrowheads="1"/>
          </p:cNvSpPr>
          <p:nvPr/>
        </p:nvSpPr>
        <p:spPr bwMode="auto">
          <a:xfrm>
            <a:off x="611188" y="1071562"/>
            <a:ext cx="8072437" cy="5476722"/>
          </a:xfrm>
          <a:prstGeom prst="rect">
            <a:avLst/>
          </a:prstGeom>
          <a:noFill/>
          <a:ln w="9525">
            <a:noFill/>
            <a:miter lim="800000"/>
            <a:headEnd/>
            <a:tailEnd/>
          </a:ln>
        </p:spPr>
        <p:txBody>
          <a:bodyPr lIns="92075" tIns="46038" rIns="92075" bIns="46038"/>
          <a:lstStyle/>
          <a:p>
            <a:pPr marL="230188" indent="-230188" eaLnBrk="0" hangingPunct="0">
              <a:buClr>
                <a:srgbClr val="FF6600"/>
              </a:buClr>
            </a:pPr>
            <a:r>
              <a:rPr lang="en-US" dirty="0" err="1" smtClean="0">
                <a:solidFill>
                  <a:srgbClr val="0D03DF"/>
                </a:solidFill>
                <a:latin typeface="Arial" pitchFamily="34" charset="0"/>
              </a:rPr>
              <a:t>Juran’s</a:t>
            </a:r>
            <a:r>
              <a:rPr lang="en-US" dirty="0" smtClean="0">
                <a:solidFill>
                  <a:srgbClr val="0D03DF"/>
                </a:solidFill>
                <a:latin typeface="Arial" pitchFamily="34" charset="0"/>
              </a:rPr>
              <a:t> </a:t>
            </a:r>
            <a:r>
              <a:rPr lang="en-US" dirty="0">
                <a:solidFill>
                  <a:srgbClr val="0D03DF"/>
                </a:solidFill>
                <a:latin typeface="Arial" pitchFamily="34" charset="0"/>
              </a:rPr>
              <a:t>Quality concept </a:t>
            </a:r>
            <a:r>
              <a:rPr lang="en-US" sz="1600" dirty="0">
                <a:solidFill>
                  <a:srgbClr val="0D03DF"/>
                </a:solidFill>
                <a:latin typeface="Arial" pitchFamily="34" charset="0"/>
              </a:rPr>
              <a:t>(</a:t>
            </a:r>
            <a:r>
              <a:rPr lang="en-US" sz="1600" dirty="0" err="1">
                <a:solidFill>
                  <a:srgbClr val="0D03DF"/>
                </a:solidFill>
                <a:latin typeface="Arial" pitchFamily="34" charset="0"/>
              </a:rPr>
              <a:t>Dr.Joseph</a:t>
            </a:r>
            <a:r>
              <a:rPr lang="en-US" sz="1600" dirty="0">
                <a:solidFill>
                  <a:srgbClr val="0D03DF"/>
                </a:solidFill>
                <a:latin typeface="Arial" pitchFamily="34" charset="0"/>
              </a:rPr>
              <a:t> Moses </a:t>
            </a:r>
            <a:r>
              <a:rPr lang="en-US" sz="1600" dirty="0" err="1">
                <a:solidFill>
                  <a:srgbClr val="0D03DF"/>
                </a:solidFill>
                <a:latin typeface="Arial" pitchFamily="34" charset="0"/>
              </a:rPr>
              <a:t>Juran</a:t>
            </a:r>
            <a:r>
              <a:rPr lang="en-US" sz="1600" dirty="0">
                <a:solidFill>
                  <a:srgbClr val="0D03DF"/>
                </a:solidFill>
                <a:latin typeface="Arial" pitchFamily="34" charset="0"/>
              </a:rPr>
              <a:t>, 1904-2008)</a:t>
            </a:r>
          </a:p>
          <a:p>
            <a:pPr marL="230188" indent="-230188" eaLnBrk="0" hangingPunct="0">
              <a:buClr>
                <a:srgbClr val="FF6600"/>
              </a:buClr>
            </a:pPr>
            <a:endParaRPr lang="en-US" sz="1600" dirty="0">
              <a:solidFill>
                <a:srgbClr val="0D03DF"/>
              </a:solidFill>
              <a:latin typeface="Arial" pitchFamily="34" charset="0"/>
            </a:endParaRPr>
          </a:p>
          <a:p>
            <a:pPr marL="230188" indent="-230188" eaLnBrk="0" hangingPunct="0">
              <a:buClr>
                <a:srgbClr val="FF6600"/>
              </a:buClr>
            </a:pPr>
            <a:r>
              <a:rPr lang="en-US" sz="1800" dirty="0">
                <a:solidFill>
                  <a:srgbClr val="0D03DF"/>
                </a:solidFill>
                <a:latin typeface="Arial" pitchFamily="34" charset="0"/>
              </a:rPr>
              <a:t>	</a:t>
            </a:r>
            <a:r>
              <a:rPr lang="en-US" sz="1800" b="1" dirty="0">
                <a:solidFill>
                  <a:srgbClr val="00B050"/>
                </a:solidFill>
                <a:latin typeface="Arial" pitchFamily="34" charset="0"/>
              </a:rPr>
              <a:t>- Considered to be the architect of Quality</a:t>
            </a:r>
          </a:p>
          <a:p>
            <a:pPr marL="230188" indent="-230188" eaLnBrk="0" hangingPunct="0">
              <a:buClr>
                <a:srgbClr val="FF6600"/>
              </a:buClr>
            </a:pPr>
            <a:r>
              <a:rPr lang="en-US" sz="1800" b="1" dirty="0">
                <a:solidFill>
                  <a:srgbClr val="00B050"/>
                </a:solidFill>
                <a:latin typeface="Arial" pitchFamily="34" charset="0"/>
              </a:rPr>
              <a:t>	- One of the key person in Japan’s Quality Transformation </a:t>
            </a:r>
          </a:p>
          <a:p>
            <a:pPr marL="230188" indent="-230188" eaLnBrk="0" hangingPunct="0">
              <a:buClr>
                <a:srgbClr val="FF6600"/>
              </a:buClr>
            </a:pPr>
            <a:r>
              <a:rPr lang="en-US" sz="1800" b="1" dirty="0">
                <a:solidFill>
                  <a:srgbClr val="00B050"/>
                </a:solidFill>
                <a:latin typeface="Arial" pitchFamily="34" charset="0"/>
              </a:rPr>
              <a:t>		after World War II.</a:t>
            </a:r>
          </a:p>
          <a:p>
            <a:pPr marL="230188" indent="-230188" eaLnBrk="0" hangingPunct="0">
              <a:buClr>
                <a:srgbClr val="FF6600"/>
              </a:buClr>
            </a:pPr>
            <a:r>
              <a:rPr lang="en-US" sz="1800" b="1" dirty="0">
                <a:solidFill>
                  <a:srgbClr val="00B050"/>
                </a:solidFill>
                <a:latin typeface="Arial" pitchFamily="34" charset="0"/>
              </a:rPr>
              <a:t>	- </a:t>
            </a:r>
            <a:r>
              <a:rPr lang="en-US" sz="1800" b="1" dirty="0" err="1">
                <a:solidFill>
                  <a:srgbClr val="00B050"/>
                </a:solidFill>
                <a:latin typeface="Arial" pitchFamily="34" charset="0"/>
              </a:rPr>
              <a:t>Juran’s</a:t>
            </a:r>
            <a:r>
              <a:rPr lang="en-US" sz="1800" b="1" dirty="0">
                <a:solidFill>
                  <a:srgbClr val="00B050"/>
                </a:solidFill>
                <a:latin typeface="Arial" pitchFamily="34" charset="0"/>
              </a:rPr>
              <a:t> Trilogy </a:t>
            </a:r>
            <a:r>
              <a:rPr lang="en-US" sz="1400" b="1" dirty="0">
                <a:solidFill>
                  <a:srgbClr val="00B050"/>
                </a:solidFill>
                <a:latin typeface="Arial" pitchFamily="34" charset="0"/>
              </a:rPr>
              <a:t>(Quality planning, Quality control, Quality improvement)</a:t>
            </a:r>
          </a:p>
          <a:p>
            <a:endParaRPr lang="en-IN" sz="1800" dirty="0" smtClean="0"/>
          </a:p>
          <a:p>
            <a:pPr algn="just"/>
            <a:r>
              <a:rPr lang="en-IN" sz="1800" dirty="0" err="1" smtClean="0"/>
              <a:t>Juran</a:t>
            </a:r>
            <a:r>
              <a:rPr lang="en-IN" sz="1800" dirty="0" smtClean="0"/>
              <a:t> is widely credited for adding the human dimension to quality management. He pushed for the education and training of managers. For </a:t>
            </a:r>
            <a:r>
              <a:rPr lang="en-IN" sz="1800" dirty="0" err="1" smtClean="0"/>
              <a:t>Juran</a:t>
            </a:r>
            <a:r>
              <a:rPr lang="en-IN" sz="1800" dirty="0" smtClean="0"/>
              <a:t>, human relations problems were the ones to isolate. </a:t>
            </a:r>
          </a:p>
          <a:p>
            <a:pPr algn="just"/>
            <a:r>
              <a:rPr lang="en-IN" sz="1800" dirty="0" smtClean="0"/>
              <a:t>Resistance to change—or, in his terms, cultural resistance—was the root cause of quality issues. </a:t>
            </a:r>
          </a:p>
          <a:p>
            <a:pPr algn="just"/>
            <a:r>
              <a:rPr lang="en-IN" sz="1800" dirty="0" err="1" smtClean="0"/>
              <a:t>Juran</a:t>
            </a:r>
            <a:r>
              <a:rPr lang="en-IN" sz="1800" dirty="0" smtClean="0"/>
              <a:t> credits Margaret Mead's book </a:t>
            </a:r>
            <a:r>
              <a:rPr lang="en-IN" sz="1800" i="1" dirty="0" smtClean="0"/>
              <a:t>Cultural Patterns and Technical Change</a:t>
            </a:r>
            <a:r>
              <a:rPr lang="en-IN" sz="1800" dirty="0" smtClean="0"/>
              <a:t> for illuminating the core problem in reforming business quality.</a:t>
            </a:r>
          </a:p>
          <a:p>
            <a:pPr algn="just"/>
            <a:r>
              <a:rPr lang="en-IN" sz="1800" dirty="0" smtClean="0"/>
              <a:t>He wrote </a:t>
            </a:r>
            <a:r>
              <a:rPr lang="en-IN" sz="1800" i="1" dirty="0" smtClean="0"/>
              <a:t>Managerial Breakthrough</a:t>
            </a:r>
            <a:r>
              <a:rPr lang="en-IN" sz="1800" dirty="0" smtClean="0"/>
              <a:t>, which was published in 1964, outlining the issue.</a:t>
            </a:r>
            <a:endParaRPr lang="en-US" sz="1800" dirty="0" smtClean="0"/>
          </a:p>
          <a:p>
            <a:r>
              <a:rPr lang="en-IN" sz="1800" dirty="0" err="1" smtClean="0"/>
              <a:t>Juran's</a:t>
            </a:r>
            <a:r>
              <a:rPr lang="en-IN" sz="1800" dirty="0" smtClean="0"/>
              <a:t> vision of quality management extended well outside the walls of the factory to encompass nonmanufacturing processes, especially those that might be thought of as service related.  </a:t>
            </a:r>
            <a:endParaRPr lang="en-US" sz="1800" dirty="0" smtClean="0"/>
          </a:p>
          <a:p>
            <a:pPr marL="230188" indent="-230188" eaLnBrk="0" hangingPunct="0">
              <a:buClr>
                <a:srgbClr val="FF6600"/>
              </a:buClr>
            </a:pPr>
            <a:endParaRPr lang="en-US" sz="2800" dirty="0">
              <a:solidFill>
                <a:srgbClr val="0D03DF"/>
              </a:solidFill>
              <a:latin typeface="Arial" pitchFamily="34" charset="0"/>
            </a:endParaRPr>
          </a:p>
          <a:p>
            <a:pPr marL="230188" indent="-230188" eaLnBrk="0" hangingPunct="0">
              <a:buClr>
                <a:srgbClr val="FF6600"/>
              </a:buClr>
              <a:buFont typeface="Symbol" pitchFamily="18" charset="2"/>
              <a:buChar char="s"/>
            </a:pPr>
            <a:endParaRPr lang="en-US" sz="2800" dirty="0">
              <a:solidFill>
                <a:srgbClr val="0D03DF"/>
              </a:solidFill>
              <a:latin typeface="Arial" pitchFamily="34" charset="0"/>
            </a:endParaRPr>
          </a:p>
        </p:txBody>
      </p:sp>
      <p:sp>
        <p:nvSpPr>
          <p:cNvPr id="23565" name="Rectangle 13"/>
          <p:cNvSpPr>
            <a:spLocks noGrp="1" noChangeArrowheads="1"/>
          </p:cNvSpPr>
          <p:nvPr>
            <p:ph type="title"/>
          </p:nvPr>
        </p:nvSpPr>
        <p:spPr bwMode="auto">
          <a:xfrm>
            <a:off x="865187" y="222250"/>
            <a:ext cx="6894512" cy="681037"/>
          </a:xfrm>
          <a:ln>
            <a:miter lim="800000"/>
            <a:headEnd/>
            <a:tailEnd/>
          </a:ln>
          <a:effectLst>
            <a:outerShdw dist="17961" dir="2700000" algn="ctr" rotWithShape="0">
              <a:schemeClr val="tx1"/>
            </a:outerShdw>
          </a:effectLst>
        </p:spPr>
        <p:txBody>
          <a:bodyPr vert="horz" wrap="square" lIns="92075" tIns="46038" rIns="92075" bIns="46038" numCol="1" anchor="ctr" anchorCtr="0" compatLnSpc="1">
            <a:prstTxWarp prst="textNoShape">
              <a:avLst/>
            </a:prstTxWarp>
          </a:bodyPr>
          <a:lstStyle/>
          <a:p>
            <a:pPr algn="ctr" eaLnBrk="1" hangingPunct="1">
              <a:defRPr/>
            </a:pPr>
            <a:r>
              <a:rPr lang="en-US" sz="3600" kern="1200" dirty="0">
                <a:latin typeface="Arial" charset="0"/>
                <a:ea typeface="+mn-ea"/>
                <a:cs typeface="+mn-cs"/>
              </a:rPr>
              <a:t>Quality </a:t>
            </a:r>
            <a:r>
              <a:rPr lang="en-US" sz="3600" kern="1200" dirty="0" smtClean="0">
                <a:latin typeface="Arial" charset="0"/>
              </a:rPr>
              <a:t>Initiators</a:t>
            </a:r>
            <a:endParaRPr lang="en-US" sz="3600" kern="1200" dirty="0">
              <a:latin typeface="Arial" charset="0"/>
              <a:ea typeface="+mn-ea"/>
              <a:cs typeface="+mn-cs"/>
            </a:endParaRPr>
          </a:p>
        </p:txBody>
      </p:sp>
      <p:pic>
        <p:nvPicPr>
          <p:cNvPr id="7174" name="Picture 10" descr="DrJ"/>
          <p:cNvPicPr>
            <a:picLocks noChangeAspect="1" noChangeArrowheads="1"/>
          </p:cNvPicPr>
          <p:nvPr/>
        </p:nvPicPr>
        <p:blipFill>
          <a:blip r:embed="rId3" cstate="print"/>
          <a:srcRect/>
          <a:stretch>
            <a:fillRect/>
          </a:stretch>
        </p:blipFill>
        <p:spPr bwMode="auto">
          <a:xfrm>
            <a:off x="7512050" y="265113"/>
            <a:ext cx="1454150" cy="1700213"/>
          </a:xfrm>
          <a:prstGeom prst="rect">
            <a:avLst/>
          </a:prstGeom>
          <a:noFill/>
          <a:ln w="9525">
            <a:noFill/>
            <a:miter lim="800000"/>
            <a:headEnd/>
            <a:tailEnd/>
          </a:ln>
        </p:spPr>
      </p:pic>
    </p:spTree>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6988175" y="6391275"/>
            <a:ext cx="1905000" cy="457200"/>
          </a:xfrm>
          <a:prstGeom prst="rect">
            <a:avLst/>
          </a:prstGeom>
          <a:noFill/>
          <a:ln w="9525">
            <a:noFill/>
            <a:miter lim="800000"/>
            <a:headEnd/>
            <a:tailEnd/>
          </a:ln>
        </p:spPr>
        <p:txBody>
          <a:bodyPr wrap="none" lIns="90488" tIns="44450" rIns="90488" bIns="44450" anchor="ctr"/>
          <a:lstStyle/>
          <a:p>
            <a:pPr eaLnBrk="0" hangingPunct="0">
              <a:spcBef>
                <a:spcPct val="50000"/>
              </a:spcBef>
            </a:pPr>
            <a:endParaRPr lang="en-US">
              <a:solidFill>
                <a:schemeClr val="tx1"/>
              </a:solidFill>
              <a:latin typeface="Times New Roman" pitchFamily="18" charset="0"/>
            </a:endParaRPr>
          </a:p>
        </p:txBody>
      </p:sp>
      <p:sp>
        <p:nvSpPr>
          <p:cNvPr id="8195" name="Rectangle 3"/>
          <p:cNvSpPr>
            <a:spLocks noChangeArrowheads="1"/>
          </p:cNvSpPr>
          <p:nvPr/>
        </p:nvSpPr>
        <p:spPr bwMode="auto">
          <a:xfrm>
            <a:off x="3276600" y="6248400"/>
            <a:ext cx="2895600" cy="457200"/>
          </a:xfrm>
          <a:prstGeom prst="rect">
            <a:avLst/>
          </a:prstGeom>
          <a:noFill/>
          <a:ln w="9525">
            <a:noFill/>
            <a:miter lim="800000"/>
            <a:headEnd/>
            <a:tailEnd/>
          </a:ln>
        </p:spPr>
        <p:txBody>
          <a:bodyPr wrap="none" lIns="92075" tIns="46038" rIns="92075" bIns="46038" anchor="ctr"/>
          <a:lstStyle/>
          <a:p>
            <a:pPr eaLnBrk="0" hangingPunct="0">
              <a:spcBef>
                <a:spcPct val="50000"/>
              </a:spcBef>
            </a:pPr>
            <a:endParaRPr lang="en-US">
              <a:solidFill>
                <a:schemeClr val="tx1"/>
              </a:solidFill>
              <a:latin typeface="Times New Roman" pitchFamily="18" charset="0"/>
            </a:endParaRPr>
          </a:p>
        </p:txBody>
      </p:sp>
      <p:sp>
        <p:nvSpPr>
          <p:cNvPr id="8196" name="Rectangle 4"/>
          <p:cNvSpPr>
            <a:spLocks noChangeArrowheads="1"/>
          </p:cNvSpPr>
          <p:nvPr/>
        </p:nvSpPr>
        <p:spPr bwMode="auto">
          <a:xfrm>
            <a:off x="582613" y="1327150"/>
            <a:ext cx="8072437" cy="4884738"/>
          </a:xfrm>
          <a:prstGeom prst="rect">
            <a:avLst/>
          </a:prstGeom>
          <a:noFill/>
          <a:ln w="9525">
            <a:noFill/>
            <a:miter lim="800000"/>
            <a:headEnd/>
            <a:tailEnd/>
          </a:ln>
        </p:spPr>
        <p:txBody>
          <a:bodyPr lIns="92075" tIns="46038" rIns="92075" bIns="46038"/>
          <a:lstStyle/>
          <a:p>
            <a:pPr marL="230188" indent="-230188" eaLnBrk="0" hangingPunct="0">
              <a:buClr>
                <a:srgbClr val="FF6600"/>
              </a:buClr>
              <a:buFont typeface="Symbol" pitchFamily="18" charset="2"/>
              <a:buChar char="s"/>
            </a:pPr>
            <a:endParaRPr lang="en-US" sz="1400" b="1" dirty="0">
              <a:solidFill>
                <a:srgbClr val="00B050"/>
              </a:solidFill>
              <a:latin typeface="Arial" pitchFamily="34" charset="0"/>
            </a:endParaRPr>
          </a:p>
          <a:p>
            <a:pPr marL="230188" indent="-230188" eaLnBrk="0" hangingPunct="0">
              <a:buClr>
                <a:srgbClr val="FF6600"/>
              </a:buClr>
              <a:buFont typeface="Symbol" pitchFamily="18" charset="2"/>
              <a:buChar char="s"/>
            </a:pPr>
            <a:r>
              <a:rPr lang="en-US" sz="2800" dirty="0">
                <a:solidFill>
                  <a:srgbClr val="0D03DF"/>
                </a:solidFill>
                <a:latin typeface="Arial" pitchFamily="34" charset="0"/>
              </a:rPr>
              <a:t> </a:t>
            </a:r>
            <a:r>
              <a:rPr lang="en-US" dirty="0">
                <a:solidFill>
                  <a:srgbClr val="0D03DF"/>
                </a:solidFill>
                <a:latin typeface="Arial" pitchFamily="34" charset="0"/>
              </a:rPr>
              <a:t>Crosby’s Quality concept</a:t>
            </a:r>
            <a:r>
              <a:rPr lang="en-US" sz="2800" dirty="0">
                <a:solidFill>
                  <a:srgbClr val="0D03DF"/>
                </a:solidFill>
                <a:latin typeface="Arial" pitchFamily="34" charset="0"/>
              </a:rPr>
              <a:t> </a:t>
            </a:r>
            <a:r>
              <a:rPr lang="en-US" sz="1600" dirty="0">
                <a:solidFill>
                  <a:srgbClr val="0D03DF"/>
                </a:solidFill>
                <a:latin typeface="Arial" pitchFamily="34" charset="0"/>
              </a:rPr>
              <a:t>(Philip Crosby’, 1926-2001)</a:t>
            </a:r>
          </a:p>
          <a:p>
            <a:pPr marL="230188" indent="-230188" eaLnBrk="0" hangingPunct="0">
              <a:buClr>
                <a:srgbClr val="FF6600"/>
              </a:buClr>
            </a:pPr>
            <a:endParaRPr lang="en-US" sz="1600" dirty="0">
              <a:solidFill>
                <a:srgbClr val="0D03DF"/>
              </a:solidFill>
              <a:latin typeface="Arial" pitchFamily="34" charset="0"/>
            </a:endParaRPr>
          </a:p>
          <a:p>
            <a:pPr marL="230188" indent="-230188" eaLnBrk="0" hangingPunct="0">
              <a:buClr>
                <a:srgbClr val="FF6600"/>
              </a:buClr>
            </a:pPr>
            <a:r>
              <a:rPr lang="en-US" sz="1800" dirty="0">
                <a:solidFill>
                  <a:srgbClr val="00B050"/>
                </a:solidFill>
                <a:latin typeface="Arial" pitchFamily="34" charset="0"/>
              </a:rPr>
              <a:t>	- </a:t>
            </a:r>
            <a:r>
              <a:rPr lang="en-US" sz="1800" b="1" dirty="0">
                <a:solidFill>
                  <a:srgbClr val="00B050"/>
                </a:solidFill>
                <a:latin typeface="Arial" pitchFamily="34" charset="0"/>
              </a:rPr>
              <a:t>quality deployment champion</a:t>
            </a:r>
          </a:p>
          <a:p>
            <a:pPr marL="230188" indent="-230188" eaLnBrk="0" hangingPunct="0">
              <a:buClr>
                <a:srgbClr val="FF6600"/>
              </a:buClr>
            </a:pPr>
            <a:r>
              <a:rPr lang="en-US" sz="1800" b="1" dirty="0">
                <a:solidFill>
                  <a:srgbClr val="00B050"/>
                </a:solidFill>
                <a:latin typeface="Arial" pitchFamily="34" charset="0"/>
              </a:rPr>
              <a:t>	- promoted the concept of "zero defects" and “Cost of Quality” </a:t>
            </a:r>
          </a:p>
          <a:p>
            <a:pPr marL="230188" indent="-230188" eaLnBrk="0" hangingPunct="0">
              <a:buClr>
                <a:srgbClr val="FF6600"/>
              </a:buClr>
            </a:pPr>
            <a:r>
              <a:rPr lang="en-US" sz="1800" b="1" dirty="0">
                <a:solidFill>
                  <a:srgbClr val="00B050"/>
                </a:solidFill>
                <a:latin typeface="Arial" pitchFamily="34" charset="0"/>
              </a:rPr>
              <a:t>	- "doing it right the first time" (DIRFT)</a:t>
            </a:r>
          </a:p>
          <a:p>
            <a:pPr marL="230188" indent="-230188" eaLnBrk="0" hangingPunct="0">
              <a:buClr>
                <a:srgbClr val="FF6600"/>
              </a:buClr>
            </a:pPr>
            <a:endParaRPr lang="en-US" sz="1800" b="1" dirty="0">
              <a:solidFill>
                <a:srgbClr val="00B050"/>
              </a:solidFill>
              <a:latin typeface="Arial" pitchFamily="34" charset="0"/>
            </a:endParaRPr>
          </a:p>
          <a:p>
            <a:pPr marL="230188" indent="-230188" eaLnBrk="0" hangingPunct="0">
              <a:buClr>
                <a:srgbClr val="FF6600"/>
              </a:buClr>
            </a:pPr>
            <a:endParaRPr lang="en-US" sz="1800" b="1" dirty="0">
              <a:solidFill>
                <a:srgbClr val="00B050"/>
              </a:solidFill>
              <a:latin typeface="Arial" pitchFamily="34" charset="0"/>
            </a:endParaRPr>
          </a:p>
          <a:p>
            <a:pPr marL="230188" indent="-230188" eaLnBrk="0" hangingPunct="0">
              <a:buClr>
                <a:srgbClr val="FF6600"/>
              </a:buClr>
              <a:buFont typeface="Symbol" pitchFamily="18" charset="2"/>
              <a:buChar char="s"/>
            </a:pPr>
            <a:r>
              <a:rPr lang="en-IN" dirty="0" smtClean="0"/>
              <a:t>Crosby initiated the Zero Defects program at the Martin Company.  </a:t>
            </a:r>
          </a:p>
          <a:p>
            <a:pPr marL="230188" indent="-230188" eaLnBrk="0" hangingPunct="0">
              <a:buClr>
                <a:srgbClr val="FF6600"/>
              </a:buClr>
              <a:buFont typeface="Symbol" pitchFamily="18" charset="2"/>
              <a:buChar char="s"/>
            </a:pPr>
            <a:r>
              <a:rPr lang="en-IN" dirty="0" smtClean="0"/>
              <a:t>As the quality control manager of the Pershing missile program, Crosby was credited with a 25 percent reduction in the overall rejection rate and a 30 percent reduction in scrap costs</a:t>
            </a:r>
            <a:r>
              <a:rPr lang="en-IN" sz="2800" dirty="0" smtClean="0"/>
              <a:t>.</a:t>
            </a:r>
            <a:endParaRPr lang="en-US" sz="2800" dirty="0" smtClean="0"/>
          </a:p>
          <a:p>
            <a:pPr marL="230188" indent="-230188" eaLnBrk="0" hangingPunct="0">
              <a:buClr>
                <a:srgbClr val="FF6600"/>
              </a:buClr>
              <a:buFont typeface="Symbol" pitchFamily="18" charset="2"/>
              <a:buChar char="s"/>
            </a:pPr>
            <a:endParaRPr lang="en-US" sz="2800" dirty="0">
              <a:solidFill>
                <a:srgbClr val="0D03DF"/>
              </a:solidFill>
              <a:latin typeface="Arial" pitchFamily="34" charset="0"/>
            </a:endParaRPr>
          </a:p>
          <a:p>
            <a:pPr marL="230188" indent="-230188" eaLnBrk="0" hangingPunct="0">
              <a:buClr>
                <a:srgbClr val="FF6600"/>
              </a:buClr>
              <a:buFont typeface="Symbol" pitchFamily="18" charset="2"/>
              <a:buChar char="s"/>
            </a:pPr>
            <a:endParaRPr lang="en-US" sz="2800" dirty="0">
              <a:solidFill>
                <a:srgbClr val="0D03DF"/>
              </a:solidFill>
              <a:latin typeface="Arial" pitchFamily="34" charset="0"/>
            </a:endParaRPr>
          </a:p>
        </p:txBody>
      </p:sp>
      <p:sp>
        <p:nvSpPr>
          <p:cNvPr id="23565" name="Rectangle 13"/>
          <p:cNvSpPr>
            <a:spLocks noGrp="1" noChangeArrowheads="1"/>
          </p:cNvSpPr>
          <p:nvPr>
            <p:ph type="title"/>
          </p:nvPr>
        </p:nvSpPr>
        <p:spPr bwMode="auto">
          <a:xfrm>
            <a:off x="1065213" y="363538"/>
            <a:ext cx="6894512" cy="681037"/>
          </a:xfrm>
          <a:ln>
            <a:miter lim="800000"/>
            <a:headEnd/>
            <a:tailEnd/>
          </a:ln>
          <a:effectLst>
            <a:outerShdw dist="17961" dir="2700000" algn="ctr" rotWithShape="0">
              <a:schemeClr val="tx1"/>
            </a:outerShdw>
          </a:effectLst>
        </p:spPr>
        <p:txBody>
          <a:bodyPr vert="horz" wrap="square" lIns="92075" tIns="46038" rIns="92075" bIns="46038" numCol="1" anchor="ctr" anchorCtr="0" compatLnSpc="1">
            <a:prstTxWarp prst="textNoShape">
              <a:avLst/>
            </a:prstTxWarp>
          </a:bodyPr>
          <a:lstStyle/>
          <a:p>
            <a:pPr algn="ctr" eaLnBrk="1" hangingPunct="1">
              <a:defRPr/>
            </a:pPr>
            <a:r>
              <a:rPr lang="en-US" sz="3600" kern="1200" dirty="0">
                <a:latin typeface="Arial" charset="0"/>
                <a:ea typeface="+mn-ea"/>
                <a:cs typeface="+mn-cs"/>
              </a:rPr>
              <a:t>Quality </a:t>
            </a:r>
            <a:r>
              <a:rPr lang="en-US" sz="3600" kern="1200" dirty="0" smtClean="0">
                <a:latin typeface="Arial" charset="0"/>
              </a:rPr>
              <a:t>Initiators</a:t>
            </a:r>
            <a:endParaRPr lang="en-US" sz="3600" kern="1200" dirty="0">
              <a:latin typeface="Arial" charset="0"/>
              <a:ea typeface="+mn-ea"/>
              <a:cs typeface="+mn-cs"/>
            </a:endParaRPr>
          </a:p>
        </p:txBody>
      </p:sp>
      <p:pic>
        <p:nvPicPr>
          <p:cNvPr id="8199" name="Picture 6" descr="PhilipCrosby"/>
          <p:cNvPicPr>
            <a:picLocks noChangeAspect="1" noChangeArrowheads="1"/>
          </p:cNvPicPr>
          <p:nvPr/>
        </p:nvPicPr>
        <p:blipFill>
          <a:blip r:embed="rId3" cstate="print"/>
          <a:srcRect/>
          <a:stretch>
            <a:fillRect/>
          </a:stretch>
        </p:blipFill>
        <p:spPr bwMode="auto">
          <a:xfrm>
            <a:off x="7512050" y="215900"/>
            <a:ext cx="1398588" cy="1598613"/>
          </a:xfrm>
          <a:prstGeom prst="rect">
            <a:avLst/>
          </a:prstGeom>
          <a:solidFill>
            <a:srgbClr val="28E8B6"/>
          </a:solidFill>
          <a:ln w="38100" cmpd="dbl">
            <a:solidFill>
              <a:srgbClr val="28E8B6"/>
            </a:solidFill>
            <a:miter lim="800000"/>
            <a:headEnd/>
            <a:tailEnd/>
          </a:ln>
        </p:spPr>
      </p:pic>
    </p:spTree>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6988175" y="6391275"/>
            <a:ext cx="1905000" cy="457200"/>
          </a:xfrm>
          <a:prstGeom prst="rect">
            <a:avLst/>
          </a:prstGeom>
          <a:noFill/>
          <a:ln w="9525">
            <a:noFill/>
            <a:miter lim="800000"/>
            <a:headEnd/>
            <a:tailEnd/>
          </a:ln>
        </p:spPr>
        <p:txBody>
          <a:bodyPr wrap="none" lIns="90488" tIns="44450" rIns="90488" bIns="44450" anchor="ctr"/>
          <a:lstStyle/>
          <a:p>
            <a:pPr eaLnBrk="0" hangingPunct="0">
              <a:spcBef>
                <a:spcPct val="50000"/>
              </a:spcBef>
            </a:pPr>
            <a:endParaRPr lang="en-US">
              <a:solidFill>
                <a:schemeClr val="tx1"/>
              </a:solidFill>
              <a:latin typeface="Times New Roman" pitchFamily="18" charset="0"/>
            </a:endParaRPr>
          </a:p>
        </p:txBody>
      </p:sp>
      <p:sp>
        <p:nvSpPr>
          <p:cNvPr id="8195" name="Rectangle 3"/>
          <p:cNvSpPr>
            <a:spLocks noChangeArrowheads="1"/>
          </p:cNvSpPr>
          <p:nvPr/>
        </p:nvSpPr>
        <p:spPr bwMode="auto">
          <a:xfrm>
            <a:off x="3276600" y="6248400"/>
            <a:ext cx="2895600" cy="457200"/>
          </a:xfrm>
          <a:prstGeom prst="rect">
            <a:avLst/>
          </a:prstGeom>
          <a:noFill/>
          <a:ln w="9525">
            <a:noFill/>
            <a:miter lim="800000"/>
            <a:headEnd/>
            <a:tailEnd/>
          </a:ln>
        </p:spPr>
        <p:txBody>
          <a:bodyPr wrap="none" lIns="92075" tIns="46038" rIns="92075" bIns="46038" anchor="ctr"/>
          <a:lstStyle/>
          <a:p>
            <a:pPr eaLnBrk="0" hangingPunct="0">
              <a:spcBef>
                <a:spcPct val="50000"/>
              </a:spcBef>
            </a:pPr>
            <a:endParaRPr lang="en-US">
              <a:solidFill>
                <a:schemeClr val="tx1"/>
              </a:solidFill>
              <a:latin typeface="Times New Roman" pitchFamily="18" charset="0"/>
            </a:endParaRPr>
          </a:p>
        </p:txBody>
      </p:sp>
      <p:sp>
        <p:nvSpPr>
          <p:cNvPr id="8196" name="Rectangle 4"/>
          <p:cNvSpPr>
            <a:spLocks noChangeArrowheads="1"/>
          </p:cNvSpPr>
          <p:nvPr/>
        </p:nvSpPr>
        <p:spPr bwMode="auto">
          <a:xfrm>
            <a:off x="582613" y="1327150"/>
            <a:ext cx="8072437" cy="4884738"/>
          </a:xfrm>
          <a:prstGeom prst="rect">
            <a:avLst/>
          </a:prstGeom>
          <a:noFill/>
          <a:ln w="9525">
            <a:noFill/>
            <a:miter lim="800000"/>
            <a:headEnd/>
            <a:tailEnd/>
          </a:ln>
        </p:spPr>
        <p:txBody>
          <a:bodyPr lIns="92075" tIns="46038" rIns="92075" bIns="46038"/>
          <a:lstStyle/>
          <a:p>
            <a:pPr marL="230188" indent="-230188" eaLnBrk="0" hangingPunct="0">
              <a:buClr>
                <a:srgbClr val="FF6600"/>
              </a:buClr>
              <a:buFont typeface="Symbol" pitchFamily="18" charset="2"/>
              <a:buChar char="s"/>
            </a:pPr>
            <a:endParaRPr lang="en-US" sz="1400" b="1" dirty="0">
              <a:solidFill>
                <a:srgbClr val="00B050"/>
              </a:solidFill>
              <a:latin typeface="Arial" pitchFamily="34" charset="0"/>
            </a:endParaRPr>
          </a:p>
          <a:p>
            <a:pPr marL="230188" indent="-230188" eaLnBrk="0" hangingPunct="0">
              <a:buClr>
                <a:srgbClr val="FF6600"/>
              </a:buClr>
              <a:buFont typeface="Symbol" pitchFamily="18" charset="2"/>
              <a:buChar char="s"/>
            </a:pPr>
            <a:r>
              <a:rPr lang="en-US" sz="2800" dirty="0">
                <a:solidFill>
                  <a:srgbClr val="0D03DF"/>
                </a:solidFill>
                <a:latin typeface="Arial" pitchFamily="34" charset="0"/>
              </a:rPr>
              <a:t> </a:t>
            </a:r>
            <a:r>
              <a:rPr lang="en-US" dirty="0" smtClean="0">
                <a:solidFill>
                  <a:srgbClr val="0D03DF"/>
                </a:solidFill>
                <a:latin typeface="Arial" pitchFamily="34" charset="0"/>
              </a:rPr>
              <a:t>Taguchi </a:t>
            </a:r>
            <a:r>
              <a:rPr lang="en-US" dirty="0">
                <a:solidFill>
                  <a:srgbClr val="0D03DF"/>
                </a:solidFill>
                <a:latin typeface="Arial" pitchFamily="34" charset="0"/>
              </a:rPr>
              <a:t>Quality concept  </a:t>
            </a:r>
            <a:r>
              <a:rPr lang="en-US" sz="1600" dirty="0">
                <a:solidFill>
                  <a:srgbClr val="0D03DF"/>
                </a:solidFill>
                <a:latin typeface="Arial" pitchFamily="34" charset="0"/>
              </a:rPr>
              <a:t>(Dr. </a:t>
            </a:r>
            <a:r>
              <a:rPr lang="en-US" sz="1600" dirty="0" err="1">
                <a:solidFill>
                  <a:srgbClr val="0D03DF"/>
                </a:solidFill>
                <a:latin typeface="Arial" pitchFamily="34" charset="0"/>
              </a:rPr>
              <a:t>Genechi</a:t>
            </a:r>
            <a:r>
              <a:rPr lang="en-US" sz="1600" dirty="0">
                <a:solidFill>
                  <a:srgbClr val="0D03DF"/>
                </a:solidFill>
                <a:latin typeface="Arial" pitchFamily="34" charset="0"/>
              </a:rPr>
              <a:t> Taguchi)</a:t>
            </a:r>
          </a:p>
          <a:p>
            <a:pPr marL="230188" indent="-230188" eaLnBrk="0" hangingPunct="0">
              <a:buClr>
                <a:srgbClr val="FF6600"/>
              </a:buClr>
            </a:pPr>
            <a:r>
              <a:rPr lang="en-US" sz="2800" dirty="0">
                <a:solidFill>
                  <a:srgbClr val="0D03DF"/>
                </a:solidFill>
                <a:latin typeface="Arial" pitchFamily="34" charset="0"/>
              </a:rPr>
              <a:t>	</a:t>
            </a:r>
            <a:r>
              <a:rPr lang="en-US" sz="1800" b="1" dirty="0">
                <a:solidFill>
                  <a:srgbClr val="00B050"/>
                </a:solidFill>
                <a:latin typeface="Arial" pitchFamily="34" charset="0"/>
              </a:rPr>
              <a:t>- Quality engineering and Robust Design</a:t>
            </a:r>
          </a:p>
          <a:p>
            <a:pPr marL="230188" indent="-230188" eaLnBrk="0" hangingPunct="0">
              <a:buClr>
                <a:srgbClr val="FF6600"/>
              </a:buClr>
            </a:pPr>
            <a:r>
              <a:rPr lang="en-US" sz="1800" b="1" dirty="0">
                <a:solidFill>
                  <a:srgbClr val="00B050"/>
                </a:solidFill>
                <a:latin typeface="Arial" pitchFamily="34" charset="0"/>
              </a:rPr>
              <a:t>	- Quality can be built into design with less effort &amp; high</a:t>
            </a:r>
          </a:p>
          <a:p>
            <a:pPr marL="230188" indent="-230188" eaLnBrk="0" hangingPunct="0">
              <a:buClr>
                <a:srgbClr val="FF6600"/>
              </a:buClr>
            </a:pPr>
            <a:r>
              <a:rPr lang="en-US" sz="1800" b="1" dirty="0">
                <a:solidFill>
                  <a:srgbClr val="00B050"/>
                </a:solidFill>
                <a:latin typeface="Arial" pitchFamily="34" charset="0"/>
              </a:rPr>
              <a:t>		   impact in design phase</a:t>
            </a:r>
          </a:p>
          <a:p>
            <a:pPr marL="230188" indent="-230188" eaLnBrk="0" hangingPunct="0">
              <a:buClr>
                <a:srgbClr val="FF6600"/>
              </a:buClr>
            </a:pPr>
            <a:r>
              <a:rPr lang="en-US" sz="1800" b="1" dirty="0">
                <a:solidFill>
                  <a:srgbClr val="00B050"/>
                </a:solidFill>
                <a:latin typeface="Arial" pitchFamily="34" charset="0"/>
              </a:rPr>
              <a:t>	- To increase profit, we must reduce costs</a:t>
            </a:r>
          </a:p>
          <a:p>
            <a:pPr marL="230188" indent="-230188" eaLnBrk="0" hangingPunct="0">
              <a:buClr>
                <a:srgbClr val="FF6600"/>
              </a:buClr>
            </a:pPr>
            <a:r>
              <a:rPr lang="en-US" sz="1800" b="1" dirty="0">
                <a:solidFill>
                  <a:srgbClr val="00B050"/>
                </a:solidFill>
                <a:latin typeface="Arial" pitchFamily="34" charset="0"/>
              </a:rPr>
              <a:t>	- To reduce cost, we must optimize product &amp; process Design</a:t>
            </a:r>
          </a:p>
          <a:p>
            <a:pPr marL="230188" indent="-230188" eaLnBrk="0" hangingPunct="0">
              <a:buClr>
                <a:srgbClr val="FF6600"/>
              </a:buClr>
            </a:pPr>
            <a:endParaRPr lang="en-US" sz="2800" dirty="0">
              <a:solidFill>
                <a:srgbClr val="0D03DF"/>
              </a:solidFill>
              <a:latin typeface="Arial" pitchFamily="34" charset="0"/>
            </a:endParaRPr>
          </a:p>
          <a:p>
            <a:pPr marL="230188" indent="-230188" eaLnBrk="0" hangingPunct="0">
              <a:buClr>
                <a:srgbClr val="FF6600"/>
              </a:buClr>
              <a:buFont typeface="Symbol" pitchFamily="18" charset="2"/>
              <a:buChar char="s"/>
            </a:pPr>
            <a:r>
              <a:rPr lang="en-IN" sz="2000" dirty="0" smtClean="0"/>
              <a:t>Was an Engineer and Statistician.</a:t>
            </a:r>
          </a:p>
          <a:p>
            <a:pPr marL="230188" indent="-230188" eaLnBrk="0" hangingPunct="0">
              <a:buClr>
                <a:srgbClr val="FF6600"/>
              </a:buClr>
              <a:buFont typeface="Symbol" pitchFamily="18" charset="2"/>
              <a:buChar char="s"/>
            </a:pPr>
            <a:r>
              <a:rPr lang="en-IN" sz="2000" dirty="0" smtClean="0"/>
              <a:t>From the 1950s onwards, Taguchi developed a methodology for applying statistics to improve the quality of manufactured goods.</a:t>
            </a:r>
          </a:p>
          <a:p>
            <a:pPr marL="230188" indent="-230188" eaLnBrk="0" hangingPunct="0">
              <a:buClr>
                <a:srgbClr val="FF6600"/>
              </a:buClr>
              <a:buFont typeface="Symbol" pitchFamily="18" charset="2"/>
              <a:buChar char="s"/>
            </a:pPr>
            <a:r>
              <a:rPr lang="en-IN" sz="2000" dirty="0" smtClean="0"/>
              <a:t>Taguchi methods have been controversial among some conventional Western statisticians, but others have accepted many of the concepts introduced by him as valid extensions to the body of knowledge.</a:t>
            </a:r>
            <a:endParaRPr lang="en-US" sz="2000" dirty="0" smtClean="0"/>
          </a:p>
          <a:p>
            <a:pPr marL="230188" indent="-230188" eaLnBrk="0" hangingPunct="0">
              <a:buClr>
                <a:srgbClr val="FF6600"/>
              </a:buClr>
              <a:buFont typeface="Symbol" pitchFamily="18" charset="2"/>
              <a:buChar char="s"/>
            </a:pPr>
            <a:endParaRPr lang="en-US" sz="2800" dirty="0">
              <a:solidFill>
                <a:srgbClr val="0D03DF"/>
              </a:solidFill>
              <a:latin typeface="Arial" pitchFamily="34" charset="0"/>
            </a:endParaRPr>
          </a:p>
        </p:txBody>
      </p:sp>
      <p:sp>
        <p:nvSpPr>
          <p:cNvPr id="23565" name="Rectangle 13"/>
          <p:cNvSpPr>
            <a:spLocks noGrp="1" noChangeArrowheads="1"/>
          </p:cNvSpPr>
          <p:nvPr>
            <p:ph type="title"/>
          </p:nvPr>
        </p:nvSpPr>
        <p:spPr bwMode="auto">
          <a:xfrm>
            <a:off x="1065213" y="363538"/>
            <a:ext cx="6894512" cy="681037"/>
          </a:xfrm>
          <a:ln>
            <a:miter lim="800000"/>
            <a:headEnd/>
            <a:tailEnd/>
          </a:ln>
          <a:effectLst>
            <a:outerShdw dist="17961" dir="2700000" algn="ctr" rotWithShape="0">
              <a:schemeClr val="tx1"/>
            </a:outerShdw>
          </a:effectLst>
        </p:spPr>
        <p:txBody>
          <a:bodyPr vert="horz" wrap="square" lIns="92075" tIns="46038" rIns="92075" bIns="46038" numCol="1" anchor="ctr" anchorCtr="0" compatLnSpc="1">
            <a:prstTxWarp prst="textNoShape">
              <a:avLst/>
            </a:prstTxWarp>
          </a:bodyPr>
          <a:lstStyle/>
          <a:p>
            <a:pPr algn="ctr" eaLnBrk="1" hangingPunct="1">
              <a:defRPr/>
            </a:pPr>
            <a:r>
              <a:rPr lang="en-US" sz="3600" kern="1200" dirty="0">
                <a:latin typeface="Arial" charset="0"/>
                <a:ea typeface="+mn-ea"/>
                <a:cs typeface="+mn-cs"/>
              </a:rPr>
              <a:t>Quality </a:t>
            </a:r>
            <a:r>
              <a:rPr lang="en-US" sz="3600" kern="1200" dirty="0" smtClean="0">
                <a:latin typeface="Arial" charset="0"/>
                <a:ea typeface="+mn-ea"/>
                <a:cs typeface="+mn-cs"/>
              </a:rPr>
              <a:t>Initiators</a:t>
            </a:r>
            <a:endParaRPr lang="en-US" sz="3600" kern="1200" dirty="0">
              <a:latin typeface="Arial" charset="0"/>
              <a:ea typeface="+mn-ea"/>
              <a:cs typeface="+mn-cs"/>
            </a:endParaRPr>
          </a:p>
        </p:txBody>
      </p:sp>
      <p:pic>
        <p:nvPicPr>
          <p:cNvPr id="8198" name="Picture 6"/>
          <p:cNvPicPr>
            <a:picLocks noChangeAspect="1" noChangeArrowheads="1"/>
          </p:cNvPicPr>
          <p:nvPr/>
        </p:nvPicPr>
        <p:blipFill>
          <a:blip r:embed="rId3" cstate="print"/>
          <a:srcRect/>
          <a:stretch>
            <a:fillRect/>
          </a:stretch>
        </p:blipFill>
        <p:spPr bwMode="auto">
          <a:xfrm>
            <a:off x="7426326" y="179388"/>
            <a:ext cx="1466850" cy="1373188"/>
          </a:xfrm>
          <a:prstGeom prst="rect">
            <a:avLst/>
          </a:prstGeom>
          <a:noFill/>
          <a:ln w="9525">
            <a:noFill/>
            <a:miter lim="800000"/>
            <a:headEnd/>
            <a:tailEnd/>
          </a:ln>
        </p:spPr>
      </p:pic>
    </p:spTree>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smtClean="0"/>
              <a:t>Quality: Definitions</a:t>
            </a:r>
            <a:endParaRPr lang="en-US" dirty="0"/>
          </a:p>
        </p:txBody>
      </p:sp>
      <p:sp>
        <p:nvSpPr>
          <p:cNvPr id="4" name="Content Placeholder 3"/>
          <p:cNvSpPr>
            <a:spLocks noGrp="1"/>
          </p:cNvSpPr>
          <p:nvPr>
            <p:ph idx="1"/>
          </p:nvPr>
        </p:nvSpPr>
        <p:spPr>
          <a:xfrm>
            <a:off x="673304" y="1191394"/>
            <a:ext cx="8069263" cy="5666606"/>
          </a:xfrm>
        </p:spPr>
        <p:txBody>
          <a:bodyPr/>
          <a:lstStyle/>
          <a:p>
            <a:r>
              <a:rPr lang="en-US" sz="2200" dirty="0" smtClean="0"/>
              <a:t>Fitness for use </a:t>
            </a:r>
          </a:p>
          <a:p>
            <a:r>
              <a:rPr lang="en-US" sz="2200" dirty="0" smtClean="0"/>
              <a:t>Fitness for </a:t>
            </a:r>
            <a:r>
              <a:rPr lang="en-US" sz="2200" dirty="0" smtClean="0"/>
              <a:t>purpose </a:t>
            </a:r>
            <a:endParaRPr lang="en-US" sz="2200" dirty="0" smtClean="0"/>
          </a:p>
          <a:p>
            <a:r>
              <a:rPr lang="en-US" sz="2200" dirty="0" smtClean="0"/>
              <a:t>Delighting customers</a:t>
            </a:r>
            <a:endParaRPr lang="en-US" sz="2200" dirty="0" smtClean="0"/>
          </a:p>
          <a:p>
            <a:r>
              <a:rPr lang="en-US" sz="2200" dirty="0" smtClean="0"/>
              <a:t>Conformance to specifications</a:t>
            </a:r>
          </a:p>
          <a:p>
            <a:pPr algn="just"/>
            <a:r>
              <a:rPr lang="en-US" sz="2200" dirty="0" smtClean="0"/>
              <a:t>The </a:t>
            </a:r>
            <a:r>
              <a:rPr lang="en-US" sz="2200" dirty="0" smtClean="0"/>
              <a:t>standard of something as measured against other things of a similar kind; the degree of excellence of something</a:t>
            </a:r>
            <a:r>
              <a:rPr lang="en-US" sz="2200" dirty="0" smtClean="0"/>
              <a:t>.</a:t>
            </a:r>
          </a:p>
          <a:p>
            <a:pPr algn="just"/>
            <a:r>
              <a:rPr lang="en-US" sz="2200" dirty="0" smtClean="0"/>
              <a:t>A </a:t>
            </a:r>
            <a:r>
              <a:rPr lang="en-US" sz="2200" dirty="0" smtClean="0"/>
              <a:t>distinctive attribute or characteristic possessed by someone or something</a:t>
            </a:r>
            <a:r>
              <a:rPr lang="en-US" sz="2200" dirty="0" smtClean="0"/>
              <a:t>.</a:t>
            </a:r>
          </a:p>
          <a:p>
            <a:pPr algn="just"/>
            <a:r>
              <a:rPr lang="en-US" sz="2200" dirty="0" smtClean="0"/>
              <a:t>In business, engineering, and manufacturing, quality has a pragmatic interpretation as the non-inferiority or superiority of something; </a:t>
            </a:r>
            <a:endParaRPr lang="en-US" sz="2200" dirty="0" smtClean="0"/>
          </a:p>
          <a:p>
            <a:pPr algn="just"/>
            <a:r>
              <a:rPr lang="en-US" sz="2200" dirty="0" smtClean="0"/>
              <a:t>Also </a:t>
            </a:r>
            <a:r>
              <a:rPr lang="en-US" sz="2200" dirty="0" smtClean="0"/>
              <a:t>defined as being suitable for its intended </a:t>
            </a:r>
            <a:r>
              <a:rPr lang="en-US" sz="2200" dirty="0" smtClean="0"/>
              <a:t>purpose while </a:t>
            </a:r>
            <a:r>
              <a:rPr lang="en-US" sz="2200" dirty="0" smtClean="0"/>
              <a:t>satisfying customer expectations. </a:t>
            </a:r>
            <a:endParaRPr lang="en-US" sz="2200" dirty="0" smtClean="0"/>
          </a:p>
          <a:p>
            <a:pPr algn="just"/>
            <a:r>
              <a:rPr lang="en-US" sz="2200" dirty="0" smtClean="0"/>
              <a:t>Freedom from defects</a:t>
            </a:r>
          </a:p>
          <a:p>
            <a:pPr algn="just"/>
            <a:r>
              <a:rPr lang="en-US" sz="2200" dirty="0" smtClean="0"/>
              <a:t>Totality of characteristics which act to satisfy a need</a:t>
            </a:r>
            <a:endParaRPr lang="en-US" sz="2200" dirty="0"/>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9606"/>
            <a:ext cx="8229600" cy="1143000"/>
          </a:xfrm>
        </p:spPr>
        <p:txBody>
          <a:bodyPr/>
          <a:lstStyle/>
          <a:p>
            <a:pPr algn="ctr"/>
            <a:r>
              <a:rPr lang="en-US" dirty="0" smtClean="0"/>
              <a:t>Eight dimensions of quality </a:t>
            </a:r>
            <a:endParaRPr lang="en-US" dirty="0"/>
          </a:p>
        </p:txBody>
      </p:sp>
      <p:sp>
        <p:nvSpPr>
          <p:cNvPr id="3" name="Content Placeholder 2"/>
          <p:cNvSpPr>
            <a:spLocks noGrp="1"/>
          </p:cNvSpPr>
          <p:nvPr>
            <p:ph idx="1"/>
          </p:nvPr>
        </p:nvSpPr>
        <p:spPr>
          <a:xfrm>
            <a:off x="717550" y="1637070"/>
            <a:ext cx="7910256" cy="4687529"/>
          </a:xfrm>
        </p:spPr>
        <p:txBody>
          <a:bodyPr/>
          <a:lstStyle/>
          <a:p>
            <a:pPr lvl="0"/>
            <a:r>
              <a:rPr lang="en-US" sz="2400" i="1" dirty="0" smtClean="0"/>
              <a:t>Performance</a:t>
            </a:r>
            <a:r>
              <a:rPr lang="en-US" sz="2400" dirty="0" smtClean="0"/>
              <a:t> – Will the product do the intended job?</a:t>
            </a:r>
          </a:p>
          <a:p>
            <a:pPr lvl="0"/>
            <a:r>
              <a:rPr lang="en-US" sz="2400" i="1" dirty="0" smtClean="0"/>
              <a:t>Reliability</a:t>
            </a:r>
            <a:r>
              <a:rPr lang="en-US" sz="2400" dirty="0" smtClean="0"/>
              <a:t> - How often does the product fail?</a:t>
            </a:r>
          </a:p>
          <a:p>
            <a:pPr lvl="0"/>
            <a:r>
              <a:rPr lang="en-US" sz="2400" i="1" dirty="0" smtClean="0"/>
              <a:t>Durability</a:t>
            </a:r>
            <a:r>
              <a:rPr lang="en-US" sz="2400" dirty="0" smtClean="0"/>
              <a:t> – How long does the product last?</a:t>
            </a:r>
          </a:p>
          <a:p>
            <a:pPr lvl="0"/>
            <a:r>
              <a:rPr lang="en-US" sz="2400" i="1" dirty="0" smtClean="0"/>
              <a:t>Serviceability</a:t>
            </a:r>
            <a:r>
              <a:rPr lang="en-US" sz="2400" dirty="0" smtClean="0"/>
              <a:t> – How easy is to repair the product?</a:t>
            </a:r>
          </a:p>
          <a:p>
            <a:pPr lvl="0"/>
            <a:r>
              <a:rPr lang="en-US" sz="2400" i="1" dirty="0" smtClean="0"/>
              <a:t>Aesthetics</a:t>
            </a:r>
            <a:r>
              <a:rPr lang="en-US" sz="2400" dirty="0" smtClean="0"/>
              <a:t> –What does the product look like?</a:t>
            </a:r>
          </a:p>
          <a:p>
            <a:pPr lvl="0"/>
            <a:r>
              <a:rPr lang="en-US" sz="2400" i="1" dirty="0" smtClean="0"/>
              <a:t>Features</a:t>
            </a:r>
            <a:r>
              <a:rPr lang="en-US" sz="2400" dirty="0" smtClean="0"/>
              <a:t> – What does the product do?</a:t>
            </a:r>
          </a:p>
          <a:p>
            <a:pPr lvl="0"/>
            <a:r>
              <a:rPr lang="en-US" sz="2400" i="1" dirty="0" smtClean="0"/>
              <a:t>Perceived Quality</a:t>
            </a:r>
            <a:r>
              <a:rPr lang="en-US" sz="2400" dirty="0" smtClean="0"/>
              <a:t> – What is the reputation of the company or its product?</a:t>
            </a:r>
          </a:p>
          <a:p>
            <a:pPr lvl="0"/>
            <a:r>
              <a:rPr lang="en-US" sz="2400" i="1" dirty="0" smtClean="0"/>
              <a:t>Conformance to Quality</a:t>
            </a:r>
            <a:r>
              <a:rPr lang="en-US" sz="2400" dirty="0" smtClean="0"/>
              <a:t> – Is the product made exactly as the designer intended?</a:t>
            </a:r>
          </a:p>
          <a:p>
            <a:endParaRPr lang="en-US" dirty="0"/>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Measuring Quality</a:t>
            </a:r>
            <a:endParaRPr lang="en-US" dirty="0"/>
          </a:p>
        </p:txBody>
      </p:sp>
      <p:sp>
        <p:nvSpPr>
          <p:cNvPr id="3" name="Content Placeholder 2"/>
          <p:cNvSpPr>
            <a:spLocks noGrp="1"/>
          </p:cNvSpPr>
          <p:nvPr>
            <p:ph idx="1"/>
          </p:nvPr>
        </p:nvSpPr>
        <p:spPr>
          <a:xfrm>
            <a:off x="717549" y="1327355"/>
            <a:ext cx="7954963" cy="5161935"/>
          </a:xfrm>
        </p:spPr>
        <p:txBody>
          <a:bodyPr/>
          <a:lstStyle/>
          <a:p>
            <a:r>
              <a:rPr lang="en-US" dirty="0" smtClean="0"/>
              <a:t>Quality is specification driven – does it meet the set performance requirements</a:t>
            </a:r>
          </a:p>
          <a:p>
            <a:r>
              <a:rPr lang="en-US" dirty="0" smtClean="0"/>
              <a:t>Quality is measured at start of life – percent passing specification acceptance</a:t>
            </a:r>
          </a:p>
          <a:p>
            <a:r>
              <a:rPr lang="en-US" dirty="0" smtClean="0"/>
              <a:t>Quality effectiveness is observable by number of rejects from </a:t>
            </a:r>
            <a:r>
              <a:rPr lang="en-US" dirty="0" smtClean="0"/>
              <a:t>customers</a:t>
            </a:r>
          </a:p>
          <a:p>
            <a:endParaRPr lang="en-US" dirty="0" smtClean="0"/>
          </a:p>
          <a:p>
            <a:endParaRPr lang="en-US" dirty="0" smtClean="0"/>
          </a:p>
          <a:p>
            <a:pPr algn="just">
              <a:buNone/>
            </a:pPr>
            <a:r>
              <a:rPr lang="en-US" dirty="0" smtClean="0"/>
              <a:t> </a:t>
            </a:r>
            <a:r>
              <a:rPr lang="en-US" sz="2400" dirty="0" smtClean="0"/>
              <a:t>The quality characteristics of a product or service are known as the ‘</a:t>
            </a:r>
            <a:r>
              <a:rPr lang="en-US" sz="2400" dirty="0" smtClean="0">
                <a:solidFill>
                  <a:srgbClr val="FF0000"/>
                </a:solidFill>
              </a:rPr>
              <a:t>Determinants of Quality</a:t>
            </a:r>
            <a:r>
              <a:rPr lang="en-US" sz="2400" dirty="0" smtClean="0"/>
              <a:t>’. These are the attributes customers look for to decide if it is a quality product or service.</a:t>
            </a:r>
            <a:endParaRPr lang="en-US" sz="2400" dirty="0" smtClean="0"/>
          </a:p>
          <a:p>
            <a:endParaRPr lang="en-US" dirty="0" smtClean="0"/>
          </a:p>
          <a:p>
            <a:endParaRPr lang="en-US" dirty="0"/>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Product Quality </a:t>
            </a:r>
            <a:r>
              <a:rPr lang="en-US" dirty="0" smtClean="0"/>
              <a:t>dimensions</a:t>
            </a:r>
            <a:endParaRPr lang="en-US" dirty="0"/>
          </a:p>
        </p:txBody>
      </p:sp>
      <p:sp>
        <p:nvSpPr>
          <p:cNvPr id="3" name="Content Placeholder 2"/>
          <p:cNvSpPr>
            <a:spLocks noGrp="1"/>
          </p:cNvSpPr>
          <p:nvPr>
            <p:ph idx="1"/>
          </p:nvPr>
        </p:nvSpPr>
        <p:spPr>
          <a:xfrm>
            <a:off x="717549" y="1312606"/>
            <a:ext cx="7954963" cy="5011994"/>
          </a:xfrm>
        </p:spPr>
        <p:txBody>
          <a:bodyPr/>
          <a:lstStyle/>
          <a:p>
            <a:r>
              <a:rPr lang="en-US" dirty="0" smtClean="0"/>
              <a:t>Mobile</a:t>
            </a:r>
          </a:p>
          <a:p>
            <a:r>
              <a:rPr lang="en-US" dirty="0" smtClean="0"/>
              <a:t>Noodles</a:t>
            </a:r>
          </a:p>
          <a:p>
            <a:r>
              <a:rPr lang="en-US" dirty="0" smtClean="0"/>
              <a:t>LED bulbs</a:t>
            </a:r>
          </a:p>
          <a:p>
            <a:endParaRPr lang="en-US" dirty="0" smtClean="0"/>
          </a:p>
          <a:p>
            <a:endParaRPr lang="en-US" dirty="0"/>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3225"/>
            <a:ext cx="8229600" cy="911225"/>
          </a:xfrm>
        </p:spPr>
        <p:txBody>
          <a:bodyPr/>
          <a:lstStyle/>
          <a:p>
            <a:pPr algn="ctr"/>
            <a:r>
              <a:rPr lang="en-US" sz="4000" dirty="0" smtClean="0"/>
              <a:t>W</a:t>
            </a:r>
            <a:r>
              <a:rPr lang="en-US" sz="4000" dirty="0" smtClean="0"/>
              <a:t>hat  is  a  defect?</a:t>
            </a:r>
            <a:r>
              <a:rPr lang="en-US" sz="4000" b="1" dirty="0" smtClean="0"/>
              <a:t/>
            </a:r>
            <a:br>
              <a:rPr lang="en-US" sz="4000" b="1" dirty="0" smtClean="0"/>
            </a:br>
            <a:endParaRPr lang="en-US" sz="4000" dirty="0"/>
          </a:p>
        </p:txBody>
      </p:sp>
      <p:sp>
        <p:nvSpPr>
          <p:cNvPr id="3" name="Content Placeholder 2"/>
          <p:cNvSpPr>
            <a:spLocks noGrp="1"/>
          </p:cNvSpPr>
          <p:nvPr>
            <p:ph idx="1"/>
          </p:nvPr>
        </p:nvSpPr>
        <p:spPr>
          <a:xfrm>
            <a:off x="717549" y="1685925"/>
            <a:ext cx="7826375" cy="4638675"/>
          </a:xfrm>
        </p:spPr>
        <p:txBody>
          <a:bodyPr/>
          <a:lstStyle/>
          <a:p>
            <a:pPr algn="just"/>
            <a:r>
              <a:rPr lang="en-US" dirty="0" smtClean="0"/>
              <a:t>Classically, a defect is anything that fails to meet the consumer’s expectations or requirements. </a:t>
            </a:r>
          </a:p>
          <a:p>
            <a:pPr algn="just"/>
            <a:r>
              <a:rPr lang="en-US" dirty="0" smtClean="0"/>
              <a:t>However, within the framework of Six Sigma, a defect is anything that blocks or inhibits a process or service.</a:t>
            </a:r>
          </a:p>
          <a:p>
            <a:pPr algn="just"/>
            <a:r>
              <a:rPr lang="en-US" dirty="0" smtClean="0"/>
              <a:t>For example, when an operator fails to change a gear or a belt during maintenance, it adversely influences the operation of a process, although it may not result in a defective product.</a:t>
            </a:r>
            <a:endParaRPr lang="en-US" b="1" dirty="0" smtClean="0"/>
          </a:p>
          <a:p>
            <a:endParaRPr lang="en-US" dirty="0"/>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5186"/>
            <a:ext cx="8229600" cy="842451"/>
          </a:xfrm>
        </p:spPr>
        <p:txBody>
          <a:bodyPr/>
          <a:lstStyle/>
          <a:p>
            <a:r>
              <a:rPr lang="en-US" sz="3600" dirty="0" smtClean="0"/>
              <a:t>S</a:t>
            </a:r>
            <a:r>
              <a:rPr lang="en-US" sz="3600" dirty="0" smtClean="0"/>
              <a:t>igma  concept  of  measuring  defects</a:t>
            </a:r>
            <a:r>
              <a:rPr lang="en-US" b="1" dirty="0" smtClean="0"/>
              <a:t/>
            </a:r>
            <a:br>
              <a:rPr lang="en-US" b="1" dirty="0" smtClean="0"/>
            </a:br>
            <a:endParaRPr lang="en-US" dirty="0"/>
          </a:p>
        </p:txBody>
      </p:sp>
      <p:sp>
        <p:nvSpPr>
          <p:cNvPr id="3" name="Content Placeholder 2"/>
          <p:cNvSpPr>
            <a:spLocks noGrp="1"/>
          </p:cNvSpPr>
          <p:nvPr>
            <p:ph idx="1"/>
          </p:nvPr>
        </p:nvSpPr>
        <p:spPr>
          <a:xfrm>
            <a:off x="717550" y="1685925"/>
            <a:ext cx="8026400" cy="4638675"/>
          </a:xfrm>
        </p:spPr>
        <p:txBody>
          <a:bodyPr/>
          <a:lstStyle/>
          <a:p>
            <a:r>
              <a:rPr lang="en-US" sz="2400" dirty="0" smtClean="0"/>
              <a:t>It was created in early 1980s as a way to develop a universal quality metric that applied regardless of product quality or dissimilarity between different products.</a:t>
            </a:r>
          </a:p>
          <a:p>
            <a:r>
              <a:rPr lang="en-US" sz="2400" dirty="0" smtClean="0"/>
              <a:t>In brief, the higher the Sigma level, the fewer the number of defects per unit of product or service. </a:t>
            </a:r>
          </a:p>
          <a:p>
            <a:r>
              <a:rPr lang="en-US" sz="2400" dirty="0" smtClean="0"/>
              <a:t>The lower the Sigma level, the greater the number of defects per unit of product or service.</a:t>
            </a:r>
            <a:endParaRPr lang="en-US" sz="2400" b="1" dirty="0" smtClean="0"/>
          </a:p>
          <a:p>
            <a:r>
              <a:rPr lang="en-US" sz="2400" dirty="0" smtClean="0"/>
              <a:t>Product produced at 6 Sigma level of quality, operate virtually defect free – by definition of 6 Sigma, with only 3.4 defects per million opportunities for creating a defect (DPMO).</a:t>
            </a:r>
            <a:endParaRPr lang="en-US" sz="2400" b="1" dirty="0" smtClean="0"/>
          </a:p>
          <a:p>
            <a:endParaRPr lang="en-US" dirty="0"/>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0826" cy="934730"/>
          </a:xfrm>
        </p:spPr>
        <p:txBody>
          <a:bodyPr/>
          <a:lstStyle/>
          <a:p>
            <a:pPr algn="l"/>
            <a:r>
              <a:rPr lang="en-US" sz="3600" dirty="0" smtClean="0"/>
              <a:t>How is  high  level  of  quality  justified?</a:t>
            </a:r>
            <a:endParaRPr lang="en-US" sz="3600" dirty="0"/>
          </a:p>
        </p:txBody>
      </p:sp>
      <p:sp>
        <p:nvSpPr>
          <p:cNvPr id="3" name="Content Placeholder 2"/>
          <p:cNvSpPr>
            <a:spLocks noGrp="1"/>
          </p:cNvSpPr>
          <p:nvPr>
            <p:ph idx="1"/>
          </p:nvPr>
        </p:nvSpPr>
        <p:spPr>
          <a:xfrm>
            <a:off x="717550" y="1557338"/>
            <a:ext cx="7983538" cy="4767262"/>
          </a:xfrm>
        </p:spPr>
        <p:txBody>
          <a:bodyPr/>
          <a:lstStyle/>
          <a:p>
            <a:r>
              <a:rPr lang="en-US" sz="2000" dirty="0" smtClean="0"/>
              <a:t>Every time a defect is produced in a process time, </a:t>
            </a:r>
            <a:r>
              <a:rPr lang="en-US" sz="2000" dirty="0" err="1" smtClean="0"/>
              <a:t>labour</a:t>
            </a:r>
            <a:r>
              <a:rPr lang="en-US" sz="2000" dirty="0" smtClean="0"/>
              <a:t>, capital, equipment, overhead, material and money have to be used to detect, analyze and fix that defect. (Still some defects will escape unnoticed and cause damage.                                                                                                                                                          </a:t>
            </a:r>
            <a:endParaRPr lang="en-US" sz="2000" b="1" dirty="0" smtClean="0"/>
          </a:p>
          <a:p>
            <a:r>
              <a:rPr lang="en-US" sz="2000" dirty="0" smtClean="0"/>
              <a:t>This cycle of detection, analysis and correction is directly connected to the three elements of customer satisfaction:</a:t>
            </a:r>
            <a:endParaRPr lang="en-US" sz="2000" b="1" dirty="0" smtClean="0"/>
          </a:p>
          <a:p>
            <a:pPr lvl="1"/>
            <a:r>
              <a:rPr lang="en-US" sz="1600" dirty="0" smtClean="0"/>
              <a:t>Delivering the highest quality products and services ( defect free products and services )</a:t>
            </a:r>
            <a:endParaRPr lang="en-US" sz="1600" b="1" dirty="0" smtClean="0"/>
          </a:p>
          <a:p>
            <a:pPr lvl="1"/>
            <a:r>
              <a:rPr lang="en-US" sz="1600" dirty="0" smtClean="0"/>
              <a:t>On-time delivery with least cycle time</a:t>
            </a:r>
            <a:endParaRPr lang="en-US" sz="1600" b="1" dirty="0" smtClean="0"/>
          </a:p>
          <a:p>
            <a:pPr lvl="1"/>
            <a:r>
              <a:rPr lang="en-US" sz="1600" dirty="0" smtClean="0"/>
              <a:t>Right price ( all elements of manufacturing costs )</a:t>
            </a:r>
            <a:endParaRPr lang="en-US" sz="1600" b="1" dirty="0" smtClean="0"/>
          </a:p>
          <a:p>
            <a:r>
              <a:rPr lang="en-US" sz="2000" dirty="0" smtClean="0"/>
              <a:t> When the probability of a defect becomes so low that company rarely encounters one, maintaining systems to detect, analyze and fix defects are virtually unnecessary and can be dispensed with. When this happens, expenses drop drastically. This is the ultimate goal of 6 Sigma !</a:t>
            </a:r>
            <a:endParaRPr lang="en-US" sz="2000" b="1" dirty="0" smtClean="0"/>
          </a:p>
          <a:p>
            <a:endParaRPr lang="en-US" dirty="0"/>
          </a:p>
        </p:txBody>
      </p:sp>
    </p:spTree>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bwMode="auto">
          <a:noFill/>
          <a:ln>
            <a:miter lim="800000"/>
            <a:headEnd/>
            <a:tailEnd/>
          </a:ln>
        </p:spPr>
        <p:txBody>
          <a:bodyPr vert="horz" wrap="square" lIns="91440" tIns="45720" rIns="91440" bIns="45720" numCol="1" anchor="t" anchorCtr="0" compatLnSpc="1">
            <a:prstTxWarp prst="textNoShape">
              <a:avLst/>
            </a:prstTxWarp>
          </a:bodyPr>
          <a:lstStyle/>
          <a:p>
            <a:endParaRPr lang="en-US" smtClean="0"/>
          </a:p>
        </p:txBody>
      </p:sp>
      <p:sp>
        <p:nvSpPr>
          <p:cNvPr id="49155" name="Content Placeholder 2"/>
          <p:cNvSpPr>
            <a:spLocks noGrp="1"/>
          </p:cNvSpPr>
          <p:nvPr>
            <p:ph idx="1"/>
          </p:nvPr>
        </p:nvSpPr>
        <p:spPr>
          <a:xfrm>
            <a:off x="1285875" y="2005013"/>
            <a:ext cx="6934200" cy="4114800"/>
          </a:xfrm>
        </p:spPr>
        <p:txBody>
          <a:bodyPr/>
          <a:lstStyle/>
          <a:p>
            <a:pPr>
              <a:buFontTx/>
              <a:buNone/>
            </a:pPr>
            <a:endParaRPr lang="en-US" smtClean="0"/>
          </a:p>
          <a:p>
            <a:pPr>
              <a:buFontTx/>
              <a:buNone/>
            </a:pPr>
            <a:endParaRPr lang="en-US" smtClean="0"/>
          </a:p>
          <a:p>
            <a:pPr>
              <a:buFontTx/>
              <a:buNone/>
            </a:pPr>
            <a:endParaRPr lang="en-US" smtClean="0"/>
          </a:p>
          <a:p>
            <a:pPr>
              <a:buFontTx/>
              <a:buNone/>
            </a:pPr>
            <a:r>
              <a:rPr lang="en-US" smtClean="0"/>
              <a:t>			</a:t>
            </a:r>
            <a:r>
              <a:rPr lang="en-US" sz="6000" smtClean="0">
                <a:solidFill>
                  <a:srgbClr val="FF0000"/>
                </a:solidFill>
              </a:rPr>
              <a:t>Thanks  </a:t>
            </a:r>
          </a:p>
          <a:p>
            <a:pPr>
              <a:buFontTx/>
              <a:buNone/>
            </a:pPr>
            <a:endParaRPr lang="en-US" smtClean="0"/>
          </a:p>
        </p:txBody>
      </p:sp>
    </p:spTree>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Deco Visteon">
  <a:themeElements>
    <a:clrScheme name="">
      <a:dk1>
        <a:srgbClr val="000000"/>
      </a:dk1>
      <a:lt1>
        <a:srgbClr val="FFFFFF"/>
      </a:lt1>
      <a:dk2>
        <a:srgbClr val="E20000"/>
      </a:dk2>
      <a:lt2>
        <a:srgbClr val="000000"/>
      </a:lt2>
      <a:accent1>
        <a:srgbClr val="0C7FD6"/>
      </a:accent1>
      <a:accent2>
        <a:srgbClr val="FDA901"/>
      </a:accent2>
      <a:accent3>
        <a:srgbClr val="FFFFFF"/>
      </a:accent3>
      <a:accent4>
        <a:srgbClr val="000000"/>
      </a:accent4>
      <a:accent5>
        <a:srgbClr val="AAC0E8"/>
      </a:accent5>
      <a:accent6>
        <a:srgbClr val="E59901"/>
      </a:accent6>
      <a:hlink>
        <a:srgbClr val="7843ED"/>
      </a:hlink>
      <a:folHlink>
        <a:srgbClr val="430488"/>
      </a:folHlink>
    </a:clrScheme>
    <a:fontScheme name="Deco Visteon">
      <a:majorFont>
        <a:latin typeface="Charlotte Bold LET"/>
        <a:ea typeface=""/>
        <a:cs typeface=""/>
      </a:majorFont>
      <a:minorFont>
        <a:latin typeface="Charlotte Sans Bold LE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folHlink"/>
            </a:solidFill>
            <a:effectLst/>
            <a:latin typeface="Charlotte Sans Bold LET" pitchFamily="2"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folHlink"/>
            </a:solidFill>
            <a:effectLst/>
            <a:latin typeface="Charlotte Sans Bold LET" pitchFamily="2" charset="0"/>
          </a:defRPr>
        </a:defPPr>
      </a:lstStyle>
    </a:lnDef>
  </a:objectDefaults>
  <a:extraClrSchemeLst>
    <a:extraClrScheme>
      <a:clrScheme name="Deco Viste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co Viste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co Viste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co Viste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co Viste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co Viste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co Viste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co Visteon 8">
        <a:dk1>
          <a:srgbClr val="000000"/>
        </a:dk1>
        <a:lt1>
          <a:srgbClr val="FFFFFF"/>
        </a:lt1>
        <a:dk2>
          <a:srgbClr val="FF0000"/>
        </a:dk2>
        <a:lt2>
          <a:srgbClr val="000000"/>
        </a:lt2>
        <a:accent1>
          <a:srgbClr val="6699FF"/>
        </a:accent1>
        <a:accent2>
          <a:srgbClr val="FF6600"/>
        </a:accent2>
        <a:accent3>
          <a:srgbClr val="FFFFFF"/>
        </a:accent3>
        <a:accent4>
          <a:srgbClr val="000000"/>
        </a:accent4>
        <a:accent5>
          <a:srgbClr val="B8CAFF"/>
        </a:accent5>
        <a:accent6>
          <a:srgbClr val="E75C00"/>
        </a:accent6>
        <a:hlink>
          <a:srgbClr val="00CC00"/>
        </a:hlink>
        <a:folHlink>
          <a:srgbClr val="9900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A25C97A2986249B41E72CADC74A191" ma:contentTypeVersion="4" ma:contentTypeDescription="Create a new document." ma:contentTypeScope="" ma:versionID="09c2f7997568f11f6f048b0b696e6d1a">
  <xsd:schema xmlns:xsd="http://www.w3.org/2001/XMLSchema" xmlns:xs="http://www.w3.org/2001/XMLSchema" xmlns:p="http://schemas.microsoft.com/office/2006/metadata/properties" xmlns:ns2="13198c3b-a4e2-4038-bec2-ba20dc2c24ec" targetNamespace="http://schemas.microsoft.com/office/2006/metadata/properties" ma:root="true" ma:fieldsID="a7ce81a64f443739af589702288e63ef" ns2:_="">
    <xsd:import namespace="13198c3b-a4e2-4038-bec2-ba20dc2c24e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98c3b-a4e2-4038-bec2-ba20dc2c24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79EB17D-CF3B-4CEB-ACF4-94A9D91AB3C8}"/>
</file>

<file path=customXml/itemProps2.xml><?xml version="1.0" encoding="utf-8"?>
<ds:datastoreItem xmlns:ds="http://schemas.openxmlformats.org/officeDocument/2006/customXml" ds:itemID="{2751D44A-C6D0-446F-837A-FBA1CF5D0B2F}"/>
</file>

<file path=customXml/itemProps3.xml><?xml version="1.0" encoding="utf-8"?>
<ds:datastoreItem xmlns:ds="http://schemas.openxmlformats.org/officeDocument/2006/customXml" ds:itemID="{C1B681A5-DB73-4BBE-AAB9-90C830B927FE}"/>
</file>

<file path=docProps/app.xml><?xml version="1.0" encoding="utf-8"?>
<Properties xmlns="http://schemas.openxmlformats.org/officeDocument/2006/extended-properties" xmlns:vt="http://schemas.openxmlformats.org/officeDocument/2006/docPropsVTypes">
  <Template/>
  <TotalTime>8805</TotalTime>
  <Words>794</Words>
  <Application>Microsoft Office PowerPoint</Application>
  <PresentationFormat>On-screen Show (4:3)</PresentationFormat>
  <Paragraphs>124</Paragraphs>
  <Slides>13</Slides>
  <Notes>4</Notes>
  <HiddenSlides>0</HiddenSlides>
  <MMClips>0</MMClips>
  <ScaleCrop>false</ScaleCrop>
  <HeadingPairs>
    <vt:vector size="6" baseType="variant">
      <vt:variant>
        <vt:lpstr>Theme</vt:lpstr>
      </vt:variant>
      <vt:variant>
        <vt:i4>1</vt:i4>
      </vt:variant>
      <vt:variant>
        <vt:lpstr>Links</vt:lpstr>
      </vt:variant>
      <vt:variant>
        <vt:i4>1</vt:i4>
      </vt:variant>
      <vt:variant>
        <vt:lpstr>Slide Titles</vt:lpstr>
      </vt:variant>
      <vt:variant>
        <vt:i4>13</vt:i4>
      </vt:variant>
    </vt:vector>
  </HeadingPairs>
  <TitlesOfParts>
    <vt:vector size="15" baseType="lpstr">
      <vt:lpstr>Deco Visteon</vt:lpstr>
      <vt:lpstr>???</vt:lpstr>
      <vt:lpstr>SSQI: Quality and its dimensions </vt:lpstr>
      <vt:lpstr>Quality Initiators</vt:lpstr>
      <vt:lpstr>Quality Initiators</vt:lpstr>
      <vt:lpstr>Quality Initiators</vt:lpstr>
      <vt:lpstr>Quality Initiators</vt:lpstr>
      <vt:lpstr>Quality: Definitions</vt:lpstr>
      <vt:lpstr>Eight dimensions of quality </vt:lpstr>
      <vt:lpstr>Measuring Quality</vt:lpstr>
      <vt:lpstr>Product Quality dimensions</vt:lpstr>
      <vt:lpstr>What  is  a  defect? </vt:lpstr>
      <vt:lpstr>Sigma  concept  of  measuring  defects </vt:lpstr>
      <vt:lpstr>How is  high  level  of  quality  justified?</vt:lpstr>
      <vt:lpstr>Slide 13</vt:lpstr>
    </vt:vector>
  </TitlesOfParts>
  <Company>Visteon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Six Sigma At a Glance</dc:title>
  <dc:creator>TUMMALA</dc:creator>
  <cp:lastModifiedBy>Muralidharan_2</cp:lastModifiedBy>
  <cp:revision>579</cp:revision>
  <cp:lastPrinted>2000-07-21T20:16:25Z</cp:lastPrinted>
  <dcterms:created xsi:type="dcterms:W3CDTF">2000-07-17T15:16:09Z</dcterms:created>
  <dcterms:modified xsi:type="dcterms:W3CDTF">2020-08-31T11:41:43Z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0x01010020A25C97A2986249B41E72CADC74A191</vt:lpwstr>
  </property>
</Properties>
</file>