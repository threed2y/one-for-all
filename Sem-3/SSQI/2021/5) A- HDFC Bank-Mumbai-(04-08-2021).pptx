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40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3.xml" ContentType="application/vnd.openxmlformats-officedocument.theme+xml"/>
  <Override PartName="/ppt/theme/theme2.xml" ContentType="application/vnd.openxmlformats-officedocument.theme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diagrams/layout2.xml" ContentType="application/vnd.openxmlformats-officedocument.drawingml.diagramLayout+xml"/>
  <Override PartName="/ppt/theme/theme1.xml" ContentType="application/vnd.openxmlformats-officedocument.theme+xml"/>
  <Override PartName="/ppt/diagrams/layout3.xml" ContentType="application/vnd.openxmlformats-officedocument.drawingml.diagramLayout+xml"/>
  <Override PartName="/ppt/charts/chart8.xml" ContentType="application/vnd.openxmlformats-officedocument.drawingml.chart+xml"/>
  <Override PartName="/ppt/charts/chart7.xml" ContentType="application/vnd.openxmlformats-officedocument.drawingml.chart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charts/chart6.xml" ContentType="application/vnd.openxmlformats-officedocument.drawingml.chart+xml"/>
  <Override PartName="/ppt/charts/chart5.xml" ContentType="application/vnd.openxmlformats-officedocument.drawingml.chart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diagrams/colors2.xml" ContentType="application/vnd.openxmlformats-officedocument.drawingml.diagramColors+xml"/>
  <Override PartName="/ppt/diagrams/colors5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rawing4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5.xml" ContentType="application/vnd.ms-office.drawingml.diagramDrawing+xml"/>
  <Override PartName="/ppt/diagrams/drawing1.xml" ContentType="application/vnd.ms-office.drawingml.diagramDrawing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29" r:id="rId2"/>
    <p:sldId id="477" r:id="rId3"/>
    <p:sldId id="534" r:id="rId4"/>
    <p:sldId id="476" r:id="rId5"/>
    <p:sldId id="523" r:id="rId6"/>
    <p:sldId id="484" r:id="rId7"/>
    <p:sldId id="542" r:id="rId8"/>
    <p:sldId id="493" r:id="rId9"/>
    <p:sldId id="537" r:id="rId10"/>
    <p:sldId id="485" r:id="rId11"/>
    <p:sldId id="524" r:id="rId12"/>
    <p:sldId id="538" r:id="rId13"/>
    <p:sldId id="559" r:id="rId14"/>
    <p:sldId id="486" r:id="rId15"/>
    <p:sldId id="551" r:id="rId16"/>
    <p:sldId id="515" r:id="rId17"/>
    <p:sldId id="516" r:id="rId18"/>
    <p:sldId id="517" r:id="rId19"/>
    <p:sldId id="560" r:id="rId20"/>
    <p:sldId id="553" r:id="rId21"/>
    <p:sldId id="561" r:id="rId22"/>
    <p:sldId id="528" r:id="rId23"/>
    <p:sldId id="529" r:id="rId24"/>
    <p:sldId id="562" r:id="rId25"/>
    <p:sldId id="554" r:id="rId26"/>
    <p:sldId id="547" r:id="rId27"/>
    <p:sldId id="490" r:id="rId28"/>
    <p:sldId id="489" r:id="rId29"/>
    <p:sldId id="558" r:id="rId30"/>
    <p:sldId id="544" r:id="rId31"/>
    <p:sldId id="468" r:id="rId32"/>
    <p:sldId id="563" r:id="rId33"/>
    <p:sldId id="531" r:id="rId34"/>
    <p:sldId id="555" r:id="rId35"/>
    <p:sldId id="557" r:id="rId36"/>
    <p:sldId id="550" r:id="rId37"/>
    <p:sldId id="541" r:id="rId38"/>
    <p:sldId id="474" r:id="rId39"/>
    <p:sldId id="501" r:id="rId40"/>
    <p:sldId id="466" r:id="rId41"/>
    <p:sldId id="520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40077203-A64D-455E-9158-9A6C9C35E1C0}">
          <p14:sldIdLst>
            <p14:sldId id="429"/>
            <p14:sldId id="477"/>
            <p14:sldId id="534"/>
            <p14:sldId id="476"/>
            <p14:sldId id="523"/>
            <p14:sldId id="484"/>
            <p14:sldId id="542"/>
            <p14:sldId id="493"/>
            <p14:sldId id="537"/>
            <p14:sldId id="485"/>
            <p14:sldId id="524"/>
            <p14:sldId id="538"/>
            <p14:sldId id="559"/>
            <p14:sldId id="486"/>
            <p14:sldId id="551"/>
            <p14:sldId id="515"/>
            <p14:sldId id="516"/>
            <p14:sldId id="517"/>
            <p14:sldId id="560"/>
            <p14:sldId id="553"/>
            <p14:sldId id="561"/>
            <p14:sldId id="528"/>
            <p14:sldId id="529"/>
            <p14:sldId id="562"/>
            <p14:sldId id="554"/>
            <p14:sldId id="547"/>
            <p14:sldId id="490"/>
            <p14:sldId id="489"/>
            <p14:sldId id="558"/>
            <p14:sldId id="544"/>
            <p14:sldId id="468"/>
            <p14:sldId id="563"/>
            <p14:sldId id="531"/>
            <p14:sldId id="555"/>
            <p14:sldId id="557"/>
          </p14:sldIdLst>
        </p14:section>
        <p14:section name="Untitled Section" id="{1C16E3C0-6CE6-480A-9D01-B5225A6A7E22}">
          <p14:sldIdLst>
            <p14:sldId id="550"/>
            <p14:sldId id="541"/>
            <p14:sldId id="474"/>
            <p14:sldId id="501"/>
            <p14:sldId id="466"/>
            <p14:sldId id="52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CFF66"/>
    <a:srgbClr val="12EE2C"/>
    <a:srgbClr val="FF9933"/>
    <a:srgbClr val="0000CC"/>
    <a:srgbClr val="FFCCFF"/>
    <a:srgbClr val="B288A7"/>
    <a:srgbClr val="FF9900"/>
    <a:srgbClr val="800000"/>
    <a:srgbClr val="FFCC66"/>
    <a:srgbClr val="0000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3950" autoAdjust="0"/>
    <p:restoredTop sz="99656" autoAdjust="0"/>
  </p:normalViewPr>
  <p:slideViewPr>
    <p:cSldViewPr>
      <p:cViewPr>
        <p:scale>
          <a:sx n="73" d="100"/>
          <a:sy n="73" d="100"/>
        </p:scale>
        <p:origin x="-720" y="108"/>
      </p:cViewPr>
      <p:guideLst>
        <p:guide orient="horz" pos="321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720"/>
    </p:cViewPr>
  </p:sorterViewPr>
  <p:notesViewPr>
    <p:cSldViewPr>
      <p:cViewPr varScale="1">
        <p:scale>
          <a:sx n="53" d="100"/>
          <a:sy n="53" d="100"/>
        </p:scale>
        <p:origin x="-2868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r6964\Desktop\QIMPRO\New%20Microsoft%20Excel%20Workshee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r6964\Desktop\QIMPRO\New%20Microsoft%20Excel%20Worksheet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r6964\Desktop\QIMPRO\New%20Microsoft%20Excel%20Worksheet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H0523\Desktop\Qimpro\advocacy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H0523\Desktop\Qimpro\FTNR%20and%20RTO%20Paret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H0523\Desktop\Qimpro\RTO%20Paret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HDFC\My%20projects\2012-13\Qimpro\baseline%20Analysi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r6964\Desktop\QIMPRO\New%20Microsoft%20Excel%20Workshe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view3D>
      <c:rotX val="30"/>
      <c:perspective val="30"/>
    </c:view3D>
    <c:plotArea>
      <c:layout/>
      <c:pie3DChart>
        <c:varyColors val="1"/>
        <c:ser>
          <c:idx val="0"/>
          <c:order val="0"/>
          <c:tx>
            <c:strRef>
              <c:f>Sheet2!$I$14</c:f>
              <c:strCache>
                <c:ptCount val="1"/>
                <c:pt idx="0">
                  <c:v>Mar-09</c:v>
                </c:pt>
              </c:strCache>
            </c:strRef>
          </c:tx>
          <c:dPt>
            <c:idx val="0"/>
            <c:spPr>
              <a:solidFill>
                <a:schemeClr val="accent1">
                  <a:lumMod val="90000"/>
                </a:schemeClr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92D050"/>
              </a:solidFill>
            </c:spPr>
          </c:dPt>
          <c:dLbls>
            <c:dLbl>
              <c:idx val="0"/>
              <c:layout>
                <c:manualLayout>
                  <c:x val="-0.26598442931120142"/>
                  <c:y val="6.3253435922495313E-2"/>
                </c:manualLayout>
              </c:layout>
              <c:showCatName val="1"/>
              <c:showPercent val="1"/>
            </c:dLbl>
            <c:dLbl>
              <c:idx val="2"/>
              <c:layout>
                <c:manualLayout>
                  <c:x val="0.14610023409236036"/>
                  <c:y val="3.2113216441317621E-2"/>
                </c:manualLayout>
              </c:layout>
              <c:showCatName val="1"/>
              <c:showPercent val="1"/>
            </c:dLbl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CatName val="1"/>
            <c:showPercent val="1"/>
            <c:showLeaderLines val="1"/>
          </c:dLbls>
          <c:cat>
            <c:strRef>
              <c:f>Sheet2!$H$15:$H$17</c:f>
              <c:strCache>
                <c:ptCount val="3"/>
                <c:pt idx="0">
                  <c:v>Metro</c:v>
                </c:pt>
                <c:pt idx="1">
                  <c:v>Urban</c:v>
                </c:pt>
                <c:pt idx="2">
                  <c:v>Rural / Semi-Urban</c:v>
                </c:pt>
              </c:strCache>
            </c:strRef>
          </c:cat>
          <c:val>
            <c:numRef>
              <c:f>Sheet2!$I$15:$I$17</c:f>
              <c:numCache>
                <c:formatCode>0%</c:formatCode>
                <c:ptCount val="3"/>
                <c:pt idx="0">
                  <c:v>0.36000000000000026</c:v>
                </c:pt>
                <c:pt idx="1">
                  <c:v>0.34000000000000025</c:v>
                </c:pt>
                <c:pt idx="2">
                  <c:v>0.30000000000000027</c:v>
                </c:pt>
              </c:numCache>
            </c:numRef>
          </c:val>
        </c:ser>
        <c:dLbls>
          <c:showCatName val="1"/>
          <c:showPercent val="1"/>
        </c:dLbls>
      </c:pie3DChart>
    </c:plotArea>
    <c:plotVisOnly val="1"/>
    <c:dispBlanksAs val="zero"/>
  </c:chart>
  <c:txPr>
    <a:bodyPr/>
    <a:lstStyle/>
    <a:p>
      <a:pPr>
        <a:defRPr sz="1200" b="1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view3D>
      <c:rotX val="30"/>
      <c:perspective val="30"/>
    </c:view3D>
    <c:plotArea>
      <c:layout/>
      <c:pie3DChart>
        <c:varyColors val="1"/>
        <c:ser>
          <c:idx val="0"/>
          <c:order val="0"/>
          <c:tx>
            <c:strRef>
              <c:f>Sheet2!$J$14</c:f>
              <c:strCache>
                <c:ptCount val="1"/>
                <c:pt idx="0">
                  <c:v>Mar-12</c:v>
                </c:pt>
              </c:strCache>
            </c:strRef>
          </c:tx>
          <c:dPt>
            <c:idx val="0"/>
            <c:spPr>
              <a:solidFill>
                <a:schemeClr val="accent1">
                  <a:lumMod val="90000"/>
                </a:schemeClr>
              </a:solidFill>
            </c:spPr>
          </c:dPt>
          <c:dPt>
            <c:idx val="1"/>
            <c:spPr>
              <a:solidFill>
                <a:srgbClr val="FFC000"/>
              </a:solidFill>
            </c:spPr>
          </c:dPt>
          <c:dPt>
            <c:idx val="2"/>
            <c:spPr>
              <a:solidFill>
                <a:srgbClr val="92D050"/>
              </a:solidFill>
            </c:spPr>
          </c:dPt>
          <c:dLbls>
            <c:dLbl>
              <c:idx val="0"/>
              <c:layout>
                <c:manualLayout>
                  <c:x val="-0.22053702168807837"/>
                  <c:y val="7.8638777569087506E-2"/>
                </c:manualLayout>
              </c:layout>
              <c:showVal val="1"/>
              <c:showCatName val="1"/>
            </c:dLbl>
            <c:dLbl>
              <c:idx val="2"/>
              <c:layout>
                <c:manualLayout>
                  <c:x val="0.21229158855143143"/>
                  <c:y val="7.7431631529929837E-2"/>
                </c:manualLayout>
              </c:layout>
              <c:showVal val="1"/>
              <c:showCatName val="1"/>
            </c:dLbl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Val val="1"/>
            <c:showCatName val="1"/>
            <c:showLeaderLines val="1"/>
          </c:dLbls>
          <c:cat>
            <c:strRef>
              <c:f>Sheet2!$H$15:$H$17</c:f>
              <c:strCache>
                <c:ptCount val="3"/>
                <c:pt idx="0">
                  <c:v>Metro</c:v>
                </c:pt>
                <c:pt idx="1">
                  <c:v>Urban</c:v>
                </c:pt>
                <c:pt idx="2">
                  <c:v>Rural / Semi-Urban</c:v>
                </c:pt>
              </c:strCache>
            </c:strRef>
          </c:cat>
          <c:val>
            <c:numRef>
              <c:f>Sheet2!$J$15:$J$17</c:f>
              <c:numCache>
                <c:formatCode>0%</c:formatCode>
                <c:ptCount val="3"/>
                <c:pt idx="0">
                  <c:v>0.28000000000000008</c:v>
                </c:pt>
                <c:pt idx="1">
                  <c:v>0.27</c:v>
                </c:pt>
                <c:pt idx="2">
                  <c:v>0.45</c:v>
                </c:pt>
              </c:numCache>
            </c:numRef>
          </c:val>
        </c:ser>
        <c:dLbls/>
      </c:pie3DChart>
    </c:plotArea>
    <c:plotVisOnly val="1"/>
    <c:dispBlanksAs val="zero"/>
  </c:chart>
  <c:txPr>
    <a:bodyPr/>
    <a:lstStyle/>
    <a:p>
      <a:pPr>
        <a:defRPr sz="1200" b="1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  <c:txPr>
        <a:bodyPr/>
        <a:lstStyle/>
        <a:p>
          <a:pPr>
            <a:defRPr sz="1400"/>
          </a:pPr>
          <a:endParaRPr lang="en-US"/>
        </a:p>
      </c:txPr>
    </c:title>
    <c:view3D>
      <c:rAngAx val="1"/>
    </c:view3D>
    <c:floor>
      <c:spPr>
        <a:solidFill>
          <a:schemeClr val="bg2">
            <a:lumMod val="60000"/>
            <a:lumOff val="40000"/>
          </a:schemeClr>
        </a:solidFill>
      </c:spPr>
    </c:floor>
    <c:plotArea>
      <c:layout/>
      <c:bar3DChart>
        <c:barDir val="col"/>
        <c:grouping val="clustered"/>
        <c:ser>
          <c:idx val="0"/>
          <c:order val="0"/>
          <c:tx>
            <c:strRef>
              <c:f>Sheet2!$D$4</c:f>
              <c:strCache>
                <c:ptCount val="1"/>
                <c:pt idx="0">
                  <c:v>Debit Cards(in million)</c:v>
                </c:pt>
              </c:strCache>
            </c:strRef>
          </c:tx>
          <c:dPt>
            <c:idx val="0"/>
            <c:spPr>
              <a:solidFill>
                <a:srgbClr val="0000CC"/>
              </a:solidFill>
            </c:spPr>
          </c:dPt>
          <c:dPt>
            <c:idx val="1"/>
            <c:spPr>
              <a:solidFill>
                <a:srgbClr val="0000CC"/>
              </a:solidFill>
            </c:spPr>
          </c:dPt>
          <c:dPt>
            <c:idx val="2"/>
            <c:spPr>
              <a:solidFill>
                <a:srgbClr val="0000CC"/>
              </a:solidFill>
            </c:spPr>
          </c:dPt>
          <c:dLbls>
            <c:dLbl>
              <c:idx val="0"/>
              <c:layout>
                <c:manualLayout>
                  <c:x val="1.6666447944007016E-2"/>
                  <c:y val="-2.3148148148148147E-2"/>
                </c:manualLayout>
              </c:layout>
              <c:showVal val="1"/>
            </c:dLbl>
            <c:dLbl>
              <c:idx val="1"/>
              <c:layout>
                <c:manualLayout>
                  <c:x val="1.6666666666666684E-2"/>
                  <c:y val="-2.3148148148148147E-2"/>
                </c:manualLayout>
              </c:layout>
              <c:showVal val="1"/>
            </c:dLbl>
            <c:dLbl>
              <c:idx val="2"/>
              <c:layout>
                <c:manualLayout>
                  <c:x val="2.2222222222222247E-2"/>
                  <c:y val="-2.7777777777777801E-2"/>
                </c:manualLayout>
              </c:layout>
              <c:showVal val="1"/>
            </c:dLbl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showVal val="1"/>
          </c:dLbls>
          <c:cat>
            <c:strRef>
              <c:f>Sheet2!$C$5:$C$7</c:f>
              <c:strCache>
                <c:ptCount val="3"/>
                <c:pt idx="0">
                  <c:v>2009-10</c:v>
                </c:pt>
                <c:pt idx="1">
                  <c:v>2010-11</c:v>
                </c:pt>
                <c:pt idx="2">
                  <c:v>2012-13</c:v>
                </c:pt>
              </c:strCache>
            </c:strRef>
          </c:cat>
          <c:val>
            <c:numRef>
              <c:f>Sheet2!$D$5:$D$7</c:f>
              <c:numCache>
                <c:formatCode>0.0</c:formatCode>
                <c:ptCount val="3"/>
                <c:pt idx="0">
                  <c:v>9.83</c:v>
                </c:pt>
                <c:pt idx="1">
                  <c:v>11.55</c:v>
                </c:pt>
                <c:pt idx="2">
                  <c:v>14.11</c:v>
                </c:pt>
              </c:numCache>
            </c:numRef>
          </c:val>
        </c:ser>
        <c:dLbls>
          <c:showVal val="1"/>
        </c:dLbls>
        <c:shape val="cylinder"/>
        <c:axId val="75432320"/>
        <c:axId val="75433856"/>
        <c:axId val="0"/>
      </c:bar3DChart>
      <c:catAx>
        <c:axId val="75432320"/>
        <c:scaling>
          <c:orientation val="minMax"/>
        </c:scaling>
        <c:axPos val="b"/>
        <c:maj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5433856"/>
        <c:crosses val="autoZero"/>
        <c:auto val="1"/>
        <c:lblAlgn val="ctr"/>
        <c:lblOffset val="100"/>
      </c:catAx>
      <c:valAx>
        <c:axId val="75433856"/>
        <c:scaling>
          <c:orientation val="minMax"/>
        </c:scaling>
        <c:delete val="1"/>
        <c:axPos val="l"/>
        <c:numFmt formatCode="0.0" sourceLinked="1"/>
        <c:tickLblPos val="nextTo"/>
        <c:crossAx val="75432320"/>
        <c:crosses val="autoZero"/>
        <c:crossBetween val="between"/>
      </c:valAx>
    </c:plotArea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Sheet1!$C$3</c:f>
              <c:strCache>
                <c:ptCount val="1"/>
                <c:pt idx="0">
                  <c:v>Advocacy</c:v>
                </c:pt>
              </c:strCache>
            </c:strRef>
          </c:tx>
          <c:dPt>
            <c:idx val="0"/>
            <c:spPr>
              <a:solidFill>
                <a:srgbClr val="92D050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Lbls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Val val="1"/>
          </c:dLbls>
          <c:cat>
            <c:strRef>
              <c:f>Sheet1!$B$4:$B$6</c:f>
              <c:strCache>
                <c:ptCount val="3"/>
                <c:pt idx="0">
                  <c:v>Has Debit Card - No issues faced.</c:v>
                </c:pt>
                <c:pt idx="1">
                  <c:v>Requested for Debit Card - Experienced Issues</c:v>
                </c:pt>
                <c:pt idx="2">
                  <c:v>Requested for Debit Card - Experienced seemless delivery</c:v>
                </c:pt>
              </c:strCache>
            </c:strRef>
          </c:cat>
          <c:val>
            <c:numRef>
              <c:f>Sheet1!$C$4:$C$6</c:f>
              <c:numCache>
                <c:formatCode>General</c:formatCode>
                <c:ptCount val="3"/>
                <c:pt idx="0">
                  <c:v>32</c:v>
                </c:pt>
                <c:pt idx="1">
                  <c:v>-60</c:v>
                </c:pt>
                <c:pt idx="2">
                  <c:v>65</c:v>
                </c:pt>
              </c:numCache>
            </c:numRef>
          </c:val>
        </c:ser>
        <c:dLbls/>
        <c:axId val="103904384"/>
        <c:axId val="103906304"/>
      </c:barChart>
      <c:catAx>
        <c:axId val="103904384"/>
        <c:scaling>
          <c:orientation val="minMax"/>
        </c:scaling>
        <c:axPos val="b"/>
        <c:tickLblPos val="low"/>
        <c:txPr>
          <a:bodyPr/>
          <a:lstStyle/>
          <a:p>
            <a:pPr>
              <a:defRPr sz="1400" b="1"/>
            </a:pPr>
            <a:endParaRPr lang="en-US"/>
          </a:p>
        </c:txPr>
        <c:crossAx val="103906304"/>
        <c:crosses val="autoZero"/>
        <c:auto val="1"/>
        <c:lblAlgn val="ctr"/>
        <c:lblOffset val="100"/>
      </c:catAx>
      <c:valAx>
        <c:axId val="103906304"/>
        <c:scaling>
          <c:orientation val="minMax"/>
        </c:scaling>
        <c:axPos val="l"/>
        <c:numFmt formatCode="General" sourceLinked="1"/>
        <c:tickLblPos val="nextTo"/>
        <c:crossAx val="103904384"/>
        <c:crosses val="autoZero"/>
        <c:crossBetween val="between"/>
      </c:valAx>
    </c:plotArea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Sheet1!$C$22</c:f>
              <c:strCache>
                <c:ptCount val="1"/>
                <c:pt idx="0">
                  <c:v>Count</c:v>
                </c:pt>
              </c:strCache>
            </c:strRef>
          </c:tx>
          <c:dLbls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Val val="1"/>
          </c:dLbls>
          <c:cat>
            <c:strRef>
              <c:f>Sheet1!$B$23:$B$29</c:f>
              <c:strCache>
                <c:ptCount val="7"/>
                <c:pt idx="0">
                  <c:v>Eligibility not Checked by Staff</c:v>
                </c:pt>
                <c:pt idx="1">
                  <c:v>Card Code/Annotation Missing</c:v>
                </c:pt>
                <c:pt idx="2">
                  <c:v>Wrong Application Form</c:v>
                </c:pt>
                <c:pt idx="3">
                  <c:v>Certification Missing</c:v>
                </c:pt>
                <c:pt idx="4">
                  <c:v>Address Mismatch</c:v>
                </c:pt>
                <c:pt idx="5">
                  <c:v>Approval not provided</c:v>
                </c:pt>
                <c:pt idx="6">
                  <c:v>Other</c:v>
                </c:pt>
              </c:strCache>
            </c:strRef>
          </c:cat>
          <c:val>
            <c:numRef>
              <c:f>Sheet1!$C$23:$C$29</c:f>
              <c:numCache>
                <c:formatCode>General</c:formatCode>
                <c:ptCount val="7"/>
                <c:pt idx="0">
                  <c:v>2359</c:v>
                </c:pt>
                <c:pt idx="1">
                  <c:v>1532</c:v>
                </c:pt>
                <c:pt idx="2">
                  <c:v>698</c:v>
                </c:pt>
                <c:pt idx="3">
                  <c:v>550</c:v>
                </c:pt>
                <c:pt idx="4">
                  <c:v>500</c:v>
                </c:pt>
                <c:pt idx="5">
                  <c:v>342</c:v>
                </c:pt>
                <c:pt idx="6">
                  <c:v>1464</c:v>
                </c:pt>
              </c:numCache>
            </c:numRef>
          </c:val>
        </c:ser>
        <c:dLbls/>
        <c:axId val="195219456"/>
        <c:axId val="195220992"/>
      </c:barChart>
      <c:lineChart>
        <c:grouping val="standard"/>
        <c:ser>
          <c:idx val="1"/>
          <c:order val="1"/>
          <c:tx>
            <c:strRef>
              <c:f>Sheet1!$E$22</c:f>
              <c:strCache>
                <c:ptCount val="1"/>
                <c:pt idx="0">
                  <c:v>Cumm% </c:v>
                </c:pt>
              </c:strCache>
            </c:strRef>
          </c:tx>
          <c:dLbls>
            <c:txPr>
              <a:bodyPr/>
              <a:lstStyle/>
              <a:p>
                <a:pPr>
                  <a:defRPr sz="1200" b="1">
                    <a:solidFill>
                      <a:srgbClr val="0000CC"/>
                    </a:solidFill>
                  </a:defRPr>
                </a:pPr>
                <a:endParaRPr lang="en-US"/>
              </a:p>
            </c:txPr>
            <c:dLblPos val="b"/>
            <c:showVal val="1"/>
          </c:dLbls>
          <c:cat>
            <c:strRef>
              <c:f>Sheet1!$B$23:$B$29</c:f>
              <c:strCache>
                <c:ptCount val="7"/>
                <c:pt idx="0">
                  <c:v>Eligibility not Checked by Staff</c:v>
                </c:pt>
                <c:pt idx="1">
                  <c:v>Card Code/Annotation Missing</c:v>
                </c:pt>
                <c:pt idx="2">
                  <c:v>Wrong Application Form</c:v>
                </c:pt>
                <c:pt idx="3">
                  <c:v>Certification Missing</c:v>
                </c:pt>
                <c:pt idx="4">
                  <c:v>Address Mismatch</c:v>
                </c:pt>
                <c:pt idx="5">
                  <c:v>Approval not provided</c:v>
                </c:pt>
                <c:pt idx="6">
                  <c:v>Other</c:v>
                </c:pt>
              </c:strCache>
            </c:strRef>
          </c:cat>
          <c:val>
            <c:numRef>
              <c:f>Sheet1!$E$23:$E$29</c:f>
              <c:numCache>
                <c:formatCode>0%</c:formatCode>
                <c:ptCount val="7"/>
                <c:pt idx="0">
                  <c:v>0.31685695097380806</c:v>
                </c:pt>
                <c:pt idx="1">
                  <c:v>0.52263263935527204</c:v>
                </c:pt>
                <c:pt idx="2">
                  <c:v>0.6163868368032237</c:v>
                </c:pt>
                <c:pt idx="3">
                  <c:v>0.69026192075218262</c:v>
                </c:pt>
                <c:pt idx="4">
                  <c:v>0.75742108797850938</c:v>
                </c:pt>
                <c:pt idx="5">
                  <c:v>0.8033579583613164</c:v>
                </c:pt>
                <c:pt idx="6">
                  <c:v>1</c:v>
                </c:pt>
              </c:numCache>
            </c:numRef>
          </c:val>
        </c:ser>
        <c:dLbls/>
        <c:marker val="1"/>
        <c:axId val="195586688"/>
        <c:axId val="195222912"/>
      </c:lineChart>
      <c:catAx>
        <c:axId val="195219456"/>
        <c:scaling>
          <c:orientation val="minMax"/>
        </c:scaling>
        <c:axPos val="b"/>
        <c:tickLblPos val="nextTo"/>
        <c:txPr>
          <a:bodyPr/>
          <a:lstStyle/>
          <a:p>
            <a:pPr>
              <a:defRPr sz="1050" b="1"/>
            </a:pPr>
            <a:endParaRPr lang="en-US"/>
          </a:p>
        </c:txPr>
        <c:crossAx val="195220992"/>
        <c:crosses val="autoZero"/>
        <c:auto val="1"/>
        <c:lblAlgn val="ctr"/>
        <c:lblOffset val="100"/>
      </c:catAx>
      <c:valAx>
        <c:axId val="195220992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95219456"/>
        <c:crosses val="autoZero"/>
        <c:crossBetween val="between"/>
      </c:valAx>
      <c:valAx>
        <c:axId val="195222912"/>
        <c:scaling>
          <c:orientation val="minMax"/>
          <c:max val="1"/>
        </c:scaling>
        <c:axPos val="r"/>
        <c:numFmt formatCode="0%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95586688"/>
        <c:crosses val="max"/>
        <c:crossBetween val="between"/>
      </c:valAx>
      <c:catAx>
        <c:axId val="195586688"/>
        <c:scaling>
          <c:orientation val="minMax"/>
        </c:scaling>
        <c:delete val="1"/>
        <c:axPos val="b"/>
        <c:tickLblPos val="nextTo"/>
        <c:crossAx val="195222912"/>
        <c:crosses val="autoZero"/>
        <c:auto val="1"/>
        <c:lblAlgn val="ctr"/>
        <c:lblOffset val="100"/>
      </c:catAx>
    </c:plotArea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6.4615208649377545E-2"/>
          <c:y val="3.1073446327683624E-2"/>
          <c:w val="0.86567783958197908"/>
          <c:h val="0.80581431558343353"/>
        </c:manualLayout>
      </c:layout>
      <c:barChart>
        <c:barDir val="col"/>
        <c:grouping val="clustered"/>
        <c:ser>
          <c:idx val="0"/>
          <c:order val="0"/>
          <c:tx>
            <c:strRef>
              <c:f>Sheet1!$C$3</c:f>
              <c:strCache>
                <c:ptCount val="1"/>
                <c:pt idx="0">
                  <c:v>Count</c:v>
                </c:pt>
              </c:strCache>
            </c:strRef>
          </c:tx>
          <c:dLbls>
            <c:dLbl>
              <c:idx val="1"/>
              <c:layout>
                <c:manualLayout>
                  <c:x val="-1.5290519877675561E-3"/>
                  <c:y val="8.1920903954802352E-2"/>
                </c:manualLayout>
              </c:layout>
              <c:showVal val="1"/>
            </c:dLbl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Val val="1"/>
          </c:dLbls>
          <c:cat>
            <c:strRef>
              <c:f>Sheet1!$B$4:$B$11</c:f>
              <c:strCache>
                <c:ptCount val="8"/>
                <c:pt idx="0">
                  <c:v>Customer Shifted</c:v>
                </c:pt>
                <c:pt idx="1">
                  <c:v>Address Incorrect</c:v>
                </c:pt>
                <c:pt idx="2">
                  <c:v>Customer not Available</c:v>
                </c:pt>
                <c:pt idx="3">
                  <c:v>Dept Name Not Mentioned</c:v>
                </c:pt>
                <c:pt idx="4">
                  <c:v>Customer Out Of Station</c:v>
                </c:pt>
                <c:pt idx="5">
                  <c:v>Door Locked</c:v>
                </c:pt>
                <c:pt idx="6">
                  <c:v>Out Side Delivery Area</c:v>
                </c:pt>
                <c:pt idx="7">
                  <c:v>Others</c:v>
                </c:pt>
              </c:strCache>
            </c:strRef>
          </c:cat>
          <c:val>
            <c:numRef>
              <c:f>Sheet1!$C$4:$C$11</c:f>
              <c:numCache>
                <c:formatCode>General</c:formatCode>
                <c:ptCount val="8"/>
                <c:pt idx="0">
                  <c:v>4122</c:v>
                </c:pt>
                <c:pt idx="1">
                  <c:v>2314</c:v>
                </c:pt>
                <c:pt idx="2">
                  <c:v>1419</c:v>
                </c:pt>
                <c:pt idx="3">
                  <c:v>1216</c:v>
                </c:pt>
                <c:pt idx="4">
                  <c:v>624</c:v>
                </c:pt>
                <c:pt idx="5">
                  <c:v>595</c:v>
                </c:pt>
                <c:pt idx="6">
                  <c:v>535</c:v>
                </c:pt>
                <c:pt idx="7">
                  <c:v>489</c:v>
                </c:pt>
              </c:numCache>
            </c:numRef>
          </c:val>
        </c:ser>
        <c:dLbls/>
        <c:axId val="211165952"/>
        <c:axId val="211168256"/>
      </c:barChart>
      <c:lineChart>
        <c:grouping val="standard"/>
        <c:ser>
          <c:idx val="1"/>
          <c:order val="1"/>
          <c:tx>
            <c:strRef>
              <c:f>Sheet1!$E$3</c:f>
              <c:strCache>
                <c:ptCount val="1"/>
                <c:pt idx="0">
                  <c:v>Cumm% </c:v>
                </c:pt>
              </c:strCache>
            </c:strRef>
          </c:tx>
          <c:dLbls>
            <c:txPr>
              <a:bodyPr/>
              <a:lstStyle/>
              <a:p>
                <a:pPr>
                  <a:defRPr sz="1400" b="1">
                    <a:solidFill>
                      <a:srgbClr val="0000CC"/>
                    </a:solidFill>
                  </a:defRPr>
                </a:pPr>
                <a:endParaRPr lang="en-US"/>
              </a:p>
            </c:txPr>
            <c:dLblPos val="b"/>
            <c:showVal val="1"/>
          </c:dLbls>
          <c:cat>
            <c:strRef>
              <c:f>Sheet1!$B$4:$B$11</c:f>
              <c:strCache>
                <c:ptCount val="8"/>
                <c:pt idx="0">
                  <c:v>Customer Shifted</c:v>
                </c:pt>
                <c:pt idx="1">
                  <c:v>Address Incorrect</c:v>
                </c:pt>
                <c:pt idx="2">
                  <c:v>Customer not Available</c:v>
                </c:pt>
                <c:pt idx="3">
                  <c:v>Dept Name Not Mentioned</c:v>
                </c:pt>
                <c:pt idx="4">
                  <c:v>Customer Out Of Station</c:v>
                </c:pt>
                <c:pt idx="5">
                  <c:v>Door Locked</c:v>
                </c:pt>
                <c:pt idx="6">
                  <c:v>Out Side Delivery Area</c:v>
                </c:pt>
                <c:pt idx="7">
                  <c:v>Others</c:v>
                </c:pt>
              </c:strCache>
            </c:strRef>
          </c:cat>
          <c:val>
            <c:numRef>
              <c:f>Sheet1!$E$4:$E$11</c:f>
              <c:numCache>
                <c:formatCode>0%</c:formatCode>
                <c:ptCount val="8"/>
                <c:pt idx="0">
                  <c:v>0.36432738200459613</c:v>
                </c:pt>
                <c:pt idx="1">
                  <c:v>0.56885274880678793</c:v>
                </c:pt>
                <c:pt idx="2">
                  <c:v>0.6942725826409758</c:v>
                </c:pt>
                <c:pt idx="3">
                  <c:v>0.80175004419303531</c:v>
                </c:pt>
                <c:pt idx="4">
                  <c:v>0.85690295209474998</c:v>
                </c:pt>
                <c:pt idx="5">
                  <c:v>0.90949266395616046</c:v>
                </c:pt>
                <c:pt idx="6">
                  <c:v>0.95677921159625245</c:v>
                </c:pt>
                <c:pt idx="7">
                  <c:v>0.99999999999999989</c:v>
                </c:pt>
              </c:numCache>
            </c:numRef>
          </c:val>
        </c:ser>
        <c:dLbls/>
        <c:marker val="1"/>
        <c:axId val="38234752"/>
        <c:axId val="38233216"/>
      </c:lineChart>
      <c:catAx>
        <c:axId val="211165952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11168256"/>
        <c:crosses val="autoZero"/>
        <c:auto val="1"/>
        <c:lblAlgn val="ctr"/>
        <c:lblOffset val="100"/>
      </c:catAx>
      <c:valAx>
        <c:axId val="211168256"/>
        <c:scaling>
          <c:orientation val="minMax"/>
        </c:scaling>
        <c:axPos val="l"/>
        <c:numFmt formatCode="General" sourceLinked="1"/>
        <c:tickLblPos val="nextTo"/>
        <c:crossAx val="211165952"/>
        <c:crosses val="autoZero"/>
        <c:crossBetween val="between"/>
      </c:valAx>
      <c:valAx>
        <c:axId val="38233216"/>
        <c:scaling>
          <c:orientation val="minMax"/>
          <c:max val="1"/>
        </c:scaling>
        <c:axPos val="r"/>
        <c:numFmt formatCode="0%" sourceLinked="1"/>
        <c:tickLblPos val="nextTo"/>
        <c:crossAx val="38234752"/>
        <c:crosses val="max"/>
        <c:crossBetween val="between"/>
      </c:valAx>
      <c:catAx>
        <c:axId val="38234752"/>
        <c:scaling>
          <c:orientation val="minMax"/>
        </c:scaling>
        <c:delete val="1"/>
        <c:axPos val="b"/>
        <c:tickLblPos val="nextTo"/>
        <c:crossAx val="38233216"/>
        <c:crosses val="autoZero"/>
        <c:auto val="1"/>
        <c:lblAlgn val="ctr"/>
        <c:lblOffset val="100"/>
      </c:catAx>
    </c:plotArea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4"/>
  <c:chart>
    <c:title>
      <c:tx>
        <c:rich>
          <a:bodyPr/>
          <a:lstStyle/>
          <a:p>
            <a:pPr>
              <a:defRPr sz="1800"/>
            </a:pPr>
            <a:r>
              <a:rPr lang="en-US" sz="1800" dirty="0"/>
              <a:t>Complaints </a:t>
            </a:r>
            <a:r>
              <a:rPr lang="en-US" sz="1800" dirty="0" smtClean="0"/>
              <a:t>to</a:t>
            </a:r>
            <a:r>
              <a:rPr lang="en-US" sz="1800" baseline="0" dirty="0" smtClean="0"/>
              <a:t> Cards Ratio</a:t>
            </a:r>
            <a:endParaRPr lang="en-US" sz="1800" dirty="0"/>
          </a:p>
        </c:rich>
      </c:tx>
      <c:layout>
        <c:manualLayout>
          <c:xMode val="edge"/>
          <c:yMode val="edge"/>
          <c:x val="0.21521522309711291"/>
          <c:y val="1.900209790789659E-2"/>
        </c:manualLayout>
      </c:layout>
    </c:title>
    <c:plotArea>
      <c:layout/>
      <c:barChart>
        <c:barDir val="col"/>
        <c:grouping val="clustered"/>
        <c:ser>
          <c:idx val="0"/>
          <c:order val="0"/>
          <c:tx>
            <c:strRef>
              <c:f>Sheet1!$P$28</c:f>
              <c:strCache>
                <c:ptCount val="1"/>
                <c:pt idx="0">
                  <c:v>Complaints %</c:v>
                </c:pt>
              </c:strCache>
            </c:strRef>
          </c:tx>
          <c:dLbls>
            <c:dLbl>
              <c:idx val="0"/>
              <c:layout>
                <c:manualLayout>
                  <c:x val="0"/>
                  <c:y val="2.777777777777779E-2"/>
                </c:manualLayout>
              </c:layout>
              <c:showVal val="1"/>
            </c:dLbl>
            <c:dLbl>
              <c:idx val="10"/>
              <c:layout>
                <c:manualLayout>
                  <c:x val="0"/>
                  <c:y val="2.3148148148148147E-2"/>
                </c:manualLayout>
              </c:layout>
              <c:showVal val="1"/>
            </c:dLbl>
            <c:dLbl>
              <c:idx val="13"/>
              <c:layout>
                <c:manualLayout>
                  <c:x val="5.5555555555554517E-3"/>
                  <c:y val="1.3888888888888892E-2"/>
                </c:manualLayout>
              </c:layout>
              <c:showVal val="1"/>
            </c:dLbl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Val val="1"/>
          </c:dLbls>
          <c:cat>
            <c:numRef>
              <c:f>Sheet1!$O$29:$O$42</c:f>
              <c:numCache>
                <c:formatCode>mmm\-yy</c:formatCode>
                <c:ptCount val="14"/>
                <c:pt idx="0">
                  <c:v>40725</c:v>
                </c:pt>
                <c:pt idx="1">
                  <c:v>40756</c:v>
                </c:pt>
                <c:pt idx="2">
                  <c:v>40787</c:v>
                </c:pt>
                <c:pt idx="3">
                  <c:v>40817</c:v>
                </c:pt>
                <c:pt idx="4">
                  <c:v>40848</c:v>
                </c:pt>
                <c:pt idx="5">
                  <c:v>40878</c:v>
                </c:pt>
                <c:pt idx="6">
                  <c:v>40909</c:v>
                </c:pt>
                <c:pt idx="7">
                  <c:v>40940</c:v>
                </c:pt>
                <c:pt idx="8">
                  <c:v>40969</c:v>
                </c:pt>
                <c:pt idx="9">
                  <c:v>41000</c:v>
                </c:pt>
                <c:pt idx="10">
                  <c:v>41030</c:v>
                </c:pt>
                <c:pt idx="11">
                  <c:v>41061</c:v>
                </c:pt>
                <c:pt idx="12">
                  <c:v>41091</c:v>
                </c:pt>
                <c:pt idx="13">
                  <c:v>41122</c:v>
                </c:pt>
              </c:numCache>
            </c:numRef>
          </c:cat>
          <c:val>
            <c:numRef>
              <c:f>Sheet1!$P$29:$P$42</c:f>
              <c:numCache>
                <c:formatCode>0.0%</c:formatCode>
                <c:ptCount val="14"/>
                <c:pt idx="0">
                  <c:v>4.001676445934621E-2</c:v>
                </c:pt>
                <c:pt idx="1">
                  <c:v>4.1458518138101683E-2</c:v>
                </c:pt>
                <c:pt idx="2">
                  <c:v>4.5259023751636429E-2</c:v>
                </c:pt>
                <c:pt idx="3" formatCode="0%">
                  <c:v>0.05</c:v>
                </c:pt>
                <c:pt idx="4">
                  <c:v>3.7999999999999999E-2</c:v>
                </c:pt>
                <c:pt idx="5" formatCode="0%">
                  <c:v>4.0000000000000008E-2</c:v>
                </c:pt>
                <c:pt idx="6">
                  <c:v>3.2000000000000008E-2</c:v>
                </c:pt>
                <c:pt idx="7">
                  <c:v>2.1000000000000005E-2</c:v>
                </c:pt>
                <c:pt idx="8">
                  <c:v>1.6738402678144429E-2</c:v>
                </c:pt>
                <c:pt idx="9">
                  <c:v>2.0000000000000004E-2</c:v>
                </c:pt>
                <c:pt idx="10">
                  <c:v>1.4999999999999998E-2</c:v>
                </c:pt>
                <c:pt idx="11">
                  <c:v>1.4E-2</c:v>
                </c:pt>
                <c:pt idx="12">
                  <c:v>1.0000000000000002E-2</c:v>
                </c:pt>
                <c:pt idx="13">
                  <c:v>7.000000000000001E-3</c:v>
                </c:pt>
              </c:numCache>
            </c:numRef>
          </c:val>
        </c:ser>
        <c:dLbls>
          <c:showVal val="1"/>
        </c:dLbls>
        <c:overlap val="-25"/>
        <c:axId val="38283520"/>
        <c:axId val="38285312"/>
      </c:barChart>
      <c:dateAx>
        <c:axId val="38283520"/>
        <c:scaling>
          <c:orientation val="minMax"/>
        </c:scaling>
        <c:axPos val="b"/>
        <c:numFmt formatCode="mmm\-yy" sourceLinked="1"/>
        <c:maj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38285312"/>
        <c:crosses val="autoZero"/>
        <c:auto val="1"/>
        <c:lblOffset val="100"/>
        <c:baseTimeUnit val="months"/>
      </c:dateAx>
      <c:valAx>
        <c:axId val="38285312"/>
        <c:scaling>
          <c:orientation val="minMax"/>
        </c:scaling>
        <c:delete val="1"/>
        <c:axPos val="l"/>
        <c:numFmt formatCode="0.0%" sourceLinked="1"/>
        <c:tickLblPos val="nextTo"/>
        <c:crossAx val="3828352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4"/>
  <c:chart>
    <c:title>
      <c:layout/>
      <c:txPr>
        <a:bodyPr/>
        <a:lstStyle/>
        <a:p>
          <a:pPr>
            <a:defRPr sz="1600"/>
          </a:pPr>
          <a:endParaRPr lang="en-US"/>
        </a:p>
      </c:txPr>
    </c:title>
    <c:plotArea>
      <c:layout>
        <c:manualLayout>
          <c:layoutTarget val="inner"/>
          <c:xMode val="edge"/>
          <c:yMode val="edge"/>
          <c:x val="3.0492218402277189E-2"/>
          <c:y val="0.15609751101161545"/>
          <c:w val="0.93348619274703326"/>
          <c:h val="0.64969891501859234"/>
        </c:manualLayout>
      </c:layout>
      <c:barChart>
        <c:barDir val="col"/>
        <c:grouping val="clustered"/>
        <c:ser>
          <c:idx val="0"/>
          <c:order val="0"/>
          <c:tx>
            <c:strRef>
              <c:f>FTNR!$F$1</c:f>
              <c:strCache>
                <c:ptCount val="1"/>
                <c:pt idx="0">
                  <c:v>FTNR %</c:v>
                </c:pt>
              </c:strCache>
            </c:strRef>
          </c:tx>
          <c:dLbls>
            <c:dLbl>
              <c:idx val="0"/>
              <c:layout>
                <c:manualLayout>
                  <c:x val="-1.6666666666666673E-2"/>
                  <c:y val="1.3888888888888892E-2"/>
                </c:manualLayout>
              </c:layout>
              <c:showVal val="1"/>
            </c:dLbl>
            <c:dLbl>
              <c:idx val="1"/>
              <c:layout>
                <c:manualLayout>
                  <c:x val="8.333114610673667E-3"/>
                  <c:y val="2.3148148148148147E-2"/>
                </c:manualLayout>
              </c:layout>
              <c:showVal val="1"/>
            </c:dLbl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Val val="1"/>
          </c:dLbls>
          <c:cat>
            <c:numRef>
              <c:f>FTNR!$B$2:$B$15</c:f>
              <c:numCache>
                <c:formatCode>mmm\-yy</c:formatCode>
                <c:ptCount val="14"/>
                <c:pt idx="0">
                  <c:v>40725</c:v>
                </c:pt>
                <c:pt idx="1">
                  <c:v>40756</c:v>
                </c:pt>
                <c:pt idx="2">
                  <c:v>40787</c:v>
                </c:pt>
                <c:pt idx="3">
                  <c:v>40817</c:v>
                </c:pt>
                <c:pt idx="4">
                  <c:v>40848</c:v>
                </c:pt>
                <c:pt idx="5">
                  <c:v>40878</c:v>
                </c:pt>
                <c:pt idx="6">
                  <c:v>40909</c:v>
                </c:pt>
                <c:pt idx="7">
                  <c:v>40940</c:v>
                </c:pt>
                <c:pt idx="8">
                  <c:v>40969</c:v>
                </c:pt>
                <c:pt idx="9">
                  <c:v>41000</c:v>
                </c:pt>
                <c:pt idx="10">
                  <c:v>41030</c:v>
                </c:pt>
                <c:pt idx="11">
                  <c:v>41061</c:v>
                </c:pt>
                <c:pt idx="12">
                  <c:v>41091</c:v>
                </c:pt>
                <c:pt idx="13">
                  <c:v>41122</c:v>
                </c:pt>
              </c:numCache>
            </c:numRef>
          </c:cat>
          <c:val>
            <c:numRef>
              <c:f>FTNR!$F$2:$F$15</c:f>
              <c:numCache>
                <c:formatCode>0.0%</c:formatCode>
                <c:ptCount val="14"/>
                <c:pt idx="0">
                  <c:v>0.12317477380632449</c:v>
                </c:pt>
                <c:pt idx="1">
                  <c:v>0.11933324914761967</c:v>
                </c:pt>
                <c:pt idx="2" formatCode="0%">
                  <c:v>8.9766225122711041E-2</c:v>
                </c:pt>
                <c:pt idx="3" formatCode="0%">
                  <c:v>9.0199462608115788E-2</c:v>
                </c:pt>
                <c:pt idx="4">
                  <c:v>9.0633570318095283E-2</c:v>
                </c:pt>
                <c:pt idx="5" formatCode="0%">
                  <c:v>9.0000000000000011E-2</c:v>
                </c:pt>
                <c:pt idx="6">
                  <c:v>7.6624334289225729E-2</c:v>
                </c:pt>
                <c:pt idx="7">
                  <c:v>3.9187798259567697E-2</c:v>
                </c:pt>
                <c:pt idx="8">
                  <c:v>4.2395885420387171E-2</c:v>
                </c:pt>
                <c:pt idx="9" formatCode="0%">
                  <c:v>4.0328073288886761E-2</c:v>
                </c:pt>
                <c:pt idx="10">
                  <c:v>3.2617218127646237E-2</c:v>
                </c:pt>
                <c:pt idx="11" formatCode="0%">
                  <c:v>2.9518630412890236E-2</c:v>
                </c:pt>
                <c:pt idx="12">
                  <c:v>1.0938280139801053E-2</c:v>
                </c:pt>
                <c:pt idx="13">
                  <c:v>9.2093583565812827E-3</c:v>
                </c:pt>
              </c:numCache>
            </c:numRef>
          </c:val>
        </c:ser>
        <c:dLbls>
          <c:showVal val="1"/>
        </c:dLbls>
        <c:overlap val="-25"/>
        <c:axId val="38292864"/>
        <c:axId val="38327424"/>
      </c:barChart>
      <c:dateAx>
        <c:axId val="38292864"/>
        <c:scaling>
          <c:orientation val="minMax"/>
        </c:scaling>
        <c:axPos val="b"/>
        <c:numFmt formatCode="mmm\-yy" sourceLinked="1"/>
        <c:maj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38327424"/>
        <c:crosses val="autoZero"/>
        <c:auto val="1"/>
        <c:lblOffset val="100"/>
        <c:baseTimeUnit val="months"/>
      </c:dateAx>
      <c:valAx>
        <c:axId val="38327424"/>
        <c:scaling>
          <c:orientation val="minMax"/>
        </c:scaling>
        <c:delete val="1"/>
        <c:axPos val="l"/>
        <c:numFmt formatCode="0.0%" sourceLinked="1"/>
        <c:tickLblPos val="nextTo"/>
        <c:crossAx val="38292864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2C1600-07CB-4E26-97EF-E8F51AF3526C}" type="doc">
      <dgm:prSet loTypeId="urn:microsoft.com/office/officeart/2005/8/layout/vList2" loCatId="list" qsTypeId="urn:microsoft.com/office/officeart/2005/8/quickstyle/3d3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4CF1B860-0620-4D11-9696-AF50B62151B2}">
      <dgm:prSet phldrT="[Text]"/>
      <dgm:spPr/>
      <dgm:t>
        <a:bodyPr/>
        <a:lstStyle/>
        <a:p>
          <a:r>
            <a:rPr lang="en-US" b="1" dirty="0" smtClean="0">
              <a:solidFill>
                <a:srgbClr val="0000CC"/>
              </a:solidFill>
              <a:cs typeface="Calibri" pitchFamily="34" charset="0"/>
            </a:rPr>
            <a:t>4th Largest Debit Card Issuer</a:t>
          </a:r>
          <a:endParaRPr lang="en-US" dirty="0">
            <a:solidFill>
              <a:srgbClr val="0000CC"/>
            </a:solidFill>
          </a:endParaRPr>
        </a:p>
      </dgm:t>
    </dgm:pt>
    <dgm:pt modelId="{7A660A1D-91AF-42C2-AA23-46EAEFFECF41}" type="parTrans" cxnId="{EE38A7FA-C2DE-4409-B708-AA36EC5F5C90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E1D6EEC9-3E43-40AB-8312-6CBCF1170C9E}" type="sibTrans" cxnId="{EE38A7FA-C2DE-4409-B708-AA36EC5F5C90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4534C480-EE22-44F8-82E0-0957D5DDDA87}">
      <dgm:prSet phldrT="[Text]"/>
      <dgm:spPr/>
      <dgm:t>
        <a:bodyPr/>
        <a:lstStyle/>
        <a:p>
          <a:r>
            <a:rPr lang="en-US" i="1" dirty="0" smtClean="0">
              <a:solidFill>
                <a:srgbClr val="0000CC"/>
              </a:solidFill>
              <a:cs typeface="Calibri" pitchFamily="34" charset="0"/>
            </a:rPr>
            <a:t>15.3 million cards as of July ‘12</a:t>
          </a:r>
          <a:endParaRPr lang="en-US" dirty="0">
            <a:solidFill>
              <a:srgbClr val="0000CC"/>
            </a:solidFill>
          </a:endParaRPr>
        </a:p>
      </dgm:t>
    </dgm:pt>
    <dgm:pt modelId="{70100073-7778-41D3-B7BC-CDAF66EA1C93}" type="parTrans" cxnId="{550899B7-38D5-4666-B0E0-D460D8DB0690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B849CB01-381A-46B3-92F0-CD2098E6FD98}" type="sibTrans" cxnId="{550899B7-38D5-4666-B0E0-D460D8DB0690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A9E73364-89A9-40E3-B248-E128667B7CCE}">
      <dgm:prSet phldrT="[Text]"/>
      <dgm:spPr/>
      <dgm:t>
        <a:bodyPr/>
        <a:lstStyle/>
        <a:p>
          <a:r>
            <a:rPr lang="en-US" b="1" dirty="0" smtClean="0">
              <a:solidFill>
                <a:srgbClr val="0000CC"/>
              </a:solidFill>
              <a:cs typeface="Calibri" pitchFamily="34" charset="0"/>
            </a:rPr>
            <a:t>No. 1 in Debit Card Portfolio spends in FY 11-12</a:t>
          </a:r>
          <a:endParaRPr lang="en-US" dirty="0">
            <a:solidFill>
              <a:srgbClr val="0000CC"/>
            </a:solidFill>
          </a:endParaRPr>
        </a:p>
      </dgm:t>
    </dgm:pt>
    <dgm:pt modelId="{19079981-8BB1-4FBA-BCF4-B07DF51ED608}" type="parTrans" cxnId="{0A694E33-E39D-4EEE-9489-F2BE6D1F6CD8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23C7F45D-E4F6-49E2-AF91-77361265F4D0}" type="sibTrans" cxnId="{0A694E33-E39D-4EEE-9489-F2BE6D1F6CD8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DE8B5BCE-3021-46B8-9D58-E9BC56F20231}">
      <dgm:prSet phldrT="[Text]"/>
      <dgm:spPr/>
      <dgm:t>
        <a:bodyPr/>
        <a:lstStyle/>
        <a:p>
          <a:r>
            <a:rPr lang="en-US" dirty="0" smtClean="0">
              <a:solidFill>
                <a:srgbClr val="0000CC"/>
              </a:solidFill>
            </a:rPr>
            <a:t>Rs.91.5 billion portfolio spends through  61.3 million transactions</a:t>
          </a:r>
          <a:endParaRPr lang="en-US" dirty="0">
            <a:solidFill>
              <a:srgbClr val="0000CC"/>
            </a:solidFill>
          </a:endParaRPr>
        </a:p>
      </dgm:t>
    </dgm:pt>
    <dgm:pt modelId="{BD3DC9EB-3D84-4EBC-B8CC-383C0D31FB87}" type="parTrans" cxnId="{82118752-666A-42FC-9C84-D614B430A0E6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6BB62543-8419-4373-91AF-694877282B69}" type="sibTrans" cxnId="{82118752-666A-42FC-9C84-D614B430A0E6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D16B5D2F-514C-4769-A213-3B450B398419}">
      <dgm:prSet phldrT="[Text]"/>
      <dgm:spPr/>
      <dgm:t>
        <a:bodyPr/>
        <a:lstStyle/>
        <a:p>
          <a:r>
            <a:rPr lang="en-US" i="1" dirty="0" smtClean="0">
              <a:solidFill>
                <a:srgbClr val="0000CC"/>
              </a:solidFill>
              <a:cs typeface="Calibri" pitchFamily="34" charset="0"/>
            </a:rPr>
            <a:t>3 lakh+ new Debit Cards per month</a:t>
          </a:r>
          <a:endParaRPr lang="en-US" dirty="0">
            <a:solidFill>
              <a:srgbClr val="0000CC"/>
            </a:solidFill>
          </a:endParaRPr>
        </a:p>
      </dgm:t>
    </dgm:pt>
    <dgm:pt modelId="{C8FE1901-8C5A-48AF-B5EF-9A1B42D49402}" type="parTrans" cxnId="{06C9A1EC-CFC6-4299-B51D-42164160F6CB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B22CABD3-9E88-422C-A749-7609870B2CE9}" type="sibTrans" cxnId="{06C9A1EC-CFC6-4299-B51D-42164160F6CB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C9471320-60D9-41DA-B7CA-D073A6EFD3C1}">
      <dgm:prSet phldrT="[Text]"/>
      <dgm:spPr/>
      <dgm:t>
        <a:bodyPr/>
        <a:lstStyle/>
        <a:p>
          <a:r>
            <a:rPr lang="en-US" i="1" dirty="0" smtClean="0">
              <a:solidFill>
                <a:srgbClr val="0000CC"/>
              </a:solidFill>
              <a:cs typeface="Calibri" pitchFamily="34" charset="0"/>
            </a:rPr>
            <a:t>47% cardholders in Non-Tier-I locations</a:t>
          </a:r>
          <a:endParaRPr lang="en-US" dirty="0">
            <a:solidFill>
              <a:srgbClr val="0000CC"/>
            </a:solidFill>
          </a:endParaRPr>
        </a:p>
      </dgm:t>
    </dgm:pt>
    <dgm:pt modelId="{6AD0140B-E3E7-4057-A0DB-77A062BA8730}" type="parTrans" cxnId="{2D7D8568-BE6F-4109-B6FC-A9C6F95916B5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6C0E60BA-2239-4D0E-8FCE-391C360868B2}" type="sibTrans" cxnId="{2D7D8568-BE6F-4109-B6FC-A9C6F95916B5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6762ECD1-7F36-41B6-8E51-3AAF860087B0}">
      <dgm:prSet phldrT="[Text]"/>
      <dgm:spPr/>
      <dgm:t>
        <a:bodyPr/>
        <a:lstStyle/>
        <a:p>
          <a:r>
            <a:rPr lang="en-US" dirty="0" smtClean="0">
              <a:solidFill>
                <a:srgbClr val="0000CC"/>
              </a:solidFill>
            </a:rPr>
            <a:t>Offers more than 25 variants catering to different needs</a:t>
          </a:r>
          <a:endParaRPr lang="en-US" dirty="0">
            <a:solidFill>
              <a:srgbClr val="0000CC"/>
            </a:solidFill>
          </a:endParaRPr>
        </a:p>
      </dgm:t>
    </dgm:pt>
    <dgm:pt modelId="{25696D52-AC0E-483C-9578-FEDD5F62BD41}" type="parTrans" cxnId="{2187C0DA-3787-40E4-B05E-A0B7D7088F5B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FE882678-3E83-41A5-9D02-A7BB4362E71E}" type="sibTrans" cxnId="{2187C0DA-3787-40E4-B05E-A0B7D7088F5B}">
      <dgm:prSet/>
      <dgm:spPr/>
      <dgm:t>
        <a:bodyPr/>
        <a:lstStyle/>
        <a:p>
          <a:endParaRPr lang="en-US">
            <a:solidFill>
              <a:srgbClr val="0000CC"/>
            </a:solidFill>
          </a:endParaRPr>
        </a:p>
      </dgm:t>
    </dgm:pt>
    <dgm:pt modelId="{66ACB6D7-CCAA-41F2-9088-4CC982882DE3}">
      <dgm:prSet phldrT="[Text]"/>
      <dgm:spPr/>
      <dgm:t>
        <a:bodyPr/>
        <a:lstStyle/>
        <a:p>
          <a:endParaRPr lang="en-US" dirty="0">
            <a:solidFill>
              <a:srgbClr val="0000CC"/>
            </a:solidFill>
          </a:endParaRPr>
        </a:p>
      </dgm:t>
    </dgm:pt>
    <dgm:pt modelId="{C6E20A1D-9905-4C5B-976A-7CF8060DD211}" type="parTrans" cxnId="{08676151-75C0-41D7-BFF6-52A1566B3E8D}">
      <dgm:prSet/>
      <dgm:spPr/>
      <dgm:t>
        <a:bodyPr/>
        <a:lstStyle/>
        <a:p>
          <a:endParaRPr lang="en-US"/>
        </a:p>
      </dgm:t>
    </dgm:pt>
    <dgm:pt modelId="{730ED475-ACCF-4E57-AA33-3B4FD440D78A}" type="sibTrans" cxnId="{08676151-75C0-41D7-BFF6-52A1566B3E8D}">
      <dgm:prSet/>
      <dgm:spPr/>
      <dgm:t>
        <a:bodyPr/>
        <a:lstStyle/>
        <a:p>
          <a:endParaRPr lang="en-US"/>
        </a:p>
      </dgm:t>
    </dgm:pt>
    <dgm:pt modelId="{1D6BA878-8D54-4FEF-84D1-5653B61A2CC8}" type="pres">
      <dgm:prSet presAssocID="{B22C1600-07CB-4E26-97EF-E8F51AF3526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9727E4-1FE9-448D-85B6-1DE9E63AFE96}" type="pres">
      <dgm:prSet presAssocID="{4CF1B860-0620-4D11-9696-AF50B62151B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602765-BDD3-411A-BC01-861F0F9759EA}" type="pres">
      <dgm:prSet presAssocID="{4CF1B860-0620-4D11-9696-AF50B62151B2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57F6A9-8359-4867-9D9B-2D819DDE07EF}" type="pres">
      <dgm:prSet presAssocID="{A9E73364-89A9-40E3-B248-E128667B7CCE}" presName="parentText" presStyleLbl="node1" presStyleIdx="1" presStyleCnt="2" custLinFactNeighborX="-203" custLinFactNeighborY="2585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94F747-577A-41F9-B853-331891DB22E5}" type="pres">
      <dgm:prSet presAssocID="{A9E73364-89A9-40E3-B248-E128667B7CCE}" presName="childText" presStyleLbl="revTx" presStyleIdx="1" presStyleCnt="2" custLinFactNeighborY="24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2EEF39-F2B1-4945-A412-37BEF0EED0E1}" type="presOf" srcId="{6762ECD1-7F36-41B6-8E51-3AAF860087B0}" destId="{EE602765-BDD3-411A-BC01-861F0F9759EA}" srcOrd="0" destOrd="3" presId="urn:microsoft.com/office/officeart/2005/8/layout/vList2"/>
    <dgm:cxn modelId="{2187C0DA-3787-40E4-B05E-A0B7D7088F5B}" srcId="{4CF1B860-0620-4D11-9696-AF50B62151B2}" destId="{6762ECD1-7F36-41B6-8E51-3AAF860087B0}" srcOrd="3" destOrd="0" parTransId="{25696D52-AC0E-483C-9578-FEDD5F62BD41}" sibTransId="{FE882678-3E83-41A5-9D02-A7BB4362E71E}"/>
    <dgm:cxn modelId="{0A694E33-E39D-4EEE-9489-F2BE6D1F6CD8}" srcId="{B22C1600-07CB-4E26-97EF-E8F51AF3526C}" destId="{A9E73364-89A9-40E3-B248-E128667B7CCE}" srcOrd="1" destOrd="0" parTransId="{19079981-8BB1-4FBA-BCF4-B07DF51ED608}" sibTransId="{23C7F45D-E4F6-49E2-AF91-77361265F4D0}"/>
    <dgm:cxn modelId="{FAF05120-7C80-41D7-88A1-B13B70E1CB3A}" type="presOf" srcId="{C9471320-60D9-41DA-B7CA-D073A6EFD3C1}" destId="{EE602765-BDD3-411A-BC01-861F0F9759EA}" srcOrd="0" destOrd="2" presId="urn:microsoft.com/office/officeart/2005/8/layout/vList2"/>
    <dgm:cxn modelId="{82118752-666A-42FC-9C84-D614B430A0E6}" srcId="{A9E73364-89A9-40E3-B248-E128667B7CCE}" destId="{DE8B5BCE-3021-46B8-9D58-E9BC56F20231}" srcOrd="1" destOrd="0" parTransId="{BD3DC9EB-3D84-4EBC-B8CC-383C0D31FB87}" sibTransId="{6BB62543-8419-4373-91AF-694877282B69}"/>
    <dgm:cxn modelId="{F8F44444-B148-4F78-BCF7-8AC74341FCD5}" type="presOf" srcId="{4CF1B860-0620-4D11-9696-AF50B62151B2}" destId="{1B9727E4-1FE9-448D-85B6-1DE9E63AFE96}" srcOrd="0" destOrd="0" presId="urn:microsoft.com/office/officeart/2005/8/layout/vList2"/>
    <dgm:cxn modelId="{02527471-64BF-4D8A-AE14-6D6725E5EF2B}" type="presOf" srcId="{D16B5D2F-514C-4769-A213-3B450B398419}" destId="{EE602765-BDD3-411A-BC01-861F0F9759EA}" srcOrd="0" destOrd="1" presId="urn:microsoft.com/office/officeart/2005/8/layout/vList2"/>
    <dgm:cxn modelId="{1D0C635B-DA25-487C-AAC0-F86AFD5D9109}" type="presOf" srcId="{DE8B5BCE-3021-46B8-9D58-E9BC56F20231}" destId="{FB94F747-577A-41F9-B853-331891DB22E5}" srcOrd="0" destOrd="1" presId="urn:microsoft.com/office/officeart/2005/8/layout/vList2"/>
    <dgm:cxn modelId="{2D7D8568-BE6F-4109-B6FC-A9C6F95916B5}" srcId="{4CF1B860-0620-4D11-9696-AF50B62151B2}" destId="{C9471320-60D9-41DA-B7CA-D073A6EFD3C1}" srcOrd="2" destOrd="0" parTransId="{6AD0140B-E3E7-4057-A0DB-77A062BA8730}" sibTransId="{6C0E60BA-2239-4D0E-8FCE-391C360868B2}"/>
    <dgm:cxn modelId="{C08EBAF2-FA50-4001-B10C-4A5348069602}" type="presOf" srcId="{B22C1600-07CB-4E26-97EF-E8F51AF3526C}" destId="{1D6BA878-8D54-4FEF-84D1-5653B61A2CC8}" srcOrd="0" destOrd="0" presId="urn:microsoft.com/office/officeart/2005/8/layout/vList2"/>
    <dgm:cxn modelId="{D24F5B7D-C46D-4DD6-8FDA-F72D9AF2ED69}" type="presOf" srcId="{4534C480-EE22-44F8-82E0-0957D5DDDA87}" destId="{EE602765-BDD3-411A-BC01-861F0F9759EA}" srcOrd="0" destOrd="0" presId="urn:microsoft.com/office/officeart/2005/8/layout/vList2"/>
    <dgm:cxn modelId="{550899B7-38D5-4666-B0E0-D460D8DB0690}" srcId="{4CF1B860-0620-4D11-9696-AF50B62151B2}" destId="{4534C480-EE22-44F8-82E0-0957D5DDDA87}" srcOrd="0" destOrd="0" parTransId="{70100073-7778-41D3-B7BC-CDAF66EA1C93}" sibTransId="{B849CB01-381A-46B3-92F0-CD2098E6FD98}"/>
    <dgm:cxn modelId="{5096ADB0-37EC-4619-9473-A74D8149475F}" type="presOf" srcId="{66ACB6D7-CCAA-41F2-9088-4CC982882DE3}" destId="{FB94F747-577A-41F9-B853-331891DB22E5}" srcOrd="0" destOrd="0" presId="urn:microsoft.com/office/officeart/2005/8/layout/vList2"/>
    <dgm:cxn modelId="{08676151-75C0-41D7-BFF6-52A1566B3E8D}" srcId="{A9E73364-89A9-40E3-B248-E128667B7CCE}" destId="{66ACB6D7-CCAA-41F2-9088-4CC982882DE3}" srcOrd="0" destOrd="0" parTransId="{C6E20A1D-9905-4C5B-976A-7CF8060DD211}" sibTransId="{730ED475-ACCF-4E57-AA33-3B4FD440D78A}"/>
    <dgm:cxn modelId="{CF9BD46B-09C9-4279-8943-4840647EFD23}" type="presOf" srcId="{A9E73364-89A9-40E3-B248-E128667B7CCE}" destId="{2A57F6A9-8359-4867-9D9B-2D819DDE07EF}" srcOrd="0" destOrd="0" presId="urn:microsoft.com/office/officeart/2005/8/layout/vList2"/>
    <dgm:cxn modelId="{EE38A7FA-C2DE-4409-B708-AA36EC5F5C90}" srcId="{B22C1600-07CB-4E26-97EF-E8F51AF3526C}" destId="{4CF1B860-0620-4D11-9696-AF50B62151B2}" srcOrd="0" destOrd="0" parTransId="{7A660A1D-91AF-42C2-AA23-46EAEFFECF41}" sibTransId="{E1D6EEC9-3E43-40AB-8312-6CBCF1170C9E}"/>
    <dgm:cxn modelId="{06C9A1EC-CFC6-4299-B51D-42164160F6CB}" srcId="{4CF1B860-0620-4D11-9696-AF50B62151B2}" destId="{D16B5D2F-514C-4769-A213-3B450B398419}" srcOrd="1" destOrd="0" parTransId="{C8FE1901-8C5A-48AF-B5EF-9A1B42D49402}" sibTransId="{B22CABD3-9E88-422C-A749-7609870B2CE9}"/>
    <dgm:cxn modelId="{D90EB0BC-E774-4E67-8E78-DA8AC98676E2}" type="presParOf" srcId="{1D6BA878-8D54-4FEF-84D1-5653B61A2CC8}" destId="{1B9727E4-1FE9-448D-85B6-1DE9E63AFE96}" srcOrd="0" destOrd="0" presId="urn:microsoft.com/office/officeart/2005/8/layout/vList2"/>
    <dgm:cxn modelId="{EA87CFF6-768B-4330-87C0-AE2C9238282A}" type="presParOf" srcId="{1D6BA878-8D54-4FEF-84D1-5653B61A2CC8}" destId="{EE602765-BDD3-411A-BC01-861F0F9759EA}" srcOrd="1" destOrd="0" presId="urn:microsoft.com/office/officeart/2005/8/layout/vList2"/>
    <dgm:cxn modelId="{8EF2B0E8-1081-4998-893D-C7ACBF5AF652}" type="presParOf" srcId="{1D6BA878-8D54-4FEF-84D1-5653B61A2CC8}" destId="{2A57F6A9-8359-4867-9D9B-2D819DDE07EF}" srcOrd="2" destOrd="0" presId="urn:microsoft.com/office/officeart/2005/8/layout/vList2"/>
    <dgm:cxn modelId="{450B107F-A1D2-4E77-84E5-771718A690BD}" type="presParOf" srcId="{1D6BA878-8D54-4FEF-84D1-5653B61A2CC8}" destId="{FB94F747-577A-41F9-B853-331891DB22E5}" srcOrd="3" destOrd="0" presId="urn:microsoft.com/office/officeart/2005/8/layout/vList2"/>
  </dgm:cxnLst>
  <dgm:bg>
    <a:effectLst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2CE12-9F5B-491D-A410-3DDD463AC754}" type="doc">
      <dgm:prSet loTypeId="urn:microsoft.com/office/officeart/2005/8/layout/arrow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0D3A61-D5AB-4C4C-896D-DF86B21DAEC7}">
      <dgm:prSet phldrT="[Text]" custT="1"/>
      <dgm:spPr/>
      <dgm:t>
        <a:bodyPr/>
        <a:lstStyle/>
        <a:p>
          <a:r>
            <a:rPr lang="en-US" sz="1600" dirty="0" smtClean="0"/>
            <a:t>- Customer Satisfaction</a:t>
          </a:r>
        </a:p>
        <a:p>
          <a:r>
            <a:rPr lang="en-US" sz="1600" dirty="0" smtClean="0"/>
            <a:t>- Revenue</a:t>
          </a:r>
          <a:endParaRPr lang="en-US" sz="1600" dirty="0"/>
        </a:p>
      </dgm:t>
    </dgm:pt>
    <dgm:pt modelId="{DEB971DE-4B9A-4711-9F78-3307B11DE9DD}" type="parTrans" cxnId="{2027476A-3EB7-40DC-9E8D-9AD138167F85}">
      <dgm:prSet/>
      <dgm:spPr/>
      <dgm:t>
        <a:bodyPr/>
        <a:lstStyle/>
        <a:p>
          <a:endParaRPr lang="en-US" sz="1400"/>
        </a:p>
      </dgm:t>
    </dgm:pt>
    <dgm:pt modelId="{B3520E78-6A82-486A-9036-B74CA314D315}" type="sibTrans" cxnId="{2027476A-3EB7-40DC-9E8D-9AD138167F85}">
      <dgm:prSet/>
      <dgm:spPr/>
      <dgm:t>
        <a:bodyPr/>
        <a:lstStyle/>
        <a:p>
          <a:endParaRPr lang="en-US" sz="1400"/>
        </a:p>
      </dgm:t>
    </dgm:pt>
    <dgm:pt modelId="{E2E57054-A544-4AB2-91E9-B2D565F2E68E}">
      <dgm:prSet phldrT="[Text]" custT="1"/>
      <dgm:spPr/>
      <dgm:t>
        <a:bodyPr/>
        <a:lstStyle/>
        <a:p>
          <a:r>
            <a:rPr lang="en-US" sz="1600" dirty="0" smtClean="0"/>
            <a:t>- Cost</a:t>
          </a:r>
          <a:endParaRPr lang="en-US" sz="1600" dirty="0"/>
        </a:p>
      </dgm:t>
    </dgm:pt>
    <dgm:pt modelId="{8CA897FD-C0BB-4CD2-8C36-D0C96294B873}" type="parTrans" cxnId="{484BC256-3E97-4E1B-B99E-33CC5DF61DEB}">
      <dgm:prSet/>
      <dgm:spPr/>
      <dgm:t>
        <a:bodyPr/>
        <a:lstStyle/>
        <a:p>
          <a:endParaRPr lang="en-US" sz="1400"/>
        </a:p>
      </dgm:t>
    </dgm:pt>
    <dgm:pt modelId="{68E3AFBD-7422-4B0A-98D8-A18895E775C3}" type="sibTrans" cxnId="{484BC256-3E97-4E1B-B99E-33CC5DF61DEB}">
      <dgm:prSet/>
      <dgm:spPr/>
      <dgm:t>
        <a:bodyPr/>
        <a:lstStyle/>
        <a:p>
          <a:endParaRPr lang="en-US" sz="1400"/>
        </a:p>
      </dgm:t>
    </dgm:pt>
    <dgm:pt modelId="{95C1675E-9C1F-4CF8-B6B9-E46C10D0813D}" type="pres">
      <dgm:prSet presAssocID="{4FD2CE12-9F5B-491D-A410-3DDD463AC754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F5AB94-6C9E-4E79-B9DA-6F4BC6E47D9E}" type="pres">
      <dgm:prSet presAssocID="{EF0D3A61-D5AB-4C4C-896D-DF86B21DAEC7}" presName="upArrow" presStyleLbl="node1" presStyleIdx="0" presStyleCnt="2"/>
      <dgm:spPr>
        <a:solidFill>
          <a:srgbClr val="92D050"/>
        </a:solidFill>
      </dgm:spPr>
    </dgm:pt>
    <dgm:pt modelId="{65DC0F80-8AA3-4A63-BEA1-88AB3F3C646F}" type="pres">
      <dgm:prSet presAssocID="{EF0D3A61-D5AB-4C4C-896D-DF86B21DAEC7}" presName="upArrowText" presStyleLbl="revTx" presStyleIdx="0" presStyleCnt="2" custScaleX="161051" custLinFactNeighborX="3073" custLinFactNeighborY="191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9AD63F-FB0D-42C0-83AF-9F232BC46B07}" type="pres">
      <dgm:prSet presAssocID="{E2E57054-A544-4AB2-91E9-B2D565F2E68E}" presName="downArrow" presStyleLbl="node1" presStyleIdx="1" presStyleCnt="2" custLinFactNeighborY="4312"/>
      <dgm:spPr>
        <a:solidFill>
          <a:srgbClr val="FF0000"/>
        </a:solidFill>
      </dgm:spPr>
    </dgm:pt>
    <dgm:pt modelId="{AF514445-042B-4162-BCC1-3EA49B2F8E8B}" type="pres">
      <dgm:prSet presAssocID="{E2E57054-A544-4AB2-91E9-B2D565F2E68E}" presName="downArrowText" presStyleLbl="revTx" presStyleIdx="1" presStyleCnt="2" custLinFactNeighborX="-2919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8F9095-47C6-4084-B251-6F6B3A662168}" type="presOf" srcId="{EF0D3A61-D5AB-4C4C-896D-DF86B21DAEC7}" destId="{65DC0F80-8AA3-4A63-BEA1-88AB3F3C646F}" srcOrd="0" destOrd="0" presId="urn:microsoft.com/office/officeart/2005/8/layout/arrow4"/>
    <dgm:cxn modelId="{2027476A-3EB7-40DC-9E8D-9AD138167F85}" srcId="{4FD2CE12-9F5B-491D-A410-3DDD463AC754}" destId="{EF0D3A61-D5AB-4C4C-896D-DF86B21DAEC7}" srcOrd="0" destOrd="0" parTransId="{DEB971DE-4B9A-4711-9F78-3307B11DE9DD}" sibTransId="{B3520E78-6A82-486A-9036-B74CA314D315}"/>
    <dgm:cxn modelId="{9075DAD3-6DF5-4F93-A104-EF9965F884AA}" type="presOf" srcId="{4FD2CE12-9F5B-491D-A410-3DDD463AC754}" destId="{95C1675E-9C1F-4CF8-B6B9-E46C10D0813D}" srcOrd="0" destOrd="0" presId="urn:microsoft.com/office/officeart/2005/8/layout/arrow4"/>
    <dgm:cxn modelId="{3C7E2CB7-0A7F-44A6-9AD4-BC39A4EEF3EE}" type="presOf" srcId="{E2E57054-A544-4AB2-91E9-B2D565F2E68E}" destId="{AF514445-042B-4162-BCC1-3EA49B2F8E8B}" srcOrd="0" destOrd="0" presId="urn:microsoft.com/office/officeart/2005/8/layout/arrow4"/>
    <dgm:cxn modelId="{484BC256-3E97-4E1B-B99E-33CC5DF61DEB}" srcId="{4FD2CE12-9F5B-491D-A410-3DDD463AC754}" destId="{E2E57054-A544-4AB2-91E9-B2D565F2E68E}" srcOrd="1" destOrd="0" parTransId="{8CA897FD-C0BB-4CD2-8C36-D0C96294B873}" sibTransId="{68E3AFBD-7422-4B0A-98D8-A18895E775C3}"/>
    <dgm:cxn modelId="{56090D1B-58F7-4EBF-B971-8420361310A4}" type="presParOf" srcId="{95C1675E-9C1F-4CF8-B6B9-E46C10D0813D}" destId="{A0F5AB94-6C9E-4E79-B9DA-6F4BC6E47D9E}" srcOrd="0" destOrd="0" presId="urn:microsoft.com/office/officeart/2005/8/layout/arrow4"/>
    <dgm:cxn modelId="{8F6AF468-66C1-46AB-8AF0-9622B2B0B3A7}" type="presParOf" srcId="{95C1675E-9C1F-4CF8-B6B9-E46C10D0813D}" destId="{65DC0F80-8AA3-4A63-BEA1-88AB3F3C646F}" srcOrd="1" destOrd="0" presId="urn:microsoft.com/office/officeart/2005/8/layout/arrow4"/>
    <dgm:cxn modelId="{518EBC70-0442-4AF1-99C1-EA3CC8998DB1}" type="presParOf" srcId="{95C1675E-9C1F-4CF8-B6B9-E46C10D0813D}" destId="{8A9AD63F-FB0D-42C0-83AF-9F232BC46B07}" srcOrd="2" destOrd="0" presId="urn:microsoft.com/office/officeart/2005/8/layout/arrow4"/>
    <dgm:cxn modelId="{97997B07-6A31-4463-A7E6-FC7D680C9C53}" type="presParOf" srcId="{95C1675E-9C1F-4CF8-B6B9-E46C10D0813D}" destId="{AF514445-042B-4162-BCC1-3EA49B2F8E8B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58FB98-307D-431F-8E15-421D812384D5}" type="doc">
      <dgm:prSet loTypeId="urn:microsoft.com/office/officeart/2009/layout/CircleArrowProcess" loCatId="process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A83BEF41-9435-4176-A023-3779748D4A71}">
      <dgm:prSet phldrT="[Text]" custT="1"/>
      <dgm:spPr/>
      <dgm:t>
        <a:bodyPr/>
        <a:lstStyle/>
        <a:p>
          <a:r>
            <a:rPr lang="en-US" sz="1600" b="1" dirty="0" smtClean="0"/>
            <a:t>Request PIN</a:t>
          </a:r>
          <a:endParaRPr lang="en-US" sz="1600" b="1" dirty="0"/>
        </a:p>
      </dgm:t>
    </dgm:pt>
    <dgm:pt modelId="{AA21F97C-D31E-4A4B-96B0-C12DFA49AD6F}" type="parTrans" cxnId="{034A72D1-B314-4040-9865-C6DE91466487}">
      <dgm:prSet/>
      <dgm:spPr/>
      <dgm:t>
        <a:bodyPr/>
        <a:lstStyle/>
        <a:p>
          <a:endParaRPr lang="en-US"/>
        </a:p>
      </dgm:t>
    </dgm:pt>
    <dgm:pt modelId="{049204DF-9F41-4A8D-9CDE-97017161314E}" type="sibTrans" cxnId="{034A72D1-B314-4040-9865-C6DE91466487}">
      <dgm:prSet/>
      <dgm:spPr/>
      <dgm:t>
        <a:bodyPr/>
        <a:lstStyle/>
        <a:p>
          <a:endParaRPr lang="en-US"/>
        </a:p>
      </dgm:t>
    </dgm:pt>
    <dgm:pt modelId="{E93441B7-C52F-4C65-A365-FC7ECCAF4379}">
      <dgm:prSet phldrT="[Text]" custT="1"/>
      <dgm:spPr/>
      <dgm:t>
        <a:bodyPr/>
        <a:lstStyle/>
        <a:p>
          <a:r>
            <a:rPr lang="en-US" sz="1600" b="1" dirty="0" smtClean="0"/>
            <a:t>OTP Sent thru sms</a:t>
          </a:r>
          <a:endParaRPr lang="en-US" sz="1600" b="1" dirty="0"/>
        </a:p>
      </dgm:t>
    </dgm:pt>
    <dgm:pt modelId="{179F446A-AB10-497C-8238-75FF895508CF}" type="parTrans" cxnId="{43775421-A005-4F96-865F-0E78EF436B7A}">
      <dgm:prSet/>
      <dgm:spPr/>
      <dgm:t>
        <a:bodyPr/>
        <a:lstStyle/>
        <a:p>
          <a:endParaRPr lang="en-US"/>
        </a:p>
      </dgm:t>
    </dgm:pt>
    <dgm:pt modelId="{4FC5B141-6147-438D-B6DA-E872C4F1FD50}" type="sibTrans" cxnId="{43775421-A005-4F96-865F-0E78EF436B7A}">
      <dgm:prSet/>
      <dgm:spPr/>
      <dgm:t>
        <a:bodyPr/>
        <a:lstStyle/>
        <a:p>
          <a:endParaRPr lang="en-US"/>
        </a:p>
      </dgm:t>
    </dgm:pt>
    <dgm:pt modelId="{A9252346-F916-4BCF-A740-6DD11F728787}">
      <dgm:prSet phldrT="[Text]" custT="1"/>
      <dgm:spPr/>
      <dgm:t>
        <a:bodyPr/>
        <a:lstStyle/>
        <a:p>
          <a:r>
            <a:rPr lang="en-US" sz="1600" b="1" dirty="0" smtClean="0"/>
            <a:t>PIN Generated @ ATM using OTP</a:t>
          </a:r>
          <a:endParaRPr lang="en-US" sz="1600" b="1" dirty="0"/>
        </a:p>
      </dgm:t>
    </dgm:pt>
    <dgm:pt modelId="{B3521BE5-C472-4474-BDF8-201A5B9CE5BD}" type="parTrans" cxnId="{4A6C0806-AFA7-4D78-A672-EE2A66A50BB8}">
      <dgm:prSet/>
      <dgm:spPr/>
      <dgm:t>
        <a:bodyPr/>
        <a:lstStyle/>
        <a:p>
          <a:endParaRPr lang="en-US"/>
        </a:p>
      </dgm:t>
    </dgm:pt>
    <dgm:pt modelId="{A7A73F62-C441-4848-82BF-00C0177D5F01}" type="sibTrans" cxnId="{4A6C0806-AFA7-4D78-A672-EE2A66A50BB8}">
      <dgm:prSet/>
      <dgm:spPr/>
      <dgm:t>
        <a:bodyPr/>
        <a:lstStyle/>
        <a:p>
          <a:endParaRPr lang="en-US"/>
        </a:p>
      </dgm:t>
    </dgm:pt>
    <dgm:pt modelId="{7524FCEF-0334-41DC-9563-6069DAAF5834}" type="pres">
      <dgm:prSet presAssocID="{3E58FB98-307D-431F-8E15-421D812384D5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B9C3842-F40D-4391-98A8-8CE6968A13F1}" type="pres">
      <dgm:prSet presAssocID="{A83BEF41-9435-4176-A023-3779748D4A71}" presName="Accent1" presStyleCnt="0"/>
      <dgm:spPr/>
    </dgm:pt>
    <dgm:pt modelId="{88D85235-579F-473A-8335-4F9239D93E7F}" type="pres">
      <dgm:prSet presAssocID="{A83BEF41-9435-4176-A023-3779748D4A71}" presName="Accent" presStyleLbl="node1" presStyleIdx="0" presStyleCnt="3"/>
      <dgm:spPr>
        <a:solidFill>
          <a:srgbClr val="00B050"/>
        </a:solidFill>
      </dgm:spPr>
    </dgm:pt>
    <dgm:pt modelId="{E0930675-3C15-4174-A99E-041185BA6E34}" type="pres">
      <dgm:prSet presAssocID="{A83BEF41-9435-4176-A023-3779748D4A71}" presName="Parent1" presStyleLbl="revTx" presStyleIdx="0" presStyleCnt="3" custLinFactNeighborX="-2296" custLinFactNeighborY="-1544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85CB66-1B65-4AC1-B688-958958D4A470}" type="pres">
      <dgm:prSet presAssocID="{E93441B7-C52F-4C65-A365-FC7ECCAF4379}" presName="Accent2" presStyleCnt="0"/>
      <dgm:spPr/>
    </dgm:pt>
    <dgm:pt modelId="{490CB5EA-082B-4207-8CBF-9D971FAC8912}" type="pres">
      <dgm:prSet presAssocID="{E93441B7-C52F-4C65-A365-FC7ECCAF4379}" presName="Accent" presStyleLbl="node1" presStyleIdx="1" presStyleCnt="3"/>
      <dgm:spPr>
        <a:solidFill>
          <a:srgbClr val="CCFF66"/>
        </a:solidFill>
      </dgm:spPr>
    </dgm:pt>
    <dgm:pt modelId="{2DB1125F-0F85-492A-AC36-97E1ECCBC91B}" type="pres">
      <dgm:prSet presAssocID="{E93441B7-C52F-4C65-A365-FC7ECCAF4379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4F3B7C-F7A5-4B62-AD49-2D66EB57A591}" type="pres">
      <dgm:prSet presAssocID="{A9252346-F916-4BCF-A740-6DD11F728787}" presName="Accent3" presStyleCnt="0"/>
      <dgm:spPr/>
    </dgm:pt>
    <dgm:pt modelId="{910CF23D-A799-434C-9EF1-B1CE37D58E3A}" type="pres">
      <dgm:prSet presAssocID="{A9252346-F916-4BCF-A740-6DD11F728787}" presName="Accent" presStyleLbl="node1" presStyleIdx="2" presStyleCnt="3"/>
      <dgm:spPr>
        <a:solidFill>
          <a:srgbClr val="12EE2C"/>
        </a:solidFill>
      </dgm:spPr>
    </dgm:pt>
    <dgm:pt modelId="{7D6A0B10-E5F7-4431-9212-931BEF01AFCC}" type="pres">
      <dgm:prSet presAssocID="{A9252346-F916-4BCF-A740-6DD11F728787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93D88C8-0F9F-4749-A6BB-5015E062E033}" type="presOf" srcId="{A9252346-F916-4BCF-A740-6DD11F728787}" destId="{7D6A0B10-E5F7-4431-9212-931BEF01AFCC}" srcOrd="0" destOrd="0" presId="urn:microsoft.com/office/officeart/2009/layout/CircleArrowProcess"/>
    <dgm:cxn modelId="{DE7EC343-3042-4B32-B6EF-74AC06EAA211}" type="presOf" srcId="{A83BEF41-9435-4176-A023-3779748D4A71}" destId="{E0930675-3C15-4174-A99E-041185BA6E34}" srcOrd="0" destOrd="0" presId="urn:microsoft.com/office/officeart/2009/layout/CircleArrowProcess"/>
    <dgm:cxn modelId="{034A72D1-B314-4040-9865-C6DE91466487}" srcId="{3E58FB98-307D-431F-8E15-421D812384D5}" destId="{A83BEF41-9435-4176-A023-3779748D4A71}" srcOrd="0" destOrd="0" parTransId="{AA21F97C-D31E-4A4B-96B0-C12DFA49AD6F}" sibTransId="{049204DF-9F41-4A8D-9CDE-97017161314E}"/>
    <dgm:cxn modelId="{4A6C0806-AFA7-4D78-A672-EE2A66A50BB8}" srcId="{3E58FB98-307D-431F-8E15-421D812384D5}" destId="{A9252346-F916-4BCF-A740-6DD11F728787}" srcOrd="2" destOrd="0" parTransId="{B3521BE5-C472-4474-BDF8-201A5B9CE5BD}" sibTransId="{A7A73F62-C441-4848-82BF-00C0177D5F01}"/>
    <dgm:cxn modelId="{E8013726-B7C9-41BC-9AF1-F49CE589A4AB}" type="presOf" srcId="{3E58FB98-307D-431F-8E15-421D812384D5}" destId="{7524FCEF-0334-41DC-9563-6069DAAF5834}" srcOrd="0" destOrd="0" presId="urn:microsoft.com/office/officeart/2009/layout/CircleArrowProcess"/>
    <dgm:cxn modelId="{43775421-A005-4F96-865F-0E78EF436B7A}" srcId="{3E58FB98-307D-431F-8E15-421D812384D5}" destId="{E93441B7-C52F-4C65-A365-FC7ECCAF4379}" srcOrd="1" destOrd="0" parTransId="{179F446A-AB10-497C-8238-75FF895508CF}" sibTransId="{4FC5B141-6147-438D-B6DA-E872C4F1FD50}"/>
    <dgm:cxn modelId="{EF2424AE-93EC-4C13-85BF-659A9919546E}" type="presOf" srcId="{E93441B7-C52F-4C65-A365-FC7ECCAF4379}" destId="{2DB1125F-0F85-492A-AC36-97E1ECCBC91B}" srcOrd="0" destOrd="0" presId="urn:microsoft.com/office/officeart/2009/layout/CircleArrowProcess"/>
    <dgm:cxn modelId="{BCB68C97-DBE4-485E-9D6D-61F903909391}" type="presParOf" srcId="{7524FCEF-0334-41DC-9563-6069DAAF5834}" destId="{0B9C3842-F40D-4391-98A8-8CE6968A13F1}" srcOrd="0" destOrd="0" presId="urn:microsoft.com/office/officeart/2009/layout/CircleArrowProcess"/>
    <dgm:cxn modelId="{111204AA-B756-4F4C-BB4B-EF7217ABB02E}" type="presParOf" srcId="{0B9C3842-F40D-4391-98A8-8CE6968A13F1}" destId="{88D85235-579F-473A-8335-4F9239D93E7F}" srcOrd="0" destOrd="0" presId="urn:microsoft.com/office/officeart/2009/layout/CircleArrowProcess"/>
    <dgm:cxn modelId="{C5FEE8B5-4F9D-499A-AA96-864BF3CF7393}" type="presParOf" srcId="{7524FCEF-0334-41DC-9563-6069DAAF5834}" destId="{E0930675-3C15-4174-A99E-041185BA6E34}" srcOrd="1" destOrd="0" presId="urn:microsoft.com/office/officeart/2009/layout/CircleArrowProcess"/>
    <dgm:cxn modelId="{F81331BE-7CEC-49A2-91D5-235B332819EB}" type="presParOf" srcId="{7524FCEF-0334-41DC-9563-6069DAAF5834}" destId="{9F85CB66-1B65-4AC1-B688-958958D4A470}" srcOrd="2" destOrd="0" presId="urn:microsoft.com/office/officeart/2009/layout/CircleArrowProcess"/>
    <dgm:cxn modelId="{549D4952-42BC-4690-826C-8538371F2180}" type="presParOf" srcId="{9F85CB66-1B65-4AC1-B688-958958D4A470}" destId="{490CB5EA-082B-4207-8CBF-9D971FAC8912}" srcOrd="0" destOrd="0" presId="urn:microsoft.com/office/officeart/2009/layout/CircleArrowProcess"/>
    <dgm:cxn modelId="{09004B01-8A4C-41BB-AEED-EFE9C9CCD802}" type="presParOf" srcId="{7524FCEF-0334-41DC-9563-6069DAAF5834}" destId="{2DB1125F-0F85-492A-AC36-97E1ECCBC91B}" srcOrd="3" destOrd="0" presId="urn:microsoft.com/office/officeart/2009/layout/CircleArrowProcess"/>
    <dgm:cxn modelId="{B630621F-DB40-429E-97FF-C0CCE8ACB4D2}" type="presParOf" srcId="{7524FCEF-0334-41DC-9563-6069DAAF5834}" destId="{8A4F3B7C-F7A5-4B62-AD49-2D66EB57A591}" srcOrd="4" destOrd="0" presId="urn:microsoft.com/office/officeart/2009/layout/CircleArrowProcess"/>
    <dgm:cxn modelId="{97EBFCF2-89A0-4DFB-A6D7-D4A7DCC2600A}" type="presParOf" srcId="{8A4F3B7C-F7A5-4B62-AD49-2D66EB57A591}" destId="{910CF23D-A799-434C-9EF1-B1CE37D58E3A}" srcOrd="0" destOrd="0" presId="urn:microsoft.com/office/officeart/2009/layout/CircleArrowProcess"/>
    <dgm:cxn modelId="{B75C5923-C53B-49AA-8D93-F7FA091A800F}" type="presParOf" srcId="{7524FCEF-0334-41DC-9563-6069DAAF5834}" destId="{7D6A0B10-E5F7-4431-9212-931BEF01AFCC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A68229-7DAA-4A48-A6C1-C8E2890EC934}" type="doc">
      <dgm:prSet loTypeId="urn:microsoft.com/office/officeart/2005/8/layout/balance1" loCatId="relationship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6C89B7-6C5C-46CE-B5D0-AF66D450A591}">
      <dgm:prSet phldrT="[Text]"/>
      <dgm:spPr>
        <a:pattFill prst="pct5">
          <a:fgClr>
            <a:srgbClr val="FF0000"/>
          </a:fgClr>
          <a:bgClr>
            <a:schemeClr val="bg1"/>
          </a:bgClr>
        </a:pattFill>
      </dgm:spPr>
      <dgm:t>
        <a:bodyPr/>
        <a:lstStyle/>
        <a:p>
          <a:r>
            <a:rPr lang="en-US" dirty="0" smtClean="0"/>
            <a:t>0.02</a:t>
          </a:r>
          <a:endParaRPr lang="en-US" dirty="0"/>
        </a:p>
      </dgm:t>
    </dgm:pt>
    <dgm:pt modelId="{BE548935-C025-434A-ACDA-07BA19C24157}" type="parTrans" cxnId="{8C04790E-60D0-4926-80CF-3CB4365EF2E8}">
      <dgm:prSet/>
      <dgm:spPr/>
      <dgm:t>
        <a:bodyPr/>
        <a:lstStyle/>
        <a:p>
          <a:endParaRPr lang="en-US"/>
        </a:p>
      </dgm:t>
    </dgm:pt>
    <dgm:pt modelId="{6F46511F-BE72-4258-B7A1-31FE5A51D394}" type="sibTrans" cxnId="{8C04790E-60D0-4926-80CF-3CB4365EF2E8}">
      <dgm:prSet/>
      <dgm:spPr/>
      <dgm:t>
        <a:bodyPr/>
        <a:lstStyle/>
        <a:p>
          <a:endParaRPr lang="en-US"/>
        </a:p>
      </dgm:t>
    </dgm:pt>
    <dgm:pt modelId="{F1BF7358-98D6-411F-88B6-299D2589EE96}">
      <dgm:prSet phldrT="[Text]"/>
      <dgm:spPr>
        <a:pattFill prst="ltHorz">
          <a:fgClr>
            <a:srgbClr val="0070C0"/>
          </a:fgClr>
          <a:bgClr>
            <a:schemeClr val="bg1"/>
          </a:bgClr>
        </a:pattFill>
      </dgm:spPr>
      <dgm:t>
        <a:bodyPr/>
        <a:lstStyle/>
        <a:p>
          <a:r>
            <a:rPr lang="en-US" dirty="0" smtClean="0"/>
            <a:t>6.43</a:t>
          </a:r>
          <a:endParaRPr lang="en-US" dirty="0"/>
        </a:p>
      </dgm:t>
    </dgm:pt>
    <dgm:pt modelId="{97BB23BE-5D89-4F1D-81B0-BBD6938461D1}" type="parTrans" cxnId="{0439B35C-1309-4B57-BCC2-C751EEC52518}">
      <dgm:prSet/>
      <dgm:spPr/>
      <dgm:t>
        <a:bodyPr/>
        <a:lstStyle/>
        <a:p>
          <a:endParaRPr lang="en-US"/>
        </a:p>
      </dgm:t>
    </dgm:pt>
    <dgm:pt modelId="{5C55B02F-9792-4D1A-AD4C-87D5FE4A6272}" type="sibTrans" cxnId="{0439B35C-1309-4B57-BCC2-C751EEC52518}">
      <dgm:prSet/>
      <dgm:spPr/>
      <dgm:t>
        <a:bodyPr/>
        <a:lstStyle/>
        <a:p>
          <a:endParaRPr lang="en-US"/>
        </a:p>
      </dgm:t>
    </dgm:pt>
    <dgm:pt modelId="{59B4EC93-0712-4246-A992-6DB222B2738C}">
      <dgm:prSet phldrT="[Text]"/>
      <dgm:spPr/>
      <dgm:t>
        <a:bodyPr/>
        <a:lstStyle/>
        <a:p>
          <a:r>
            <a:rPr lang="en-US" dirty="0" smtClean="0"/>
            <a:t>1.2</a:t>
          </a:r>
          <a:endParaRPr lang="en-US" dirty="0"/>
        </a:p>
      </dgm:t>
    </dgm:pt>
    <dgm:pt modelId="{A6509CE4-841D-45C0-BEB0-0B4130427B8F}" type="parTrans" cxnId="{7981E054-F397-4583-944E-E86E7E2C76A3}">
      <dgm:prSet/>
      <dgm:spPr/>
      <dgm:t>
        <a:bodyPr/>
        <a:lstStyle/>
        <a:p>
          <a:endParaRPr lang="en-US"/>
        </a:p>
      </dgm:t>
    </dgm:pt>
    <dgm:pt modelId="{0516E22F-F120-4485-9DE2-039250FF6F34}" type="sibTrans" cxnId="{7981E054-F397-4583-944E-E86E7E2C76A3}">
      <dgm:prSet/>
      <dgm:spPr/>
      <dgm:t>
        <a:bodyPr/>
        <a:lstStyle/>
        <a:p>
          <a:endParaRPr lang="en-US"/>
        </a:p>
      </dgm:t>
    </dgm:pt>
    <dgm:pt modelId="{2A65C2FD-7730-4C53-AA7D-52CA84D2F287}">
      <dgm:prSet phldrT="[Text]"/>
      <dgm:spPr/>
      <dgm:t>
        <a:bodyPr/>
        <a:lstStyle/>
        <a:p>
          <a:r>
            <a:rPr lang="en-US" dirty="0" smtClean="0"/>
            <a:t>2.23</a:t>
          </a:r>
          <a:endParaRPr lang="en-US" dirty="0"/>
        </a:p>
      </dgm:t>
    </dgm:pt>
    <dgm:pt modelId="{A3964648-1A11-4D48-8A78-6C31B4F00D66}" type="parTrans" cxnId="{7C3327EB-F0BE-4D23-867B-AB605490AA87}">
      <dgm:prSet/>
      <dgm:spPr/>
      <dgm:t>
        <a:bodyPr/>
        <a:lstStyle/>
        <a:p>
          <a:endParaRPr lang="en-US"/>
        </a:p>
      </dgm:t>
    </dgm:pt>
    <dgm:pt modelId="{5CDBD6B9-32BE-424D-AF6E-AD5793281FB4}" type="sibTrans" cxnId="{7C3327EB-F0BE-4D23-867B-AB605490AA87}">
      <dgm:prSet/>
      <dgm:spPr/>
      <dgm:t>
        <a:bodyPr/>
        <a:lstStyle/>
        <a:p>
          <a:endParaRPr lang="en-US"/>
        </a:p>
      </dgm:t>
    </dgm:pt>
    <dgm:pt modelId="{138DD3AD-851B-48E9-8962-77F1FA63B0EF}">
      <dgm:prSet phldrT="[Text]"/>
      <dgm:spPr/>
      <dgm:t>
        <a:bodyPr/>
        <a:lstStyle/>
        <a:p>
          <a:r>
            <a:rPr lang="en-US" dirty="0" smtClean="0"/>
            <a:t>1.83</a:t>
          </a:r>
          <a:endParaRPr lang="en-US" dirty="0"/>
        </a:p>
      </dgm:t>
    </dgm:pt>
    <dgm:pt modelId="{91FE20CB-EE68-4BB1-B08D-8B2508F939C5}" type="parTrans" cxnId="{05C8012B-6C64-4D08-A0CE-69712C7293A6}">
      <dgm:prSet/>
      <dgm:spPr/>
      <dgm:t>
        <a:bodyPr/>
        <a:lstStyle/>
        <a:p>
          <a:endParaRPr lang="en-US"/>
        </a:p>
      </dgm:t>
    </dgm:pt>
    <dgm:pt modelId="{7CC1D767-392A-4C17-B7B6-336824186566}" type="sibTrans" cxnId="{05C8012B-6C64-4D08-A0CE-69712C7293A6}">
      <dgm:prSet/>
      <dgm:spPr/>
      <dgm:t>
        <a:bodyPr/>
        <a:lstStyle/>
        <a:p>
          <a:endParaRPr lang="en-US"/>
        </a:p>
      </dgm:t>
    </dgm:pt>
    <dgm:pt modelId="{0E35C398-8333-41B7-953A-0FD9620A394C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0.02</a:t>
          </a:r>
          <a:endParaRPr lang="en-US" dirty="0">
            <a:solidFill>
              <a:schemeClr val="tx1"/>
            </a:solidFill>
          </a:endParaRPr>
        </a:p>
      </dgm:t>
    </dgm:pt>
    <dgm:pt modelId="{E07FCEDC-02D9-4DEF-ABC7-CD457B240D69}" type="sibTrans" cxnId="{79382F62-C1DC-4E0B-8084-887D322BA2CA}">
      <dgm:prSet/>
      <dgm:spPr/>
      <dgm:t>
        <a:bodyPr/>
        <a:lstStyle/>
        <a:p>
          <a:endParaRPr lang="en-US"/>
        </a:p>
      </dgm:t>
    </dgm:pt>
    <dgm:pt modelId="{DB392F54-0363-4441-BB31-E884F9B116A4}" type="parTrans" cxnId="{79382F62-C1DC-4E0B-8084-887D322BA2CA}">
      <dgm:prSet/>
      <dgm:spPr/>
      <dgm:t>
        <a:bodyPr/>
        <a:lstStyle/>
        <a:p>
          <a:endParaRPr lang="en-US"/>
        </a:p>
      </dgm:t>
    </dgm:pt>
    <dgm:pt modelId="{F1471AF6-9E07-4A51-9D6A-17C6341193C5}">
      <dgm:prSet phldrT="[Text]" phldr="1"/>
      <dgm:spPr/>
      <dgm:t>
        <a:bodyPr/>
        <a:lstStyle/>
        <a:p>
          <a:endParaRPr lang="en-US" dirty="0"/>
        </a:p>
      </dgm:t>
    </dgm:pt>
    <dgm:pt modelId="{642B0249-45C1-4D50-92BF-CFAB9BB122B3}" type="sibTrans" cxnId="{C6D6A297-B657-4678-B3F4-9440722E4135}">
      <dgm:prSet/>
      <dgm:spPr/>
      <dgm:t>
        <a:bodyPr/>
        <a:lstStyle/>
        <a:p>
          <a:endParaRPr lang="en-US"/>
        </a:p>
      </dgm:t>
    </dgm:pt>
    <dgm:pt modelId="{B15363DC-D8E2-46B0-A6E2-0B80E1B27238}" type="parTrans" cxnId="{C6D6A297-B657-4678-B3F4-9440722E4135}">
      <dgm:prSet/>
      <dgm:spPr/>
      <dgm:t>
        <a:bodyPr/>
        <a:lstStyle/>
        <a:p>
          <a:endParaRPr lang="en-US"/>
        </a:p>
      </dgm:t>
    </dgm:pt>
    <dgm:pt modelId="{38FF4317-A853-44F2-BE5D-5CE4515E415E}">
      <dgm:prSet phldrT="[Text]"/>
      <dgm:spPr/>
      <dgm:t>
        <a:bodyPr/>
        <a:lstStyle/>
        <a:p>
          <a:r>
            <a:rPr lang="en-US" dirty="0" smtClean="0"/>
            <a:t>1.17</a:t>
          </a:r>
          <a:endParaRPr lang="en-US" dirty="0"/>
        </a:p>
      </dgm:t>
    </dgm:pt>
    <dgm:pt modelId="{712E63F2-009B-48FC-83B9-605EA3789C7B}" type="parTrans" cxnId="{757AC88F-07A1-4B9F-AE95-FD6F7EBEE6E7}">
      <dgm:prSet/>
      <dgm:spPr/>
      <dgm:t>
        <a:bodyPr/>
        <a:lstStyle/>
        <a:p>
          <a:endParaRPr lang="en-US"/>
        </a:p>
      </dgm:t>
    </dgm:pt>
    <dgm:pt modelId="{3E7FED3F-03A5-4547-BF1E-B1DA38AFE9E5}" type="sibTrans" cxnId="{757AC88F-07A1-4B9F-AE95-FD6F7EBEE6E7}">
      <dgm:prSet/>
      <dgm:spPr/>
      <dgm:t>
        <a:bodyPr/>
        <a:lstStyle/>
        <a:p>
          <a:endParaRPr lang="en-US"/>
        </a:p>
      </dgm:t>
    </dgm:pt>
    <dgm:pt modelId="{E0B8CCFC-5440-40C9-81EA-30108A789A9C}" type="pres">
      <dgm:prSet presAssocID="{44A68229-7DAA-4A48-A6C1-C8E2890EC934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ACDBEDD-662D-48B8-A3DB-0E7017FA173B}" type="pres">
      <dgm:prSet presAssocID="{44A68229-7DAA-4A48-A6C1-C8E2890EC934}" presName="dummyMaxCanvas" presStyleCnt="0"/>
      <dgm:spPr/>
    </dgm:pt>
    <dgm:pt modelId="{35F0BC70-D4C5-4639-B1DA-958685480D92}" type="pres">
      <dgm:prSet presAssocID="{44A68229-7DAA-4A48-A6C1-C8E2890EC934}" presName="parentComposite" presStyleCnt="0"/>
      <dgm:spPr/>
    </dgm:pt>
    <dgm:pt modelId="{61109DED-FCB0-4E9B-8E47-D42AFBFF3E56}" type="pres">
      <dgm:prSet presAssocID="{44A68229-7DAA-4A48-A6C1-C8E2890EC934}" presName="parent1" presStyleLbl="alignAccFollowNode1" presStyleIdx="0" presStyleCnt="4">
        <dgm:presLayoutVars>
          <dgm:chMax val="4"/>
        </dgm:presLayoutVars>
      </dgm:prSet>
      <dgm:spPr/>
      <dgm:t>
        <a:bodyPr/>
        <a:lstStyle/>
        <a:p>
          <a:endParaRPr lang="en-US"/>
        </a:p>
      </dgm:t>
    </dgm:pt>
    <dgm:pt modelId="{ADD7B6FB-6259-4DC3-85D0-0C57838C17C7}" type="pres">
      <dgm:prSet presAssocID="{44A68229-7DAA-4A48-A6C1-C8E2890EC934}" presName="parent2" presStyleLbl="alignAccFollowNode1" presStyleIdx="1" presStyleCnt="4">
        <dgm:presLayoutVars>
          <dgm:chMax val="4"/>
        </dgm:presLayoutVars>
      </dgm:prSet>
      <dgm:spPr/>
      <dgm:t>
        <a:bodyPr/>
        <a:lstStyle/>
        <a:p>
          <a:endParaRPr lang="en-US"/>
        </a:p>
      </dgm:t>
    </dgm:pt>
    <dgm:pt modelId="{7B1D1486-0548-4595-AABD-CF8564C617AB}" type="pres">
      <dgm:prSet presAssocID="{44A68229-7DAA-4A48-A6C1-C8E2890EC934}" presName="childrenComposite" presStyleCnt="0"/>
      <dgm:spPr/>
    </dgm:pt>
    <dgm:pt modelId="{23A95AF4-0109-432D-A0E8-B78195861956}" type="pres">
      <dgm:prSet presAssocID="{44A68229-7DAA-4A48-A6C1-C8E2890EC934}" presName="dummyMaxCanvas_ChildArea" presStyleCnt="0"/>
      <dgm:spPr/>
    </dgm:pt>
    <dgm:pt modelId="{7AA1F7CF-D006-42AF-AA7E-D29CF67535BB}" type="pres">
      <dgm:prSet presAssocID="{44A68229-7DAA-4A48-A6C1-C8E2890EC934}" presName="fulcrum" presStyleLbl="alignAccFollowNode1" presStyleIdx="2" presStyleCnt="4"/>
      <dgm:spPr>
        <a:solidFill>
          <a:srgbClr val="FF9900">
            <a:alpha val="90000"/>
          </a:srgbClr>
        </a:solidFill>
      </dgm:spPr>
    </dgm:pt>
    <dgm:pt modelId="{3694A5ED-56EE-4E52-BB0C-9E5F55166780}" type="pres">
      <dgm:prSet presAssocID="{44A68229-7DAA-4A48-A6C1-C8E2890EC934}" presName="balance_24" presStyleLbl="alignAccFollowNode1" presStyleIdx="3" presStyleCnt="4">
        <dgm:presLayoutVars>
          <dgm:bulletEnabled val="1"/>
        </dgm:presLayoutVars>
      </dgm:prSet>
      <dgm:spPr>
        <a:solidFill>
          <a:schemeClr val="tx1">
            <a:alpha val="90000"/>
          </a:schemeClr>
        </a:solidFill>
      </dgm:spPr>
      <dgm:t>
        <a:bodyPr/>
        <a:lstStyle/>
        <a:p>
          <a:endParaRPr lang="en-US"/>
        </a:p>
      </dgm:t>
    </dgm:pt>
    <dgm:pt modelId="{56D87E3F-B664-488A-AA26-01DFAB878F5E}" type="pres">
      <dgm:prSet presAssocID="{44A68229-7DAA-4A48-A6C1-C8E2890EC934}" presName="right_24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E92860-83A3-49A7-B712-E1EC24A4B169}" type="pres">
      <dgm:prSet presAssocID="{44A68229-7DAA-4A48-A6C1-C8E2890EC934}" presName="right_24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1F3033-5D6E-4BFB-8E9E-A5811C0513C6}" type="pres">
      <dgm:prSet presAssocID="{44A68229-7DAA-4A48-A6C1-C8E2890EC934}" presName="right_24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F27396-8C7D-4427-9DBD-2383D16976AC}" type="pres">
      <dgm:prSet presAssocID="{44A68229-7DAA-4A48-A6C1-C8E2890EC934}" presName="right_24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15811E-60F8-4885-8B2F-1E8C1C99FFB9}" type="pres">
      <dgm:prSet presAssocID="{44A68229-7DAA-4A48-A6C1-C8E2890EC934}" presName="left_24_1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1E0A1E-A3D9-475C-8445-ED23A09DF805}" type="pres">
      <dgm:prSet presAssocID="{44A68229-7DAA-4A48-A6C1-C8E2890EC934}" presName="left_24_2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C3327EB-F0BE-4D23-867B-AB605490AA87}" srcId="{F1BF7358-98D6-411F-88B6-299D2589EE96}" destId="{2A65C2FD-7730-4C53-AA7D-52CA84D2F287}" srcOrd="2" destOrd="0" parTransId="{A3964648-1A11-4D48-8A78-6C31B4F00D66}" sibTransId="{5CDBD6B9-32BE-424D-AF6E-AD5793281FB4}"/>
    <dgm:cxn modelId="{05C8012B-6C64-4D08-A0CE-69712C7293A6}" srcId="{F1BF7358-98D6-411F-88B6-299D2589EE96}" destId="{138DD3AD-851B-48E9-8962-77F1FA63B0EF}" srcOrd="3" destOrd="0" parTransId="{91FE20CB-EE68-4BB1-B08D-8B2508F939C5}" sibTransId="{7CC1D767-392A-4C17-B7B6-336824186566}"/>
    <dgm:cxn modelId="{8C04790E-60D0-4926-80CF-3CB4365EF2E8}" srcId="{44A68229-7DAA-4A48-A6C1-C8E2890EC934}" destId="{286C89B7-6C5C-46CE-B5D0-AF66D450A591}" srcOrd="0" destOrd="0" parTransId="{BE548935-C025-434A-ACDA-07BA19C24157}" sibTransId="{6F46511F-BE72-4258-B7A1-31FE5A51D394}"/>
    <dgm:cxn modelId="{DA0D6084-0532-4EF1-A45E-A47E803C18D4}" type="presOf" srcId="{F1BF7358-98D6-411F-88B6-299D2589EE96}" destId="{ADD7B6FB-6259-4DC3-85D0-0C57838C17C7}" srcOrd="0" destOrd="0" presId="urn:microsoft.com/office/officeart/2005/8/layout/balance1"/>
    <dgm:cxn modelId="{C6D6A297-B657-4678-B3F4-9440722E4135}" srcId="{286C89B7-6C5C-46CE-B5D0-AF66D450A591}" destId="{F1471AF6-9E07-4A51-9D6A-17C6341193C5}" srcOrd="1" destOrd="0" parTransId="{B15363DC-D8E2-46B0-A6E2-0B80E1B27238}" sibTransId="{642B0249-45C1-4D50-92BF-CFAB9BB122B3}"/>
    <dgm:cxn modelId="{EE6B4D4B-F71B-4319-9F40-228FF6CA0C6D}" type="presOf" srcId="{F1471AF6-9E07-4A51-9D6A-17C6341193C5}" destId="{B61E0A1E-A3D9-475C-8445-ED23A09DF805}" srcOrd="0" destOrd="0" presId="urn:microsoft.com/office/officeart/2005/8/layout/balance1"/>
    <dgm:cxn modelId="{576B94E0-A325-435B-BA9F-6B12A9736DD7}" type="presOf" srcId="{286C89B7-6C5C-46CE-B5D0-AF66D450A591}" destId="{61109DED-FCB0-4E9B-8E47-D42AFBFF3E56}" srcOrd="0" destOrd="0" presId="urn:microsoft.com/office/officeart/2005/8/layout/balance1"/>
    <dgm:cxn modelId="{757AC88F-07A1-4B9F-AE95-FD6F7EBEE6E7}" srcId="{F1BF7358-98D6-411F-88B6-299D2589EE96}" destId="{38FF4317-A853-44F2-BE5D-5CE4515E415E}" srcOrd="0" destOrd="0" parTransId="{712E63F2-009B-48FC-83B9-605EA3789C7B}" sibTransId="{3E7FED3F-03A5-4547-BF1E-B1DA38AFE9E5}"/>
    <dgm:cxn modelId="{0439B35C-1309-4B57-BCC2-C751EEC52518}" srcId="{44A68229-7DAA-4A48-A6C1-C8E2890EC934}" destId="{F1BF7358-98D6-411F-88B6-299D2589EE96}" srcOrd="1" destOrd="0" parTransId="{97BB23BE-5D89-4F1D-81B0-BBD6938461D1}" sibTransId="{5C55B02F-9792-4D1A-AD4C-87D5FE4A6272}"/>
    <dgm:cxn modelId="{D8C2D0B2-D15A-4C12-A516-44B5B6355011}" type="presOf" srcId="{44A68229-7DAA-4A48-A6C1-C8E2890EC934}" destId="{E0B8CCFC-5440-40C9-81EA-30108A789A9C}" srcOrd="0" destOrd="0" presId="urn:microsoft.com/office/officeart/2005/8/layout/balance1"/>
    <dgm:cxn modelId="{7981E054-F397-4583-944E-E86E7E2C76A3}" srcId="{F1BF7358-98D6-411F-88B6-299D2589EE96}" destId="{59B4EC93-0712-4246-A992-6DB222B2738C}" srcOrd="1" destOrd="0" parTransId="{A6509CE4-841D-45C0-BEB0-0B4130427B8F}" sibTransId="{0516E22F-F120-4485-9DE2-039250FF6F34}"/>
    <dgm:cxn modelId="{95377B0B-0659-44C2-AE81-D03B07471E42}" type="presOf" srcId="{0E35C398-8333-41B7-953A-0FD9620A394C}" destId="{C715811E-60F8-4885-8B2F-1E8C1C99FFB9}" srcOrd="0" destOrd="0" presId="urn:microsoft.com/office/officeart/2005/8/layout/balance1"/>
    <dgm:cxn modelId="{EF43FD83-6161-4225-9C58-E8D2900DB74A}" type="presOf" srcId="{38FF4317-A853-44F2-BE5D-5CE4515E415E}" destId="{56D87E3F-B664-488A-AA26-01DFAB878F5E}" srcOrd="0" destOrd="0" presId="urn:microsoft.com/office/officeart/2005/8/layout/balance1"/>
    <dgm:cxn modelId="{79382F62-C1DC-4E0B-8084-887D322BA2CA}" srcId="{286C89B7-6C5C-46CE-B5D0-AF66D450A591}" destId="{0E35C398-8333-41B7-953A-0FD9620A394C}" srcOrd="0" destOrd="0" parTransId="{DB392F54-0363-4441-BB31-E884F9B116A4}" sibTransId="{E07FCEDC-02D9-4DEF-ABC7-CD457B240D69}"/>
    <dgm:cxn modelId="{9A609C39-B64E-4EA4-BEED-A1402B0D58BC}" type="presOf" srcId="{138DD3AD-851B-48E9-8962-77F1FA63B0EF}" destId="{B5F27396-8C7D-4427-9DBD-2383D16976AC}" srcOrd="0" destOrd="0" presId="urn:microsoft.com/office/officeart/2005/8/layout/balance1"/>
    <dgm:cxn modelId="{29B84A23-F288-4449-B094-C569B5E8B9A9}" type="presOf" srcId="{2A65C2FD-7730-4C53-AA7D-52CA84D2F287}" destId="{001F3033-5D6E-4BFB-8E9E-A5811C0513C6}" srcOrd="0" destOrd="0" presId="urn:microsoft.com/office/officeart/2005/8/layout/balance1"/>
    <dgm:cxn modelId="{CC91E9E6-4AC8-4163-A22E-247358C5694F}" type="presOf" srcId="{59B4EC93-0712-4246-A992-6DB222B2738C}" destId="{BBE92860-83A3-49A7-B712-E1EC24A4B169}" srcOrd="0" destOrd="0" presId="urn:microsoft.com/office/officeart/2005/8/layout/balance1"/>
    <dgm:cxn modelId="{9CB8E19F-554C-480D-8BEE-83D583CF182A}" type="presParOf" srcId="{E0B8CCFC-5440-40C9-81EA-30108A789A9C}" destId="{6ACDBEDD-662D-48B8-A3DB-0E7017FA173B}" srcOrd="0" destOrd="0" presId="urn:microsoft.com/office/officeart/2005/8/layout/balance1"/>
    <dgm:cxn modelId="{50B36542-81AE-4BCE-BB36-C2C4E07695D9}" type="presParOf" srcId="{E0B8CCFC-5440-40C9-81EA-30108A789A9C}" destId="{35F0BC70-D4C5-4639-B1DA-958685480D92}" srcOrd="1" destOrd="0" presId="urn:microsoft.com/office/officeart/2005/8/layout/balance1"/>
    <dgm:cxn modelId="{CC16FA2C-300F-451C-ACD9-199DB51055EA}" type="presParOf" srcId="{35F0BC70-D4C5-4639-B1DA-958685480D92}" destId="{61109DED-FCB0-4E9B-8E47-D42AFBFF3E56}" srcOrd="0" destOrd="0" presId="urn:microsoft.com/office/officeart/2005/8/layout/balance1"/>
    <dgm:cxn modelId="{045B393B-AA29-480C-9465-042A26AA255B}" type="presParOf" srcId="{35F0BC70-D4C5-4639-B1DA-958685480D92}" destId="{ADD7B6FB-6259-4DC3-85D0-0C57838C17C7}" srcOrd="1" destOrd="0" presId="urn:microsoft.com/office/officeart/2005/8/layout/balance1"/>
    <dgm:cxn modelId="{806F25E4-9A2E-4410-8513-70398E5CE87E}" type="presParOf" srcId="{E0B8CCFC-5440-40C9-81EA-30108A789A9C}" destId="{7B1D1486-0548-4595-AABD-CF8564C617AB}" srcOrd="2" destOrd="0" presId="urn:microsoft.com/office/officeart/2005/8/layout/balance1"/>
    <dgm:cxn modelId="{69BA612A-14A3-4B46-9A85-FAB4258F1F71}" type="presParOf" srcId="{7B1D1486-0548-4595-AABD-CF8564C617AB}" destId="{23A95AF4-0109-432D-A0E8-B78195861956}" srcOrd="0" destOrd="0" presId="urn:microsoft.com/office/officeart/2005/8/layout/balance1"/>
    <dgm:cxn modelId="{B09F88AF-C21B-4250-A46B-8E474080FABC}" type="presParOf" srcId="{7B1D1486-0548-4595-AABD-CF8564C617AB}" destId="{7AA1F7CF-D006-42AF-AA7E-D29CF67535BB}" srcOrd="1" destOrd="0" presId="urn:microsoft.com/office/officeart/2005/8/layout/balance1"/>
    <dgm:cxn modelId="{C1AFC816-5898-4484-AE67-0EA4DC236209}" type="presParOf" srcId="{7B1D1486-0548-4595-AABD-CF8564C617AB}" destId="{3694A5ED-56EE-4E52-BB0C-9E5F55166780}" srcOrd="2" destOrd="0" presId="urn:microsoft.com/office/officeart/2005/8/layout/balance1"/>
    <dgm:cxn modelId="{2D9AF042-37F0-4D40-B6B7-4780A13FCBFB}" type="presParOf" srcId="{7B1D1486-0548-4595-AABD-CF8564C617AB}" destId="{56D87E3F-B664-488A-AA26-01DFAB878F5E}" srcOrd="3" destOrd="0" presId="urn:microsoft.com/office/officeart/2005/8/layout/balance1"/>
    <dgm:cxn modelId="{C09DC48D-4FEF-4E8F-9592-14B5480D2B14}" type="presParOf" srcId="{7B1D1486-0548-4595-AABD-CF8564C617AB}" destId="{BBE92860-83A3-49A7-B712-E1EC24A4B169}" srcOrd="4" destOrd="0" presId="urn:microsoft.com/office/officeart/2005/8/layout/balance1"/>
    <dgm:cxn modelId="{0B66CE5C-E3C9-4F59-98B8-215555F5C91E}" type="presParOf" srcId="{7B1D1486-0548-4595-AABD-CF8564C617AB}" destId="{001F3033-5D6E-4BFB-8E9E-A5811C0513C6}" srcOrd="5" destOrd="0" presId="urn:microsoft.com/office/officeart/2005/8/layout/balance1"/>
    <dgm:cxn modelId="{DA3B4AFF-7381-48DC-BC34-1D1C89A10501}" type="presParOf" srcId="{7B1D1486-0548-4595-AABD-CF8564C617AB}" destId="{B5F27396-8C7D-4427-9DBD-2383D16976AC}" srcOrd="6" destOrd="0" presId="urn:microsoft.com/office/officeart/2005/8/layout/balance1"/>
    <dgm:cxn modelId="{44BF1D9D-957A-46B4-A910-47B348D33342}" type="presParOf" srcId="{7B1D1486-0548-4595-AABD-CF8564C617AB}" destId="{C715811E-60F8-4885-8B2F-1E8C1C99FFB9}" srcOrd="7" destOrd="0" presId="urn:microsoft.com/office/officeart/2005/8/layout/balance1"/>
    <dgm:cxn modelId="{E0C47A02-9AA9-4069-A404-4A7C228C5D06}" type="presParOf" srcId="{7B1D1486-0548-4595-AABD-CF8564C617AB}" destId="{B61E0A1E-A3D9-475C-8445-ED23A09DF805}" srcOrd="8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2E8F1B-77ED-4D8A-9B6F-62AF0AC02AF2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241533-1F33-4D94-9DF1-80A92CF114F2}">
      <dgm:prSet phldrT="[Text]" custT="1"/>
      <dgm:spPr/>
      <dgm:t>
        <a:bodyPr/>
        <a:lstStyle/>
        <a:p>
          <a:pPr algn="l"/>
          <a:r>
            <a:rPr lang="en-US" sz="1800" dirty="0" err="1" smtClean="0">
              <a:solidFill>
                <a:srgbClr val="0000CC"/>
              </a:solidFill>
            </a:rPr>
            <a:t>Insta</a:t>
          </a:r>
          <a:r>
            <a:rPr lang="en-US" sz="1800" dirty="0" smtClean="0">
              <a:solidFill>
                <a:srgbClr val="0000CC"/>
              </a:solidFill>
            </a:rPr>
            <a:t> account activation</a:t>
          </a:r>
          <a:endParaRPr lang="en-US" sz="1800" dirty="0">
            <a:solidFill>
              <a:srgbClr val="0000CC"/>
            </a:solidFill>
          </a:endParaRPr>
        </a:p>
      </dgm:t>
    </dgm:pt>
    <dgm:pt modelId="{AFDFD8A1-455F-481C-8BAB-25568598CE9C}" type="parTrans" cxnId="{1633061D-1892-4DB4-895D-E6BE6C238400}">
      <dgm:prSet/>
      <dgm:spPr/>
      <dgm:t>
        <a:bodyPr/>
        <a:lstStyle/>
        <a:p>
          <a:endParaRPr lang="en-US"/>
        </a:p>
      </dgm:t>
    </dgm:pt>
    <dgm:pt modelId="{F9512EF4-EF67-4DDB-A73A-ADC01EAE78BF}" type="sibTrans" cxnId="{1633061D-1892-4DB4-895D-E6BE6C238400}">
      <dgm:prSet/>
      <dgm:spPr/>
      <dgm:t>
        <a:bodyPr/>
        <a:lstStyle/>
        <a:p>
          <a:endParaRPr lang="en-US"/>
        </a:p>
      </dgm:t>
    </dgm:pt>
    <dgm:pt modelId="{51DE12C4-FBA2-45FC-AD84-16613BBE9BB1}">
      <dgm:prSet phldrT="[Text]" custT="1"/>
      <dgm:spPr/>
      <dgm:t>
        <a:bodyPr/>
        <a:lstStyle/>
        <a:p>
          <a:pPr algn="l"/>
          <a:r>
            <a:rPr lang="en-US" sz="1800" dirty="0" smtClean="0">
              <a:solidFill>
                <a:srgbClr val="0000CC"/>
              </a:solidFill>
            </a:rPr>
            <a:t>Instant FD/RD Booking @ Branches</a:t>
          </a:r>
          <a:endParaRPr lang="en-US" sz="1800" dirty="0">
            <a:solidFill>
              <a:srgbClr val="0000CC"/>
            </a:solidFill>
          </a:endParaRPr>
        </a:p>
      </dgm:t>
    </dgm:pt>
    <dgm:pt modelId="{02EABDF1-CC8E-4C67-B45E-DFD06A25D06D}" type="parTrans" cxnId="{9A9311A3-C92D-47D5-ACF3-729C30729625}">
      <dgm:prSet/>
      <dgm:spPr/>
      <dgm:t>
        <a:bodyPr/>
        <a:lstStyle/>
        <a:p>
          <a:endParaRPr lang="en-US"/>
        </a:p>
      </dgm:t>
    </dgm:pt>
    <dgm:pt modelId="{67E6D696-0B71-4907-9454-A065C735DCEA}" type="sibTrans" cxnId="{9A9311A3-C92D-47D5-ACF3-729C30729625}">
      <dgm:prSet/>
      <dgm:spPr/>
      <dgm:t>
        <a:bodyPr/>
        <a:lstStyle/>
        <a:p>
          <a:endParaRPr lang="en-US"/>
        </a:p>
      </dgm:t>
    </dgm:pt>
    <dgm:pt modelId="{75CC9EAF-DABC-488A-A22A-53E012085303}">
      <dgm:prSet phldrT="[Text]" custT="1"/>
      <dgm:spPr/>
      <dgm:t>
        <a:bodyPr/>
        <a:lstStyle/>
        <a:p>
          <a:pPr algn="l"/>
          <a:r>
            <a:rPr lang="en-US" sz="1800" dirty="0" smtClean="0">
              <a:solidFill>
                <a:srgbClr val="0000CC"/>
              </a:solidFill>
            </a:rPr>
            <a:t>Investment Services Account activation</a:t>
          </a:r>
          <a:endParaRPr lang="en-US" sz="1800" dirty="0">
            <a:solidFill>
              <a:srgbClr val="0000CC"/>
            </a:solidFill>
          </a:endParaRPr>
        </a:p>
      </dgm:t>
    </dgm:pt>
    <dgm:pt modelId="{A8260903-CB52-4F9D-ADC1-FB8444CD353C}" type="parTrans" cxnId="{7A213A0E-8415-41C9-A975-E1BE19F2F5AC}">
      <dgm:prSet/>
      <dgm:spPr/>
      <dgm:t>
        <a:bodyPr/>
        <a:lstStyle/>
        <a:p>
          <a:endParaRPr lang="en-US"/>
        </a:p>
      </dgm:t>
    </dgm:pt>
    <dgm:pt modelId="{A65328AD-5F6B-4CED-B163-9A91B40E732B}" type="sibTrans" cxnId="{7A213A0E-8415-41C9-A975-E1BE19F2F5AC}">
      <dgm:prSet/>
      <dgm:spPr/>
      <dgm:t>
        <a:bodyPr/>
        <a:lstStyle/>
        <a:p>
          <a:endParaRPr lang="en-US"/>
        </a:p>
      </dgm:t>
    </dgm:pt>
    <dgm:pt modelId="{3B0FB638-7CF6-4596-BA32-73386D8CD104}">
      <dgm:prSet phldrT="[Text]" custT="1"/>
      <dgm:spPr/>
      <dgm:t>
        <a:bodyPr/>
        <a:lstStyle/>
        <a:p>
          <a:pPr algn="l"/>
          <a:r>
            <a:rPr lang="en-US" sz="1800" dirty="0" smtClean="0">
              <a:solidFill>
                <a:srgbClr val="0000CC"/>
              </a:solidFill>
            </a:rPr>
            <a:t>Credit Card </a:t>
          </a:r>
          <a:r>
            <a:rPr lang="en-US" sz="1800" dirty="0" err="1" smtClean="0">
              <a:solidFill>
                <a:srgbClr val="0000CC"/>
              </a:solidFill>
            </a:rPr>
            <a:t>Upgradation</a:t>
          </a:r>
          <a:endParaRPr lang="en-US" sz="1800" dirty="0">
            <a:solidFill>
              <a:srgbClr val="0000CC"/>
            </a:solidFill>
          </a:endParaRPr>
        </a:p>
      </dgm:t>
    </dgm:pt>
    <dgm:pt modelId="{4C976BEA-B2F8-4C33-B84B-3757C64B2EC7}" type="parTrans" cxnId="{E19851D9-99B8-49FC-97E8-A6A976125A70}">
      <dgm:prSet/>
      <dgm:spPr/>
      <dgm:t>
        <a:bodyPr/>
        <a:lstStyle/>
        <a:p>
          <a:endParaRPr lang="en-US"/>
        </a:p>
      </dgm:t>
    </dgm:pt>
    <dgm:pt modelId="{BA512BD0-3D41-4E13-AF18-6809ADCBF70C}" type="sibTrans" cxnId="{E19851D9-99B8-49FC-97E8-A6A976125A70}">
      <dgm:prSet/>
      <dgm:spPr/>
      <dgm:t>
        <a:bodyPr/>
        <a:lstStyle/>
        <a:p>
          <a:endParaRPr lang="en-US"/>
        </a:p>
      </dgm:t>
    </dgm:pt>
    <dgm:pt modelId="{01E42B2B-9060-4809-9427-46FA67452210}" type="pres">
      <dgm:prSet presAssocID="{372E8F1B-77ED-4D8A-9B6F-62AF0AC02AF2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7D9B94-8585-47D1-A186-619F60A9404D}" type="pres">
      <dgm:prSet presAssocID="{2A241533-1F33-4D94-9DF1-80A92CF114F2}" presName="circle1" presStyleLbl="node1" presStyleIdx="0" presStyleCnt="4"/>
      <dgm:spPr/>
    </dgm:pt>
    <dgm:pt modelId="{C0C8796B-856A-4758-AAAD-5EFA818B50C3}" type="pres">
      <dgm:prSet presAssocID="{2A241533-1F33-4D94-9DF1-80A92CF114F2}" presName="space" presStyleCnt="0"/>
      <dgm:spPr/>
    </dgm:pt>
    <dgm:pt modelId="{1C6764CF-25DC-47A7-98BA-C3E6EA498B3B}" type="pres">
      <dgm:prSet presAssocID="{2A241533-1F33-4D94-9DF1-80A92CF114F2}" presName="rect1" presStyleLbl="alignAcc1" presStyleIdx="0" presStyleCnt="4"/>
      <dgm:spPr/>
      <dgm:t>
        <a:bodyPr/>
        <a:lstStyle/>
        <a:p>
          <a:endParaRPr lang="en-US"/>
        </a:p>
      </dgm:t>
    </dgm:pt>
    <dgm:pt modelId="{7F59712E-E417-41F6-A053-5BE601E158CC}" type="pres">
      <dgm:prSet presAssocID="{51DE12C4-FBA2-45FC-AD84-16613BBE9BB1}" presName="vertSpace2" presStyleLbl="node1" presStyleIdx="0" presStyleCnt="4"/>
      <dgm:spPr/>
    </dgm:pt>
    <dgm:pt modelId="{3E5F8FD3-30B3-440D-A68C-AB71825B989C}" type="pres">
      <dgm:prSet presAssocID="{51DE12C4-FBA2-45FC-AD84-16613BBE9BB1}" presName="circle2" presStyleLbl="node1" presStyleIdx="1" presStyleCnt="4"/>
      <dgm:spPr/>
    </dgm:pt>
    <dgm:pt modelId="{7E99C437-6A79-48DB-BA07-4EA083F18127}" type="pres">
      <dgm:prSet presAssocID="{51DE12C4-FBA2-45FC-AD84-16613BBE9BB1}" presName="rect2" presStyleLbl="alignAcc1" presStyleIdx="1" presStyleCnt="4"/>
      <dgm:spPr/>
      <dgm:t>
        <a:bodyPr/>
        <a:lstStyle/>
        <a:p>
          <a:endParaRPr lang="en-US"/>
        </a:p>
      </dgm:t>
    </dgm:pt>
    <dgm:pt modelId="{D6AC9F52-49F9-4112-8605-16E2CB080FA3}" type="pres">
      <dgm:prSet presAssocID="{75CC9EAF-DABC-488A-A22A-53E012085303}" presName="vertSpace3" presStyleLbl="node1" presStyleIdx="1" presStyleCnt="4"/>
      <dgm:spPr/>
    </dgm:pt>
    <dgm:pt modelId="{F00D4B41-4282-458B-9E34-63D88121E36E}" type="pres">
      <dgm:prSet presAssocID="{75CC9EAF-DABC-488A-A22A-53E012085303}" presName="circle3" presStyleLbl="node1" presStyleIdx="2" presStyleCnt="4"/>
      <dgm:spPr/>
    </dgm:pt>
    <dgm:pt modelId="{7A8170AE-39D3-42D7-BF15-D47FD7BD10CD}" type="pres">
      <dgm:prSet presAssocID="{75CC9EAF-DABC-488A-A22A-53E012085303}" presName="rect3" presStyleLbl="alignAcc1" presStyleIdx="2" presStyleCnt="4"/>
      <dgm:spPr/>
      <dgm:t>
        <a:bodyPr/>
        <a:lstStyle/>
        <a:p>
          <a:endParaRPr lang="en-US"/>
        </a:p>
      </dgm:t>
    </dgm:pt>
    <dgm:pt modelId="{5FF4536E-B451-4CC2-A4F4-C0C497009AB0}" type="pres">
      <dgm:prSet presAssocID="{3B0FB638-7CF6-4596-BA32-73386D8CD104}" presName="vertSpace4" presStyleLbl="node1" presStyleIdx="2" presStyleCnt="4"/>
      <dgm:spPr/>
    </dgm:pt>
    <dgm:pt modelId="{6DA57A00-627F-4A45-A8F9-F458489D0393}" type="pres">
      <dgm:prSet presAssocID="{3B0FB638-7CF6-4596-BA32-73386D8CD104}" presName="circle4" presStyleLbl="node1" presStyleIdx="3" presStyleCnt="4"/>
      <dgm:spPr/>
    </dgm:pt>
    <dgm:pt modelId="{613C6EE9-4A2B-4DDF-A78A-F190C893025E}" type="pres">
      <dgm:prSet presAssocID="{3B0FB638-7CF6-4596-BA32-73386D8CD104}" presName="rect4" presStyleLbl="alignAcc1" presStyleIdx="3" presStyleCnt="4"/>
      <dgm:spPr/>
      <dgm:t>
        <a:bodyPr/>
        <a:lstStyle/>
        <a:p>
          <a:endParaRPr lang="en-US"/>
        </a:p>
      </dgm:t>
    </dgm:pt>
    <dgm:pt modelId="{20129961-6624-43E7-97F9-0860BC07D791}" type="pres">
      <dgm:prSet presAssocID="{2A241533-1F33-4D94-9DF1-80A92CF114F2}" presName="rect1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319E25-DF7B-453A-BD90-D78A4F7EF18E}" type="pres">
      <dgm:prSet presAssocID="{51DE12C4-FBA2-45FC-AD84-16613BBE9BB1}" presName="rect2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38C1AA-EE2A-4BBF-A335-8125699DFE0B}" type="pres">
      <dgm:prSet presAssocID="{75CC9EAF-DABC-488A-A22A-53E012085303}" presName="rect3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76160E-9BB6-4B8E-B515-D76EA6AC340F}" type="pres">
      <dgm:prSet presAssocID="{3B0FB638-7CF6-4596-BA32-73386D8CD104}" presName="rect4ParTxNoCh" presStyleLbl="alignAcc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1BB584-B3CA-4647-AEFD-00C5E94775AD}" type="presOf" srcId="{75CC9EAF-DABC-488A-A22A-53E012085303}" destId="{7A8170AE-39D3-42D7-BF15-D47FD7BD10CD}" srcOrd="0" destOrd="0" presId="urn:microsoft.com/office/officeart/2005/8/layout/target3"/>
    <dgm:cxn modelId="{1633061D-1892-4DB4-895D-E6BE6C238400}" srcId="{372E8F1B-77ED-4D8A-9B6F-62AF0AC02AF2}" destId="{2A241533-1F33-4D94-9DF1-80A92CF114F2}" srcOrd="0" destOrd="0" parTransId="{AFDFD8A1-455F-481C-8BAB-25568598CE9C}" sibTransId="{F9512EF4-EF67-4DDB-A73A-ADC01EAE78BF}"/>
    <dgm:cxn modelId="{744501B4-2575-49E1-A6A0-0CADC7BE2D8C}" type="presOf" srcId="{51DE12C4-FBA2-45FC-AD84-16613BBE9BB1}" destId="{7E99C437-6A79-48DB-BA07-4EA083F18127}" srcOrd="0" destOrd="0" presId="urn:microsoft.com/office/officeart/2005/8/layout/target3"/>
    <dgm:cxn modelId="{BC66A30E-C00B-4D07-9A33-B270164C088F}" type="presOf" srcId="{75CC9EAF-DABC-488A-A22A-53E012085303}" destId="{0038C1AA-EE2A-4BBF-A335-8125699DFE0B}" srcOrd="1" destOrd="0" presId="urn:microsoft.com/office/officeart/2005/8/layout/target3"/>
    <dgm:cxn modelId="{7586CABF-074A-45D0-937F-6348A597BCC8}" type="presOf" srcId="{51DE12C4-FBA2-45FC-AD84-16613BBE9BB1}" destId="{55319E25-DF7B-453A-BD90-D78A4F7EF18E}" srcOrd="1" destOrd="0" presId="urn:microsoft.com/office/officeart/2005/8/layout/target3"/>
    <dgm:cxn modelId="{71181EB8-6474-4D88-A7F6-8302789F99C5}" type="presOf" srcId="{3B0FB638-7CF6-4596-BA32-73386D8CD104}" destId="{1D76160E-9BB6-4B8E-B515-D76EA6AC340F}" srcOrd="1" destOrd="0" presId="urn:microsoft.com/office/officeart/2005/8/layout/target3"/>
    <dgm:cxn modelId="{7A213A0E-8415-41C9-A975-E1BE19F2F5AC}" srcId="{372E8F1B-77ED-4D8A-9B6F-62AF0AC02AF2}" destId="{75CC9EAF-DABC-488A-A22A-53E012085303}" srcOrd="2" destOrd="0" parTransId="{A8260903-CB52-4F9D-ADC1-FB8444CD353C}" sibTransId="{A65328AD-5F6B-4CED-B163-9A91B40E732B}"/>
    <dgm:cxn modelId="{E19851D9-99B8-49FC-97E8-A6A976125A70}" srcId="{372E8F1B-77ED-4D8A-9B6F-62AF0AC02AF2}" destId="{3B0FB638-7CF6-4596-BA32-73386D8CD104}" srcOrd="3" destOrd="0" parTransId="{4C976BEA-B2F8-4C33-B84B-3757C64B2EC7}" sibTransId="{BA512BD0-3D41-4E13-AF18-6809ADCBF70C}"/>
    <dgm:cxn modelId="{6EFD01B4-418A-40AF-BC6A-2C3407B69544}" type="presOf" srcId="{3B0FB638-7CF6-4596-BA32-73386D8CD104}" destId="{613C6EE9-4A2B-4DDF-A78A-F190C893025E}" srcOrd="0" destOrd="0" presId="urn:microsoft.com/office/officeart/2005/8/layout/target3"/>
    <dgm:cxn modelId="{8B549F22-6916-46C7-A6FE-72819268C74A}" type="presOf" srcId="{372E8F1B-77ED-4D8A-9B6F-62AF0AC02AF2}" destId="{01E42B2B-9060-4809-9427-46FA67452210}" srcOrd="0" destOrd="0" presId="urn:microsoft.com/office/officeart/2005/8/layout/target3"/>
    <dgm:cxn modelId="{9A9311A3-C92D-47D5-ACF3-729C30729625}" srcId="{372E8F1B-77ED-4D8A-9B6F-62AF0AC02AF2}" destId="{51DE12C4-FBA2-45FC-AD84-16613BBE9BB1}" srcOrd="1" destOrd="0" parTransId="{02EABDF1-CC8E-4C67-B45E-DFD06A25D06D}" sibTransId="{67E6D696-0B71-4907-9454-A065C735DCEA}"/>
    <dgm:cxn modelId="{68DFF3F7-E600-438B-9C58-9AEC6D8DE13D}" type="presOf" srcId="{2A241533-1F33-4D94-9DF1-80A92CF114F2}" destId="{1C6764CF-25DC-47A7-98BA-C3E6EA498B3B}" srcOrd="0" destOrd="0" presId="urn:microsoft.com/office/officeart/2005/8/layout/target3"/>
    <dgm:cxn modelId="{61E04C30-8F03-4A14-A804-99B310AC234F}" type="presOf" srcId="{2A241533-1F33-4D94-9DF1-80A92CF114F2}" destId="{20129961-6624-43E7-97F9-0860BC07D791}" srcOrd="1" destOrd="0" presId="urn:microsoft.com/office/officeart/2005/8/layout/target3"/>
    <dgm:cxn modelId="{E241C056-91F3-4841-A267-6AA007D2E9E4}" type="presParOf" srcId="{01E42B2B-9060-4809-9427-46FA67452210}" destId="{D57D9B94-8585-47D1-A186-619F60A9404D}" srcOrd="0" destOrd="0" presId="urn:microsoft.com/office/officeart/2005/8/layout/target3"/>
    <dgm:cxn modelId="{8A9D3104-A8F7-4BEF-822A-091E063556E1}" type="presParOf" srcId="{01E42B2B-9060-4809-9427-46FA67452210}" destId="{C0C8796B-856A-4758-AAAD-5EFA818B50C3}" srcOrd="1" destOrd="0" presId="urn:microsoft.com/office/officeart/2005/8/layout/target3"/>
    <dgm:cxn modelId="{5043EE32-9E10-4FE4-A5B0-20F1B32D6835}" type="presParOf" srcId="{01E42B2B-9060-4809-9427-46FA67452210}" destId="{1C6764CF-25DC-47A7-98BA-C3E6EA498B3B}" srcOrd="2" destOrd="0" presId="urn:microsoft.com/office/officeart/2005/8/layout/target3"/>
    <dgm:cxn modelId="{120DF5EA-1AA5-4539-8689-CB8367501E85}" type="presParOf" srcId="{01E42B2B-9060-4809-9427-46FA67452210}" destId="{7F59712E-E417-41F6-A053-5BE601E158CC}" srcOrd="3" destOrd="0" presId="urn:microsoft.com/office/officeart/2005/8/layout/target3"/>
    <dgm:cxn modelId="{34726326-638A-4EFA-8342-B786B7AA26F9}" type="presParOf" srcId="{01E42B2B-9060-4809-9427-46FA67452210}" destId="{3E5F8FD3-30B3-440D-A68C-AB71825B989C}" srcOrd="4" destOrd="0" presId="urn:microsoft.com/office/officeart/2005/8/layout/target3"/>
    <dgm:cxn modelId="{AD8B62C0-7760-485F-A38C-48CD88043466}" type="presParOf" srcId="{01E42B2B-9060-4809-9427-46FA67452210}" destId="{7E99C437-6A79-48DB-BA07-4EA083F18127}" srcOrd="5" destOrd="0" presId="urn:microsoft.com/office/officeart/2005/8/layout/target3"/>
    <dgm:cxn modelId="{AE70FC5F-B193-4661-B9F0-8BB771336B7B}" type="presParOf" srcId="{01E42B2B-9060-4809-9427-46FA67452210}" destId="{D6AC9F52-49F9-4112-8605-16E2CB080FA3}" srcOrd="6" destOrd="0" presId="urn:microsoft.com/office/officeart/2005/8/layout/target3"/>
    <dgm:cxn modelId="{8720D23F-A3B9-4547-97C3-6C2FFF4C8ED9}" type="presParOf" srcId="{01E42B2B-9060-4809-9427-46FA67452210}" destId="{F00D4B41-4282-458B-9E34-63D88121E36E}" srcOrd="7" destOrd="0" presId="urn:microsoft.com/office/officeart/2005/8/layout/target3"/>
    <dgm:cxn modelId="{83D755D0-A7FD-463D-BB17-CEB238981A9B}" type="presParOf" srcId="{01E42B2B-9060-4809-9427-46FA67452210}" destId="{7A8170AE-39D3-42D7-BF15-D47FD7BD10CD}" srcOrd="8" destOrd="0" presId="urn:microsoft.com/office/officeart/2005/8/layout/target3"/>
    <dgm:cxn modelId="{2A719638-6993-4AFD-9E80-65D991034908}" type="presParOf" srcId="{01E42B2B-9060-4809-9427-46FA67452210}" destId="{5FF4536E-B451-4CC2-A4F4-C0C497009AB0}" srcOrd="9" destOrd="0" presId="urn:microsoft.com/office/officeart/2005/8/layout/target3"/>
    <dgm:cxn modelId="{2FE10F32-920F-44F7-8E66-7F7B83A4DC3F}" type="presParOf" srcId="{01E42B2B-9060-4809-9427-46FA67452210}" destId="{6DA57A00-627F-4A45-A8F9-F458489D0393}" srcOrd="10" destOrd="0" presId="urn:microsoft.com/office/officeart/2005/8/layout/target3"/>
    <dgm:cxn modelId="{B6183ABA-EDB0-4730-B163-D24CA2C729FC}" type="presParOf" srcId="{01E42B2B-9060-4809-9427-46FA67452210}" destId="{613C6EE9-4A2B-4DDF-A78A-F190C893025E}" srcOrd="11" destOrd="0" presId="urn:microsoft.com/office/officeart/2005/8/layout/target3"/>
    <dgm:cxn modelId="{4A83AC76-8D76-41B4-A5AE-AFC668054AEF}" type="presParOf" srcId="{01E42B2B-9060-4809-9427-46FA67452210}" destId="{20129961-6624-43E7-97F9-0860BC07D791}" srcOrd="12" destOrd="0" presId="urn:microsoft.com/office/officeart/2005/8/layout/target3"/>
    <dgm:cxn modelId="{284C356E-32EF-4FBD-8910-EF2FE81741C6}" type="presParOf" srcId="{01E42B2B-9060-4809-9427-46FA67452210}" destId="{55319E25-DF7B-453A-BD90-D78A4F7EF18E}" srcOrd="13" destOrd="0" presId="urn:microsoft.com/office/officeart/2005/8/layout/target3"/>
    <dgm:cxn modelId="{24AABCCA-D055-4912-B578-0F709BCA8578}" type="presParOf" srcId="{01E42B2B-9060-4809-9427-46FA67452210}" destId="{0038C1AA-EE2A-4BBF-A335-8125699DFE0B}" srcOrd="14" destOrd="0" presId="urn:microsoft.com/office/officeart/2005/8/layout/target3"/>
    <dgm:cxn modelId="{979FF517-44DF-4F34-A260-B1C929BE6886}" type="presParOf" srcId="{01E42B2B-9060-4809-9427-46FA67452210}" destId="{1D76160E-9BB6-4B8E-B515-D76EA6AC340F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727E4-1FE9-448D-85B6-1DE9E63AFE96}">
      <dsp:nvSpPr>
        <dsp:cNvPr id="0" name=""/>
        <dsp:cNvSpPr/>
      </dsp:nvSpPr>
      <dsp:spPr>
        <a:xfrm>
          <a:off x="0" y="83383"/>
          <a:ext cx="8458200" cy="631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>
          <a:glow rad="63500">
            <a:schemeClr val="accent1">
              <a:alpha val="90000"/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rgbClr val="0000CC"/>
              </a:solidFill>
              <a:cs typeface="Calibri" pitchFamily="34" charset="0"/>
            </a:rPr>
            <a:t>4th Largest Debit Card Issuer</a:t>
          </a:r>
          <a:endParaRPr lang="en-US" sz="2700" kern="1200" dirty="0">
            <a:solidFill>
              <a:srgbClr val="0000CC"/>
            </a:solidFill>
          </a:endParaRPr>
        </a:p>
      </dsp:txBody>
      <dsp:txXfrm>
        <a:off x="30842" y="114225"/>
        <a:ext cx="8396516" cy="570116"/>
      </dsp:txXfrm>
    </dsp:sp>
    <dsp:sp modelId="{EE602765-BDD3-411A-BC01-861F0F9759EA}">
      <dsp:nvSpPr>
        <dsp:cNvPr id="0" name=""/>
        <dsp:cNvSpPr/>
      </dsp:nvSpPr>
      <dsp:spPr>
        <a:xfrm>
          <a:off x="0" y="715183"/>
          <a:ext cx="8458200" cy="1369305"/>
        </a:xfrm>
        <a:prstGeom prst="rect">
          <a:avLst/>
        </a:prstGeom>
        <a:noFill/>
        <a:ln w="120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i="1" kern="1200" dirty="0" smtClean="0">
              <a:solidFill>
                <a:srgbClr val="0000CC"/>
              </a:solidFill>
              <a:cs typeface="Calibri" pitchFamily="34" charset="0"/>
            </a:rPr>
            <a:t>15.3 million cards as of July ‘12</a:t>
          </a:r>
          <a:endParaRPr lang="en-US" sz="2100" kern="1200" dirty="0">
            <a:solidFill>
              <a:srgbClr val="0000CC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i="1" kern="1200" dirty="0" smtClean="0">
              <a:solidFill>
                <a:srgbClr val="0000CC"/>
              </a:solidFill>
              <a:cs typeface="Calibri" pitchFamily="34" charset="0"/>
            </a:rPr>
            <a:t>3 lakh+ new Debit Cards per month</a:t>
          </a:r>
          <a:endParaRPr lang="en-US" sz="2100" kern="1200" dirty="0">
            <a:solidFill>
              <a:srgbClr val="0000CC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i="1" kern="1200" dirty="0" smtClean="0">
              <a:solidFill>
                <a:srgbClr val="0000CC"/>
              </a:solidFill>
              <a:cs typeface="Calibri" pitchFamily="34" charset="0"/>
            </a:rPr>
            <a:t>47% cardholders in Non-Tier-I locations</a:t>
          </a:r>
          <a:endParaRPr lang="en-US" sz="2100" kern="1200" dirty="0">
            <a:solidFill>
              <a:srgbClr val="0000CC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>
              <a:solidFill>
                <a:srgbClr val="0000CC"/>
              </a:solidFill>
            </a:rPr>
            <a:t>Offers more than 25 variants catering to different needs</a:t>
          </a:r>
          <a:endParaRPr lang="en-US" sz="2100" kern="1200" dirty="0">
            <a:solidFill>
              <a:srgbClr val="0000CC"/>
            </a:solidFill>
          </a:endParaRPr>
        </a:p>
      </dsp:txBody>
      <dsp:txXfrm>
        <a:off x="0" y="715183"/>
        <a:ext cx="8458200" cy="1369305"/>
      </dsp:txXfrm>
    </dsp:sp>
    <dsp:sp modelId="{2A57F6A9-8359-4867-9D9B-2D819DDE07EF}">
      <dsp:nvSpPr>
        <dsp:cNvPr id="0" name=""/>
        <dsp:cNvSpPr/>
      </dsp:nvSpPr>
      <dsp:spPr>
        <a:xfrm>
          <a:off x="0" y="2261512"/>
          <a:ext cx="8458200" cy="631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>
          <a:glow rad="63500">
            <a:schemeClr val="accent1">
              <a:alpha val="90000"/>
              <a:hueOff val="0"/>
              <a:satOff val="0"/>
              <a:lumOff val="0"/>
              <a:alphaOff val="-40000"/>
              <a:alpha val="45000"/>
              <a:satMod val="120000"/>
            </a:schemeClr>
          </a:glo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1" kern="1200" dirty="0" smtClean="0">
              <a:solidFill>
                <a:srgbClr val="0000CC"/>
              </a:solidFill>
              <a:cs typeface="Calibri" pitchFamily="34" charset="0"/>
            </a:rPr>
            <a:t>No. 1 in Debit Card Portfolio spends in FY 11-12</a:t>
          </a:r>
          <a:endParaRPr lang="en-US" sz="2700" kern="1200" dirty="0">
            <a:solidFill>
              <a:srgbClr val="0000CC"/>
            </a:solidFill>
          </a:endParaRPr>
        </a:p>
      </dsp:txBody>
      <dsp:txXfrm>
        <a:off x="30842" y="2292354"/>
        <a:ext cx="8396516" cy="570116"/>
      </dsp:txXfrm>
    </dsp:sp>
    <dsp:sp modelId="{FB94F747-577A-41F9-B853-331891DB22E5}">
      <dsp:nvSpPr>
        <dsp:cNvPr id="0" name=""/>
        <dsp:cNvSpPr/>
      </dsp:nvSpPr>
      <dsp:spPr>
        <a:xfrm>
          <a:off x="0" y="2799671"/>
          <a:ext cx="8458200" cy="684652"/>
        </a:xfrm>
        <a:prstGeom prst="rect">
          <a:avLst/>
        </a:prstGeom>
        <a:noFill/>
        <a:ln w="120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2100" kern="1200" dirty="0">
            <a:solidFill>
              <a:srgbClr val="0000CC"/>
            </a:solidFill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>
              <a:solidFill>
                <a:srgbClr val="0000CC"/>
              </a:solidFill>
            </a:rPr>
            <a:t>Rs.91.5 billion portfolio spends through  61.3 million transactions</a:t>
          </a:r>
          <a:endParaRPr lang="en-US" sz="2100" kern="1200" dirty="0">
            <a:solidFill>
              <a:srgbClr val="0000CC"/>
            </a:solidFill>
          </a:endParaRPr>
        </a:p>
      </dsp:txBody>
      <dsp:txXfrm>
        <a:off x="0" y="2799671"/>
        <a:ext cx="8458200" cy="684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5AB94-6C9E-4E79-B9DA-6F4BC6E47D9E}">
      <dsp:nvSpPr>
        <dsp:cNvPr id="0" name=""/>
        <dsp:cNvSpPr/>
      </dsp:nvSpPr>
      <dsp:spPr>
        <a:xfrm>
          <a:off x="-102566" y="0"/>
          <a:ext cx="955548" cy="1238915"/>
        </a:xfrm>
        <a:prstGeom prst="upArrow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C0F80-8AA3-4A63-BEA1-88AB3F3C646F}">
      <dsp:nvSpPr>
        <dsp:cNvPr id="0" name=""/>
        <dsp:cNvSpPr/>
      </dsp:nvSpPr>
      <dsp:spPr>
        <a:xfrm>
          <a:off x="386666" y="237264"/>
          <a:ext cx="2611499" cy="1238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0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Customer Satisfaction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Revenue</a:t>
          </a:r>
          <a:endParaRPr lang="en-US" sz="1600" kern="1200" dirty="0"/>
        </a:p>
      </dsp:txBody>
      <dsp:txXfrm>
        <a:off x="386666" y="237264"/>
        <a:ext cx="2611499" cy="1238915"/>
      </dsp:txXfrm>
    </dsp:sp>
    <dsp:sp modelId="{8A9AD63F-FB0D-42C0-83AF-9F232BC46B07}">
      <dsp:nvSpPr>
        <dsp:cNvPr id="0" name=""/>
        <dsp:cNvSpPr/>
      </dsp:nvSpPr>
      <dsp:spPr>
        <a:xfrm>
          <a:off x="184098" y="1342158"/>
          <a:ext cx="955548" cy="1238915"/>
        </a:xfrm>
        <a:prstGeom prst="downArrow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14445-042B-4162-BCC1-3EA49B2F8E8B}">
      <dsp:nvSpPr>
        <dsp:cNvPr id="0" name=""/>
        <dsp:cNvSpPr/>
      </dsp:nvSpPr>
      <dsp:spPr>
        <a:xfrm>
          <a:off x="694937" y="1342158"/>
          <a:ext cx="1621536" cy="1238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0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Cost</a:t>
          </a:r>
          <a:endParaRPr lang="en-US" sz="1600" kern="1200" dirty="0"/>
        </a:p>
      </dsp:txBody>
      <dsp:txXfrm>
        <a:off x="694937" y="1342158"/>
        <a:ext cx="1621536" cy="1238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85235-579F-473A-8335-4F9239D93E7F}">
      <dsp:nvSpPr>
        <dsp:cNvPr id="0" name=""/>
        <dsp:cNvSpPr/>
      </dsp:nvSpPr>
      <dsp:spPr>
        <a:xfrm>
          <a:off x="1383357" y="142009"/>
          <a:ext cx="2394013" cy="239437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00B050"/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lt1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930675-3C15-4174-A99E-041185BA6E34}">
      <dsp:nvSpPr>
        <dsp:cNvPr id="0" name=""/>
        <dsp:cNvSpPr/>
      </dsp:nvSpPr>
      <dsp:spPr>
        <a:xfrm>
          <a:off x="1881969" y="903771"/>
          <a:ext cx="1330307" cy="664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Request PIN</a:t>
          </a:r>
          <a:endParaRPr lang="en-US" sz="1600" b="1" kern="1200" dirty="0"/>
        </a:p>
      </dsp:txBody>
      <dsp:txXfrm>
        <a:off x="1881969" y="903771"/>
        <a:ext cx="1330307" cy="664994"/>
      </dsp:txXfrm>
    </dsp:sp>
    <dsp:sp modelId="{490CB5EA-082B-4207-8CBF-9D971FAC8912}">
      <dsp:nvSpPr>
        <dsp:cNvPr id="0" name=""/>
        <dsp:cNvSpPr/>
      </dsp:nvSpPr>
      <dsp:spPr>
        <a:xfrm>
          <a:off x="718428" y="1517757"/>
          <a:ext cx="2394013" cy="239437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CCFF66"/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lt1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DB1125F-0F85-492A-AC36-97E1ECCBC91B}">
      <dsp:nvSpPr>
        <dsp:cNvPr id="0" name=""/>
        <dsp:cNvSpPr/>
      </dsp:nvSpPr>
      <dsp:spPr>
        <a:xfrm>
          <a:off x="1250281" y="2390158"/>
          <a:ext cx="1330307" cy="664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OTP Sent thru sms</a:t>
          </a:r>
          <a:endParaRPr lang="en-US" sz="1600" b="1" kern="1200" dirty="0"/>
        </a:p>
      </dsp:txBody>
      <dsp:txXfrm>
        <a:off x="1250281" y="2390158"/>
        <a:ext cx="1330307" cy="664994"/>
      </dsp:txXfrm>
    </dsp:sp>
    <dsp:sp modelId="{910CF23D-A799-434C-9EF1-B1CE37D58E3A}">
      <dsp:nvSpPr>
        <dsp:cNvPr id="0" name=""/>
        <dsp:cNvSpPr/>
      </dsp:nvSpPr>
      <dsp:spPr>
        <a:xfrm>
          <a:off x="1553748" y="3058137"/>
          <a:ext cx="2056828" cy="205765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12EE2C"/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lt1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6A0B10-E5F7-4431-9212-931BEF01AFCC}">
      <dsp:nvSpPr>
        <dsp:cNvPr id="0" name=""/>
        <dsp:cNvSpPr/>
      </dsp:nvSpPr>
      <dsp:spPr>
        <a:xfrm>
          <a:off x="1915660" y="3775853"/>
          <a:ext cx="1330307" cy="664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PIN Generated @ ATM using OTP</a:t>
          </a:r>
          <a:endParaRPr lang="en-US" sz="1600" b="1" kern="1200" dirty="0"/>
        </a:p>
      </dsp:txBody>
      <dsp:txXfrm>
        <a:off x="1915660" y="3775853"/>
        <a:ext cx="1330307" cy="6649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09DED-FCB0-4E9B-8E47-D42AFBFF3E56}">
      <dsp:nvSpPr>
        <dsp:cNvPr id="0" name=""/>
        <dsp:cNvSpPr/>
      </dsp:nvSpPr>
      <dsp:spPr>
        <a:xfrm>
          <a:off x="1113368" y="0"/>
          <a:ext cx="1356169" cy="753427"/>
        </a:xfrm>
        <a:prstGeom prst="roundRect">
          <a:avLst>
            <a:gd name="adj" fmla="val 10000"/>
          </a:avLst>
        </a:prstGeom>
        <a:pattFill prst="pct5">
          <a:fgClr>
            <a:srgbClr val="FF0000"/>
          </a:fgClr>
          <a:bgClr>
            <a:schemeClr val="bg1"/>
          </a:bgClr>
        </a:patt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0.02</a:t>
          </a:r>
          <a:endParaRPr lang="en-US" sz="3400" kern="1200" dirty="0"/>
        </a:p>
      </dsp:txBody>
      <dsp:txXfrm>
        <a:off x="1135435" y="22067"/>
        <a:ext cx="1312035" cy="709293"/>
      </dsp:txXfrm>
    </dsp:sp>
    <dsp:sp modelId="{ADD7B6FB-6259-4DC3-85D0-0C57838C17C7}">
      <dsp:nvSpPr>
        <dsp:cNvPr id="0" name=""/>
        <dsp:cNvSpPr/>
      </dsp:nvSpPr>
      <dsp:spPr>
        <a:xfrm>
          <a:off x="3072279" y="0"/>
          <a:ext cx="1356169" cy="753427"/>
        </a:xfrm>
        <a:prstGeom prst="roundRect">
          <a:avLst>
            <a:gd name="adj" fmla="val 10000"/>
          </a:avLst>
        </a:prstGeom>
        <a:pattFill prst="ltHorz">
          <a:fgClr>
            <a:srgbClr val="0070C0"/>
          </a:fgClr>
          <a:bgClr>
            <a:schemeClr val="bg1"/>
          </a:bgClr>
        </a:pattFill>
        <a:ln w="19050" cap="flat" cmpd="sng" algn="ctr">
          <a:solidFill>
            <a:schemeClr val="accent2">
              <a:tint val="40000"/>
              <a:alpha val="90000"/>
              <a:hueOff val="-4800000"/>
              <a:satOff val="-6498"/>
              <a:lumOff val="54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6.43</a:t>
          </a:r>
          <a:endParaRPr lang="en-US" sz="3400" kern="1200" dirty="0"/>
        </a:p>
      </dsp:txBody>
      <dsp:txXfrm>
        <a:off x="3094346" y="22067"/>
        <a:ext cx="1312035" cy="709293"/>
      </dsp:txXfrm>
    </dsp:sp>
    <dsp:sp modelId="{7AA1F7CF-D006-42AF-AA7E-D29CF67535BB}">
      <dsp:nvSpPr>
        <dsp:cNvPr id="0" name=""/>
        <dsp:cNvSpPr/>
      </dsp:nvSpPr>
      <dsp:spPr>
        <a:xfrm>
          <a:off x="2488373" y="3202066"/>
          <a:ext cx="565070" cy="565070"/>
        </a:xfrm>
        <a:prstGeom prst="triangle">
          <a:avLst/>
        </a:prstGeom>
        <a:solidFill>
          <a:srgbClr val="FF9900">
            <a:alpha val="90000"/>
          </a:srgbClr>
        </a:solidFill>
        <a:ln w="19050" cap="flat" cmpd="sng" algn="ctr">
          <a:solidFill>
            <a:schemeClr val="accent2">
              <a:tint val="40000"/>
              <a:alpha val="90000"/>
              <a:hueOff val="-9600000"/>
              <a:satOff val="-12996"/>
              <a:lumOff val="1085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4A5ED-56EE-4E52-BB0C-9E5F55166780}">
      <dsp:nvSpPr>
        <dsp:cNvPr id="0" name=""/>
        <dsp:cNvSpPr/>
      </dsp:nvSpPr>
      <dsp:spPr>
        <a:xfrm rot="240000">
          <a:off x="1075179" y="2959927"/>
          <a:ext cx="3391458" cy="237153"/>
        </a:xfrm>
        <a:prstGeom prst="rect">
          <a:avLst/>
        </a:prstGeom>
        <a:solidFill>
          <a:schemeClr val="tx1">
            <a:alpha val="90000"/>
          </a:schemeClr>
        </a:solidFill>
        <a:ln w="19050" cap="flat" cmpd="sng" algn="ctr">
          <a:solidFill>
            <a:schemeClr val="accent2">
              <a:tint val="40000"/>
              <a:alpha val="90000"/>
              <a:hueOff val="-14400000"/>
              <a:satOff val="-19494"/>
              <a:lumOff val="1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87E3F-B664-488A-AA26-01DFAB878F5E}">
      <dsp:nvSpPr>
        <dsp:cNvPr id="0" name=""/>
        <dsp:cNvSpPr/>
      </dsp:nvSpPr>
      <dsp:spPr>
        <a:xfrm rot="240000">
          <a:off x="3115105" y="2532685"/>
          <a:ext cx="1345861" cy="4647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1.17</a:t>
          </a:r>
          <a:endParaRPr lang="en-US" sz="2000" kern="1200" dirty="0"/>
        </a:p>
      </dsp:txBody>
      <dsp:txXfrm>
        <a:off x="3137794" y="2555374"/>
        <a:ext cx="1300483" cy="419407"/>
      </dsp:txXfrm>
    </dsp:sp>
    <dsp:sp modelId="{BBE92860-83A3-49A7-B712-E1EC24A4B169}">
      <dsp:nvSpPr>
        <dsp:cNvPr id="0" name=""/>
        <dsp:cNvSpPr/>
      </dsp:nvSpPr>
      <dsp:spPr>
        <a:xfrm rot="240000">
          <a:off x="3152776" y="2035423"/>
          <a:ext cx="1345861" cy="464785"/>
        </a:xfrm>
        <a:prstGeom prst="roundRect">
          <a:avLst/>
        </a:prstGeom>
        <a:solidFill>
          <a:schemeClr val="accent2">
            <a:hueOff val="-2880000"/>
            <a:satOff val="-10001"/>
            <a:lumOff val="120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-2880000"/>
              <a:satOff val="-10001"/>
              <a:lumOff val="1200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1.2</a:t>
          </a:r>
          <a:endParaRPr lang="en-US" sz="2000" kern="1200" dirty="0"/>
        </a:p>
      </dsp:txBody>
      <dsp:txXfrm>
        <a:off x="3175465" y="2058112"/>
        <a:ext cx="1300483" cy="419407"/>
      </dsp:txXfrm>
    </dsp:sp>
    <dsp:sp modelId="{001F3033-5D6E-4BFB-8E9E-A5811C0513C6}">
      <dsp:nvSpPr>
        <dsp:cNvPr id="0" name=""/>
        <dsp:cNvSpPr/>
      </dsp:nvSpPr>
      <dsp:spPr>
        <a:xfrm rot="240000">
          <a:off x="3190447" y="1538161"/>
          <a:ext cx="1345861" cy="464785"/>
        </a:xfrm>
        <a:prstGeom prst="roundRect">
          <a:avLst/>
        </a:prstGeom>
        <a:solidFill>
          <a:schemeClr val="accent2">
            <a:hueOff val="-5760000"/>
            <a:satOff val="-20001"/>
            <a:lumOff val="2400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-5760000"/>
              <a:satOff val="-20001"/>
              <a:lumOff val="24000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2.23</a:t>
          </a:r>
          <a:endParaRPr lang="en-US" sz="2000" kern="1200" dirty="0"/>
        </a:p>
      </dsp:txBody>
      <dsp:txXfrm>
        <a:off x="3213136" y="1560850"/>
        <a:ext cx="1300483" cy="419407"/>
      </dsp:txXfrm>
    </dsp:sp>
    <dsp:sp modelId="{B5F27396-8C7D-4427-9DBD-2383D16976AC}">
      <dsp:nvSpPr>
        <dsp:cNvPr id="0" name=""/>
        <dsp:cNvSpPr/>
      </dsp:nvSpPr>
      <dsp:spPr>
        <a:xfrm rot="240000">
          <a:off x="3228119" y="1040899"/>
          <a:ext cx="1345861" cy="464785"/>
        </a:xfrm>
        <a:prstGeom prst="roundRect">
          <a:avLst/>
        </a:prstGeom>
        <a:solidFill>
          <a:schemeClr val="accent2">
            <a:hueOff val="-8640000"/>
            <a:satOff val="-30002"/>
            <a:lumOff val="360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-8640000"/>
              <a:satOff val="-30002"/>
              <a:lumOff val="36001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1.83</a:t>
          </a:r>
          <a:endParaRPr lang="en-US" sz="2000" kern="1200" dirty="0"/>
        </a:p>
      </dsp:txBody>
      <dsp:txXfrm>
        <a:off x="3250808" y="1063588"/>
        <a:ext cx="1300483" cy="419407"/>
      </dsp:txXfrm>
    </dsp:sp>
    <dsp:sp modelId="{C715811E-60F8-4885-8B2F-1E8C1C99FFB9}">
      <dsp:nvSpPr>
        <dsp:cNvPr id="0" name=""/>
        <dsp:cNvSpPr/>
      </dsp:nvSpPr>
      <dsp:spPr>
        <a:xfrm rot="240000">
          <a:off x="1156193" y="2397068"/>
          <a:ext cx="1345861" cy="464785"/>
        </a:xfrm>
        <a:prstGeom prst="roundRect">
          <a:avLst/>
        </a:prstGeom>
        <a:solidFill>
          <a:schemeClr val="accent2">
            <a:hueOff val="-11520000"/>
            <a:satOff val="-40002"/>
            <a:lumOff val="480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-11520000"/>
              <a:satOff val="-40002"/>
              <a:lumOff val="48001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tx1"/>
              </a:solidFill>
            </a:rPr>
            <a:t>0.02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178882" y="2419757"/>
        <a:ext cx="1300483" cy="419407"/>
      </dsp:txXfrm>
    </dsp:sp>
    <dsp:sp modelId="{B61E0A1E-A3D9-475C-8445-ED23A09DF805}">
      <dsp:nvSpPr>
        <dsp:cNvPr id="0" name=""/>
        <dsp:cNvSpPr/>
      </dsp:nvSpPr>
      <dsp:spPr>
        <a:xfrm rot="240000">
          <a:off x="1193865" y="1899806"/>
          <a:ext cx="1345861" cy="464785"/>
        </a:xfrm>
        <a:prstGeom prst="roundRect">
          <a:avLst/>
        </a:prstGeom>
        <a:solidFill>
          <a:schemeClr val="accent2">
            <a:hueOff val="-14400000"/>
            <a:satOff val="-50003"/>
            <a:lumOff val="6000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-14400000"/>
              <a:satOff val="-50003"/>
              <a:lumOff val="60001"/>
              <a:alphaOff val="0"/>
              <a:alpha val="45000"/>
              <a:satMod val="12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</dsp:txBody>
      <dsp:txXfrm>
        <a:off x="1216554" y="1922495"/>
        <a:ext cx="1300483" cy="4194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D9B94-8585-47D1-A186-619F60A9404D}">
      <dsp:nvSpPr>
        <dsp:cNvPr id="0" name=""/>
        <dsp:cNvSpPr/>
      </dsp:nvSpPr>
      <dsp:spPr>
        <a:xfrm>
          <a:off x="0" y="0"/>
          <a:ext cx="4572000" cy="45720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764CF-25DC-47A7-98BA-C3E6EA498B3B}">
      <dsp:nvSpPr>
        <dsp:cNvPr id="0" name=""/>
        <dsp:cNvSpPr/>
      </dsp:nvSpPr>
      <dsp:spPr>
        <a:xfrm>
          <a:off x="2286000" y="0"/>
          <a:ext cx="6629400" cy="457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solidFill>
                <a:srgbClr val="0000CC"/>
              </a:solidFill>
            </a:rPr>
            <a:t>Insta</a:t>
          </a:r>
          <a:r>
            <a:rPr lang="en-US" sz="1800" kern="1200" dirty="0" smtClean="0">
              <a:solidFill>
                <a:srgbClr val="0000CC"/>
              </a:solidFill>
            </a:rPr>
            <a:t> account activation</a:t>
          </a:r>
          <a:endParaRPr lang="en-US" sz="1800" kern="1200" dirty="0">
            <a:solidFill>
              <a:srgbClr val="0000CC"/>
            </a:solidFill>
          </a:endParaRPr>
        </a:p>
      </dsp:txBody>
      <dsp:txXfrm>
        <a:off x="2286000" y="0"/>
        <a:ext cx="6629400" cy="971549"/>
      </dsp:txXfrm>
    </dsp:sp>
    <dsp:sp modelId="{3E5F8FD3-30B3-440D-A68C-AB71825B989C}">
      <dsp:nvSpPr>
        <dsp:cNvPr id="0" name=""/>
        <dsp:cNvSpPr/>
      </dsp:nvSpPr>
      <dsp:spPr>
        <a:xfrm>
          <a:off x="600074" y="971550"/>
          <a:ext cx="3371850" cy="337185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9C437-6A79-48DB-BA07-4EA083F18127}">
      <dsp:nvSpPr>
        <dsp:cNvPr id="0" name=""/>
        <dsp:cNvSpPr/>
      </dsp:nvSpPr>
      <dsp:spPr>
        <a:xfrm>
          <a:off x="2286000" y="971550"/>
          <a:ext cx="6629400" cy="337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0000CC"/>
              </a:solidFill>
            </a:rPr>
            <a:t>Instant FD/RD Booking @ Branches</a:t>
          </a:r>
          <a:endParaRPr lang="en-US" sz="1800" kern="1200" dirty="0">
            <a:solidFill>
              <a:srgbClr val="0000CC"/>
            </a:solidFill>
          </a:endParaRPr>
        </a:p>
      </dsp:txBody>
      <dsp:txXfrm>
        <a:off x="2286000" y="971550"/>
        <a:ext cx="6629400" cy="971550"/>
      </dsp:txXfrm>
    </dsp:sp>
    <dsp:sp modelId="{F00D4B41-4282-458B-9E34-63D88121E36E}">
      <dsp:nvSpPr>
        <dsp:cNvPr id="0" name=""/>
        <dsp:cNvSpPr/>
      </dsp:nvSpPr>
      <dsp:spPr>
        <a:xfrm>
          <a:off x="1200149" y="1943100"/>
          <a:ext cx="2171700" cy="21717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170AE-39D3-42D7-BF15-D47FD7BD10CD}">
      <dsp:nvSpPr>
        <dsp:cNvPr id="0" name=""/>
        <dsp:cNvSpPr/>
      </dsp:nvSpPr>
      <dsp:spPr>
        <a:xfrm>
          <a:off x="2286000" y="1943100"/>
          <a:ext cx="6629400" cy="217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0000CC"/>
              </a:solidFill>
            </a:rPr>
            <a:t>Investment Services Account activation</a:t>
          </a:r>
          <a:endParaRPr lang="en-US" sz="1800" kern="1200" dirty="0">
            <a:solidFill>
              <a:srgbClr val="0000CC"/>
            </a:solidFill>
          </a:endParaRPr>
        </a:p>
      </dsp:txBody>
      <dsp:txXfrm>
        <a:off x="2286000" y="1943100"/>
        <a:ext cx="6629400" cy="971550"/>
      </dsp:txXfrm>
    </dsp:sp>
    <dsp:sp modelId="{6DA57A00-627F-4A45-A8F9-F458489D0393}">
      <dsp:nvSpPr>
        <dsp:cNvPr id="0" name=""/>
        <dsp:cNvSpPr/>
      </dsp:nvSpPr>
      <dsp:spPr>
        <a:xfrm>
          <a:off x="1800225" y="2914650"/>
          <a:ext cx="971549" cy="9715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C6EE9-4A2B-4DDF-A78A-F190C893025E}">
      <dsp:nvSpPr>
        <dsp:cNvPr id="0" name=""/>
        <dsp:cNvSpPr/>
      </dsp:nvSpPr>
      <dsp:spPr>
        <a:xfrm>
          <a:off x="2286000" y="2914650"/>
          <a:ext cx="6629400" cy="971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0000CC"/>
              </a:solidFill>
            </a:rPr>
            <a:t>Credit Card </a:t>
          </a:r>
          <a:r>
            <a:rPr lang="en-US" sz="1800" kern="1200" dirty="0" err="1" smtClean="0">
              <a:solidFill>
                <a:srgbClr val="0000CC"/>
              </a:solidFill>
            </a:rPr>
            <a:t>Upgradation</a:t>
          </a:r>
          <a:endParaRPr lang="en-US" sz="1800" kern="1200" dirty="0">
            <a:solidFill>
              <a:srgbClr val="0000CC"/>
            </a:solidFill>
          </a:endParaRPr>
        </a:p>
      </dsp:txBody>
      <dsp:txXfrm>
        <a:off x="2286000" y="2914650"/>
        <a:ext cx="6629400" cy="971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E437108-FAED-40BF-9714-8C00DCD8BDC4}" type="datetimeFigureOut">
              <a:rPr lang="en-US"/>
              <a:pPr>
                <a:defRPr/>
              </a:pPr>
              <a:t>10/10/2012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D704DC8-EF98-48E6-9B0E-1F8D2E8B22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74291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66F8AD9-CDB4-47C3-A3DF-15EABDF38AB2}" type="datetimeFigureOut">
              <a:rPr lang="en-US"/>
              <a:pPr>
                <a:defRPr/>
              </a:pPr>
              <a:t>10/10/2012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F614219-14CF-4B04-AF64-E45A8E2C7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4236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EEF6F4-89F5-47A8-B7E7-A40DACC4E64C}" type="slidenum">
              <a:rPr lang="en-US" smtClean="0">
                <a:latin typeface="Arial" pitchFamily="34" charset="0"/>
              </a:rPr>
              <a:pPr/>
              <a:t>6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2CCBA88-4037-49F5-B361-D098F6376A47}" type="slidenum">
              <a:rPr lang="en-US" smtClean="0">
                <a:latin typeface="Arial" pitchFamily="34" charset="0"/>
              </a:rPr>
              <a:pPr/>
              <a:t>10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B1953FB-7A95-493A-9816-8990ED563B9A}" type="slidenum">
              <a:rPr lang="en-US" smtClean="0">
                <a:latin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A55FC3A-0167-427B-A4F3-276B9E5B1889}" type="slidenum">
              <a:rPr lang="en-US" smtClean="0">
                <a:latin typeface="Arial" pitchFamily="34" charset="0"/>
              </a:rPr>
              <a:pPr/>
              <a:t>27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94B3F3-B818-4E32-B7D8-282FAC2A2BDB}" type="slidenum">
              <a:rPr lang="en-US" sz="1200">
                <a:latin typeface="+mn-lt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30</a:t>
            </a:fld>
            <a:endParaRPr lang="en-US" sz="1200" dirty="0">
              <a:latin typeface="+mn-l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2CCBA88-4037-49F5-B361-D098F6376A47}" type="slidenum">
              <a:rPr lang="en-US" smtClean="0">
                <a:latin typeface="Arial" pitchFamily="34" charset="0"/>
              </a:rPr>
              <a:pPr/>
              <a:t>34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04-b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 descr="04-a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175"/>
            <a:ext cx="9144000" cy="685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0F2AE-E2DE-456D-8FAC-C2629D4EBF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02A4D-2F7B-4379-A452-7C5692524F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B54CD-E807-4020-BA08-B071097128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9C012-2935-49E5-A189-EC3BD4F862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6769B-DA5F-4F2C-9BBD-DA20CF3FBF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2571D-7276-47B2-B9FA-E38DFD52D4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ADF44-1E8C-492D-B576-88162D3AED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EE09CF-96BC-438E-BAEE-1AB521768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4102B-19E2-4975-A164-9BF2D3CB5B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57F01-A8D7-4C30-A0DA-B3B16BE60F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08E78-B0C6-4735-900F-BE800DB34F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lide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3"/>
          <p:cNvSpPr txBox="1">
            <a:spLocks noGrp="1"/>
          </p:cNvSpPr>
          <p:nvPr/>
        </p:nvSpPr>
        <p:spPr bwMode="auto">
          <a:xfrm>
            <a:off x="3733800" y="6629400"/>
            <a:ext cx="7772400" cy="3048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000" smtClean="0"/>
              <a:t>Copyrights © HDFC Bank 		Public* 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B03EA-F319-49EE-B33B-7AEAAADD4F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0638D-EF2E-453B-9FFF-BA11B0765C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429000" y="2971800"/>
            <a:ext cx="4495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buFont typeface="Courier New" pitchFamily="49" charset="0"/>
              <a:buChar char="o"/>
              <a:defRPr sz="1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3"/>
            <a:endParaRPr lang="en-US" noProof="0" dirty="0" smtClean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9C322D12-BCE5-4985-A0AA-7E1C5D0E9C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7" descr="04-b"/>
          <p:cNvPicPr>
            <a:picLocks noChangeAspect="1" noChangeArrowheads="1"/>
          </p:cNvPicPr>
          <p:nvPr userDrawn="1"/>
        </p:nvPicPr>
        <p:blipFill>
          <a:blip r:embed="rId20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2" name="Rectangle 9"/>
          <p:cNvSpPr>
            <a:spLocks noChangeArrowheads="1"/>
          </p:cNvSpPr>
          <p:nvPr userDrawn="1"/>
        </p:nvSpPr>
        <p:spPr bwMode="auto">
          <a:xfrm>
            <a:off x="152400" y="6548438"/>
            <a:ext cx="777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sz="1000">
                <a:solidFill>
                  <a:schemeClr val="accent2"/>
                </a:solidFill>
              </a:rPr>
              <a:t>Copyrights © HDFC Bank 	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4" r:id="rId1"/>
    <p:sldLayoutId id="2147484725" r:id="rId2"/>
    <p:sldLayoutId id="2147484713" r:id="rId3"/>
    <p:sldLayoutId id="2147484714" r:id="rId4"/>
    <p:sldLayoutId id="2147484715" r:id="rId5"/>
    <p:sldLayoutId id="2147484716" r:id="rId6"/>
    <p:sldLayoutId id="2147484717" r:id="rId7"/>
    <p:sldLayoutId id="2147484718" r:id="rId8"/>
    <p:sldLayoutId id="2147484719" r:id="rId9"/>
    <p:sldLayoutId id="2147484720" r:id="rId10"/>
    <p:sldLayoutId id="2147484721" r:id="rId11"/>
    <p:sldLayoutId id="2147484726" r:id="rId12"/>
    <p:sldLayoutId id="2147484722" r:id="rId13"/>
    <p:sldLayoutId id="2147484723" r:id="rId14"/>
    <p:sldLayoutId id="2147484727" r:id="rId15"/>
    <p:sldLayoutId id="2147484728" r:id="rId16"/>
    <p:sldLayoutId id="2147484730" r:id="rId17"/>
    <p:sldLayoutId id="2147484731" r:id="rId18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3.pn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12" Type="http://schemas.openxmlformats.org/officeDocument/2006/relationships/image" Target="../media/image2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jpeg"/><Relationship Id="rId10" Type="http://schemas.openxmlformats.org/officeDocument/2006/relationships/hyperlink" Target="http://www.iconarchive.com/show/ecommerce-business-icons-by-designcontest/wallet-icon.html" TargetMode="External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microsoft.com/office/2007/relationships/diagramDrawing" Target="../diagrams/drawing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hyperlink" Target="http://www.iconarchive.com/show/dragon-soft-icons-by-artua/User-ic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3.jpeg"/><Relationship Id="rId4" Type="http://schemas.openxmlformats.org/officeDocument/2006/relationships/image" Target="../media/image42.jpeg"/><Relationship Id="rId9" Type="http://schemas.openxmlformats.org/officeDocument/2006/relationships/image" Target="../media/image4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51.png"/><Relationship Id="rId7" Type="http://schemas.openxmlformats.org/officeDocument/2006/relationships/image" Target="../media/image28.jpe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hyperlink" Target="http://www.iconarchive.com/show/dragon-soft-icons-by-artua/User-icon.html" TargetMode="Externa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2.png"/><Relationship Id="rId4" Type="http://schemas.openxmlformats.org/officeDocument/2006/relationships/chart" Target="../charts/char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58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7.png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4419600"/>
            <a:ext cx="9144000" cy="2438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4373563"/>
            <a:ext cx="9144000" cy="4603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11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9221" name="Picture 5" descr="New HDFC Bank logo fina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396875"/>
            <a:ext cx="5410200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2" name="Text Box 13"/>
          <p:cNvSpPr txBox="1">
            <a:spLocks noChangeArrowheads="1"/>
          </p:cNvSpPr>
          <p:nvPr/>
        </p:nvSpPr>
        <p:spPr bwMode="auto">
          <a:xfrm>
            <a:off x="4400550" y="1309688"/>
            <a:ext cx="3067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2"/>
                </a:solidFill>
              </a:rPr>
              <a:t>We understand your world</a:t>
            </a:r>
          </a:p>
        </p:txBody>
      </p:sp>
      <p:grpSp>
        <p:nvGrpSpPr>
          <p:cNvPr id="9223" name="Group 20"/>
          <p:cNvGrpSpPr>
            <a:grpSpLocks/>
          </p:cNvGrpSpPr>
          <p:nvPr/>
        </p:nvGrpSpPr>
        <p:grpSpPr bwMode="auto">
          <a:xfrm>
            <a:off x="838200" y="4648200"/>
            <a:ext cx="7467600" cy="1092200"/>
            <a:chOff x="192" y="2736"/>
            <a:chExt cx="4704" cy="688"/>
          </a:xfrm>
        </p:grpSpPr>
        <p:pic>
          <p:nvPicPr>
            <p:cNvPr id="9226" name="Picture 21" descr="HDFC Banks Regular Savings Account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2" y="2736"/>
              <a:ext cx="1200" cy="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7" name="Picture 22" descr="Kisan Club Savings Account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392" y="2736"/>
              <a:ext cx="1200" cy="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8" name="Picture 23" descr="Super Saver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544" y="2736"/>
              <a:ext cx="1200" cy="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9" name="Picture 24" descr="Educational Loans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696" y="2736"/>
              <a:ext cx="1200" cy="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24" name="Rectangle 8"/>
          <p:cNvSpPr txBox="1">
            <a:spLocks noChangeArrowheads="1"/>
          </p:cNvSpPr>
          <p:nvPr/>
        </p:nvSpPr>
        <p:spPr bwMode="auto">
          <a:xfrm>
            <a:off x="365125" y="1981200"/>
            <a:ext cx="8550275" cy="204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3200" b="1" dirty="0">
                <a:solidFill>
                  <a:srgbClr val="000099"/>
                </a:solidFill>
              </a:rPr>
              <a:t>Customer Delight </a:t>
            </a:r>
          </a:p>
          <a:p>
            <a:pPr algn="ctr"/>
            <a:r>
              <a:rPr lang="en-US" sz="2400" b="1" dirty="0">
                <a:solidFill>
                  <a:srgbClr val="000099"/>
                </a:solidFill>
              </a:rPr>
              <a:t>Re-Engineering Debit </a:t>
            </a:r>
            <a:r>
              <a:rPr lang="en-US" sz="2400" b="1" dirty="0" smtClean="0">
                <a:solidFill>
                  <a:srgbClr val="000099"/>
                </a:solidFill>
              </a:rPr>
              <a:t>Card &amp; PIN Issuance Process</a:t>
            </a:r>
            <a:endParaRPr lang="en-US" sz="2400" b="1" dirty="0">
              <a:solidFill>
                <a:srgbClr val="000099"/>
              </a:solidFill>
            </a:endParaRPr>
          </a:p>
        </p:txBody>
      </p:sp>
      <p:sp>
        <p:nvSpPr>
          <p:cNvPr id="9225" name="Rectangle 6" descr="Heading-Heading"/>
          <p:cNvSpPr txBox="1">
            <a:spLocks noChangeArrowheads="1"/>
          </p:cNvSpPr>
          <p:nvPr/>
        </p:nvSpPr>
        <p:spPr bwMode="auto">
          <a:xfrm>
            <a:off x="655638" y="3632200"/>
            <a:ext cx="711676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000">
                <a:solidFill>
                  <a:srgbClr val="000099"/>
                </a:solidFill>
                <a:cs typeface="Arial" pitchFamily="34" charset="0"/>
              </a:rPr>
              <a:t>Ratan Kesh </a:t>
            </a:r>
          </a:p>
          <a:p>
            <a:pPr>
              <a:spcBef>
                <a:spcPct val="20000"/>
              </a:spcBef>
            </a:pPr>
            <a:r>
              <a:rPr lang="en-US" sz="2000">
                <a:solidFill>
                  <a:srgbClr val="000099"/>
                </a:solidFill>
                <a:cs typeface="Arial" pitchFamily="34" charset="0"/>
              </a:rPr>
              <a:t>Sr. VP and Head – Quality Initiatives Group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027113" y="0"/>
            <a:ext cx="6745287" cy="533400"/>
          </a:xfrm>
        </p:spPr>
        <p:txBody>
          <a:bodyPr/>
          <a:lstStyle/>
          <a:p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HDFC Bank – An Overview</a:t>
            </a:r>
            <a:endParaRPr lang="en-US" sz="2400" b="1" dirty="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934200" y="6534150"/>
            <a:ext cx="2133600" cy="476250"/>
          </a:xfrm>
          <a:noFill/>
        </p:spPr>
        <p:txBody>
          <a:bodyPr/>
          <a:lstStyle/>
          <a:p>
            <a:fld id="{2568FA43-DA51-445E-9804-85F3C0997409}" type="slidenum">
              <a:rPr lang="en-US" smtClean="0">
                <a:latin typeface="Arial" pitchFamily="34" charset="0"/>
              </a:rPr>
              <a:pPr/>
              <a:t>2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184150" y="1027113"/>
            <a:ext cx="1317625" cy="1851025"/>
          </a:xfrm>
          <a:prstGeom prst="homePlate">
            <a:avLst>
              <a:gd name="adj" fmla="val 28199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n-lt"/>
                <a:cs typeface="Times New Roman" pitchFamily="18" charset="0"/>
              </a:rPr>
              <a:t>Retail</a:t>
            </a:r>
          </a:p>
          <a:p>
            <a:pPr algn="ctr">
              <a:defRPr/>
            </a:pPr>
            <a:r>
              <a:rPr lang="en-US" b="1" dirty="0">
                <a:latin typeface="+mn-lt"/>
                <a:cs typeface="Times New Roman" pitchFamily="18" charset="0"/>
              </a:rPr>
              <a:t>Banking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210300" y="838200"/>
            <a:ext cx="2705100" cy="2284413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</p:spPr>
        <p:txBody>
          <a:bodyPr wrap="none" lIns="54864" tIns="54864" rIns="54864" bIns="54864"/>
          <a:lstStyle/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r>
              <a:rPr lang="en-GB" altLang="zh-CN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Other Products / Services:</a:t>
            </a:r>
          </a:p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endParaRPr lang="en-GB" altLang="zh-CN" sz="1000" b="1" dirty="0">
              <a:solidFill>
                <a:schemeClr val="accent2">
                  <a:lumMod val="50000"/>
                </a:schemeClr>
              </a:solidFill>
              <a:latin typeface="+mn-lt"/>
              <a:ea typeface="SimSun" pitchFamily="2" charset="-122"/>
              <a:cs typeface="Times New Roman" pitchFamily="18" charset="0"/>
            </a:endParaRP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Depository Accounts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Mutual Fund Sales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Private Banking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Insurance Sales (Life, General)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NRI Services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Bill Payment Services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POS Terminals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Debit Cards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Gold Sales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Foreign Exchange Services  </a:t>
            </a:r>
            <a:endParaRPr lang="en-GB" altLang="zh-CN" sz="1000" b="1" dirty="0">
              <a:solidFill>
                <a:schemeClr val="accent2">
                  <a:lumMod val="50000"/>
                </a:schemeClr>
              </a:solidFill>
              <a:latin typeface="+mn-lt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184150" y="3357563"/>
            <a:ext cx="1317625" cy="1466850"/>
          </a:xfrm>
          <a:prstGeom prst="homePlate">
            <a:avLst>
              <a:gd name="adj" fmla="val 3076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n-lt"/>
                <a:cs typeface="Times New Roman" pitchFamily="18" charset="0"/>
              </a:rPr>
              <a:t>Wholesale</a:t>
            </a:r>
            <a:br>
              <a:rPr lang="en-US" b="1" dirty="0">
                <a:latin typeface="+mn-lt"/>
                <a:cs typeface="Times New Roman" pitchFamily="18" charset="0"/>
              </a:rPr>
            </a:br>
            <a:r>
              <a:rPr lang="en-US" b="1" dirty="0">
                <a:latin typeface="+mn-lt"/>
                <a:cs typeface="Times New Roman" pitchFamily="18" charset="0"/>
              </a:rPr>
              <a:t>Banking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600200" y="3357563"/>
            <a:ext cx="2133600" cy="1477962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</p:spPr>
        <p:txBody>
          <a:bodyPr wrap="none" lIns="54864" tIns="54864" rIns="54864" bIns="54864"/>
          <a:lstStyle/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r>
              <a:rPr lang="en-GB" altLang="zh-CN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Commercial Banking:</a:t>
            </a:r>
          </a:p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endParaRPr lang="en-GB" altLang="zh-CN" sz="1000" b="1" dirty="0">
              <a:solidFill>
                <a:schemeClr val="accent2">
                  <a:lumMod val="50000"/>
                </a:schemeClr>
              </a:solidFill>
              <a:latin typeface="+mn-lt"/>
              <a:ea typeface="SimSun" pitchFamily="2" charset="-122"/>
              <a:cs typeface="Times New Roman" pitchFamily="18" charset="0"/>
            </a:endParaRP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Working Capital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Term Loans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Bill Collection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Forex &amp; Derivatives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Wholesale Deposits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Letters of Credit/Guarantees 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6210300" y="3352800"/>
            <a:ext cx="2705100" cy="1482725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</p:spPr>
        <p:txBody>
          <a:bodyPr wrap="none" lIns="54864" tIns="54864" rIns="54864" bIns="54864"/>
          <a:lstStyle/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Key Segments</a:t>
            </a:r>
            <a:r>
              <a:rPr lang="en-GB" altLang="zh-CN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:</a:t>
            </a:r>
          </a:p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endParaRPr lang="en-US" sz="1000" b="1" dirty="0">
              <a:solidFill>
                <a:schemeClr val="accent2">
                  <a:lumMod val="50000"/>
                </a:schemeClr>
              </a:solidFill>
              <a:latin typeface="+mn-lt"/>
              <a:ea typeface="SimSun" pitchFamily="2" charset="-122"/>
              <a:cs typeface="Times New Roman" pitchFamily="18" charset="0"/>
            </a:endParaRP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Large Corporate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Emerging Corporates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Financial Institutions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Government / PSUs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Supply Chain (Suppliers and dealers)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Agriculture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Commodities </a:t>
            </a: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52400" y="5064125"/>
            <a:ext cx="1341438" cy="993775"/>
          </a:xfrm>
          <a:prstGeom prst="homePlate">
            <a:avLst>
              <a:gd name="adj" fmla="val 4155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latin typeface="+mn-lt"/>
                <a:cs typeface="Times New Roman" pitchFamily="18" charset="0"/>
              </a:rPr>
              <a:t>Treasury</a:t>
            </a:r>
          </a:p>
        </p:txBody>
      </p:sp>
      <p:grpSp>
        <p:nvGrpSpPr>
          <p:cNvPr id="11274" name="Group 5"/>
          <p:cNvGrpSpPr>
            <a:grpSpLocks/>
          </p:cNvGrpSpPr>
          <p:nvPr/>
        </p:nvGrpSpPr>
        <p:grpSpPr bwMode="auto">
          <a:xfrm>
            <a:off x="1604963" y="838200"/>
            <a:ext cx="4605337" cy="2284413"/>
            <a:chOff x="1835150" y="838200"/>
            <a:chExt cx="4605194" cy="2283921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1835150" y="838200"/>
              <a:ext cx="4489311" cy="2283921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wrap="none" lIns="54864" tIns="54864" rIns="54864" bIns="54864"/>
            <a:lstStyle/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r>
                <a:rPr lang="en-GB" altLang="zh-CN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Loan Products: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endPara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Auto/ </a:t>
              </a: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ea typeface="SimSun" pitchFamily="2" charset="-122"/>
                  <a:cs typeface="Times New Roman" pitchFamily="18" charset="0"/>
                </a:rPr>
                <a:t>2-Wheeler Loans </a:t>
              </a:r>
              <a:endPara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Business Banking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Personal Loans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Credit Cards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Commercial Vehicles Finance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Construction Equipment Finance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Mortgages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Loans against Securities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Tractor and Agri loans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Education Loans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Gold Loans </a:t>
              </a:r>
              <a:endParaRPr lang="en-GB" altLang="zh-CN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4190927" y="838200"/>
              <a:ext cx="2249417" cy="144590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54864" tIns="54864" rIns="54864" bIns="54864"/>
            <a:lstStyle/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r>
                <a:rPr lang="en-GB" altLang="zh-CN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Deposit Products: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endPara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Savings &amp; Current Accounts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Fixed / Recurring Deposits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Corporate Salary Accounts </a:t>
              </a:r>
            </a:p>
          </p:txBody>
        </p:sp>
      </p:grpSp>
      <p:grpSp>
        <p:nvGrpSpPr>
          <p:cNvPr id="11275" name="Group 23"/>
          <p:cNvGrpSpPr>
            <a:grpSpLocks/>
          </p:cNvGrpSpPr>
          <p:nvPr/>
        </p:nvGrpSpPr>
        <p:grpSpPr bwMode="auto">
          <a:xfrm>
            <a:off x="1600200" y="5054600"/>
            <a:ext cx="7315200" cy="1003300"/>
            <a:chOff x="1600200" y="5054958"/>
            <a:chExt cx="7315200" cy="1002405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600200" y="5064475"/>
              <a:ext cx="7315200" cy="992888"/>
            </a:xfrm>
            <a:prstGeom prst="rect">
              <a:avLst/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</p:spPr>
          <p:txBody>
            <a:bodyPr wrap="none" lIns="54864" tIns="54864" rIns="54864" bIns="54864"/>
            <a:lstStyle/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r>
                <a:rPr lang="en-GB" altLang="zh-CN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Products: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endPara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Foreign Exchange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Debt Securities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Derivatives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Equities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5402263" y="5054958"/>
              <a:ext cx="2692400" cy="68360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54864" tIns="54864" rIns="54864" bIns="54864"/>
            <a:lstStyle/>
            <a:p>
              <a:pPr marL="233363" indent="-233363">
                <a:buClr>
                  <a:schemeClr val="tx2"/>
                </a:buClr>
                <a:buSzPct val="80000"/>
                <a:buFont typeface="Monotype Sorts" pitchFamily="2" charset="2"/>
                <a:buChar char="n"/>
                <a:defRPr/>
              </a:pPr>
              <a:r>
                <a:rPr lang="en-GB" altLang="zh-CN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Other Functions: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endPara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endParaRP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Asset Liability Management </a:t>
              </a:r>
            </a:p>
            <a:p>
              <a:pPr marL="233363" indent="-233363">
                <a:buClr>
                  <a:schemeClr val="tx2"/>
                </a:buClr>
                <a:buSzPct val="80000"/>
                <a:buFont typeface="Courier New" pitchFamily="49" charset="0"/>
                <a:buChar char="o"/>
                <a:defRPr/>
              </a:pPr>
              <a:r>
                <a:rPr lang="en-US" sz="1000" b="1" dirty="0">
                  <a:solidFill>
                    <a:schemeClr val="accent2">
                      <a:lumMod val="50000"/>
                    </a:schemeClr>
                  </a:solidFill>
                  <a:latin typeface="+mn-lt"/>
                  <a:ea typeface="SimSun" pitchFamily="2" charset="-122"/>
                  <a:cs typeface="Times New Roman" pitchFamily="18" charset="0"/>
                </a:rPr>
                <a:t>Statutory Reserve Management</a:t>
              </a:r>
            </a:p>
          </p:txBody>
        </p:sp>
      </p:grp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934200" y="2889250"/>
            <a:ext cx="252413" cy="127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 </a:t>
            </a: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 </a:t>
            </a: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endParaRPr lang="en-US" sz="1050" b="1">
              <a:latin typeface="Garamond" pitchFamily="18" charset="0"/>
            </a:endParaRP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 </a:t>
            </a: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 </a:t>
            </a: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 </a:t>
            </a:r>
          </a:p>
          <a:p>
            <a:pPr algn="ctr"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en-US" sz="1050" b="1">
                <a:latin typeface="Garamond" pitchFamily="18" charset="0"/>
              </a:rPr>
              <a:t> 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3881438" y="3352800"/>
            <a:ext cx="2201862" cy="1482725"/>
          </a:xfrm>
          <a:prstGeom prst="rect">
            <a:avLst/>
          </a:prstGeom>
          <a:noFill/>
          <a:ln w="38100">
            <a:solidFill>
              <a:srgbClr val="FFC000"/>
            </a:solidFill>
            <a:miter lim="800000"/>
            <a:headEnd/>
            <a:tailEnd/>
          </a:ln>
        </p:spPr>
        <p:txBody>
          <a:bodyPr wrap="none" lIns="54864" tIns="54864" rIns="54864" bIns="54864"/>
          <a:lstStyle/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r>
              <a:rPr lang="en-GB" altLang="zh-CN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Transactional Banking:</a:t>
            </a:r>
          </a:p>
          <a:p>
            <a:pPr marL="233363" indent="-233363">
              <a:buClr>
                <a:schemeClr val="tx2"/>
              </a:buClr>
              <a:buSzPct val="80000"/>
              <a:buFont typeface="Monotype Sorts" pitchFamily="2" charset="2"/>
              <a:buChar char="n"/>
              <a:defRPr/>
            </a:pPr>
            <a:endParaRPr lang="en-US" sz="1000" b="1" dirty="0">
              <a:solidFill>
                <a:schemeClr val="accent2">
                  <a:lumMod val="50000"/>
                </a:schemeClr>
              </a:solidFill>
              <a:latin typeface="+mn-lt"/>
              <a:ea typeface="SimSun" pitchFamily="2" charset="-122"/>
              <a:cs typeface="Times New Roman" pitchFamily="18" charset="0"/>
            </a:endParaRP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Cash Management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Custodial Services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Clearing Bank Services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Correspondent Banking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Tax Collections </a:t>
            </a:r>
          </a:p>
          <a:p>
            <a:pPr marL="233363" indent="-233363">
              <a:buClr>
                <a:schemeClr val="tx2"/>
              </a:buClr>
              <a:buSzPct val="80000"/>
              <a:buFont typeface="Courier New" pitchFamily="49" charset="0"/>
              <a:buChar char="o"/>
              <a:defRPr/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SimSun" pitchFamily="2" charset="-122"/>
                <a:cs typeface="Times New Roman" pitchFamily="18" charset="0"/>
              </a:rPr>
              <a:t>Banker to Public Issues </a:t>
            </a:r>
          </a:p>
        </p:txBody>
      </p:sp>
      <p:sp>
        <p:nvSpPr>
          <p:cNvPr id="11278" name="Rectangle 20"/>
          <p:cNvSpPr>
            <a:spLocks noChangeArrowheads="1"/>
          </p:cNvSpPr>
          <p:nvPr/>
        </p:nvSpPr>
        <p:spPr bwMode="auto">
          <a:xfrm>
            <a:off x="3898900" y="3001963"/>
            <a:ext cx="18415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sz="4800">
              <a:solidFill>
                <a:schemeClr val="tx2"/>
              </a:solidFill>
              <a:latin typeface="Garamond" pitchFamily="18" charset="0"/>
            </a:endParaRPr>
          </a:p>
        </p:txBody>
      </p:sp>
      <p:sp>
        <p:nvSpPr>
          <p:cNvPr id="27" name="Left-Right Arrow 26"/>
          <p:cNvSpPr/>
          <p:nvPr/>
        </p:nvSpPr>
        <p:spPr>
          <a:xfrm>
            <a:off x="152400" y="6057900"/>
            <a:ext cx="8763000" cy="6477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Complete Suite of Products to Meet Diverse </a:t>
            </a:r>
            <a:r>
              <a:rPr lang="en-US" dirty="0" smtClean="0">
                <a:solidFill>
                  <a:schemeClr val="tx1"/>
                </a:solidFill>
              </a:rPr>
              <a:t>Customer Needs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/>
              <a:t>Strong National Network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B766F33-1DB9-474B-8359-D4FB72ABAFB7}" type="slidenum">
              <a:rPr lang="en-US" smtClean="0">
                <a:latin typeface="Arial" pitchFamily="34" charset="0"/>
              </a:rPr>
              <a:pPr/>
              <a:t>3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64513" name="Picture 1"/>
          <p:cNvPicPr>
            <a:picLocks noChangeAspect="1" noChangeArrowheads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5029200" y="762000"/>
            <a:ext cx="4038600" cy="5439918"/>
          </a:xfrm>
          <a:prstGeom prst="rect">
            <a:avLst/>
          </a:prstGeom>
          <a:ln>
            <a:noFill/>
          </a:ln>
          <a:effectLst>
            <a:softEdge rad="112500"/>
          </a:effectLst>
          <a:extLst/>
        </p:spPr>
      </p:pic>
      <p:pic>
        <p:nvPicPr>
          <p:cNvPr id="1229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219200"/>
            <a:ext cx="4876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228600" y="4783138"/>
            <a:ext cx="4572000" cy="184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>
                <a:solidFill>
                  <a:srgbClr val="000099"/>
                </a:solidFill>
              </a:rPr>
              <a:t>All branches linked online, real time 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600">
              <a:solidFill>
                <a:srgbClr val="000099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>
                <a:solidFill>
                  <a:srgbClr val="000099"/>
                </a:solidFill>
              </a:rPr>
              <a:t>“Anytime, Anywhere, Anyhow” banking 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600">
              <a:solidFill>
                <a:srgbClr val="000099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>
                <a:solidFill>
                  <a:srgbClr val="000099"/>
                </a:solidFill>
              </a:rPr>
              <a:t>75% branches outside the top 9 cities 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600">
              <a:solidFill>
                <a:srgbClr val="000099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>
                <a:solidFill>
                  <a:srgbClr val="000099"/>
                </a:solidFill>
              </a:rPr>
              <a:t>Customer base of 26 million 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466739195"/>
              </p:ext>
            </p:extLst>
          </p:nvPr>
        </p:nvGraphicFramePr>
        <p:xfrm>
          <a:off x="0" y="2466584"/>
          <a:ext cx="2819400" cy="23165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745763091"/>
              </p:ext>
            </p:extLst>
          </p:nvPr>
        </p:nvGraphicFramePr>
        <p:xfrm>
          <a:off x="2286000" y="2438400"/>
          <a:ext cx="2895600" cy="222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5447E99-5861-4E1E-BB15-0AF10A9BB2AD}" type="slidenum">
              <a:rPr lang="en-US" smtClean="0">
                <a:latin typeface="Arial" pitchFamily="34" charset="0"/>
              </a:rPr>
              <a:pPr/>
              <a:t>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990600" y="147935"/>
            <a:ext cx="6694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Consistent Financial Performance 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152400" y="5943600"/>
            <a:ext cx="45720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1100"/>
          </a:p>
          <a:p>
            <a:r>
              <a:rPr lang="en-US" sz="1100" i="1"/>
              <a:t>Indian GAAP figures. Fiscal year ended 31st March </a:t>
            </a:r>
            <a:endParaRPr lang="en-US" sz="1100"/>
          </a:p>
          <a:p>
            <a:r>
              <a:rPr lang="en-US" sz="1100" i="1"/>
              <a:t>* 10 year Compounded Annual Growth Rate </a:t>
            </a:r>
            <a:endParaRPr lang="en-US" sz="110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19225"/>
            <a:ext cx="8620125" cy="36861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/>
        </p:spPr>
      </p:pic>
      <p:sp>
        <p:nvSpPr>
          <p:cNvPr id="7" name="Right Arrow 6"/>
          <p:cNvSpPr/>
          <p:nvPr/>
        </p:nvSpPr>
        <p:spPr>
          <a:xfrm rot="20522208">
            <a:off x="2303463" y="2586038"/>
            <a:ext cx="5070475" cy="6937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99"/>
                </a:solidFill>
              </a:rPr>
              <a:t>CAGR* 33%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15400" cy="5562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000" b="1" dirty="0" smtClean="0"/>
              <a:t>Company of the Year - ET Corporate Awards 2012</a:t>
            </a:r>
            <a:endParaRPr lang="en-US" sz="2000" b="1" dirty="0" smtClean="0">
              <a:solidFill>
                <a:srgbClr val="0000CC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b="1" dirty="0" smtClean="0">
                <a:solidFill>
                  <a:srgbClr val="0000CC"/>
                </a:solidFill>
              </a:rPr>
              <a:t>Best Bank in Customer Relationship Initiative – IBA 2012, 2011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>
                <a:solidFill>
                  <a:srgbClr val="0000CC"/>
                </a:solidFill>
              </a:rPr>
              <a:t>Best in Customer and Brand Loyalty - Loyalty Summit award 2012</a:t>
            </a:r>
          </a:p>
          <a:p>
            <a:pPr>
              <a:lnSpc>
                <a:spcPct val="120000"/>
              </a:lnSpc>
            </a:pPr>
            <a:r>
              <a:rPr lang="en-US" sz="2000" b="1" dirty="0" err="1" smtClean="0"/>
              <a:t>Skoch</a:t>
            </a:r>
            <a:r>
              <a:rPr lang="en-US" sz="2000" b="1" dirty="0" smtClean="0"/>
              <a:t> Foundation Financial Inclusion Award 2011</a:t>
            </a:r>
            <a:endParaRPr lang="en-US" sz="2000" b="1" dirty="0" smtClean="0">
              <a:solidFill>
                <a:srgbClr val="0000CC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b="1" dirty="0" err="1" smtClean="0">
                <a:solidFill>
                  <a:srgbClr val="0000CC"/>
                </a:solidFill>
              </a:rPr>
              <a:t>Celent</a:t>
            </a:r>
            <a:r>
              <a:rPr lang="en-US" sz="2000" b="1" dirty="0" smtClean="0">
                <a:solidFill>
                  <a:srgbClr val="0000CC"/>
                </a:solidFill>
              </a:rPr>
              <a:t> Best Customer Initiatives 2011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/>
              <a:t>Best Bank In India by Business World, CNBC TV18, </a:t>
            </a:r>
            <a:r>
              <a:rPr lang="en-US" sz="2000" b="1" dirty="0" err="1" smtClean="0"/>
              <a:t>Euromoney</a:t>
            </a:r>
            <a:endParaRPr lang="en-US" sz="2000" b="1" dirty="0" smtClean="0"/>
          </a:p>
          <a:p>
            <a:pPr lvl="0">
              <a:lnSpc>
                <a:spcPct val="120000"/>
              </a:lnSpc>
            </a:pPr>
            <a:r>
              <a:rPr lang="en-US" sz="2000" b="1" dirty="0" smtClean="0"/>
              <a:t>Best Retail Bank in India by Asian Banker - 2011</a:t>
            </a:r>
            <a:endParaRPr lang="en-US" sz="2000" b="1" dirty="0" smtClean="0">
              <a:solidFill>
                <a:srgbClr val="000099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b="1" dirty="0" smtClean="0">
                <a:solidFill>
                  <a:srgbClr val="0000CC"/>
                </a:solidFill>
              </a:rPr>
              <a:t>The strongest Bank in Asia 2010 by FE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/>
              <a:t>Best practices in IT Governance and IT Security </a:t>
            </a:r>
          </a:p>
          <a:p>
            <a:pPr>
              <a:lnSpc>
                <a:spcPct val="120000"/>
              </a:lnSpc>
            </a:pPr>
            <a:r>
              <a:rPr lang="en-US" sz="2000" b="1" dirty="0" smtClean="0"/>
              <a:t>The strongest bank in Asia Pacific by Asian Bankers</a:t>
            </a:r>
            <a:endParaRPr lang="en-US" sz="2000" b="1" dirty="0" smtClean="0">
              <a:solidFill>
                <a:srgbClr val="000099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b="1" dirty="0" smtClean="0">
                <a:solidFill>
                  <a:srgbClr val="0000CC"/>
                </a:solidFill>
              </a:rPr>
              <a:t>ET – Most Trusted Brand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-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External Recognition</a:t>
            </a:r>
          </a:p>
        </p:txBody>
      </p:sp>
      <p:pic>
        <p:nvPicPr>
          <p:cNvPr id="4" name="Picture 4" descr="http://townhall.mednet.ucla.edu/hs_news/nov2010/images/_accolad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3400" y="838200"/>
            <a:ext cx="652463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F6A927D-8225-48CE-914E-28F2C90F4914}" type="slidenum">
              <a:rPr lang="en-US" smtClean="0">
                <a:latin typeface="Arial" pitchFamily="34" charset="0"/>
              </a:rPr>
              <a:pPr/>
              <a:t>6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4278313" y="2590800"/>
            <a:ext cx="280076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 dirty="0" smtClean="0"/>
              <a:t>Debit Card?</a:t>
            </a:r>
            <a:endParaRPr lang="en-US" sz="3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08956E3-A32B-4069-AE82-7FAA0278E063}" type="slidenum">
              <a:rPr lang="en-US" smtClean="0">
                <a:latin typeface="Arial" pitchFamily="34" charset="0"/>
              </a:rPr>
              <a:pPr/>
              <a:t>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5123" name="Slide Number Placeholder 3"/>
          <p:cNvSpPr txBox="1">
            <a:spLocks/>
          </p:cNvSpPr>
          <p:nvPr/>
        </p:nvSpPr>
        <p:spPr bwMode="auto">
          <a:xfrm>
            <a:off x="6553200" y="63246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352BA918-7F5E-4E69-AB27-0432EDD7CEBE}" type="slidenum">
              <a:rPr lang="en-US" sz="1400"/>
              <a:pPr algn="r"/>
              <a:t>7</a:t>
            </a:fld>
            <a:endParaRPr lang="en-US" sz="1400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1981200" y="1333500"/>
            <a:ext cx="1600200" cy="1600200"/>
            <a:chOff x="1981200" y="1219200"/>
            <a:chExt cx="1600200" cy="1600200"/>
          </a:xfrm>
        </p:grpSpPr>
        <p:sp>
          <p:nvSpPr>
            <p:cNvPr id="5" name="Oval 4"/>
            <p:cNvSpPr/>
            <p:nvPr/>
          </p:nvSpPr>
          <p:spPr>
            <a:xfrm>
              <a:off x="1981200" y="12192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49" name="Picture 12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09813" y="1524000"/>
              <a:ext cx="966787" cy="966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1219200" y="3009900"/>
            <a:ext cx="1600200" cy="1600200"/>
            <a:chOff x="1219200" y="2895600"/>
            <a:chExt cx="1600200" cy="1600200"/>
          </a:xfrm>
        </p:grpSpPr>
        <p:sp>
          <p:nvSpPr>
            <p:cNvPr id="24" name="Oval 23"/>
            <p:cNvSpPr/>
            <p:nvPr/>
          </p:nvSpPr>
          <p:spPr>
            <a:xfrm>
              <a:off x="1219200" y="28956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47" name="Picture 1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09700" y="3276600"/>
              <a:ext cx="1181100" cy="842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2133600" y="4686300"/>
            <a:ext cx="1600200" cy="1600200"/>
            <a:chOff x="2133600" y="4572000"/>
            <a:chExt cx="1600200" cy="1600200"/>
          </a:xfrm>
        </p:grpSpPr>
        <p:pic>
          <p:nvPicPr>
            <p:cNvPr id="5144" name="Picture 7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38400" y="4876800"/>
              <a:ext cx="1066800" cy="10668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Oval 24"/>
            <p:cNvSpPr/>
            <p:nvPr/>
          </p:nvSpPr>
          <p:spPr>
            <a:xfrm>
              <a:off x="2133600" y="45720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3886200" y="5219700"/>
            <a:ext cx="1600200" cy="1600200"/>
            <a:chOff x="3886200" y="5105400"/>
            <a:chExt cx="1600200" cy="1600200"/>
          </a:xfrm>
        </p:grpSpPr>
        <p:pic>
          <p:nvPicPr>
            <p:cNvPr id="5142" name="Picture 9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294406" y="5499536"/>
              <a:ext cx="779462" cy="84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Oval 25"/>
            <p:cNvSpPr/>
            <p:nvPr/>
          </p:nvSpPr>
          <p:spPr>
            <a:xfrm>
              <a:off x="3886200" y="51054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5829300" y="4686300"/>
            <a:ext cx="1600200" cy="1600200"/>
            <a:chOff x="5829300" y="4572000"/>
            <a:chExt cx="1600200" cy="1600200"/>
          </a:xfrm>
        </p:grpSpPr>
        <p:pic>
          <p:nvPicPr>
            <p:cNvPr id="5140" name="Picture 10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080234" y="4832132"/>
              <a:ext cx="1071562" cy="1071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Oval 26"/>
            <p:cNvSpPr/>
            <p:nvPr/>
          </p:nvSpPr>
          <p:spPr>
            <a:xfrm>
              <a:off x="5829300" y="45720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6353175" y="2933700"/>
            <a:ext cx="1600200" cy="1600200"/>
            <a:chOff x="6353175" y="2819400"/>
            <a:chExt cx="1600200" cy="1600200"/>
          </a:xfrm>
        </p:grpSpPr>
        <p:pic>
          <p:nvPicPr>
            <p:cNvPr id="5138" name="Picture 11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6764337" y="3309937"/>
              <a:ext cx="779463" cy="728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Oval 27"/>
            <p:cNvSpPr/>
            <p:nvPr/>
          </p:nvSpPr>
          <p:spPr>
            <a:xfrm>
              <a:off x="6353175" y="28194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3775075" y="685800"/>
            <a:ext cx="1600200" cy="1600200"/>
            <a:chOff x="3775075" y="571500"/>
            <a:chExt cx="1600200" cy="1600200"/>
          </a:xfrm>
        </p:grpSpPr>
        <p:pic>
          <p:nvPicPr>
            <p:cNvPr id="5136" name="Picture 4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114800" y="990600"/>
              <a:ext cx="920750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Oval 28"/>
            <p:cNvSpPr/>
            <p:nvPr/>
          </p:nvSpPr>
          <p:spPr>
            <a:xfrm>
              <a:off x="3775075" y="5715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5507038" y="1333500"/>
            <a:ext cx="1600200" cy="1600200"/>
            <a:chOff x="5506928" y="1219200"/>
            <a:chExt cx="1600200" cy="1600200"/>
          </a:xfrm>
        </p:grpSpPr>
        <p:pic>
          <p:nvPicPr>
            <p:cNvPr id="5134" name="Picture 5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791200" y="1524000"/>
              <a:ext cx="9906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Oval 29"/>
            <p:cNvSpPr/>
            <p:nvPr/>
          </p:nvSpPr>
          <p:spPr>
            <a:xfrm>
              <a:off x="5506928" y="1219200"/>
              <a:ext cx="1600200" cy="1600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5133" name="Title 1"/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/>
              <a:t>What does a Debit Card mean to us</a:t>
            </a:r>
          </a:p>
        </p:txBody>
      </p:sp>
      <p:pic>
        <p:nvPicPr>
          <p:cNvPr id="32" name="Picture 24" descr="wallet icon">
            <a:hlinkClick r:id="rId10"/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724400" y="2667000"/>
            <a:ext cx="1676305" cy="202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3" name="Group 27"/>
          <p:cNvGrpSpPr>
            <a:grpSpLocks/>
          </p:cNvGrpSpPr>
          <p:nvPr/>
        </p:nvGrpSpPr>
        <p:grpSpPr bwMode="auto">
          <a:xfrm>
            <a:off x="2895600" y="3124200"/>
            <a:ext cx="1397000" cy="1376363"/>
            <a:chOff x="50284" y="2617726"/>
            <a:chExt cx="1872179" cy="1882837"/>
          </a:xfrm>
        </p:grpSpPr>
        <p:pic>
          <p:nvPicPr>
            <p:cNvPr id="34" name="Picture 7" descr="http://www.hdfcbank.com/assets/images/easyshop_imperia_platinum_chip_debit.png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 rot="-722896">
              <a:off x="50284" y="2617726"/>
              <a:ext cx="1866900" cy="1408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3" descr="http://www.hdfcbank.com/assets/images/easyshop_gold_debit_card.png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 rot="-826977">
              <a:off x="52387" y="3194476"/>
              <a:ext cx="1870076" cy="130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6" name="Equal 35"/>
          <p:cNvSpPr/>
          <p:nvPr/>
        </p:nvSpPr>
        <p:spPr bwMode="auto">
          <a:xfrm>
            <a:off x="4267200" y="3276600"/>
            <a:ext cx="533400" cy="685800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Debit Cards – Strategic Significance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6BAE710-1414-4B25-864C-88696692B6F5}" type="slidenum">
              <a:rPr lang="en-US" smtClean="0">
                <a:latin typeface="Arial" pitchFamily="34" charset="0"/>
              </a:rPr>
              <a:pPr/>
              <a:t>8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9460" name="Rectangle 6"/>
          <p:cNvSpPr>
            <a:spLocks noChangeArrowheads="1"/>
          </p:cNvSpPr>
          <p:nvPr/>
        </p:nvSpPr>
        <p:spPr bwMode="auto">
          <a:xfrm>
            <a:off x="4567238" y="990600"/>
            <a:ext cx="457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endParaRPr lang="en-US">
              <a:solidFill>
                <a:srgbClr val="000099"/>
              </a:solidFill>
              <a:ea typeface="Calibri" pitchFamily="34" charset="0"/>
              <a:cs typeface="Calibri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endParaRPr lang="en-US" i="1">
              <a:solidFill>
                <a:srgbClr val="000099"/>
              </a:solidFill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13" name="Diagram 12"/>
          <p:cNvGraphicFramePr/>
          <p:nvPr/>
        </p:nvGraphicFramePr>
        <p:xfrm>
          <a:off x="381001" y="2916476"/>
          <a:ext cx="8458200" cy="3484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776253536"/>
              </p:ext>
            </p:extLst>
          </p:nvPr>
        </p:nvGraphicFramePr>
        <p:xfrm>
          <a:off x="2133600" y="762000"/>
          <a:ext cx="4572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1B9727E4-1FE9-448D-85B6-1DE9E63AFE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graphicEl>
                                              <a:dgm id="{1B9727E4-1FE9-448D-85B6-1DE9E63AFE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E602765-BDD3-411A-BC01-861F0F97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>
                                            <p:graphicEl>
                                              <a:dgm id="{EE602765-BDD3-411A-BC01-861F0F975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A57F6A9-8359-4867-9D9B-2D819DDE07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graphicEl>
                                              <a:dgm id="{2A57F6A9-8359-4867-9D9B-2D819DDE07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FB94F747-577A-41F9-B853-331891DB2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graphicEl>
                                              <a:dgm id="{FB94F747-577A-41F9-B853-331891DB22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775766-79F7-4669-BC31-B419B47CBD59}" type="slidenum">
              <a:rPr lang="en-US" smtClean="0">
                <a:latin typeface="Arial" pitchFamily="34" charset="0"/>
              </a:rPr>
              <a:pPr/>
              <a:t>9</a:t>
            </a:fld>
            <a:endParaRPr lang="en-US" smtClean="0">
              <a:latin typeface="Arial" pitchFamily="34" charset="0"/>
            </a:endParaRP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32254" y="995175"/>
            <a:ext cx="8686800" cy="5558025"/>
            <a:chOff x="5562600" y="-3043237"/>
            <a:chExt cx="8686800" cy="5786437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62600" y="-3043237"/>
              <a:ext cx="8686800" cy="578643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4" name="Rectangle 33"/>
            <p:cNvSpPr/>
            <p:nvPr/>
          </p:nvSpPr>
          <p:spPr>
            <a:xfrm>
              <a:off x="8911746" y="-2918565"/>
              <a:ext cx="5181600" cy="1536526"/>
            </a:xfrm>
            <a:prstGeom prst="rect">
              <a:avLst/>
            </a:prstGeom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sz="2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Financial Inclusion Objective</a:t>
              </a:r>
              <a:endPara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endPara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Providing </a:t>
              </a:r>
              <a:r>
                <a:rPr 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Sustainable Livelihood </a:t>
              </a: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 </a:t>
              </a:r>
              <a:endPara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  <a:r>
                <a:rPr 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</a:t>
              </a:r>
              <a:r>
                <a:rPr 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illion </a:t>
              </a: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</a:t>
              </a:r>
              <a:r>
                <a:rPr 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ural Families </a:t>
              </a:r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 next 5 years</a:t>
              </a:r>
              <a:r>
                <a:rPr 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.</a:t>
              </a:r>
            </a:p>
            <a:p>
              <a:pPr algn="ctr">
                <a:defRPr/>
              </a:pPr>
              <a:endPara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6" name="Title 1"/>
          <p:cNvSpPr txBox="1">
            <a:spLocks/>
          </p:cNvSpPr>
          <p:nvPr/>
        </p:nvSpPr>
        <p:spPr bwMode="auto">
          <a:xfrm>
            <a:off x="228600" y="-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Debit Card – Empowering rural India</a:t>
            </a:r>
          </a:p>
        </p:txBody>
      </p:sp>
    </p:spTree>
    <p:extLst>
      <p:ext uri="{BB962C8B-B14F-4D97-AF65-F5344CB8AC3E}">
        <p14:creationId xmlns:p14="http://schemas.microsoft.com/office/powerpoint/2010/main" xmlns="" val="1140227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BD5E9F6-1F96-41C2-8CC4-C18A68806A23}" type="slidenum">
              <a:rPr lang="en-US" smtClean="0">
                <a:latin typeface="Arial" pitchFamily="34" charset="0"/>
              </a:rPr>
              <a:pPr/>
              <a:t>10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0483" name="TextBox 1"/>
          <p:cNvSpPr txBox="1">
            <a:spLocks noChangeArrowheads="1"/>
          </p:cNvSpPr>
          <p:nvPr/>
        </p:nvSpPr>
        <p:spPr bwMode="auto">
          <a:xfrm>
            <a:off x="5795963" y="2590800"/>
            <a:ext cx="159530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 dirty="0" smtClean="0"/>
              <a:t>Define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111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Why This Project?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D02A4D-2F7B-4379-A452-7C5692524FE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45936360"/>
              </p:ext>
            </p:extLst>
          </p:nvPr>
        </p:nvGraphicFramePr>
        <p:xfrm>
          <a:off x="304800" y="990601"/>
          <a:ext cx="8458200" cy="4952999"/>
        </p:xfrm>
        <a:graphic>
          <a:graphicData uri="http://schemas.openxmlformats.org/drawingml/2006/table">
            <a:tbl>
              <a:tblPr/>
              <a:tblGrid>
                <a:gridCol w="784930"/>
                <a:gridCol w="5859561"/>
                <a:gridCol w="1813709"/>
              </a:tblGrid>
              <a:tr h="10145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Sr. No.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Top </a:t>
                      </a: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Complaints (Apr</a:t>
                      </a:r>
                      <a:r>
                        <a:rPr lang="en-US" sz="1800" b="1" baseline="0" dirty="0" smtClean="0">
                          <a:latin typeface="+mn-lt"/>
                          <a:ea typeface="Times New Roman"/>
                          <a:cs typeface="Arial"/>
                        </a:rPr>
                        <a:t> 11 – Nov 11)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% </a:t>
                      </a: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of Total complaints </a:t>
                      </a: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received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3902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Arial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Arial"/>
                        </a:rPr>
                        <a:t>Delay/Non Delivery of Debit card/PIN</a:t>
                      </a:r>
                      <a:endParaRPr lang="en-US" sz="1800" b="1" dirty="0" smtClean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Arial"/>
                        </a:rPr>
                        <a:t>13%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Arial"/>
                        </a:rPr>
                        <a:t>2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Account activation related</a:t>
                      </a:r>
                      <a:r>
                        <a:rPr lang="en-US" sz="1800" b="1" dirty="0" smtClean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  <a:cs typeface="Arial"/>
                        </a:rPr>
                        <a:t> 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n-lt"/>
                          <a:ea typeface="Times New Roman"/>
                          <a:cs typeface="Arial"/>
                        </a:rPr>
                        <a:t>11%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3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Cheque deposited at branch not credited/delayed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5%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4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Address Change Request Given At Branch Not Done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5%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5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Delay In Closure Of Account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5%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6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AQB Charges / Reversal </a:t>
                      </a: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Related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4%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7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Delay/ non Receipt of Welcome </a:t>
                      </a: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Kit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4%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7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+mn-lt"/>
                          <a:ea typeface="Times New Roman"/>
                          <a:cs typeface="Arial"/>
                        </a:rPr>
                        <a:t>8</a:t>
                      </a:r>
                      <a:endParaRPr lang="en-US" sz="1800" b="1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Alerts sent to non-account </a:t>
                      </a:r>
                      <a:r>
                        <a:rPr lang="en-US" sz="1800" b="1" dirty="0" smtClean="0">
                          <a:latin typeface="+mn-lt"/>
                          <a:ea typeface="Times New Roman"/>
                          <a:cs typeface="Arial"/>
                        </a:rPr>
                        <a:t>holder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+mn-lt"/>
                          <a:ea typeface="Times New Roman"/>
                          <a:cs typeface="Arial"/>
                        </a:rPr>
                        <a:t>4%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4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Others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50%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260" marR="6826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Voice of Customer</a:t>
            </a: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DF90F19-158C-4054-9FE3-CB78DC782633}" type="slidenum">
              <a:rPr lang="en-US" smtClean="0">
                <a:latin typeface="Arial" pitchFamily="34" charset="0"/>
              </a:rPr>
              <a:pPr/>
              <a:t>12</a:t>
            </a:fld>
            <a:endParaRPr lang="en-US" smtClean="0">
              <a:latin typeface="Arial" pitchFamily="34" charset="0"/>
            </a:endParaRPr>
          </a:p>
        </p:txBody>
      </p:sp>
      <p:pic>
        <p:nvPicPr>
          <p:cNvPr id="53250" name="Picture 2" descr="http://t1.gstatic.com/images?q=tbn:ANd9GcSIKieWwuX__VlykBCSkNrcigYVTjMI5apcQ-MtKqsqyyPXO79Y07OzDVcl"/>
          <p:cNvPicPr>
            <a:picLocks noChangeAspect="1" noChangeArrowheads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0" y="685800"/>
            <a:ext cx="9150456" cy="6095999"/>
          </a:xfrm>
          <a:prstGeom prst="rect">
            <a:avLst/>
          </a:prstGeom>
          <a:ln>
            <a:noFill/>
          </a:ln>
          <a:effectLst>
            <a:softEdge rad="112500"/>
          </a:effectLst>
          <a:extLst/>
        </p:spPr>
      </p:pic>
      <p:sp>
        <p:nvSpPr>
          <p:cNvPr id="5" name="Cloud Callout 4"/>
          <p:cNvSpPr/>
          <p:nvPr/>
        </p:nvSpPr>
        <p:spPr>
          <a:xfrm>
            <a:off x="5486400" y="709613"/>
            <a:ext cx="3617913" cy="966787"/>
          </a:xfrm>
          <a:prstGeom prst="cloudCallout">
            <a:avLst>
              <a:gd name="adj1" fmla="val -104082"/>
              <a:gd name="adj2" fmla="val 183819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I am Happy And Satisfied For Account But I got </a:t>
            </a:r>
            <a:r>
              <a:rPr lang="en-US" b="1" dirty="0">
                <a:solidFill>
                  <a:srgbClr val="FF0000"/>
                </a:solidFill>
              </a:rPr>
              <a:t>Debit Card </a:t>
            </a:r>
            <a:r>
              <a:rPr lang="en-US" b="1" dirty="0" smtClean="0">
                <a:solidFill>
                  <a:srgbClr val="FF0000"/>
                </a:solidFill>
              </a:rPr>
              <a:t>too </a:t>
            </a:r>
            <a:r>
              <a:rPr lang="en-US" b="1" dirty="0">
                <a:solidFill>
                  <a:srgbClr val="FF0000"/>
                </a:solidFill>
              </a:rPr>
              <a:t>late</a:t>
            </a:r>
          </a:p>
        </p:txBody>
      </p:sp>
      <p:sp>
        <p:nvSpPr>
          <p:cNvPr id="8" name="Cloud Callout 7"/>
          <p:cNvSpPr/>
          <p:nvPr/>
        </p:nvSpPr>
        <p:spPr>
          <a:xfrm>
            <a:off x="0" y="5105400"/>
            <a:ext cx="4114800" cy="1371600"/>
          </a:xfrm>
          <a:prstGeom prst="cloudCallout">
            <a:avLst>
              <a:gd name="adj1" fmla="val 40124"/>
              <a:gd name="adj2" fmla="val -147109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Your ATM swallowed my debit card and call center says it is </a:t>
            </a:r>
            <a:r>
              <a:rPr lang="en-US" b="1" dirty="0">
                <a:solidFill>
                  <a:srgbClr val="FF0000"/>
                </a:solidFill>
              </a:rPr>
              <a:t>deactivated and I haven't got new card!!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73025" y="617538"/>
            <a:ext cx="4575175" cy="1592262"/>
          </a:xfrm>
          <a:prstGeom prst="cloudCallout">
            <a:avLst>
              <a:gd name="adj1" fmla="val 26688"/>
              <a:gd name="adj2" fmla="val 101424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My registered address is in Pune. However, I am now in </a:t>
            </a:r>
            <a:r>
              <a:rPr lang="en-US" sz="1400" dirty="0" err="1">
                <a:solidFill>
                  <a:schemeClr val="tx1"/>
                </a:solidFill>
              </a:rPr>
              <a:t>Shrirampur</a:t>
            </a:r>
            <a:r>
              <a:rPr lang="en-US" sz="1400" dirty="0">
                <a:solidFill>
                  <a:schemeClr val="tx1"/>
                </a:solidFill>
              </a:rPr>
              <a:t>. Can I </a:t>
            </a:r>
            <a:r>
              <a:rPr lang="en-US" b="1" dirty="0">
                <a:solidFill>
                  <a:srgbClr val="FF0000"/>
                </a:solidFill>
              </a:rPr>
              <a:t>immediately get Debit Card from nearby Branch</a:t>
            </a:r>
            <a:r>
              <a:rPr lang="en-US" dirty="0">
                <a:solidFill>
                  <a:srgbClr val="FF0000"/>
                </a:solidFill>
              </a:rPr>
              <a:t>?? </a:t>
            </a:r>
          </a:p>
        </p:txBody>
      </p:sp>
      <p:sp>
        <p:nvSpPr>
          <p:cNvPr id="10" name="Cloud Callout 9"/>
          <p:cNvSpPr/>
          <p:nvPr/>
        </p:nvSpPr>
        <p:spPr>
          <a:xfrm>
            <a:off x="5943600" y="2057400"/>
            <a:ext cx="2779713" cy="1528763"/>
          </a:xfrm>
          <a:prstGeom prst="cloudCallout">
            <a:avLst>
              <a:gd name="adj1" fmla="val -108191"/>
              <a:gd name="adj2" fmla="val 26550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I got the card, but </a:t>
            </a:r>
            <a:r>
              <a:rPr lang="en-US" b="1" dirty="0">
                <a:solidFill>
                  <a:srgbClr val="FF0000"/>
                </a:solidFill>
              </a:rPr>
              <a:t>PIN was received too late. </a:t>
            </a:r>
            <a:r>
              <a:rPr lang="en-US" sz="1400" dirty="0">
                <a:solidFill>
                  <a:schemeClr val="tx1"/>
                </a:solidFill>
              </a:rPr>
              <a:t>Why cant it be sent together??</a:t>
            </a:r>
          </a:p>
        </p:txBody>
      </p:sp>
      <p:sp>
        <p:nvSpPr>
          <p:cNvPr id="11" name="Cloud Callout 10"/>
          <p:cNvSpPr/>
          <p:nvPr/>
        </p:nvSpPr>
        <p:spPr>
          <a:xfrm>
            <a:off x="0" y="2438400"/>
            <a:ext cx="2590800" cy="2085975"/>
          </a:xfrm>
          <a:prstGeom prst="cloudCallout">
            <a:avLst>
              <a:gd name="adj1" fmla="val 87194"/>
              <a:gd name="adj2" fmla="val -6743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I don’t have time to visit your Branch. Why cant I place request for </a:t>
            </a:r>
            <a:r>
              <a:rPr lang="en-US" b="1" dirty="0">
                <a:solidFill>
                  <a:srgbClr val="FF0000"/>
                </a:solidFill>
              </a:rPr>
              <a:t>Debit Card over phone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" name="Cloud Callout 11"/>
          <p:cNvSpPr/>
          <p:nvPr/>
        </p:nvSpPr>
        <p:spPr>
          <a:xfrm>
            <a:off x="5715000" y="3962400"/>
            <a:ext cx="3079750" cy="2590801"/>
          </a:xfrm>
          <a:prstGeom prst="cloudCallout">
            <a:avLst>
              <a:gd name="adj1" fmla="val -100091"/>
              <a:gd name="adj2" fmla="val -63799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I lost my card. Call center agent blocked my card but  he wont take </a:t>
            </a:r>
            <a:r>
              <a:rPr lang="en-US" b="1" dirty="0">
                <a:solidFill>
                  <a:srgbClr val="FF0000"/>
                </a:solidFill>
              </a:rPr>
              <a:t>request for new card without </a:t>
            </a:r>
            <a:r>
              <a:rPr lang="en-US" b="1" dirty="0" smtClean="0">
                <a:solidFill>
                  <a:srgbClr val="FF0000"/>
                </a:solidFill>
              </a:rPr>
              <a:t>password/TIN?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76200"/>
            <a:ext cx="9144000" cy="6858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Debit Card Experience influencing Advocacy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706DE8-FC5A-40AB-B646-D662BEB049F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304800" y="1143000"/>
          <a:ext cx="83058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14657772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B822BD-9829-42C4-B096-33C8770086E4}" type="slidenum">
              <a:rPr lang="en-US" smtClean="0">
                <a:latin typeface="Arial" pitchFamily="34" charset="0"/>
              </a:rPr>
              <a:pPr/>
              <a:t>14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4579" name="TextBox 1"/>
          <p:cNvSpPr txBox="1">
            <a:spLocks noChangeArrowheads="1"/>
          </p:cNvSpPr>
          <p:nvPr/>
        </p:nvSpPr>
        <p:spPr bwMode="auto">
          <a:xfrm>
            <a:off x="4267200" y="2590800"/>
            <a:ext cx="43989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/>
              <a:t>Measure &amp; Analyse</a:t>
            </a:r>
            <a:endParaRPr lang="en-US" sz="3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334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Key Metrics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xmlns="" val="3756409610"/>
              </p:ext>
            </p:extLst>
          </p:nvPr>
        </p:nvGraphicFramePr>
        <p:xfrm>
          <a:off x="6248400" y="2181425"/>
          <a:ext cx="2895600" cy="2581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Oval 13"/>
          <p:cNvSpPr/>
          <p:nvPr/>
        </p:nvSpPr>
        <p:spPr>
          <a:xfrm>
            <a:off x="2200432" y="2063001"/>
            <a:ext cx="3558905" cy="3346933"/>
          </a:xfrm>
          <a:prstGeom prst="ellipse">
            <a:avLst/>
          </a:prstGeom>
          <a:scene3d>
            <a:camera prst="obliqueBottom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14036" y="2362200"/>
            <a:ext cx="2345503" cy="1774903"/>
          </a:xfrm>
          <a:prstGeom prst="rect">
            <a:avLst/>
          </a:prstGeom>
          <a:ln>
            <a:noFill/>
          </a:ln>
          <a:effectLst>
            <a:softEdge rad="112500"/>
          </a:effectLst>
          <a:scene3d>
            <a:camera prst="obliqueBottomLeft"/>
            <a:lightRig rig="threePt" dir="t"/>
          </a:scene3d>
        </p:spPr>
      </p:pic>
      <p:sp>
        <p:nvSpPr>
          <p:cNvPr id="16398" name="Right Arrow 16397"/>
          <p:cNvSpPr/>
          <p:nvPr/>
        </p:nvSpPr>
        <p:spPr>
          <a:xfrm>
            <a:off x="5759336" y="3276600"/>
            <a:ext cx="565263" cy="838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0" name="Rounded Rectangle 16399"/>
          <p:cNvSpPr/>
          <p:nvPr/>
        </p:nvSpPr>
        <p:spPr>
          <a:xfrm>
            <a:off x="228601" y="1066800"/>
            <a:ext cx="28194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CC"/>
                </a:solidFill>
              </a:rPr>
              <a:t>TAT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Baseline: 10-12 days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Target: 5-7 days 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304800" y="5257801"/>
            <a:ext cx="2828295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0000CC"/>
              </a:solidFill>
            </a:endParaRPr>
          </a:p>
          <a:p>
            <a:pPr algn="ctr"/>
            <a:r>
              <a:rPr lang="en-US" b="1" dirty="0" smtClean="0">
                <a:solidFill>
                  <a:srgbClr val="0000CC"/>
                </a:solidFill>
              </a:rPr>
              <a:t>FTNR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Baseline: 10.1%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Target (Mar 12): 4%</a:t>
            </a:r>
          </a:p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Target (Jul 12): &lt;1%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09" name="Rectangle 16408"/>
          <p:cNvSpPr/>
          <p:nvPr/>
        </p:nvSpPr>
        <p:spPr>
          <a:xfrm>
            <a:off x="2438400" y="2133600"/>
            <a:ext cx="3122738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solidFill>
                  <a:srgbClr val="0000CC"/>
                </a:solidFill>
              </a:rPr>
              <a:t>Complaints</a:t>
            </a:r>
          </a:p>
          <a:p>
            <a:pPr algn="ctr"/>
            <a:endParaRPr lang="en-US" b="1" dirty="0">
              <a:solidFill>
                <a:srgbClr val="0000CC"/>
              </a:solidFill>
            </a:endParaRPr>
          </a:p>
          <a:p>
            <a:pPr algn="ctr"/>
            <a:endParaRPr lang="en-US" b="1" dirty="0" smtClean="0">
              <a:solidFill>
                <a:srgbClr val="0000CC"/>
              </a:solidFill>
            </a:endParaRPr>
          </a:p>
          <a:p>
            <a:pPr algn="ctr"/>
            <a:endParaRPr lang="en-US" b="1" dirty="0">
              <a:solidFill>
                <a:srgbClr val="0000CC"/>
              </a:solidFill>
            </a:endParaRPr>
          </a:p>
          <a:p>
            <a:pPr algn="ctr"/>
            <a:endParaRPr lang="en-US" b="1" dirty="0" smtClean="0">
              <a:solidFill>
                <a:srgbClr val="0000CC"/>
              </a:solidFill>
            </a:endParaRPr>
          </a:p>
          <a:p>
            <a:pPr algn="ctr"/>
            <a:endParaRPr lang="en-US" b="1" dirty="0">
              <a:solidFill>
                <a:srgbClr val="0000CC"/>
              </a:solidFill>
            </a:endParaRPr>
          </a:p>
          <a:p>
            <a:pPr algn="ctr"/>
            <a:endParaRPr lang="en-US" b="1" dirty="0">
              <a:solidFill>
                <a:srgbClr val="0000CC"/>
              </a:solidFill>
            </a:endParaRPr>
          </a:p>
          <a:p>
            <a:pPr algn="ctr"/>
            <a:r>
              <a:rPr lang="en-US" sz="1600" b="1" dirty="0"/>
              <a:t>Baseline: </a:t>
            </a:r>
            <a:r>
              <a:rPr lang="en-US" sz="1600" b="1" dirty="0" smtClean="0"/>
              <a:t>4.2%</a:t>
            </a:r>
            <a:endParaRPr lang="en-US" sz="1600" b="1" dirty="0"/>
          </a:p>
          <a:p>
            <a:pPr algn="ctr"/>
            <a:r>
              <a:rPr lang="en-US" sz="1600" b="1" dirty="0" smtClean="0"/>
              <a:t>Target(Mar 12): 2%</a:t>
            </a:r>
          </a:p>
          <a:p>
            <a:pPr algn="ctr"/>
            <a:r>
              <a:rPr lang="en-US" sz="1600" b="1" dirty="0" smtClean="0"/>
              <a:t>Target (Jul 12): &lt;1%</a:t>
            </a:r>
            <a:endParaRPr lang="en-US" sz="16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5029200" y="5197495"/>
            <a:ext cx="4038600" cy="1508105"/>
          </a:xfrm>
          <a:prstGeom prst="rect">
            <a:avLst/>
          </a:prstGeom>
          <a:solidFill>
            <a:srgbClr val="FFCCFF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Complaints to Cards Ratio</a:t>
            </a:r>
          </a:p>
          <a:p>
            <a:pPr algn="ctr"/>
            <a:r>
              <a:rPr lang="en-US" b="1" dirty="0" smtClean="0"/>
              <a:t> </a:t>
            </a:r>
          </a:p>
          <a:p>
            <a:pPr algn="ctr"/>
            <a:r>
              <a:rPr lang="en-US" b="1" dirty="0" smtClean="0"/>
              <a:t>Total Cards Complaints Received</a:t>
            </a:r>
          </a:p>
          <a:p>
            <a:pPr algn="ctr"/>
            <a:r>
              <a:rPr lang="en-US" b="1" dirty="0" smtClean="0"/>
              <a:t>------------------------------------------------</a:t>
            </a:r>
          </a:p>
          <a:p>
            <a:pPr algn="ctr"/>
            <a:r>
              <a:rPr lang="en-US" b="1" dirty="0" smtClean="0"/>
              <a:t>Total Cards Issued </a:t>
            </a:r>
            <a:endParaRPr lang="en-US" b="1" dirty="0"/>
          </a:p>
        </p:txBody>
      </p:sp>
      <p:sp>
        <p:nvSpPr>
          <p:cNvPr id="3" name="Bent-Up Arrow 2"/>
          <p:cNvSpPr/>
          <p:nvPr/>
        </p:nvSpPr>
        <p:spPr>
          <a:xfrm rot="5400000" flipH="1">
            <a:off x="1450180" y="4355148"/>
            <a:ext cx="762000" cy="73850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ent-Up Arrow 18"/>
          <p:cNvSpPr/>
          <p:nvPr/>
        </p:nvSpPr>
        <p:spPr>
          <a:xfrm rot="5400000">
            <a:off x="1568212" y="2135266"/>
            <a:ext cx="719454" cy="868522"/>
          </a:xfrm>
          <a:prstGeom prst="bentUpArrow">
            <a:avLst>
              <a:gd name="adj1" fmla="val 25000"/>
              <a:gd name="adj2" fmla="val 2588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0" y="255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4.0%	</a:t>
            </a:r>
          </a:p>
          <a:p>
            <a:r>
              <a:rPr lang="en-US" dirty="0"/>
              <a:t>4.1%	</a:t>
            </a:r>
          </a:p>
          <a:p>
            <a:r>
              <a:rPr lang="en-US" dirty="0"/>
              <a:t>4.5%	</a:t>
            </a:r>
          </a:p>
          <a:p>
            <a:r>
              <a:rPr lang="en-US" dirty="0"/>
              <a:t>5%	</a:t>
            </a:r>
          </a:p>
          <a:p>
            <a:r>
              <a:rPr lang="en-US" dirty="0"/>
              <a:t>3.8%	</a:t>
            </a:r>
          </a:p>
          <a:p>
            <a:r>
              <a:rPr lang="en-US" dirty="0"/>
              <a:t>4%	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55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4.0%	</a:t>
            </a:r>
          </a:p>
          <a:p>
            <a:r>
              <a:rPr lang="en-US" dirty="0"/>
              <a:t>4.1%	</a:t>
            </a:r>
          </a:p>
          <a:p>
            <a:r>
              <a:rPr lang="en-US" dirty="0"/>
              <a:t>4.5%	</a:t>
            </a:r>
          </a:p>
          <a:p>
            <a:r>
              <a:rPr lang="en-US" dirty="0"/>
              <a:t>5%	</a:t>
            </a:r>
          </a:p>
          <a:p>
            <a:r>
              <a:rPr lang="en-US" dirty="0"/>
              <a:t>3.8%	</a:t>
            </a:r>
          </a:p>
          <a:p>
            <a:r>
              <a:rPr lang="en-US" dirty="0"/>
              <a:t>4%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val Callout 96"/>
          <p:cNvSpPr/>
          <p:nvPr/>
        </p:nvSpPr>
        <p:spPr>
          <a:xfrm>
            <a:off x="3570288" y="1295400"/>
            <a:ext cx="1611312" cy="755650"/>
          </a:xfrm>
          <a:prstGeom prst="wedgeEllipseCallout">
            <a:avLst>
              <a:gd name="adj1" fmla="val -85692"/>
              <a:gd name="adj2" fmla="val 725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I have not received my Debit Card  / Pin</a:t>
            </a:r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6459538" cy="4000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As-is scenario &amp; Identifying Gaps</a:t>
            </a:r>
          </a:p>
        </p:txBody>
      </p:sp>
      <p:pic>
        <p:nvPicPr>
          <p:cNvPr id="26628" name="Picture 2" descr="User icon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1238" y="1389063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Callout 4"/>
          <p:cNvSpPr/>
          <p:nvPr/>
        </p:nvSpPr>
        <p:spPr>
          <a:xfrm>
            <a:off x="1143000" y="860425"/>
            <a:ext cx="1377950" cy="568325"/>
          </a:xfrm>
          <a:prstGeom prst="wedgeEllipseCallout">
            <a:avLst>
              <a:gd name="adj1" fmla="val 51458"/>
              <a:gd name="adj2" fmla="val 7424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Need to upgrade my card</a:t>
            </a:r>
          </a:p>
        </p:txBody>
      </p:sp>
      <p:sp>
        <p:nvSpPr>
          <p:cNvPr id="7" name="Oval Callout 6"/>
          <p:cNvSpPr/>
          <p:nvPr/>
        </p:nvSpPr>
        <p:spPr>
          <a:xfrm>
            <a:off x="833438" y="1628775"/>
            <a:ext cx="1447800" cy="755650"/>
          </a:xfrm>
          <a:prstGeom prst="wedgeEllipseCallout">
            <a:avLst>
              <a:gd name="adj1" fmla="val 75203"/>
              <a:gd name="adj2" fmla="val -2311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Lost my card. Need to block it &amp; re-issue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2676525" y="579438"/>
            <a:ext cx="1612900" cy="755650"/>
          </a:xfrm>
          <a:prstGeom prst="wedgeEllipseCallout">
            <a:avLst>
              <a:gd name="adj1" fmla="val -34392"/>
              <a:gd name="adj2" fmla="val 652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My card has expired. Need a new one</a:t>
            </a:r>
          </a:p>
        </p:txBody>
      </p:sp>
      <p:cxnSp>
        <p:nvCxnSpPr>
          <p:cNvPr id="9" name="Straight Arrow Connector 8"/>
          <p:cNvCxnSpPr>
            <a:endCxn id="36872" idx="0"/>
          </p:cNvCxnSpPr>
          <p:nvPr/>
        </p:nvCxnSpPr>
        <p:spPr>
          <a:xfrm>
            <a:off x="3327400" y="2227263"/>
            <a:ext cx="728663" cy="6556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pic>
        <p:nvPicPr>
          <p:cNvPr id="36870" name="Picture 6" descr="http://www.thinkplaninvest.com/wp-content/uploads/2010/05/hdfc-bank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0450" y="2895600"/>
            <a:ext cx="1479550" cy="1001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cxnSp>
        <p:nvCxnSpPr>
          <p:cNvPr id="18" name="Straight Arrow Connector 17"/>
          <p:cNvCxnSpPr>
            <a:endCxn id="36870" idx="0"/>
          </p:cNvCxnSpPr>
          <p:nvPr/>
        </p:nvCxnSpPr>
        <p:spPr>
          <a:xfrm flipH="1">
            <a:off x="1800225" y="2224088"/>
            <a:ext cx="588963" cy="671512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pic>
        <p:nvPicPr>
          <p:cNvPr id="36872" name="Picture 8" descr="http://www.globalpost.com/sites/default/files/imagecache/gp3_small_article/photos/10/India_01_14_09_Rai_FWIS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03588" y="2882900"/>
            <a:ext cx="1504950" cy="100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cxnSp>
        <p:nvCxnSpPr>
          <p:cNvPr id="32" name="Straight Arrow Connector 31"/>
          <p:cNvCxnSpPr>
            <a:stCxn id="36872" idx="2"/>
          </p:cNvCxnSpPr>
          <p:nvPr/>
        </p:nvCxnSpPr>
        <p:spPr>
          <a:xfrm flipH="1">
            <a:off x="4051300" y="3886200"/>
            <a:ext cx="4763" cy="2333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1" name="TextBox 30"/>
          <p:cNvSpPr txBox="1"/>
          <p:nvPr/>
        </p:nvSpPr>
        <p:spPr>
          <a:xfrm>
            <a:off x="2922588" y="4065588"/>
            <a:ext cx="2259012" cy="5064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Customer asked for Telephone Identification Number(TIN)</a:t>
            </a:r>
          </a:p>
        </p:txBody>
      </p:sp>
      <p:cxnSp>
        <p:nvCxnSpPr>
          <p:cNvPr id="48" name="Straight Arrow Connector 47"/>
          <p:cNvCxnSpPr>
            <a:stCxn id="31" idx="2"/>
            <a:endCxn id="39" idx="0"/>
          </p:cNvCxnSpPr>
          <p:nvPr/>
        </p:nvCxnSpPr>
        <p:spPr>
          <a:xfrm rot="5400000">
            <a:off x="3886200" y="4738688"/>
            <a:ext cx="331787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04" name="TextBox 103"/>
          <p:cNvSpPr txBox="1"/>
          <p:nvPr/>
        </p:nvSpPr>
        <p:spPr>
          <a:xfrm>
            <a:off x="2922588" y="6167438"/>
            <a:ext cx="2259012" cy="461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US" b="1" dirty="0"/>
              <a:t>Customer request taken &amp; forwarded to Ops.</a:t>
            </a:r>
          </a:p>
        </p:txBody>
      </p:sp>
      <p:cxnSp>
        <p:nvCxnSpPr>
          <p:cNvPr id="103" name="Straight Arrow Connector 102"/>
          <p:cNvCxnSpPr>
            <a:stCxn id="39" idx="2"/>
            <a:endCxn id="104" idx="0"/>
          </p:cNvCxnSpPr>
          <p:nvPr/>
        </p:nvCxnSpPr>
        <p:spPr bwMode="auto">
          <a:xfrm rot="5400000">
            <a:off x="3849687" y="5964238"/>
            <a:ext cx="40481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8789" name="TextBox 115"/>
          <p:cNvSpPr txBox="1">
            <a:spLocks noChangeArrowheads="1"/>
          </p:cNvSpPr>
          <p:nvPr/>
        </p:nvSpPr>
        <p:spPr bwMode="auto">
          <a:xfrm>
            <a:off x="4079875" y="5899150"/>
            <a:ext cx="449263" cy="27622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 smtClean="0">
                <a:solidFill>
                  <a:schemeClr val="accent2"/>
                </a:solidFill>
              </a:rPr>
              <a:t>Yes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 rot="16200000">
            <a:off x="-2338387" y="3575050"/>
            <a:ext cx="5410200" cy="42862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</a:rPr>
              <a:t>Part 1 - PLACING THE REQUEST</a:t>
            </a:r>
          </a:p>
        </p:txBody>
      </p:sp>
      <p:grpSp>
        <p:nvGrpSpPr>
          <p:cNvPr id="26643" name="Group 36874"/>
          <p:cNvGrpSpPr>
            <a:grpSpLocks/>
          </p:cNvGrpSpPr>
          <p:nvPr/>
        </p:nvGrpSpPr>
        <p:grpSpPr bwMode="auto">
          <a:xfrm>
            <a:off x="3200400" y="2957513"/>
            <a:ext cx="492125" cy="847725"/>
            <a:chOff x="3124200" y="2652899"/>
            <a:chExt cx="492443" cy="847836"/>
          </a:xfrm>
        </p:grpSpPr>
        <p:cxnSp>
          <p:nvCxnSpPr>
            <p:cNvPr id="128" name="Straight Arrow Connector 127"/>
            <p:cNvCxnSpPr/>
            <p:nvPr/>
          </p:nvCxnSpPr>
          <p:spPr>
            <a:xfrm flipH="1">
              <a:off x="3581695" y="2652899"/>
              <a:ext cx="12708" cy="8478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8787" name="TextBox 128"/>
            <p:cNvSpPr txBox="1">
              <a:spLocks noChangeArrowheads="1"/>
            </p:cNvSpPr>
            <p:nvPr/>
          </p:nvSpPr>
          <p:spPr bwMode="auto">
            <a:xfrm>
              <a:off x="3124200" y="2738635"/>
              <a:ext cx="492443" cy="277848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>
                  <a:solidFill>
                    <a:schemeClr val="accent2"/>
                  </a:solidFill>
                </a:rPr>
                <a:t>YES</a:t>
              </a:r>
            </a:p>
          </p:txBody>
        </p:sp>
      </p:grpSp>
      <p:sp>
        <p:nvSpPr>
          <p:cNvPr id="39" name="Flowchart: Decision 38"/>
          <p:cNvSpPr/>
          <p:nvPr/>
        </p:nvSpPr>
        <p:spPr>
          <a:xfrm>
            <a:off x="2922588" y="4903788"/>
            <a:ext cx="2259012" cy="858837"/>
          </a:xfrm>
          <a:prstGeom prst="flowChartDecisi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TIN available with customer?</a:t>
            </a:r>
          </a:p>
        </p:txBody>
      </p:sp>
      <p:grpSp>
        <p:nvGrpSpPr>
          <p:cNvPr id="3" name="Group 117"/>
          <p:cNvGrpSpPr>
            <a:grpSpLocks/>
          </p:cNvGrpSpPr>
          <p:nvPr/>
        </p:nvGrpSpPr>
        <p:grpSpPr bwMode="auto">
          <a:xfrm>
            <a:off x="6042024" y="2454275"/>
            <a:ext cx="2720976" cy="506413"/>
            <a:chOff x="6265339" y="1419269"/>
            <a:chExt cx="2694027" cy="5073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1" name="TextBox 120"/>
            <p:cNvSpPr txBox="1"/>
            <p:nvPr/>
          </p:nvSpPr>
          <p:spPr>
            <a:xfrm>
              <a:off x="6525693" y="1468571"/>
              <a:ext cx="2433673" cy="45803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/>
              </a:lvl1pPr>
            </a:lstStyle>
            <a:p>
              <a:pPr>
                <a:defRPr/>
              </a:pPr>
              <a:r>
                <a:rPr lang="en-US" b="1" dirty="0" smtClean="0">
                  <a:solidFill>
                    <a:schemeClr val="accent2"/>
                  </a:solidFill>
                </a:rPr>
                <a:t>Staff not aware of TAT to be committed to customer</a:t>
              </a:r>
            </a:p>
          </p:txBody>
        </p:sp>
        <p:pic>
          <p:nvPicPr>
            <p:cNvPr id="123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6" cstate="print">
              <a:extLst/>
            </a:blip>
            <a:srcRect/>
            <a:stretch>
              <a:fillRect/>
            </a:stretch>
          </p:blipFill>
          <p:spPr bwMode="auto">
            <a:xfrm>
              <a:off x="6265339" y="1419269"/>
              <a:ext cx="364061" cy="410476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</p:pic>
      </p:grpSp>
      <p:grpSp>
        <p:nvGrpSpPr>
          <p:cNvPr id="26646" name="Group 82"/>
          <p:cNvGrpSpPr>
            <a:grpSpLocks/>
          </p:cNvGrpSpPr>
          <p:nvPr/>
        </p:nvGrpSpPr>
        <p:grpSpPr bwMode="auto">
          <a:xfrm>
            <a:off x="1736725" y="3843338"/>
            <a:ext cx="1225550" cy="1497012"/>
            <a:chOff x="1696908" y="3710856"/>
            <a:chExt cx="1225550" cy="1689863"/>
          </a:xfrm>
        </p:grpSpPr>
        <p:cxnSp>
          <p:nvCxnSpPr>
            <p:cNvPr id="52" name="Elbow Connector 51"/>
            <p:cNvCxnSpPr>
              <a:stCxn id="39" idx="1"/>
            </p:cNvCxnSpPr>
            <p:nvPr/>
          </p:nvCxnSpPr>
          <p:spPr>
            <a:xfrm rot="10800000">
              <a:off x="1696908" y="3710856"/>
              <a:ext cx="1225550" cy="1689863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8791" name="TextBox 59"/>
            <p:cNvSpPr txBox="1">
              <a:spLocks noChangeArrowheads="1"/>
            </p:cNvSpPr>
            <p:nvPr/>
          </p:nvSpPr>
          <p:spPr bwMode="auto">
            <a:xfrm>
              <a:off x="1712783" y="4741260"/>
              <a:ext cx="390525" cy="311809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b="1" dirty="0" smtClean="0">
                  <a:solidFill>
                    <a:schemeClr val="accent2"/>
                  </a:solidFill>
                </a:rPr>
                <a:t>No</a:t>
              </a:r>
              <a:endParaRPr lang="en-US" sz="12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6" name="Group 105"/>
          <p:cNvGrpSpPr>
            <a:grpSpLocks/>
          </p:cNvGrpSpPr>
          <p:nvPr/>
        </p:nvGrpSpPr>
        <p:grpSpPr bwMode="auto">
          <a:xfrm>
            <a:off x="6042024" y="990600"/>
            <a:ext cx="2720975" cy="585788"/>
            <a:chOff x="6206083" y="1020897"/>
            <a:chExt cx="2721532" cy="5842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TextBox 109"/>
            <p:cNvSpPr txBox="1"/>
            <p:nvPr/>
          </p:nvSpPr>
          <p:spPr>
            <a:xfrm>
              <a:off x="6493480" y="1058899"/>
              <a:ext cx="2434135" cy="54628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>
                  <a:solidFill>
                    <a:schemeClr val="accent2"/>
                  </a:solidFill>
                </a:defRPr>
              </a:lvl1pPr>
            </a:lstStyle>
            <a:p>
              <a:pPr>
                <a:defRPr/>
              </a:pPr>
              <a:r>
                <a:rPr lang="en-US" b="1" dirty="0"/>
                <a:t>Customer unable to place request for new card without a TIN. Routed to branch </a:t>
              </a:r>
            </a:p>
          </p:txBody>
        </p:sp>
        <p:pic>
          <p:nvPicPr>
            <p:cNvPr id="111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7" cstate="print">
              <a:extLst/>
            </a:blip>
            <a:srcRect/>
            <a:stretch>
              <a:fillRect/>
            </a:stretch>
          </p:blipFill>
          <p:spPr bwMode="auto">
            <a:xfrm>
              <a:off x="6206083" y="1020897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grpSp>
        <p:nvGrpSpPr>
          <p:cNvPr id="11" name="Group 111"/>
          <p:cNvGrpSpPr>
            <a:grpSpLocks/>
          </p:cNvGrpSpPr>
          <p:nvPr/>
        </p:nvGrpSpPr>
        <p:grpSpPr bwMode="auto">
          <a:xfrm>
            <a:off x="6042023" y="1770856"/>
            <a:ext cx="2720975" cy="508000"/>
            <a:chOff x="6265339" y="1448648"/>
            <a:chExt cx="2694027" cy="5086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" name="TextBox 115"/>
            <p:cNvSpPr txBox="1"/>
            <p:nvPr/>
          </p:nvSpPr>
          <p:spPr>
            <a:xfrm>
              <a:off x="6525693" y="1469313"/>
              <a:ext cx="2433673" cy="48799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>
                  <a:solidFill>
                    <a:schemeClr val="accent2"/>
                  </a:solidFill>
                </a:defRPr>
              </a:lvl1pPr>
            </a:lstStyle>
            <a:p>
              <a:pPr>
                <a:defRPr/>
              </a:pPr>
              <a:r>
                <a:rPr lang="en-US" b="1" dirty="0"/>
                <a:t>Customer had to place re-issuance request on same day or else routed to branch</a:t>
              </a:r>
            </a:p>
          </p:txBody>
        </p:sp>
        <p:pic>
          <p:nvPicPr>
            <p:cNvPr id="117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8" cstate="print">
              <a:extLst/>
            </a:blip>
            <a:srcRect/>
            <a:stretch>
              <a:fillRect/>
            </a:stretch>
          </p:blipFill>
          <p:spPr bwMode="auto">
            <a:xfrm>
              <a:off x="6265339" y="1448648"/>
              <a:ext cx="364061" cy="357230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cxnSp>
        <p:nvCxnSpPr>
          <p:cNvPr id="10" name="Elbow Connector 9"/>
          <p:cNvCxnSpPr>
            <a:stCxn id="36870" idx="1"/>
            <a:endCxn id="104" idx="1"/>
          </p:cNvCxnSpPr>
          <p:nvPr/>
        </p:nvCxnSpPr>
        <p:spPr>
          <a:xfrm rot="10800000" flipH="1" flipV="1">
            <a:off x="1060450" y="3397250"/>
            <a:ext cx="1862138" cy="3001963"/>
          </a:xfrm>
          <a:prstGeom prst="bentConnector3">
            <a:avLst>
              <a:gd name="adj1" fmla="val -12276"/>
            </a:avLst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2" name="Straight Arrow Connector 11"/>
          <p:cNvCxnSpPr>
            <a:stCxn id="104" idx="3"/>
            <a:endCxn id="13" idx="2"/>
          </p:cNvCxnSpPr>
          <p:nvPr/>
        </p:nvCxnSpPr>
        <p:spPr>
          <a:xfrm>
            <a:off x="5181600" y="6399213"/>
            <a:ext cx="838200" cy="1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3" name="Oval 12"/>
          <p:cNvSpPr/>
          <p:nvPr/>
        </p:nvSpPr>
        <p:spPr>
          <a:xfrm>
            <a:off x="6019800" y="6172200"/>
            <a:ext cx="533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chemeClr val="tx1"/>
                </a:solidFill>
              </a:rPr>
              <a:t>A1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 rot="16200000">
            <a:off x="-2309812" y="3557587"/>
            <a:ext cx="5410200" cy="428625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</a:rPr>
              <a:t>Part 2 - PROCESSING THE REQUEST</a:t>
            </a:r>
          </a:p>
        </p:txBody>
      </p:sp>
      <p:grpSp>
        <p:nvGrpSpPr>
          <p:cNvPr id="2" name="Group 129"/>
          <p:cNvGrpSpPr>
            <a:grpSpLocks/>
          </p:cNvGrpSpPr>
          <p:nvPr/>
        </p:nvGrpSpPr>
        <p:grpSpPr bwMode="auto">
          <a:xfrm>
            <a:off x="6176961" y="914400"/>
            <a:ext cx="2738438" cy="457200"/>
            <a:chOff x="6344715" y="1033615"/>
            <a:chExt cx="2738478" cy="4576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1" name="TextBox 130"/>
            <p:cNvSpPr txBox="1"/>
            <p:nvPr/>
          </p:nvSpPr>
          <p:spPr>
            <a:xfrm>
              <a:off x="6649520" y="1033615"/>
              <a:ext cx="2433673" cy="45761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/>
              </a:lvl1pPr>
            </a:lstStyle>
            <a:p>
              <a:pPr>
                <a:defRPr/>
              </a:pPr>
              <a:r>
                <a:rPr lang="en-US" b="1" dirty="0" smtClean="0">
                  <a:solidFill>
                    <a:schemeClr val="accent2"/>
                  </a:solidFill>
                </a:rPr>
                <a:t>Re-work at branch &amp; Ops due to FTNR</a:t>
              </a:r>
            </a:p>
          </p:txBody>
        </p:sp>
        <p:pic>
          <p:nvPicPr>
            <p:cNvPr id="132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2" cstate="print">
              <a:extLst/>
            </a:blip>
            <a:srcRect/>
            <a:stretch>
              <a:fillRect/>
            </a:stretch>
          </p:blipFill>
          <p:spPr bwMode="auto">
            <a:xfrm>
              <a:off x="6344715" y="1033616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</p:pic>
      </p:grpSp>
      <p:grpSp>
        <p:nvGrpSpPr>
          <p:cNvPr id="3" name="Group 125"/>
          <p:cNvGrpSpPr>
            <a:grpSpLocks/>
          </p:cNvGrpSpPr>
          <p:nvPr/>
        </p:nvGrpSpPr>
        <p:grpSpPr bwMode="auto">
          <a:xfrm>
            <a:off x="6176962" y="1524000"/>
            <a:ext cx="2738438" cy="457200"/>
            <a:chOff x="6112917" y="1854793"/>
            <a:chExt cx="2738834" cy="45731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7" name="TextBox 126"/>
            <p:cNvSpPr txBox="1"/>
            <p:nvPr/>
          </p:nvSpPr>
          <p:spPr>
            <a:xfrm>
              <a:off x="6417761" y="1854793"/>
              <a:ext cx="2433990" cy="45731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/>
              </a:lvl1pPr>
            </a:lstStyle>
            <a:p>
              <a:pPr>
                <a:defRPr/>
              </a:pPr>
              <a:r>
                <a:rPr lang="en-US" b="1" dirty="0" smtClean="0">
                  <a:solidFill>
                    <a:schemeClr val="accent2"/>
                  </a:solidFill>
                </a:rPr>
                <a:t>Delay in processing  due to FTNR</a:t>
              </a:r>
            </a:p>
          </p:txBody>
        </p:sp>
        <p:pic>
          <p:nvPicPr>
            <p:cNvPr id="129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2" cstate="print">
              <a:extLst/>
            </a:blip>
            <a:srcRect/>
            <a:stretch>
              <a:fillRect/>
            </a:stretch>
          </p:blipFill>
          <p:spPr bwMode="auto">
            <a:xfrm>
              <a:off x="6112917" y="1854793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</p:pic>
      </p:grpSp>
      <p:sp>
        <p:nvSpPr>
          <p:cNvPr id="122" name="TextBox 121"/>
          <p:cNvSpPr txBox="1"/>
          <p:nvPr/>
        </p:nvSpPr>
        <p:spPr>
          <a:xfrm>
            <a:off x="3151188" y="1393825"/>
            <a:ext cx="2259012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Request received and checked by Ops</a:t>
            </a:r>
          </a:p>
        </p:txBody>
      </p:sp>
      <p:cxnSp>
        <p:nvCxnSpPr>
          <p:cNvPr id="125" name="Straight Arrow Connector 124"/>
          <p:cNvCxnSpPr>
            <a:stCxn id="122" idx="2"/>
            <a:endCxn id="124" idx="0"/>
          </p:cNvCxnSpPr>
          <p:nvPr/>
        </p:nvCxnSpPr>
        <p:spPr>
          <a:xfrm flipH="1">
            <a:off x="4268788" y="1855788"/>
            <a:ext cx="11112" cy="844550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28" name="Straight Arrow Connector 127"/>
          <p:cNvCxnSpPr>
            <a:stCxn id="124" idx="2"/>
            <a:endCxn id="138" idx="0"/>
          </p:cNvCxnSpPr>
          <p:nvPr/>
        </p:nvCxnSpPr>
        <p:spPr bwMode="auto">
          <a:xfrm rot="5400000">
            <a:off x="3969544" y="3860007"/>
            <a:ext cx="600075" cy="1587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8787" name="TextBox 128"/>
          <p:cNvSpPr txBox="1">
            <a:spLocks noChangeArrowheads="1"/>
          </p:cNvSpPr>
          <p:nvPr/>
        </p:nvSpPr>
        <p:spPr bwMode="auto">
          <a:xfrm>
            <a:off x="3417888" y="3403600"/>
            <a:ext cx="449262" cy="2762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 smtClean="0">
                <a:solidFill>
                  <a:schemeClr val="accent2"/>
                </a:solidFill>
              </a:rPr>
              <a:t>Yes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grpSp>
        <p:nvGrpSpPr>
          <p:cNvPr id="4" name="Group 36872"/>
          <p:cNvGrpSpPr>
            <a:grpSpLocks/>
          </p:cNvGrpSpPr>
          <p:nvPr/>
        </p:nvGrpSpPr>
        <p:grpSpPr bwMode="auto">
          <a:xfrm>
            <a:off x="1763713" y="2873375"/>
            <a:ext cx="1376362" cy="1285875"/>
            <a:chOff x="1470301" y="2209800"/>
            <a:chExt cx="1375789" cy="12854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19" name="Elbow Connector 118"/>
            <p:cNvCxnSpPr>
              <a:stCxn id="124" idx="1"/>
              <a:endCxn id="140" idx="0"/>
            </p:cNvCxnSpPr>
            <p:nvPr/>
          </p:nvCxnSpPr>
          <p:spPr>
            <a:xfrm rot="10800000" flipV="1">
              <a:off x="1470301" y="2466884"/>
              <a:ext cx="1375789" cy="1028337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28785" name="TextBox 136"/>
            <p:cNvSpPr txBox="1">
              <a:spLocks noChangeArrowheads="1"/>
            </p:cNvSpPr>
            <p:nvPr/>
          </p:nvSpPr>
          <p:spPr bwMode="auto">
            <a:xfrm>
              <a:off x="1565511" y="2209800"/>
              <a:ext cx="389688" cy="276901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b="1" dirty="0" smtClean="0">
                  <a:solidFill>
                    <a:schemeClr val="accent2"/>
                  </a:solidFill>
                </a:rPr>
                <a:t>No</a:t>
              </a:r>
              <a:endParaRPr lang="en-US" sz="12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3140075" y="4159250"/>
            <a:ext cx="2259013" cy="641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Request is processed and forwarded for printing</a:t>
            </a:r>
          </a:p>
        </p:txBody>
      </p:sp>
      <p:pic>
        <p:nvPicPr>
          <p:cNvPr id="140" name="Picture 6" descr="http://www.thinkplaninvest.com/wp-content/uploads/2010/05/hdfc-bank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3938" y="4159250"/>
            <a:ext cx="1479550" cy="100012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24" name="Flowchart: Decision 123"/>
          <p:cNvSpPr/>
          <p:nvPr/>
        </p:nvSpPr>
        <p:spPr>
          <a:xfrm>
            <a:off x="3140075" y="2700338"/>
            <a:ext cx="2259013" cy="858837"/>
          </a:xfrm>
          <a:prstGeom prst="flowChartDecisi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accent2"/>
                </a:solidFill>
              </a:rPr>
              <a:t>Is application/ Documents complete?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cxnSp>
        <p:nvCxnSpPr>
          <p:cNvPr id="109" name="Straight Arrow Connector 108"/>
          <p:cNvCxnSpPr>
            <a:stCxn id="113" idx="4"/>
            <a:endCxn id="122" idx="0"/>
          </p:cNvCxnSpPr>
          <p:nvPr/>
        </p:nvCxnSpPr>
        <p:spPr>
          <a:xfrm>
            <a:off x="4270375" y="1066800"/>
            <a:ext cx="9525" cy="327025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13" name="Oval 112"/>
          <p:cNvSpPr/>
          <p:nvPr/>
        </p:nvSpPr>
        <p:spPr>
          <a:xfrm>
            <a:off x="4003675" y="609600"/>
            <a:ext cx="533400" cy="4572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</a:rPr>
              <a:t>A1</a:t>
            </a:r>
          </a:p>
        </p:txBody>
      </p:sp>
      <p:cxnSp>
        <p:nvCxnSpPr>
          <p:cNvPr id="115" name="Straight Arrow Connector 114"/>
          <p:cNvCxnSpPr>
            <a:stCxn id="138" idx="2"/>
            <a:endCxn id="141" idx="0"/>
          </p:cNvCxnSpPr>
          <p:nvPr/>
        </p:nvCxnSpPr>
        <p:spPr>
          <a:xfrm rot="16200000" flipH="1">
            <a:off x="3705225" y="5365750"/>
            <a:ext cx="1139825" cy="9525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41" name="Oval 140"/>
          <p:cNvSpPr/>
          <p:nvPr/>
        </p:nvSpPr>
        <p:spPr>
          <a:xfrm>
            <a:off x="4013200" y="5940425"/>
            <a:ext cx="533400" cy="4572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3938" y="5862638"/>
            <a:ext cx="1479550" cy="614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Cured by branch &amp; re-sent to Ops</a:t>
            </a:r>
          </a:p>
        </p:txBody>
      </p:sp>
      <p:cxnSp>
        <p:nvCxnSpPr>
          <p:cNvPr id="144" name="Straight Arrow Connector 143"/>
          <p:cNvCxnSpPr>
            <a:stCxn id="140" idx="2"/>
            <a:endCxn id="143" idx="0"/>
          </p:cNvCxnSpPr>
          <p:nvPr/>
        </p:nvCxnSpPr>
        <p:spPr>
          <a:xfrm flipH="1">
            <a:off x="1763713" y="5159375"/>
            <a:ext cx="0" cy="703263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47" name="Elbow Connector 146"/>
          <p:cNvCxnSpPr/>
          <p:nvPr/>
        </p:nvCxnSpPr>
        <p:spPr>
          <a:xfrm rot="10800000" flipH="1">
            <a:off x="990600" y="1600200"/>
            <a:ext cx="2127250" cy="4543425"/>
          </a:xfrm>
          <a:prstGeom prst="bentConnector3">
            <a:avLst>
              <a:gd name="adj1" fmla="val -10749"/>
            </a:avLst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8" name="Title 1"/>
          <p:cNvSpPr txBox="1">
            <a:spLocks/>
          </p:cNvSpPr>
          <p:nvPr/>
        </p:nvSpPr>
        <p:spPr bwMode="auto">
          <a:xfrm>
            <a:off x="1143000" y="152400"/>
            <a:ext cx="64595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As-is scenario &amp; Identifying Gaps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2846388" y="2711450"/>
            <a:ext cx="2259012" cy="817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/>
            </a:lvl1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Old Card is deactivated on 10th day after new card is dispatched without delivery confirmation</a:t>
            </a:r>
          </a:p>
        </p:txBody>
      </p:sp>
      <p:sp>
        <p:nvSpPr>
          <p:cNvPr id="95" name="TextBox 94"/>
          <p:cNvSpPr txBox="1"/>
          <p:nvPr/>
        </p:nvSpPr>
        <p:spPr bwMode="auto">
          <a:xfrm>
            <a:off x="2835275" y="6000750"/>
            <a:ext cx="2259013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Customer acknowledgement received.</a:t>
            </a:r>
          </a:p>
        </p:txBody>
      </p:sp>
      <p:sp>
        <p:nvSpPr>
          <p:cNvPr id="74" name="Flowchart: Decision 73"/>
          <p:cNvSpPr/>
          <p:nvPr/>
        </p:nvSpPr>
        <p:spPr>
          <a:xfrm>
            <a:off x="2827338" y="4210050"/>
            <a:ext cx="2259012" cy="858838"/>
          </a:xfrm>
          <a:prstGeom prst="flowChartDecisi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Courier delivered?</a:t>
            </a:r>
          </a:p>
        </p:txBody>
      </p:sp>
      <p:sp>
        <p:nvSpPr>
          <p:cNvPr id="53" name="Rectangle 52"/>
          <p:cNvSpPr/>
          <p:nvPr/>
        </p:nvSpPr>
        <p:spPr>
          <a:xfrm rot="16200000">
            <a:off x="-2338387" y="3557587"/>
            <a:ext cx="5410200" cy="428625"/>
          </a:xfrm>
          <a:prstGeom prst="rect">
            <a:avLst/>
          </a:prstGeom>
          <a:solidFill>
            <a:schemeClr val="accent1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</a:rPr>
              <a:t>Part 3 – PRINTING &amp; DISPATCH</a:t>
            </a:r>
          </a:p>
        </p:txBody>
      </p:sp>
      <p:sp>
        <p:nvSpPr>
          <p:cNvPr id="54" name="TextBox 53"/>
          <p:cNvSpPr txBox="1"/>
          <p:nvPr/>
        </p:nvSpPr>
        <p:spPr bwMode="auto">
          <a:xfrm>
            <a:off x="2846388" y="681038"/>
            <a:ext cx="2259012" cy="461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Debit Card / Pin printed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46388" y="1676400"/>
            <a:ext cx="2259012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Dispatched to customer address</a:t>
            </a:r>
          </a:p>
        </p:txBody>
      </p:sp>
      <p:cxnSp>
        <p:nvCxnSpPr>
          <p:cNvPr id="60" name="Straight Arrow Connector 59"/>
          <p:cNvCxnSpPr>
            <a:stCxn id="54" idx="2"/>
            <a:endCxn id="59" idx="0"/>
          </p:cNvCxnSpPr>
          <p:nvPr/>
        </p:nvCxnSpPr>
        <p:spPr>
          <a:xfrm rot="5400000">
            <a:off x="3709194" y="1410494"/>
            <a:ext cx="533400" cy="1588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65" name="Straight Arrow Connector 64"/>
          <p:cNvCxnSpPr>
            <a:stCxn id="59" idx="2"/>
          </p:cNvCxnSpPr>
          <p:nvPr/>
        </p:nvCxnSpPr>
        <p:spPr>
          <a:xfrm flipH="1">
            <a:off x="3967163" y="2138363"/>
            <a:ext cx="7937" cy="600075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1" name="Straight Arrow Connector 70"/>
          <p:cNvCxnSpPr>
            <a:stCxn id="63" idx="2"/>
            <a:endCxn id="74" idx="0"/>
          </p:cNvCxnSpPr>
          <p:nvPr/>
        </p:nvCxnSpPr>
        <p:spPr>
          <a:xfrm flipH="1">
            <a:off x="3957638" y="3529013"/>
            <a:ext cx="17462" cy="681037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7" name="Elbow Connector 76"/>
          <p:cNvCxnSpPr>
            <a:stCxn id="74" idx="1"/>
            <a:endCxn id="81" idx="0"/>
          </p:cNvCxnSpPr>
          <p:nvPr/>
        </p:nvCxnSpPr>
        <p:spPr bwMode="auto">
          <a:xfrm rot="10800000" flipV="1">
            <a:off x="1804988" y="4640263"/>
            <a:ext cx="1022350" cy="617537"/>
          </a:xfrm>
          <a:prstGeom prst="bentConnector2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8779" name="TextBox 136"/>
          <p:cNvSpPr txBox="1">
            <a:spLocks noChangeArrowheads="1"/>
          </p:cNvSpPr>
          <p:nvPr/>
        </p:nvSpPr>
        <p:spPr bwMode="auto">
          <a:xfrm>
            <a:off x="1905000" y="4676775"/>
            <a:ext cx="390525" cy="2762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 smtClean="0">
                <a:solidFill>
                  <a:schemeClr val="accent2"/>
                </a:solidFill>
              </a:rPr>
              <a:t>No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cxnSp>
        <p:nvCxnSpPr>
          <p:cNvPr id="88" name="Straight Arrow Connector 87"/>
          <p:cNvCxnSpPr>
            <a:stCxn id="74" idx="2"/>
            <a:endCxn id="95" idx="0"/>
          </p:cNvCxnSpPr>
          <p:nvPr/>
        </p:nvCxnSpPr>
        <p:spPr bwMode="auto">
          <a:xfrm>
            <a:off x="3957638" y="5068888"/>
            <a:ext cx="7937" cy="931862"/>
          </a:xfrm>
          <a:prstGeom prst="straightConnector1">
            <a:avLst/>
          </a:prstGeom>
          <a:ln>
            <a:noFill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grpSp>
        <p:nvGrpSpPr>
          <p:cNvPr id="2" name="Group 132"/>
          <p:cNvGrpSpPr>
            <a:grpSpLocks/>
          </p:cNvGrpSpPr>
          <p:nvPr/>
        </p:nvGrpSpPr>
        <p:grpSpPr bwMode="auto">
          <a:xfrm>
            <a:off x="6255544" y="833438"/>
            <a:ext cx="2693987" cy="842962"/>
            <a:chOff x="6265339" y="1372426"/>
            <a:chExt cx="2694027" cy="7658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4" name="TextBox 133"/>
            <p:cNvSpPr txBox="1"/>
            <p:nvPr/>
          </p:nvSpPr>
          <p:spPr>
            <a:xfrm>
              <a:off x="6525693" y="1469059"/>
              <a:ext cx="2433673" cy="669225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/>
              </a:lvl1pPr>
            </a:lstStyle>
            <a:p>
              <a:pPr>
                <a:defRPr/>
              </a:pPr>
              <a:r>
                <a:rPr lang="en-US" b="1" dirty="0">
                  <a:solidFill>
                    <a:schemeClr val="accent2"/>
                  </a:solidFill>
                </a:rPr>
                <a:t>Customer has no active card in case new card is not delivered within 10 </a:t>
              </a:r>
              <a:r>
                <a:rPr lang="en-US" b="1" dirty="0" smtClean="0">
                  <a:solidFill>
                    <a:schemeClr val="accent2"/>
                  </a:solidFill>
                </a:rPr>
                <a:t>days, leads to card swallow by ATM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pic>
          <p:nvPicPr>
            <p:cNvPr id="135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2" cstate="print">
              <a:extLst/>
            </a:blip>
            <a:srcRect/>
            <a:stretch>
              <a:fillRect/>
            </a:stretch>
          </p:blipFill>
          <p:spPr bwMode="auto">
            <a:xfrm>
              <a:off x="6265339" y="1372426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</p:pic>
      </p:grpSp>
      <p:sp>
        <p:nvSpPr>
          <p:cNvPr id="81" name="TextBox 80"/>
          <p:cNvSpPr txBox="1"/>
          <p:nvPr/>
        </p:nvSpPr>
        <p:spPr>
          <a:xfrm>
            <a:off x="674688" y="5257800"/>
            <a:ext cx="2259012" cy="461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US" b="1" dirty="0"/>
              <a:t>Debit Card / Pin returned to bank.</a:t>
            </a:r>
          </a:p>
        </p:txBody>
      </p:sp>
      <p:cxnSp>
        <p:nvCxnSpPr>
          <p:cNvPr id="14" name="Straight Arrow Connector 13"/>
          <p:cNvCxnSpPr>
            <a:stCxn id="74" idx="2"/>
            <a:endCxn id="95" idx="0"/>
          </p:cNvCxnSpPr>
          <p:nvPr/>
        </p:nvCxnSpPr>
        <p:spPr>
          <a:xfrm>
            <a:off x="3957638" y="5068888"/>
            <a:ext cx="7937" cy="931862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89" name="Straight Arrow Connector 88"/>
          <p:cNvCxnSpPr>
            <a:stCxn id="90" idx="6"/>
            <a:endCxn id="54" idx="1"/>
          </p:cNvCxnSpPr>
          <p:nvPr/>
        </p:nvCxnSpPr>
        <p:spPr>
          <a:xfrm flipV="1">
            <a:off x="1600200" y="912813"/>
            <a:ext cx="1246188" cy="1587"/>
          </a:xfrm>
          <a:prstGeom prst="straightConnector1">
            <a:avLst/>
          </a:prstGeom>
          <a:ln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0" name="Oval 89"/>
          <p:cNvSpPr/>
          <p:nvPr/>
        </p:nvSpPr>
        <p:spPr>
          <a:xfrm>
            <a:off x="1066800" y="685800"/>
            <a:ext cx="5334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30" name="TextBox 136"/>
          <p:cNvSpPr txBox="1">
            <a:spLocks noChangeArrowheads="1"/>
          </p:cNvSpPr>
          <p:nvPr/>
        </p:nvSpPr>
        <p:spPr bwMode="auto">
          <a:xfrm>
            <a:off x="4038600" y="5105400"/>
            <a:ext cx="449263" cy="2762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 smtClean="0">
                <a:solidFill>
                  <a:schemeClr val="accent2"/>
                </a:solidFill>
              </a:rPr>
              <a:t>Yes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32" name="Title 1"/>
          <p:cNvSpPr txBox="1">
            <a:spLocks/>
          </p:cNvSpPr>
          <p:nvPr/>
        </p:nvSpPr>
        <p:spPr bwMode="auto">
          <a:xfrm>
            <a:off x="1143000" y="209550"/>
            <a:ext cx="64595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As-is scenario &amp; Identifying Gaps</a:t>
            </a:r>
          </a:p>
        </p:txBody>
      </p:sp>
      <p:grpSp>
        <p:nvGrpSpPr>
          <p:cNvPr id="3" name="Group 135"/>
          <p:cNvGrpSpPr>
            <a:grpSpLocks/>
          </p:cNvGrpSpPr>
          <p:nvPr/>
        </p:nvGrpSpPr>
        <p:grpSpPr bwMode="auto">
          <a:xfrm>
            <a:off x="6255544" y="1907381"/>
            <a:ext cx="2693987" cy="722312"/>
            <a:chOff x="6265339" y="1309681"/>
            <a:chExt cx="2694027" cy="723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TextBox 33"/>
            <p:cNvSpPr txBox="1"/>
            <p:nvPr/>
          </p:nvSpPr>
          <p:spPr>
            <a:xfrm>
              <a:off x="6525693" y="1363710"/>
              <a:ext cx="2433673" cy="66901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>
                  <a:solidFill>
                    <a:schemeClr val="accent2"/>
                  </a:solidFill>
                </a:defRPr>
              </a:lvl1pPr>
            </a:lstStyle>
            <a:p>
              <a:pPr>
                <a:defRPr/>
              </a:pPr>
              <a:r>
                <a:rPr lang="en-US" b="1" dirty="0"/>
                <a:t>Not delivered due to various reasons including courier vendor performance.</a:t>
              </a:r>
            </a:p>
          </p:txBody>
        </p:sp>
        <p:pic>
          <p:nvPicPr>
            <p:cNvPr id="35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2" cstate="print">
              <a:extLst/>
            </a:blip>
            <a:srcRect/>
            <a:stretch>
              <a:fillRect/>
            </a:stretch>
          </p:blipFill>
          <p:spPr bwMode="auto">
            <a:xfrm>
              <a:off x="6265339" y="1309681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6219032" y="2895600"/>
            <a:ext cx="2693987" cy="722312"/>
            <a:chOff x="6265339" y="1309681"/>
            <a:chExt cx="2694027" cy="7230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7" name="TextBox 136"/>
            <p:cNvSpPr txBox="1"/>
            <p:nvPr/>
          </p:nvSpPr>
          <p:spPr>
            <a:xfrm>
              <a:off x="6525693" y="1363710"/>
              <a:ext cx="2433673" cy="66901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en-US"/>
              </a:defPPr>
              <a:lvl1pPr algn="ctr">
                <a:defRPr sz="1100">
                  <a:solidFill>
                    <a:schemeClr val="accent2"/>
                  </a:solidFill>
                </a:defRPr>
              </a:lvl1pPr>
            </a:lstStyle>
            <a:p>
              <a:pPr>
                <a:defRPr/>
              </a:pPr>
              <a:r>
                <a:rPr lang="en-US" b="1" dirty="0" smtClean="0"/>
                <a:t>SMS reaches customer before returned card is received at Branch, leads to customer unnecessary visiting Branch</a:t>
              </a:r>
              <a:endParaRPr lang="en-US" b="1" dirty="0"/>
            </a:p>
          </p:txBody>
        </p:sp>
        <p:pic>
          <p:nvPicPr>
            <p:cNvPr id="139" name="Picture 12" descr="http://www.dreamstime.com/thumbs-down-hand-sign-thumb8958881.jpg"/>
            <p:cNvPicPr>
              <a:picLocks noChangeAspect="1" noChangeArrowheads="1"/>
            </p:cNvPicPr>
            <p:nvPr/>
          </p:nvPicPr>
          <p:blipFill>
            <a:blip r:embed="rId2" cstate="print">
              <a:extLst/>
            </a:blip>
            <a:srcRect/>
            <a:stretch>
              <a:fillRect/>
            </a:stretch>
          </p:blipFill>
          <p:spPr bwMode="auto">
            <a:xfrm>
              <a:off x="6265339" y="1309681"/>
              <a:ext cx="364061" cy="432262"/>
            </a:xfrm>
            <a:prstGeom prst="roundRect">
              <a:avLst>
                <a:gd name="adj" fmla="val 8594"/>
              </a:avLst>
            </a:prstGeom>
            <a:ln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E18ED9D-F3BF-4FE2-B5E9-C3560EB71202}" type="slidenum">
              <a:rPr lang="en-US" smtClean="0"/>
              <a:pPr/>
              <a:t>19</a:t>
            </a:fld>
            <a:endParaRPr lang="en-US" smtClean="0"/>
          </a:p>
        </p:txBody>
      </p:sp>
      <p:pic>
        <p:nvPicPr>
          <p:cNvPr id="5" name="Picture 4" descr="custome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776288"/>
            <a:ext cx="1012825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ounded Rectangle 5"/>
          <p:cNvSpPr/>
          <p:nvPr/>
        </p:nvSpPr>
        <p:spPr>
          <a:xfrm>
            <a:off x="533400" y="2854325"/>
            <a:ext cx="1828800" cy="10826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/>
              <a:t>Branch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970448"/>
            <a:ext cx="1419425" cy="629752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/>
              <a:t>Phone Banking</a:t>
            </a:r>
          </a:p>
        </p:txBody>
      </p:sp>
      <p:sp>
        <p:nvSpPr>
          <p:cNvPr id="10" name="Diamond 9"/>
          <p:cNvSpPr/>
          <p:nvPr/>
        </p:nvSpPr>
        <p:spPr>
          <a:xfrm>
            <a:off x="685800" y="660400"/>
            <a:ext cx="2666999" cy="1201738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/>
              <a:t>TIN Available ?</a:t>
            </a:r>
          </a:p>
          <a:p>
            <a:pPr algn="ctr">
              <a:defRPr/>
            </a:pPr>
            <a:r>
              <a:rPr lang="en-US" sz="1400" b="1" dirty="0"/>
              <a:t>Reissuance Card </a:t>
            </a:r>
            <a:r>
              <a:rPr lang="en-US" sz="1400" b="1" dirty="0" smtClean="0"/>
              <a:t>Today?</a:t>
            </a:r>
            <a:endParaRPr lang="en-US" sz="1400" b="1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992313" y="1846263"/>
            <a:ext cx="5302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04800" y="1397000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17763" y="2838450"/>
            <a:ext cx="3297237" cy="11144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/>
              <a:t>Form Verification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/>
              <a:t>Dispatch to CPU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3400" y="4157663"/>
            <a:ext cx="1828800" cy="1122362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/>
              <a:t>CPU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17763" y="4173538"/>
            <a:ext cx="3297237" cy="1106487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 smtClean="0"/>
              <a:t>Form Verification: FTNR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 smtClean="0"/>
              <a:t>Dispatch </a:t>
            </a:r>
            <a:r>
              <a:rPr lang="en-US" b="1" dirty="0"/>
              <a:t>thru </a:t>
            </a:r>
            <a:r>
              <a:rPr lang="en-US" b="1" dirty="0" smtClean="0"/>
              <a:t>Courier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 smtClean="0"/>
              <a:t>Block existing card</a:t>
            </a:r>
            <a:endParaRPr lang="en-US" b="1" dirty="0"/>
          </a:p>
        </p:txBody>
      </p:sp>
      <p:sp>
        <p:nvSpPr>
          <p:cNvPr id="62" name="Rounded Rectangle 61"/>
          <p:cNvSpPr/>
          <p:nvPr/>
        </p:nvSpPr>
        <p:spPr>
          <a:xfrm>
            <a:off x="538163" y="5505450"/>
            <a:ext cx="1828800" cy="1200150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/>
              <a:t>Courier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27288" y="5486400"/>
            <a:ext cx="3298825" cy="1219200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/>
              <a:t>TAT Issues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/>
              <a:t>Delivery </a:t>
            </a:r>
            <a:r>
              <a:rPr lang="en-US" b="1" dirty="0" smtClean="0"/>
              <a:t>Issues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b="1" dirty="0" smtClean="0"/>
              <a:t>Card/Pin sent separately</a:t>
            </a:r>
          </a:p>
        </p:txBody>
      </p:sp>
      <p:cxnSp>
        <p:nvCxnSpPr>
          <p:cNvPr id="66" name="Elbow Connector 65"/>
          <p:cNvCxnSpPr>
            <a:stCxn id="10" idx="2"/>
            <a:endCxn id="6" idx="0"/>
          </p:cNvCxnSpPr>
          <p:nvPr/>
        </p:nvCxnSpPr>
        <p:spPr>
          <a:xfrm rot="5400000">
            <a:off x="1237457" y="2072481"/>
            <a:ext cx="992187" cy="57150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10" idx="1"/>
            <a:endCxn id="60" idx="1"/>
          </p:cNvCxnSpPr>
          <p:nvPr/>
        </p:nvCxnSpPr>
        <p:spPr>
          <a:xfrm rot="10800000" flipV="1">
            <a:off x="533400" y="1261268"/>
            <a:ext cx="152400" cy="3457575"/>
          </a:xfrm>
          <a:prstGeom prst="bentConnector3">
            <a:avLst>
              <a:gd name="adj1" fmla="val 250000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" idx="2"/>
            <a:endCxn id="60" idx="0"/>
          </p:cNvCxnSpPr>
          <p:nvPr/>
        </p:nvCxnSpPr>
        <p:spPr>
          <a:xfrm>
            <a:off x="1447800" y="3937000"/>
            <a:ext cx="0" cy="220663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60" idx="2"/>
            <a:endCxn id="62" idx="0"/>
          </p:cNvCxnSpPr>
          <p:nvPr/>
        </p:nvCxnSpPr>
        <p:spPr>
          <a:xfrm>
            <a:off x="1447800" y="5280025"/>
            <a:ext cx="4763" cy="225425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5943600" y="2884488"/>
            <a:ext cx="3048000" cy="10048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Staff not aware of TAT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Rework at Branch / CPU due to FTNR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0" y="4176713"/>
            <a:ext cx="3048000" cy="1004887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Delay due to FTNR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Customer not able to use card as new card is yet to received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943600" y="5392737"/>
            <a:ext cx="3048000" cy="1312863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TAT Based on Branch Classification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SLA not defined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Card </a:t>
            </a:r>
            <a:r>
              <a:rPr lang="en-US" sz="1400" b="1" dirty="0" smtClean="0">
                <a:solidFill>
                  <a:srgbClr val="FF0000"/>
                </a:solidFill>
              </a:rPr>
              <a:t>received, PIN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b="1" dirty="0" smtClean="0">
                <a:solidFill>
                  <a:srgbClr val="FF0000"/>
                </a:solidFill>
              </a:rPr>
              <a:t>received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 smtClean="0">
                <a:solidFill>
                  <a:srgbClr val="FF0000"/>
                </a:solidFill>
              </a:rPr>
              <a:t>SMS not sent on time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143000" y="209550"/>
            <a:ext cx="6459538" cy="4000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000" b="1" kern="1200" dirty="0"/>
              <a:t>As-is </a:t>
            </a:r>
            <a:r>
              <a:rPr lang="en-US" sz="2000" b="1" kern="1200" dirty="0" smtClean="0"/>
              <a:t>Scenario (Summary of gaps identified)</a:t>
            </a:r>
            <a:endParaRPr lang="en-US" sz="2000" b="1" kern="1200" dirty="0"/>
          </a:p>
        </p:txBody>
      </p:sp>
      <p:cxnSp>
        <p:nvCxnSpPr>
          <p:cNvPr id="35" name="Elbow Connector 34"/>
          <p:cNvCxnSpPr>
            <a:stCxn id="5" idx="2"/>
            <a:endCxn id="6" idx="0"/>
          </p:cNvCxnSpPr>
          <p:nvPr/>
        </p:nvCxnSpPr>
        <p:spPr>
          <a:xfrm rot="5400000">
            <a:off x="3074195" y="164306"/>
            <a:ext cx="1063625" cy="4316413"/>
          </a:xfrm>
          <a:prstGeom prst="bentConnector3">
            <a:avLst>
              <a:gd name="adj1" fmla="val 54776"/>
            </a:avLst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943600" y="1843088"/>
            <a:ext cx="3048000" cy="976312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Diverted to Branch due to No TIN / Issuance on another day.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Staff no aware of TAT </a:t>
            </a:r>
          </a:p>
        </p:txBody>
      </p:sp>
      <p:cxnSp>
        <p:nvCxnSpPr>
          <p:cNvPr id="11" name="Straight Arrow Connector 10"/>
          <p:cNvCxnSpPr>
            <a:stCxn id="5" idx="1"/>
            <a:endCxn id="9" idx="3"/>
          </p:cNvCxnSpPr>
          <p:nvPr/>
        </p:nvCxnSpPr>
        <p:spPr>
          <a:xfrm flipH="1">
            <a:off x="4848425" y="1283494"/>
            <a:ext cx="409375" cy="1830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138164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Box 8"/>
          <p:cNvSpPr txBox="1">
            <a:spLocks noChangeArrowheads="1"/>
          </p:cNvSpPr>
          <p:nvPr/>
        </p:nvSpPr>
        <p:spPr bwMode="auto">
          <a:xfrm>
            <a:off x="1066800" y="147638"/>
            <a:ext cx="7239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Analyze – Root Cause Analysis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838200"/>
            <a:ext cx="9220200" cy="6019800"/>
            <a:chOff x="0" y="838200"/>
            <a:chExt cx="9220200" cy="6019800"/>
          </a:xfrm>
        </p:grpSpPr>
        <p:sp>
          <p:nvSpPr>
            <p:cNvPr id="5" name="TextBox 4"/>
            <p:cNvSpPr txBox="1"/>
            <p:nvPr/>
          </p:nvSpPr>
          <p:spPr>
            <a:xfrm>
              <a:off x="7848600" y="3436938"/>
              <a:ext cx="1371600" cy="8302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Complaint</a:t>
              </a:r>
            </a:p>
            <a:p>
              <a:pPr>
                <a:defRPr/>
              </a:pPr>
              <a:r>
                <a:rPr lang="en-US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High TAT</a:t>
              </a:r>
            </a:p>
            <a:p>
              <a:pPr>
                <a:defRPr/>
              </a:pPr>
              <a:r>
                <a:rPr lang="en-US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rPr>
                <a:t>High FTNR</a:t>
              </a:r>
            </a:p>
          </p:txBody>
        </p:sp>
        <p:pic>
          <p:nvPicPr>
            <p:cNvPr id="30726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838200"/>
              <a:ext cx="7924800" cy="60198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xmlns="" val="3942469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/>
        </p:nvGraphicFramePr>
        <p:xfrm>
          <a:off x="0" y="1066800"/>
          <a:ext cx="91440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794" name="Title 1"/>
          <p:cNvSpPr txBox="1">
            <a:spLocks/>
          </p:cNvSpPr>
          <p:nvPr/>
        </p:nvSpPr>
        <p:spPr bwMode="auto">
          <a:xfrm>
            <a:off x="1046163" y="133350"/>
            <a:ext cx="6802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Reasons of FTNR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475" y="6107113"/>
            <a:ext cx="890905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99"/>
                </a:solidFill>
              </a:rPr>
              <a:t>80% of FTNR reasons were attributed to Staff Discipline and demanded simpler process</a:t>
            </a:r>
            <a:endParaRPr lang="en-US" dirty="0">
              <a:solidFill>
                <a:srgbClr val="000099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6553200" cy="4191000"/>
          </a:xfrm>
          <a:prstGeom prst="round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435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56"/>
          <p:cNvSpPr txBox="1">
            <a:spLocks/>
          </p:cNvSpPr>
          <p:nvPr/>
        </p:nvSpPr>
        <p:spPr>
          <a:xfrm>
            <a:off x="1066800" y="76200"/>
            <a:ext cx="6629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Branch Category Vs TAT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7010400" y="762000"/>
            <a:ext cx="1828800" cy="1295400"/>
          </a:xfrm>
          <a:prstGeom prst="wedgeRoundRectCallout">
            <a:avLst>
              <a:gd name="adj1" fmla="val -126313"/>
              <a:gd name="adj2" fmla="val 354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P-Value suggested that location of branch has an impact on TAT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7162800" y="2514600"/>
            <a:ext cx="1828800" cy="1425575"/>
          </a:xfrm>
          <a:prstGeom prst="wedgeRoundRectCallout">
            <a:avLst>
              <a:gd name="adj1" fmla="val -204396"/>
              <a:gd name="adj2" fmla="val -399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schemeClr val="tx1"/>
                </a:solidFill>
              </a:rPr>
              <a:t>Only 4% of the variation in TAT could be explained due to location of branch. Hence it was not significant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475" y="5562600"/>
            <a:ext cx="890905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b="1" dirty="0" smtClean="0">
                <a:solidFill>
                  <a:srgbClr val="000099"/>
                </a:solidFill>
              </a:rPr>
              <a:t>Branch Category does not explain TAT variation.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" y="990600"/>
            <a:ext cx="8505635" cy="413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56"/>
          <p:cNvSpPr txBox="1">
            <a:spLocks/>
          </p:cNvSpPr>
          <p:nvPr/>
        </p:nvSpPr>
        <p:spPr>
          <a:xfrm>
            <a:off x="1066800" y="76200"/>
            <a:ext cx="6629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Branch Category does not Impact TAT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475" y="5562600"/>
            <a:ext cx="8909050" cy="338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b="1" dirty="0" smtClean="0">
                <a:solidFill>
                  <a:srgbClr val="000099"/>
                </a:solidFill>
              </a:rPr>
              <a:t>Need for Pin code related Turn Around Time</a:t>
            </a:r>
            <a:endParaRPr lang="en-US" sz="1600" b="1" dirty="0">
              <a:solidFill>
                <a:srgbClr val="00009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" y="5943600"/>
            <a:ext cx="8686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** Above is a sample picked from one specific branch in Delhi. Similar validation was done for different branches servicing multiple pin codes.</a:t>
            </a:r>
            <a:endParaRPr lang="en-US" sz="1100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6400800" cy="403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5899" y="1371600"/>
            <a:ext cx="3848101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/>
        </p:nvGraphicFramePr>
        <p:xfrm>
          <a:off x="304800" y="1066800"/>
          <a:ext cx="83058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818" name="Title 1"/>
          <p:cNvSpPr txBox="1">
            <a:spLocks/>
          </p:cNvSpPr>
          <p:nvPr/>
        </p:nvSpPr>
        <p:spPr bwMode="auto">
          <a:xfrm>
            <a:off x="1046163" y="133350"/>
            <a:ext cx="6802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 Delivery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475" y="5878513"/>
            <a:ext cx="890905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 smtClean="0">
                <a:solidFill>
                  <a:srgbClr val="000099"/>
                </a:solidFill>
              </a:rPr>
              <a:t>91% of Reasons are customer dependent and </a:t>
            </a:r>
            <a:r>
              <a:rPr lang="en-US" dirty="0">
                <a:solidFill>
                  <a:srgbClr val="000099"/>
                </a:solidFill>
              </a:rPr>
              <a:t>difficult to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19200"/>
            <a:ext cx="5105400" cy="3581400"/>
          </a:xfrm>
          <a:prstGeom prst="roundRect">
            <a:avLst/>
          </a:prstGeom>
          <a:solidFill>
            <a:srgbClr val="FFFF00">
              <a:alpha val="3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39098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 txBox="1">
            <a:spLocks/>
          </p:cNvSpPr>
          <p:nvPr/>
        </p:nvSpPr>
        <p:spPr bwMode="auto">
          <a:xfrm>
            <a:off x="1046163" y="133350"/>
            <a:ext cx="6802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FMEA: Prioritization &amp;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475" y="6257925"/>
            <a:ext cx="8909050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>
                <a:solidFill>
                  <a:schemeClr val="tx2"/>
                </a:solidFill>
              </a:rPr>
              <a:t>Risks in key process steps were evaluated.</a:t>
            </a:r>
          </a:p>
          <a:p>
            <a:pPr algn="ctr">
              <a:defRPr/>
            </a:pPr>
            <a:r>
              <a:rPr lang="en-US" sz="1400" dirty="0">
                <a:solidFill>
                  <a:schemeClr val="tx2"/>
                </a:solidFill>
              </a:rPr>
              <a:t>Process steps with high RPN were put through for solutioning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199" y="976903"/>
          <a:ext cx="8991601" cy="5042897"/>
        </p:xfrm>
        <a:graphic>
          <a:graphicData uri="http://schemas.openxmlformats.org/drawingml/2006/table">
            <a:tbl>
              <a:tblPr/>
              <a:tblGrid>
                <a:gridCol w="1328985"/>
                <a:gridCol w="1261816"/>
                <a:gridCol w="1676400"/>
                <a:gridCol w="426153"/>
                <a:gridCol w="2012247"/>
                <a:gridCol w="406266"/>
                <a:gridCol w="1089528"/>
                <a:gridCol w="395103"/>
                <a:gridCol w="395103"/>
              </a:tblGrid>
              <a:tr h="3603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Process Step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Potential Failure Mode(s)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Potential Effect(s</a:t>
                      </a:r>
                      <a:r>
                        <a:rPr lang="en-US" sz="1200" b="1" i="0" u="none" strike="noStrike" dirty="0" smtClean="0">
                          <a:latin typeface="Arial"/>
                        </a:rPr>
                        <a:t>)</a:t>
                      </a:r>
                      <a:endParaRPr lang="en-US" sz="1200" b="1" i="0" u="none" strike="noStrike" dirty="0">
                        <a:latin typeface="Arial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 </a:t>
                      </a:r>
                      <a:r>
                        <a:rPr lang="en-US" sz="1200" b="1" i="0" u="none" strike="noStrike" dirty="0" err="1">
                          <a:latin typeface="Arial"/>
                        </a:rPr>
                        <a:t>Sev</a:t>
                      </a:r>
                      <a:r>
                        <a:rPr lang="en-US" sz="1200" b="1" i="0" u="none" strike="noStrike" dirty="0">
                          <a:latin typeface="Arial"/>
                        </a:rPr>
                        <a:t> (S)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Potential Cause(s</a:t>
                      </a:r>
                      <a:r>
                        <a:rPr lang="en-US" sz="1200" b="1" i="0" u="none" strike="noStrike" dirty="0" smtClean="0">
                          <a:latin typeface="Arial"/>
                        </a:rPr>
                        <a:t>)</a:t>
                      </a:r>
                      <a:endParaRPr lang="en-US" sz="1200" b="1" i="0" u="none" strike="noStrike" dirty="0">
                        <a:latin typeface="Arial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 </a:t>
                      </a:r>
                      <a:r>
                        <a:rPr lang="en-US" sz="1200" b="1" i="0" u="none" strike="noStrike" dirty="0" err="1">
                          <a:latin typeface="Arial"/>
                        </a:rPr>
                        <a:t>Occ</a:t>
                      </a:r>
                      <a:r>
                        <a:rPr lang="en-US" sz="1200" b="1" i="0" u="none" strike="noStrike" dirty="0">
                          <a:latin typeface="Arial"/>
                        </a:rPr>
                        <a:t> (O)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Current </a:t>
                      </a:r>
                      <a:r>
                        <a:rPr lang="en-US" sz="1200" b="1" i="0" u="none" strike="noStrike" dirty="0" smtClean="0">
                          <a:latin typeface="Arial"/>
                        </a:rPr>
                        <a:t>\Controls</a:t>
                      </a:r>
                      <a:endParaRPr lang="en-US" sz="1200" b="1" i="0" u="none" strike="noStrike" dirty="0">
                        <a:latin typeface="Arial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 </a:t>
                      </a:r>
                      <a:r>
                        <a:rPr lang="en-US" sz="1200" b="1" i="0" u="none" strike="noStrike" dirty="0" err="1">
                          <a:latin typeface="Arial"/>
                        </a:rPr>
                        <a:t>Det</a:t>
                      </a:r>
                      <a:r>
                        <a:rPr lang="en-US" sz="1200" b="1" i="0" u="none" strike="noStrike" dirty="0">
                          <a:latin typeface="Arial"/>
                        </a:rPr>
                        <a:t> (D)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latin typeface="Arial"/>
                        </a:rPr>
                        <a:t> RPN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360329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latin typeface="Arial"/>
                        </a:rPr>
                        <a:t>Request from customer for </a:t>
                      </a:r>
                      <a:r>
                        <a:rPr lang="en-US" sz="1200" b="0" i="0" u="none" strike="noStrike" dirty="0" err="1">
                          <a:latin typeface="Arial"/>
                        </a:rPr>
                        <a:t>hotlisting</a:t>
                      </a:r>
                      <a:r>
                        <a:rPr lang="en-US" sz="1200" b="0" i="0" u="none" strike="noStrike" dirty="0">
                          <a:latin typeface="Arial"/>
                        </a:rPr>
                        <a:t> &amp; re-issuance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TIN not available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Customer re-directed to branch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Customer forgot TIN / Low TIN usage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None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4128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Re-issuance </a:t>
                      </a:r>
                      <a:r>
                        <a:rPr lang="en-US" sz="1200" b="0" i="0" u="none" strike="noStrike" dirty="0" smtClean="0">
                          <a:latin typeface="Arial"/>
                        </a:rPr>
                        <a:t>not </a:t>
                      </a:r>
                      <a:r>
                        <a:rPr lang="en-US" sz="1200" b="0" i="0" u="none" strike="noStrike" dirty="0">
                          <a:latin typeface="Arial"/>
                        </a:rPr>
                        <a:t>placed on same day before midnight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Customer re-directed to branch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Customer unable to locate TIN on same day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None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360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Customer unsure about wanting to re-issue card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None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480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latin typeface="Arial"/>
                        </a:rPr>
                        <a:t>Request from customer for card upgrade at Branch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Request not processed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Delay in card processing, Customer complaint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FTNR (incomplete/incorrect details given by customer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Cure FTNR by calling customer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480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latin typeface="Arial"/>
                        </a:rPr>
                        <a:t>Request processing by back office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Request not processed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Delay in card processing, Customer complaint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FTNR (incomplete form filled by branch)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Cure FTNR by calling Branch staff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4804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latin typeface="Arial"/>
                        </a:rPr>
                        <a:t>Card printing &amp; embossing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Request not processed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Delay in card processing, Customer complaint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Shortage of raw material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Inventory </a:t>
                      </a:r>
                      <a:r>
                        <a:rPr lang="en-US" sz="1200" b="0" i="0" u="none" strike="noStrike" dirty="0" err="1">
                          <a:latin typeface="Arial"/>
                        </a:rPr>
                        <a:t>maintanence</a:t>
                      </a:r>
                      <a:endParaRPr lang="en-US" sz="1200" b="0" i="0" u="none" strike="noStrike" dirty="0">
                        <a:latin typeface="Arial"/>
                      </a:endParaRP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65609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Card Dispatch</a:t>
                      </a:r>
                    </a:p>
                  </a:txBody>
                  <a:tcPr marL="5802" marR="5802" marT="580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Card not received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Customer without card/unable to transact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Return to origin due to door locked, incorrect address, address outside delivery area etc.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Card returned to origin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2402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Old card deactivated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Card returned to origin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3318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Complaints Logged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Card not received within committed TAT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Card returned to origin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  <a:tr h="360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Customer communicated incorrect TAT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latin typeface="Arial"/>
                        </a:rPr>
                        <a:t>Card returned to origin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latin typeface="Arial"/>
                        </a:rPr>
                        <a:t>576</a:t>
                      </a:r>
                    </a:p>
                  </a:txBody>
                  <a:tcPr marL="5802" marR="5802" marT="580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4B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0764121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4873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Key Xs Identified</a:t>
            </a: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24BFEC-1A96-4C7E-8A0E-9B5803EC8D3A}" type="slidenum">
              <a:rPr lang="en-US" smtClean="0">
                <a:latin typeface="Arial" pitchFamily="34" charset="0"/>
              </a:rPr>
              <a:pPr/>
              <a:t>26</a:t>
            </a:fld>
            <a:endParaRPr lang="en-US" smtClean="0">
              <a:latin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58193065"/>
              </p:ext>
            </p:extLst>
          </p:nvPr>
        </p:nvGraphicFramePr>
        <p:xfrm>
          <a:off x="381000" y="1066789"/>
          <a:ext cx="8458200" cy="518161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771346"/>
                <a:gridCol w="1686854"/>
              </a:tblGrid>
              <a:tr h="4140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/>
                        <a:t>Xs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b="1" u="none" strike="noStrike" dirty="0"/>
                        <a:t>Y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/>
                        <a:t>Card deactivated before new card received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/>
                        <a:t>Delivery Issues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Unable to reissue new card through Phone banking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Incorrect Turn around Time  communicated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/>
                        <a:t>Card Status not available or delayed </a:t>
                      </a:r>
                      <a:r>
                        <a:rPr lang="en-US" sz="1600" u="none" strike="noStrike" dirty="0" err="1"/>
                        <a:t>updation</a:t>
                      </a:r>
                      <a:r>
                        <a:rPr lang="en-US" sz="1600" u="none" strike="noStrike" dirty="0"/>
                        <a:t>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Customer card redirection request not tracked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Courier doesn’t capture correct return reason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Customer address not verified at request time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/>
                        <a:t>TAT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Customer complete address not captured in system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Customer not available/door locked, Address out of delivery area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Multiple touch points involved, lengthy process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/>
                        <a:t>TAT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Vendor performance not reviewed 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/>
                        <a:t>Vendor SLA not inline with desired E2E TAT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67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/>
                        <a:t>Staff incorrectly fills request form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/>
                        <a:t>FTNR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467" marR="6467" marT="6467" marB="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1D7314F-870A-4636-8947-918B7CF1EAB1}" type="slidenum">
              <a:rPr lang="en-US" smtClean="0">
                <a:latin typeface="Arial" pitchFamily="34" charset="0"/>
              </a:rPr>
              <a:pPr/>
              <a:t>27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35843" name="TextBox 1"/>
          <p:cNvSpPr txBox="1">
            <a:spLocks noChangeArrowheads="1"/>
          </p:cNvSpPr>
          <p:nvPr/>
        </p:nvSpPr>
        <p:spPr bwMode="auto">
          <a:xfrm>
            <a:off x="4267200" y="2590800"/>
            <a:ext cx="42116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/>
              <a:t>Improve &amp; Control</a:t>
            </a:r>
            <a:endParaRPr lang="en-US" sz="3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/>
              <a:t>Solution Prioritization</a:t>
            </a: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705600" y="6229350"/>
            <a:ext cx="2133600" cy="476250"/>
          </a:xfrm>
          <a:noFill/>
        </p:spPr>
        <p:txBody>
          <a:bodyPr/>
          <a:lstStyle/>
          <a:p>
            <a:fld id="{332039DD-7C13-4C5D-BD7B-509B5958BC64}" type="slidenum">
              <a:rPr lang="en-US" smtClean="0">
                <a:latin typeface="Arial" pitchFamily="34" charset="0"/>
              </a:rPr>
              <a:pPr/>
              <a:t>28</a:t>
            </a:fld>
            <a:endParaRPr lang="en-US" smtClean="0">
              <a:latin typeface="Arial" pitchFamily="34" charset="0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0" y="762000"/>
            <a:ext cx="8915400" cy="6096000"/>
            <a:chOff x="228598" y="1295400"/>
            <a:chExt cx="8335142" cy="5700157"/>
          </a:xfrm>
        </p:grpSpPr>
        <p:grpSp>
          <p:nvGrpSpPr>
            <p:cNvPr id="37893" name="Group 5"/>
            <p:cNvGrpSpPr>
              <a:grpSpLocks/>
            </p:cNvGrpSpPr>
            <p:nvPr/>
          </p:nvGrpSpPr>
          <p:grpSpPr bwMode="auto">
            <a:xfrm>
              <a:off x="228598" y="1295400"/>
              <a:ext cx="8335142" cy="5700157"/>
              <a:chOff x="228598" y="1295400"/>
              <a:chExt cx="8335142" cy="5700157"/>
            </a:xfrm>
          </p:grpSpPr>
          <p:grpSp>
            <p:nvGrpSpPr>
              <p:cNvPr id="37896" name="Group 4"/>
              <p:cNvGrpSpPr>
                <a:grpSpLocks/>
              </p:cNvGrpSpPr>
              <p:nvPr/>
            </p:nvGrpSpPr>
            <p:grpSpPr bwMode="auto">
              <a:xfrm>
                <a:off x="228598" y="1414047"/>
                <a:ext cx="8335142" cy="5581510"/>
                <a:chOff x="2479498" y="1597471"/>
                <a:chExt cx="4838690" cy="3979063"/>
              </a:xfrm>
            </p:grpSpPr>
            <p:sp>
              <p:nvSpPr>
                <p:cNvPr id="12" name="Rounded Rectangle 11"/>
                <p:cNvSpPr/>
                <p:nvPr/>
              </p:nvSpPr>
              <p:spPr bwMode="auto">
                <a:xfrm>
                  <a:off x="3040963" y="1621534"/>
                  <a:ext cx="1671777" cy="1645346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>
                      <a:solidFill>
                        <a:schemeClr val="tx1"/>
                      </a:solidFill>
                      <a:cs typeface="Arial" pitchFamily="34" charset="0"/>
                    </a:rPr>
                    <a:t>Address cleanup/</a:t>
                  </a:r>
                  <a:r>
                    <a:rPr lang="en-US" sz="1400" b="1" dirty="0" err="1">
                      <a:solidFill>
                        <a:schemeClr val="tx1"/>
                      </a:solidFill>
                      <a:cs typeface="Arial" pitchFamily="34" charset="0"/>
                    </a:rPr>
                    <a:t>Contactability</a:t>
                  </a:r>
                  <a:r>
                    <a:rPr lang="en-US" sz="1400" b="1" dirty="0">
                      <a:solidFill>
                        <a:schemeClr val="tx1"/>
                      </a:solidFill>
                      <a:cs typeface="Arial" pitchFamily="34" charset="0"/>
                    </a:rPr>
                    <a:t> Drive</a:t>
                  </a: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795452" y="1621535"/>
                  <a:ext cx="2522736" cy="1618600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rgbClr val="000000"/>
                      </a:solidFill>
                    </a:rPr>
                    <a:t>Re-engineer delivery mechanism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rgbClr val="000000"/>
                      </a:solidFill>
                    </a:rPr>
                    <a:t>Form Simplification/Upfront Form scrutiny</a:t>
                  </a:r>
                  <a:endParaRPr lang="en-US" sz="1400" b="1" dirty="0" smtClean="0">
                    <a:solidFill>
                      <a:schemeClr val="tx1"/>
                    </a:solidFill>
                    <a:cs typeface="Arial" pitchFamily="34" charset="0"/>
                  </a:endParaRP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Redefine E2E TAT </a:t>
                  </a:r>
                  <a:r>
                    <a:rPr lang="en-US" sz="1400" b="1" dirty="0">
                      <a:solidFill>
                        <a:schemeClr val="tx1"/>
                      </a:solidFill>
                      <a:cs typeface="Arial" pitchFamily="34" charset="0"/>
                    </a:rPr>
                    <a:t>&amp; Develop TAT </a:t>
                  </a: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Utility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Reissue thru phone channel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Old Card deactivation post delivery of new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Green PIN</a:t>
                  </a:r>
                  <a:endParaRPr lang="en-US" sz="1400" b="1" dirty="0" smtClean="0">
                    <a:solidFill>
                      <a:srgbClr val="000000"/>
                    </a:solidFill>
                  </a:endParaRP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endParaRPr lang="en-US" sz="1400" b="1" dirty="0">
                    <a:solidFill>
                      <a:schemeClr val="tx1"/>
                    </a:solidFill>
                    <a:cs typeface="Arial" pitchFamily="34" charset="0"/>
                  </a:endParaRPr>
                </a:p>
              </p:txBody>
            </p:sp>
            <p:sp>
              <p:nvSpPr>
                <p:cNvPr id="14" name="Rounded Rectangle 13"/>
                <p:cNvSpPr/>
                <p:nvPr/>
              </p:nvSpPr>
              <p:spPr bwMode="auto">
                <a:xfrm>
                  <a:off x="3054849" y="3333933"/>
                  <a:ext cx="1699247" cy="1655629"/>
                </a:xfrm>
                <a:prstGeom prst="roundRect">
                  <a:avLst/>
                </a:prstGeom>
                <a:solidFill>
                  <a:srgbClr val="FF00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>
                      <a:solidFill>
                        <a:schemeClr val="bg1"/>
                      </a:solidFill>
                      <a:cs typeface="Arial" pitchFamily="34" charset="0"/>
                    </a:rPr>
                    <a:t>Hire better vendor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>
                      <a:solidFill>
                        <a:schemeClr val="bg1"/>
                      </a:solidFill>
                      <a:cs typeface="Arial" pitchFamily="34" charset="0"/>
                    </a:rPr>
                    <a:t>Quality Check Process </a:t>
                  </a: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 bwMode="auto">
                <a:xfrm>
                  <a:off x="4836809" y="3313416"/>
                  <a:ext cx="2474428" cy="1676147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System enhancement - Easy browsing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System enhanced to capture redirection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Deferred SMS on Returned Cards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Courier SLA Revision</a:t>
                  </a:r>
                </a:p>
                <a:p>
                  <a:pPr marL="231775" indent="-231775" fontAlgn="auto">
                    <a:spcBef>
                      <a:spcPts val="0"/>
                    </a:spcBef>
                    <a:spcAft>
                      <a:spcPts val="0"/>
                    </a:spcAft>
                    <a:buFont typeface="Arial" pitchFamily="34" charset="0"/>
                    <a:buChar char="•"/>
                    <a:defRPr/>
                  </a:pPr>
                  <a:r>
                    <a:rPr lang="en-US" sz="1400" b="1" dirty="0" smtClean="0">
                      <a:solidFill>
                        <a:schemeClr val="tx1"/>
                      </a:solidFill>
                      <a:cs typeface="Arial" pitchFamily="34" charset="0"/>
                    </a:rPr>
                    <a:t>Training</a:t>
                  </a:r>
                </a:p>
              </p:txBody>
            </p:sp>
            <p:sp>
              <p:nvSpPr>
                <p:cNvPr id="37913" name="TextBox 10"/>
                <p:cNvSpPr txBox="1">
                  <a:spLocks noChangeArrowheads="1"/>
                </p:cNvSpPr>
                <p:nvPr/>
              </p:nvSpPr>
              <p:spPr bwMode="auto">
                <a:xfrm>
                  <a:off x="4409422" y="5313237"/>
                  <a:ext cx="1351167" cy="2632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b="1">
                      <a:cs typeface="Arial" pitchFamily="34" charset="0"/>
                    </a:rPr>
                    <a:t>Control</a:t>
                  </a:r>
                  <a:endParaRPr lang="en-US" sz="1000" b="1">
                    <a:cs typeface="Arial" pitchFamily="34" charset="0"/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 bwMode="auto">
                <a:xfrm>
                  <a:off x="2479498" y="2816641"/>
                  <a:ext cx="310888" cy="1086461"/>
                </a:xfrm>
                <a:prstGeom prst="rect">
                  <a:avLst/>
                </a:prstGeom>
                <a:noFill/>
              </p:spPr>
              <p:txBody>
                <a:bodyPr vert="vert270"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b="1" dirty="0">
                      <a:latin typeface="Arial" charset="0"/>
                      <a:cs typeface="Arial" pitchFamily="34" charset="0"/>
                    </a:rPr>
                    <a:t>Impact</a:t>
                  </a:r>
                </a:p>
              </p:txBody>
            </p:sp>
            <p:sp>
              <p:nvSpPr>
                <p:cNvPr id="37915" name="TextBox 58"/>
                <p:cNvSpPr txBox="1">
                  <a:spLocks noChangeArrowheads="1"/>
                </p:cNvSpPr>
                <p:nvPr/>
              </p:nvSpPr>
              <p:spPr bwMode="auto">
                <a:xfrm>
                  <a:off x="6515003" y="5131996"/>
                  <a:ext cx="671092" cy="2413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 b="1">
                      <a:solidFill>
                        <a:srgbClr val="0000CC"/>
                      </a:solidFill>
                      <a:cs typeface="Arial" pitchFamily="34" charset="0"/>
                    </a:rPr>
                    <a:t>High</a:t>
                  </a:r>
                </a:p>
              </p:txBody>
            </p:sp>
            <p:sp>
              <p:nvSpPr>
                <p:cNvPr id="37916" name="TextBox 59"/>
                <p:cNvSpPr txBox="1">
                  <a:spLocks noChangeArrowheads="1"/>
                </p:cNvSpPr>
                <p:nvPr/>
              </p:nvSpPr>
              <p:spPr bwMode="auto">
                <a:xfrm>
                  <a:off x="2683604" y="5019823"/>
                  <a:ext cx="749849" cy="2413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 b="1">
                      <a:solidFill>
                        <a:srgbClr val="FF0000"/>
                      </a:solidFill>
                      <a:cs typeface="Arial" pitchFamily="34" charset="0"/>
                    </a:rPr>
                    <a:t>Low</a:t>
                  </a:r>
                </a:p>
              </p:txBody>
            </p:sp>
            <p:sp>
              <p:nvSpPr>
                <p:cNvPr id="37917" name="TextBox 38"/>
                <p:cNvSpPr txBox="1">
                  <a:spLocks noChangeArrowheads="1"/>
                </p:cNvSpPr>
                <p:nvPr/>
              </p:nvSpPr>
              <p:spPr bwMode="auto">
                <a:xfrm>
                  <a:off x="2622289" y="1597471"/>
                  <a:ext cx="398118" cy="2413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600" b="1">
                      <a:solidFill>
                        <a:srgbClr val="0000CC"/>
                      </a:solidFill>
                      <a:cs typeface="Arial" pitchFamily="34" charset="0"/>
                    </a:rPr>
                    <a:t>High</a:t>
                  </a:r>
                </a:p>
              </p:txBody>
            </p:sp>
          </p:grpSp>
          <p:sp>
            <p:nvSpPr>
              <p:cNvPr id="8" name="Rounded Rectangle 7"/>
              <p:cNvSpPr/>
              <p:nvPr/>
            </p:nvSpPr>
            <p:spPr>
              <a:xfrm>
                <a:off x="3078219" y="1295400"/>
                <a:ext cx="1120555" cy="399308"/>
              </a:xfrm>
              <a:prstGeom prst="roundRect">
                <a:avLst/>
              </a:prstGeom>
              <a:gradFill>
                <a:gsLst>
                  <a:gs pos="96000">
                    <a:srgbClr val="FFBE86"/>
                  </a:gs>
                  <a:gs pos="100000">
                    <a:schemeClr val="accent6">
                      <a:tint val="37000"/>
                      <a:satMod val="300000"/>
                    </a:schemeClr>
                  </a:gs>
                  <a:gs pos="100000">
                    <a:srgbClr val="ECE3E9"/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solidFill>
                      <a:schemeClr val="tx1"/>
                    </a:solidFill>
                  </a:rPr>
                  <a:t>Challenge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3363181" y="5998030"/>
                <a:ext cx="957295" cy="381495"/>
              </a:xfrm>
              <a:prstGeom prst="roundRect">
                <a:avLst/>
              </a:prstGeom>
              <a:gradFill>
                <a:gsLst>
                  <a:gs pos="96000">
                    <a:srgbClr val="FFBE86"/>
                  </a:gs>
                  <a:gs pos="100000">
                    <a:schemeClr val="accent6">
                      <a:tint val="37000"/>
                      <a:satMod val="300000"/>
                    </a:schemeClr>
                  </a:gs>
                  <a:gs pos="100000">
                    <a:srgbClr val="ECE3E9"/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solidFill>
                      <a:schemeClr val="tx1"/>
                    </a:solidFill>
                  </a:rPr>
                  <a:t>Kill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239853" y="1295400"/>
                <a:ext cx="1218510" cy="380010"/>
              </a:xfrm>
              <a:prstGeom prst="roundRect">
                <a:avLst/>
              </a:prstGeom>
              <a:gradFill>
                <a:gsLst>
                  <a:gs pos="96000">
                    <a:srgbClr val="FFBE86"/>
                  </a:gs>
                  <a:gs pos="100000">
                    <a:schemeClr val="accent6">
                      <a:tint val="37000"/>
                      <a:satMod val="300000"/>
                    </a:schemeClr>
                  </a:gs>
                  <a:gs pos="100000">
                    <a:srgbClr val="ECE3E9"/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solidFill>
                      <a:schemeClr val="tx1"/>
                    </a:solidFill>
                  </a:rPr>
                  <a:t>Implement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282895" y="5943107"/>
                <a:ext cx="1099775" cy="380010"/>
              </a:xfrm>
              <a:prstGeom prst="roundRect">
                <a:avLst/>
              </a:prstGeom>
              <a:gradFill>
                <a:gsLst>
                  <a:gs pos="96000">
                    <a:srgbClr val="FFBE86"/>
                  </a:gs>
                  <a:gs pos="100000">
                    <a:schemeClr val="accent6">
                      <a:tint val="37000"/>
                      <a:satMod val="300000"/>
                    </a:schemeClr>
                  </a:gs>
                  <a:gs pos="100000">
                    <a:srgbClr val="ECE3E9"/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solidFill>
                      <a:schemeClr val="tx1"/>
                    </a:solidFill>
                  </a:rPr>
                  <a:t>Possible</a:t>
                </a:r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-1409540" y="4000748"/>
              <a:ext cx="4343401" cy="14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1524286" y="6495309"/>
              <a:ext cx="5715568" cy="14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41D308-A288-4287-B548-BE11711CE55B}" type="slidenum">
              <a:rPr lang="en-US" smtClean="0"/>
              <a:pPr eaLnBrk="1" hangingPunct="1"/>
              <a:t>29</a:t>
            </a:fld>
            <a:endParaRPr lang="en-US" dirty="0" smtClean="0"/>
          </a:p>
        </p:txBody>
      </p:sp>
      <p:pic>
        <p:nvPicPr>
          <p:cNvPr id="512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200" y="762000"/>
            <a:ext cx="5059363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Box 7"/>
          <p:cNvSpPr txBox="1">
            <a:spLocks noChangeArrowheads="1"/>
          </p:cNvSpPr>
          <p:nvPr/>
        </p:nvSpPr>
        <p:spPr bwMode="auto">
          <a:xfrm>
            <a:off x="3505200" y="2282825"/>
            <a:ext cx="850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Char char="q"/>
            </a:pPr>
            <a:r>
              <a:rPr lang="en-US" sz="1200" b="1"/>
              <a:t>Delhi</a:t>
            </a:r>
          </a:p>
        </p:txBody>
      </p:sp>
      <p:sp>
        <p:nvSpPr>
          <p:cNvPr id="5125" name="TextBox 8"/>
          <p:cNvSpPr txBox="1">
            <a:spLocks noChangeArrowheads="1"/>
          </p:cNvSpPr>
          <p:nvPr/>
        </p:nvSpPr>
        <p:spPr bwMode="auto">
          <a:xfrm>
            <a:off x="2726622" y="3505200"/>
            <a:ext cx="7906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/>
            <a:r>
              <a:rPr lang="en-US" sz="1200" b="1" dirty="0" smtClean="0"/>
              <a:t>Mumbai</a:t>
            </a:r>
          </a:p>
          <a:p>
            <a:pPr marL="171450" indent="-171450" algn="ctr" eaLnBrk="1" hangingPunct="1">
              <a:buFont typeface="Wingdings" pitchFamily="2" charset="2"/>
              <a:buChar char="q"/>
            </a:pPr>
            <a:r>
              <a:rPr lang="en-US" sz="1200" b="1" dirty="0"/>
              <a:t> </a:t>
            </a:r>
            <a:r>
              <a:rPr lang="en-US" sz="1200" b="1" dirty="0" smtClean="0"/>
              <a:t>         </a:t>
            </a:r>
          </a:p>
        </p:txBody>
      </p:sp>
      <p:sp>
        <p:nvSpPr>
          <p:cNvPr id="5126" name="TextBox 9"/>
          <p:cNvSpPr txBox="1">
            <a:spLocks noChangeArrowheads="1"/>
          </p:cNvSpPr>
          <p:nvPr/>
        </p:nvSpPr>
        <p:spPr bwMode="auto">
          <a:xfrm>
            <a:off x="3930650" y="4648200"/>
            <a:ext cx="10807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Char char="q"/>
            </a:pPr>
            <a:r>
              <a:rPr lang="en-US" sz="1200" b="1" dirty="0" smtClean="0"/>
              <a:t>Chennai</a:t>
            </a:r>
          </a:p>
        </p:txBody>
      </p:sp>
      <p:cxnSp>
        <p:nvCxnSpPr>
          <p:cNvPr id="15" name="Straight Connector 14"/>
          <p:cNvCxnSpPr>
            <a:stCxn id="5124" idx="1"/>
          </p:cNvCxnSpPr>
          <p:nvPr/>
        </p:nvCxnSpPr>
        <p:spPr>
          <a:xfrm rot="10800000" flipH="1" flipV="1">
            <a:off x="3505200" y="2420938"/>
            <a:ext cx="274638" cy="1265237"/>
          </a:xfrm>
          <a:prstGeom prst="curvedConnector4">
            <a:avLst>
              <a:gd name="adj1" fmla="val -83588"/>
              <a:gd name="adj2" fmla="val 55479"/>
            </a:avLst>
          </a:prstGeom>
          <a:ln w="28575"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4"/>
          <p:cNvCxnSpPr>
            <a:endCxn id="5126" idx="1"/>
          </p:cNvCxnSpPr>
          <p:nvPr/>
        </p:nvCxnSpPr>
        <p:spPr>
          <a:xfrm>
            <a:off x="2811463" y="3902075"/>
            <a:ext cx="1119187" cy="88462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/>
              <a:t>Bringing Customer Closer</a:t>
            </a:r>
          </a:p>
        </p:txBody>
      </p:sp>
      <p:cxnSp>
        <p:nvCxnSpPr>
          <p:cNvPr id="48" name="Straight Connector 14"/>
          <p:cNvCxnSpPr/>
          <p:nvPr/>
        </p:nvCxnSpPr>
        <p:spPr>
          <a:xfrm rot="10800000" flipV="1">
            <a:off x="2960689" y="3686175"/>
            <a:ext cx="681037" cy="13811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3" name="TextBox 50"/>
          <p:cNvSpPr txBox="1">
            <a:spLocks noChangeArrowheads="1"/>
          </p:cNvSpPr>
          <p:nvPr/>
        </p:nvSpPr>
        <p:spPr bwMode="auto">
          <a:xfrm>
            <a:off x="3657600" y="3533775"/>
            <a:ext cx="1414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Char char="q"/>
            </a:pPr>
            <a:r>
              <a:rPr lang="en-US" sz="1200" b="1"/>
              <a:t>Aurangabad</a:t>
            </a:r>
          </a:p>
        </p:txBody>
      </p:sp>
      <p:pic>
        <p:nvPicPr>
          <p:cNvPr id="53" name="Picture 52" descr="customer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97619" y="1752600"/>
            <a:ext cx="567586" cy="567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392113" y="1468438"/>
            <a:ext cx="7727950" cy="4017962"/>
            <a:chOff x="380999" y="1696720"/>
            <a:chExt cx="7728697" cy="4018280"/>
          </a:xfrm>
        </p:grpSpPr>
        <p:sp>
          <p:nvSpPr>
            <p:cNvPr id="5157" name="TextBox 55"/>
            <p:cNvSpPr txBox="1">
              <a:spLocks noChangeArrowheads="1"/>
            </p:cNvSpPr>
            <p:nvPr/>
          </p:nvSpPr>
          <p:spPr bwMode="auto">
            <a:xfrm>
              <a:off x="6964831" y="3367494"/>
              <a:ext cx="1144865" cy="52322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 b="1" dirty="0">
                  <a:solidFill>
                    <a:srgbClr val="FFFF00"/>
                  </a:solidFill>
                </a:rPr>
                <a:t>1 Day</a:t>
              </a:r>
            </a:p>
          </p:txBody>
        </p:sp>
        <p:sp>
          <p:nvSpPr>
            <p:cNvPr id="54" name="Curved Right Arrow 53"/>
            <p:cNvSpPr/>
            <p:nvPr/>
          </p:nvSpPr>
          <p:spPr>
            <a:xfrm>
              <a:off x="380999" y="1980904"/>
              <a:ext cx="2354490" cy="3734096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Curved Right Arrow 54"/>
            <p:cNvSpPr/>
            <p:nvPr/>
          </p:nvSpPr>
          <p:spPr>
            <a:xfrm flipH="1" flipV="1">
              <a:off x="5124492" y="1696720"/>
              <a:ext cx="1769061" cy="386586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381000" y="1447799"/>
            <a:ext cx="8458200" cy="4017964"/>
            <a:chOff x="380999" y="1696717"/>
            <a:chExt cx="7690225" cy="4018283"/>
          </a:xfrm>
        </p:grpSpPr>
        <p:sp>
          <p:nvSpPr>
            <p:cNvPr id="5154" name="TextBox 62"/>
            <p:cNvSpPr txBox="1">
              <a:spLocks noChangeArrowheads="1"/>
            </p:cNvSpPr>
            <p:nvPr/>
          </p:nvSpPr>
          <p:spPr bwMode="auto">
            <a:xfrm>
              <a:off x="6964831" y="3367494"/>
              <a:ext cx="1106393" cy="95410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800" b="1" dirty="0">
                  <a:solidFill>
                    <a:srgbClr val="FFFF00"/>
                  </a:solidFill>
                </a:rPr>
                <a:t>10-12</a:t>
              </a:r>
            </a:p>
            <a:p>
              <a:pPr algn="ctr" eaLnBrk="1" hangingPunct="1"/>
              <a:r>
                <a:rPr lang="en-US" sz="2800" b="1" dirty="0">
                  <a:solidFill>
                    <a:srgbClr val="FFFF00"/>
                  </a:solidFill>
                </a:rPr>
                <a:t>Days</a:t>
              </a:r>
            </a:p>
          </p:txBody>
        </p:sp>
        <p:sp>
          <p:nvSpPr>
            <p:cNvPr id="64" name="Curved Right Arrow 63"/>
            <p:cNvSpPr/>
            <p:nvPr/>
          </p:nvSpPr>
          <p:spPr>
            <a:xfrm>
              <a:off x="380999" y="1980904"/>
              <a:ext cx="2354122" cy="3734096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Curved Right Arrow 64"/>
            <p:cNvSpPr/>
            <p:nvPr/>
          </p:nvSpPr>
          <p:spPr>
            <a:xfrm flipH="1" flipV="1">
              <a:off x="4703487" y="1696717"/>
              <a:ext cx="2189955" cy="386587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 5"/>
          <p:cNvSpPr/>
          <p:nvPr/>
        </p:nvSpPr>
        <p:spPr>
          <a:xfrm>
            <a:off x="3760788" y="2290763"/>
            <a:ext cx="781050" cy="2306637"/>
          </a:xfrm>
          <a:custGeom>
            <a:avLst/>
            <a:gdLst>
              <a:gd name="connsiteX0" fmla="*/ 341194 w 341194"/>
              <a:gd name="connsiteY0" fmla="*/ 2306472 h 2306472"/>
              <a:gd name="connsiteX1" fmla="*/ 0 w 341194"/>
              <a:gd name="connsiteY1" fmla="*/ 0 h 2306472"/>
              <a:gd name="connsiteX0" fmla="*/ 341194 w 1027507"/>
              <a:gd name="connsiteY0" fmla="*/ 2306472 h 2306472"/>
              <a:gd name="connsiteX1" fmla="*/ 1024528 w 1027507"/>
              <a:gd name="connsiteY1" fmla="*/ 1156510 h 2306472"/>
              <a:gd name="connsiteX2" fmla="*/ 0 w 1027507"/>
              <a:gd name="connsiteY2" fmla="*/ 0 h 2306472"/>
              <a:gd name="connsiteX0" fmla="*/ 341194 w 1027507"/>
              <a:gd name="connsiteY0" fmla="*/ 2306472 h 2306472"/>
              <a:gd name="connsiteX1" fmla="*/ 1024528 w 1027507"/>
              <a:gd name="connsiteY1" fmla="*/ 1156510 h 2306472"/>
              <a:gd name="connsiteX2" fmla="*/ 0 w 1027507"/>
              <a:gd name="connsiteY2" fmla="*/ 0 h 2306472"/>
              <a:gd name="connsiteX0" fmla="*/ 341194 w 780346"/>
              <a:gd name="connsiteY0" fmla="*/ 2306472 h 2306472"/>
              <a:gd name="connsiteX1" fmla="*/ 776107 w 780346"/>
              <a:gd name="connsiteY1" fmla="*/ 1050799 h 2306472"/>
              <a:gd name="connsiteX2" fmla="*/ 0 w 780346"/>
              <a:gd name="connsiteY2" fmla="*/ 0 h 2306472"/>
              <a:gd name="connsiteX0" fmla="*/ 341194 w 780346"/>
              <a:gd name="connsiteY0" fmla="*/ 2306472 h 2306472"/>
              <a:gd name="connsiteX1" fmla="*/ 776107 w 780346"/>
              <a:gd name="connsiteY1" fmla="*/ 1050799 h 2306472"/>
              <a:gd name="connsiteX2" fmla="*/ 268695 w 780346"/>
              <a:gd name="connsiteY2" fmla="*/ 199826 h 2306472"/>
              <a:gd name="connsiteX3" fmla="*/ 0 w 780346"/>
              <a:gd name="connsiteY3" fmla="*/ 0 h 230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346" h="2306472">
                <a:moveTo>
                  <a:pt x="341194" y="2306472"/>
                </a:moveTo>
                <a:cubicBezTo>
                  <a:pt x="283552" y="1910818"/>
                  <a:pt x="833749" y="1446453"/>
                  <a:pt x="776107" y="1050799"/>
                </a:cubicBezTo>
                <a:cubicBezTo>
                  <a:pt x="758738" y="708501"/>
                  <a:pt x="398046" y="374959"/>
                  <a:pt x="268695" y="199826"/>
                </a:cubicBezTo>
                <a:cubicBezTo>
                  <a:pt x="139344" y="24693"/>
                  <a:pt x="39497" y="42113"/>
                  <a:pt x="0" y="0"/>
                </a:cubicBezTo>
              </a:path>
            </a:pathLst>
          </a:custGeom>
          <a:ln w="28575"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953000"/>
            <a:ext cx="1020348" cy="871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601461"/>
            <a:ext cx="957595" cy="818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30650" y="3163888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0425" y="2757488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35525" y="3238500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49675" y="2560638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60688" y="2974975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7088" y="2568575"/>
            <a:ext cx="74136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90825" y="4227513"/>
            <a:ext cx="7413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0463" y="4229100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6375" y="5054600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90725" y="3044825"/>
            <a:ext cx="7413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35200" y="2484438"/>
            <a:ext cx="7413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59075" y="1758950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79763" y="1222375"/>
            <a:ext cx="7397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990600" y="5748338"/>
            <a:ext cx="6705600" cy="804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26" name="Picture 2" descr="http://2.bp.blogspot.com/_AcBUSVxs82w/S03zpdZVxfI/AAAAAAAAYi0/KhWKIVvyH7g/s400/HDFC_Bank_Logo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51473"/>
            <a:ext cx="277915" cy="35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3" descr="http://www.hdfcbank.com/assets/images/easyshop_gold_debit_card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2692" y="4826000"/>
            <a:ext cx="67396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5411579" y="4401363"/>
            <a:ext cx="3732421" cy="2474983"/>
            <a:chOff x="5425218" y="673858"/>
            <a:chExt cx="3732421" cy="2474983"/>
          </a:xfrm>
        </p:grpSpPr>
        <p:pic>
          <p:nvPicPr>
            <p:cNvPr id="66" name="Picture 49" descr="hand1.jpg"/>
            <p:cNvPicPr>
              <a:picLocks noChangeAspect="1"/>
            </p:cNvPicPr>
            <p:nvPr/>
          </p:nvPicPr>
          <p:blipFill>
            <a:blip r:embed="rId9"/>
            <a:srcRect b="7191"/>
            <a:stretch>
              <a:fillRect/>
            </a:stretch>
          </p:blipFill>
          <p:spPr bwMode="auto">
            <a:xfrm>
              <a:off x="5425218" y="673858"/>
              <a:ext cx="3732421" cy="247498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3" name="Group 2"/>
            <p:cNvGrpSpPr/>
            <p:nvPr/>
          </p:nvGrpSpPr>
          <p:grpSpPr>
            <a:xfrm>
              <a:off x="6109639" y="762000"/>
              <a:ext cx="2553907" cy="1929128"/>
              <a:chOff x="6109639" y="762000"/>
              <a:chExt cx="2553907" cy="1929128"/>
            </a:xfrm>
          </p:grpSpPr>
          <p:pic>
            <p:nvPicPr>
              <p:cNvPr id="63" name="Picture 13" descr="http://www.hdfcbank.com/assets/images/easyshop_gold_debit_card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9639" y="762000"/>
                <a:ext cx="2553907" cy="1929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TextBox 1"/>
              <p:cNvSpPr txBox="1"/>
              <p:nvPr/>
            </p:nvSpPr>
            <p:spPr>
              <a:xfrm>
                <a:off x="6209001" y="1066800"/>
                <a:ext cx="2339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INSTA DEBIT CARD</a:t>
                </a:r>
                <a:endParaRPr lang="en-US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7527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953E-6 L 0.0224 0.1889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1" y="94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2 0.01387 L 0.06285 -0.09667 C 0.07917 -0.12073 0.08889 -0.1575 0.09201 -0.19704 C 0.09549 -0.2426 0.09114 -0.27822 0.07969 -0.3069 L 0.02552 -0.43641 " pathEditMode="relative" rAng="-5048639" ptsTypes="FffFF">
                                      <p:cBhvr>
                                        <p:cTn id="4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5" y="-219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9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3419475" y="762000"/>
            <a:ext cx="2447925" cy="2886075"/>
          </a:xfrm>
          <a:prstGeom prst="rect">
            <a:avLst/>
          </a:prstGeom>
          <a:noFill/>
          <a:ln w="38100" algn="ctr">
            <a:noFill/>
            <a:prstDash val="dash"/>
            <a:miter lim="800000"/>
            <a:headEnd/>
            <a:tailEnd/>
          </a:ln>
        </p:spPr>
      </p:pic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76200"/>
            <a:ext cx="7543800" cy="5635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000" b="1" kern="1200" dirty="0"/>
              <a:t>FTNR Reduction: Form Simplification &amp;</a:t>
            </a:r>
            <a:br>
              <a:rPr lang="en-US" sz="2000" b="1" kern="1200" dirty="0"/>
            </a:br>
            <a:r>
              <a:rPr lang="en-US" sz="2000" b="1" kern="1200" dirty="0"/>
              <a:t>Upfront Scrutiny</a:t>
            </a:r>
          </a:p>
        </p:txBody>
      </p:sp>
      <p:sp>
        <p:nvSpPr>
          <p:cNvPr id="6149" name="Oval 13"/>
          <p:cNvSpPr>
            <a:spLocks noChangeArrowheads="1"/>
          </p:cNvSpPr>
          <p:nvPr/>
        </p:nvSpPr>
        <p:spPr bwMode="ltGray">
          <a:xfrm>
            <a:off x="3352800" y="990600"/>
            <a:ext cx="762000" cy="9906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>
            <a:spAutoFit/>
          </a:bodyPr>
          <a:lstStyle/>
          <a:p>
            <a:endParaRPr lang="en-US"/>
          </a:p>
        </p:txBody>
      </p:sp>
      <p:cxnSp>
        <p:nvCxnSpPr>
          <p:cNvPr id="6150" name="AutoShape 15"/>
          <p:cNvCxnSpPr>
            <a:cxnSpLocks noChangeShapeType="1"/>
            <a:stCxn id="6149" idx="2"/>
          </p:cNvCxnSpPr>
          <p:nvPr/>
        </p:nvCxnSpPr>
        <p:spPr bwMode="ltGray">
          <a:xfrm flipH="1">
            <a:off x="2819400" y="1485900"/>
            <a:ext cx="533400" cy="609600"/>
          </a:xfrm>
          <a:prstGeom prst="straightConnector1">
            <a:avLst/>
          </a:prstGeom>
          <a:noFill/>
          <a:ln w="38100">
            <a:noFill/>
            <a:prstDash val="dash"/>
            <a:round/>
            <a:headEnd/>
            <a:tailEnd type="triangle" w="med" len="med"/>
          </a:ln>
          <a:effectLst>
            <a:prstShdw prst="shdw17" dist="17961" dir="2700000">
              <a:srgbClr val="999999"/>
            </a:prstShdw>
          </a:effectLst>
        </p:spPr>
      </p:cxnSp>
      <p:sp>
        <p:nvSpPr>
          <p:cNvPr id="6151" name="Oval 13"/>
          <p:cNvSpPr>
            <a:spLocks noChangeArrowheads="1"/>
          </p:cNvSpPr>
          <p:nvPr/>
        </p:nvSpPr>
        <p:spPr bwMode="ltGray">
          <a:xfrm>
            <a:off x="5105400" y="914400"/>
            <a:ext cx="762000" cy="9906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615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ltGray">
          <a:xfrm>
            <a:off x="6400800" y="2743200"/>
            <a:ext cx="2438400" cy="2981325"/>
          </a:xfrm>
          <a:prstGeom prst="rect">
            <a:avLst/>
          </a:prstGeom>
          <a:noFill/>
          <a:ln w="38100" algn="ctr">
            <a:noFill/>
            <a:prstDash val="dash"/>
            <a:miter lim="800000"/>
            <a:headEnd/>
            <a:tailEnd/>
          </a:ln>
        </p:spPr>
      </p:pic>
      <p:pic>
        <p:nvPicPr>
          <p:cNvPr id="615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ltGray">
          <a:xfrm>
            <a:off x="457200" y="2819400"/>
            <a:ext cx="2600325" cy="2933700"/>
          </a:xfrm>
          <a:prstGeom prst="rect">
            <a:avLst/>
          </a:prstGeom>
          <a:noFill/>
          <a:ln w="38100" algn="ctr">
            <a:noFill/>
            <a:prstDash val="dash"/>
            <a:miter lim="800000"/>
            <a:headEnd/>
            <a:tailEnd/>
          </a:ln>
        </p:spPr>
      </p:pic>
      <p:sp>
        <p:nvSpPr>
          <p:cNvPr id="18" name="Right Arrow 17"/>
          <p:cNvSpPr/>
          <p:nvPr/>
        </p:nvSpPr>
        <p:spPr>
          <a:xfrm rot="8090671">
            <a:off x="2337594" y="1729582"/>
            <a:ext cx="808037" cy="48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 rot="2500717">
            <a:off x="6067972" y="1722438"/>
            <a:ext cx="808037" cy="482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157" name="TextBox 19"/>
          <p:cNvSpPr txBox="1">
            <a:spLocks noChangeArrowheads="1"/>
          </p:cNvSpPr>
          <p:nvPr/>
        </p:nvSpPr>
        <p:spPr bwMode="auto">
          <a:xfrm>
            <a:off x="457200" y="2276475"/>
            <a:ext cx="24545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Level </a:t>
            </a:r>
            <a:r>
              <a:rPr lang="en-US" b="1" dirty="0" smtClean="0"/>
              <a:t>1: Fast Moving</a:t>
            </a:r>
            <a:endParaRPr lang="en-US" b="1" dirty="0"/>
          </a:p>
        </p:txBody>
      </p:sp>
      <p:sp>
        <p:nvSpPr>
          <p:cNvPr id="6158" name="TextBox 20"/>
          <p:cNvSpPr txBox="1">
            <a:spLocks noChangeArrowheads="1"/>
          </p:cNvSpPr>
          <p:nvPr/>
        </p:nvSpPr>
        <p:spPr bwMode="auto">
          <a:xfrm>
            <a:off x="6477000" y="2276475"/>
            <a:ext cx="258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/>
              <a:t>Level </a:t>
            </a:r>
            <a:r>
              <a:rPr lang="en-US" b="1" dirty="0" smtClean="0"/>
              <a:t>2 : Slow Moving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6096000"/>
            <a:ext cx="859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Form Simplification:</a:t>
            </a:r>
            <a:r>
              <a:rPr lang="en-US" dirty="0" smtClean="0"/>
              <a:t> Annotation reduced by 70% and data fields reduced by 30%</a:t>
            </a:r>
          </a:p>
        </p:txBody>
      </p:sp>
      <p:sp>
        <p:nvSpPr>
          <p:cNvPr id="16" name="Left-Right Arrow 15"/>
          <p:cNvSpPr/>
          <p:nvPr/>
        </p:nvSpPr>
        <p:spPr>
          <a:xfrm>
            <a:off x="3048000" y="3962400"/>
            <a:ext cx="3429000" cy="1143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Two Level Welcome Desk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-457200" y="831850"/>
            <a:ext cx="5791200" cy="3587750"/>
            <a:chOff x="-457200" y="843941"/>
            <a:chExt cx="5510213" cy="2971800"/>
          </a:xfrm>
        </p:grpSpPr>
        <p:pic>
          <p:nvPicPr>
            <p:cNvPr id="39966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457200" y="843941"/>
              <a:ext cx="5510213" cy="297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 bwMode="auto">
            <a:xfrm>
              <a:off x="457200" y="1295400"/>
              <a:ext cx="970673" cy="381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/>
          </p:spPr>
        </p:pic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4">
              <a:extLst/>
            </a:blip>
            <a:srcRect/>
            <a:stretch>
              <a:fillRect/>
            </a:stretch>
          </p:blipFill>
          <p:spPr bwMode="auto">
            <a:xfrm>
              <a:off x="1848477" y="1066800"/>
              <a:ext cx="2116994" cy="38465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/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1790387" y="1227908"/>
              <a:ext cx="0" cy="17126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8"/>
          <p:cNvSpPr txBox="1">
            <a:spLocks noChangeArrowheads="1"/>
          </p:cNvSpPr>
          <p:nvPr/>
        </p:nvSpPr>
        <p:spPr bwMode="auto">
          <a:xfrm>
            <a:off x="762000" y="152400"/>
            <a:ext cx="71929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Enabling Reissuance of </a:t>
            </a:r>
            <a:r>
              <a:rPr lang="en-US" sz="2000" dirty="0" err="1"/>
              <a:t>Hotlisted</a:t>
            </a:r>
            <a:r>
              <a:rPr lang="en-US" sz="2000" dirty="0"/>
              <a:t> Card: </a:t>
            </a:r>
            <a:r>
              <a:rPr lang="en-US" sz="2000" dirty="0" err="1"/>
              <a:t>Phonebanking</a:t>
            </a:r>
            <a:endParaRPr lang="en-US" sz="2000" dirty="0"/>
          </a:p>
        </p:txBody>
      </p:sp>
      <p:sp>
        <p:nvSpPr>
          <p:cNvPr id="7" name="Vertical Scroll 6"/>
          <p:cNvSpPr/>
          <p:nvPr/>
        </p:nvSpPr>
        <p:spPr>
          <a:xfrm>
            <a:off x="0" y="4572000"/>
            <a:ext cx="4248150" cy="1676400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defRPr/>
            </a:pPr>
            <a:endParaRPr lang="en-US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dirty="0" smtClean="0">
                <a:solidFill>
                  <a:schemeClr val="tx1"/>
                </a:solidFill>
                <a:cs typeface="Arial" pitchFamily="34" charset="0"/>
              </a:rPr>
              <a:t>Alternate authentication</a:t>
            </a:r>
            <a:endParaRPr lang="en-US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endParaRPr lang="en-US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dirty="0" smtClean="0">
                <a:solidFill>
                  <a:schemeClr val="tx1"/>
                </a:solidFill>
                <a:cs typeface="Arial" pitchFamily="34" charset="0"/>
              </a:rPr>
              <a:t>Reissuance request permitted at a later 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day.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9942" name="Picture 14" descr="User icon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934200" y="838200"/>
            <a:ext cx="121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Arrow Connector 18"/>
          <p:cNvCxnSpPr>
            <a:stCxn id="39942" idx="2"/>
            <a:endCxn id="22" idx="0"/>
          </p:cNvCxnSpPr>
          <p:nvPr/>
        </p:nvCxnSpPr>
        <p:spPr>
          <a:xfrm rot="5400000">
            <a:off x="7119938" y="2471738"/>
            <a:ext cx="83820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pic>
        <p:nvPicPr>
          <p:cNvPr id="20" name="Picture 6" descr="http://www.thinkplaninvest.com/wp-content/uploads/2010/05/hdfc-bank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65650" y="2895600"/>
            <a:ext cx="1479550" cy="1001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22" name="Picture 8" descr="http://www.globalpost.com/sites/default/files/imagecache/gp3_small_article/photos/10/India_01_14_09_Rai_FWIS.jp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81800" y="2895600"/>
            <a:ext cx="1504950" cy="100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cxnSp>
        <p:nvCxnSpPr>
          <p:cNvPr id="23" name="Straight Arrow Connector 22"/>
          <p:cNvCxnSpPr>
            <a:stCxn id="22" idx="2"/>
          </p:cNvCxnSpPr>
          <p:nvPr/>
        </p:nvCxnSpPr>
        <p:spPr>
          <a:xfrm flipH="1">
            <a:off x="7529512" y="3898900"/>
            <a:ext cx="4763" cy="2333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4" name="TextBox 23"/>
          <p:cNvSpPr txBox="1"/>
          <p:nvPr/>
        </p:nvSpPr>
        <p:spPr>
          <a:xfrm>
            <a:off x="6427788" y="4119563"/>
            <a:ext cx="2259012" cy="4619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Customer asked for Telephone Identification Number(TIN)</a:t>
            </a:r>
          </a:p>
        </p:txBody>
      </p:sp>
      <p:cxnSp>
        <p:nvCxnSpPr>
          <p:cNvPr id="25" name="Straight Arrow Connector 24"/>
          <p:cNvCxnSpPr>
            <a:stCxn id="24" idx="2"/>
            <a:endCxn id="33" idx="0"/>
          </p:cNvCxnSpPr>
          <p:nvPr/>
        </p:nvCxnSpPr>
        <p:spPr>
          <a:xfrm>
            <a:off x="7556500" y="4581525"/>
            <a:ext cx="0" cy="376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6" name="TextBox 25"/>
          <p:cNvSpPr txBox="1"/>
          <p:nvPr/>
        </p:nvSpPr>
        <p:spPr>
          <a:xfrm>
            <a:off x="6427788" y="6243638"/>
            <a:ext cx="2259012" cy="4619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defPPr>
              <a:defRPr lang="en-US"/>
            </a:defPPr>
            <a:lvl1pPr algn="ctr"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US" b="1" dirty="0"/>
              <a:t>Customer request taken &amp; forwarded to Ops.</a:t>
            </a:r>
          </a:p>
        </p:txBody>
      </p:sp>
      <p:cxnSp>
        <p:nvCxnSpPr>
          <p:cNvPr id="27" name="Straight Arrow Connector 26"/>
          <p:cNvCxnSpPr>
            <a:stCxn id="33" idx="2"/>
            <a:endCxn id="26" idx="0"/>
          </p:cNvCxnSpPr>
          <p:nvPr/>
        </p:nvCxnSpPr>
        <p:spPr bwMode="auto">
          <a:xfrm>
            <a:off x="7556500" y="5816600"/>
            <a:ext cx="0" cy="4270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8" name="TextBox 115"/>
          <p:cNvSpPr txBox="1">
            <a:spLocks noChangeArrowheads="1"/>
          </p:cNvSpPr>
          <p:nvPr/>
        </p:nvSpPr>
        <p:spPr bwMode="auto">
          <a:xfrm>
            <a:off x="7585075" y="5899150"/>
            <a:ext cx="492125" cy="27622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 rot="16200000">
            <a:off x="6430168" y="3323432"/>
            <a:ext cx="5122863" cy="304800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/>
                </a:solidFill>
              </a:rPr>
              <a:t>Part 1 - PLACING THE REQUEST</a:t>
            </a:r>
          </a:p>
        </p:txBody>
      </p:sp>
      <p:grpSp>
        <p:nvGrpSpPr>
          <p:cNvPr id="39957" name="Group 36874"/>
          <p:cNvGrpSpPr>
            <a:grpSpLocks/>
          </p:cNvGrpSpPr>
          <p:nvPr/>
        </p:nvGrpSpPr>
        <p:grpSpPr bwMode="auto">
          <a:xfrm>
            <a:off x="6705600" y="2957513"/>
            <a:ext cx="492125" cy="847725"/>
            <a:chOff x="3124200" y="2652899"/>
            <a:chExt cx="492443" cy="847836"/>
          </a:xfrm>
        </p:grpSpPr>
        <p:cxnSp>
          <p:nvCxnSpPr>
            <p:cNvPr id="31" name="Straight Arrow Connector 30"/>
            <p:cNvCxnSpPr/>
            <p:nvPr/>
          </p:nvCxnSpPr>
          <p:spPr>
            <a:xfrm flipH="1">
              <a:off x="3581695" y="2652899"/>
              <a:ext cx="12708" cy="8478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sp>
          <p:nvSpPr>
            <p:cNvPr id="32" name="TextBox 128"/>
            <p:cNvSpPr txBox="1">
              <a:spLocks noChangeArrowheads="1"/>
            </p:cNvSpPr>
            <p:nvPr/>
          </p:nvSpPr>
          <p:spPr bwMode="auto">
            <a:xfrm>
              <a:off x="3124200" y="2738635"/>
              <a:ext cx="492443" cy="277848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200" b="1">
                  <a:solidFill>
                    <a:schemeClr val="accent2"/>
                  </a:solidFill>
                </a:rPr>
                <a:t>YES</a:t>
              </a:r>
            </a:p>
          </p:txBody>
        </p:sp>
      </p:grpSp>
      <p:sp>
        <p:nvSpPr>
          <p:cNvPr id="33" name="Flowchart: Decision 32"/>
          <p:cNvSpPr/>
          <p:nvPr/>
        </p:nvSpPr>
        <p:spPr>
          <a:xfrm>
            <a:off x="6427788" y="4957763"/>
            <a:ext cx="2259012" cy="858837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>
                <a:solidFill>
                  <a:schemeClr val="accent2"/>
                </a:solidFill>
              </a:rPr>
              <a:t>TIN available with customer?</a:t>
            </a:r>
          </a:p>
        </p:txBody>
      </p:sp>
      <p:cxnSp>
        <p:nvCxnSpPr>
          <p:cNvPr id="35" name="Elbow Connector 51"/>
          <p:cNvCxnSpPr/>
          <p:nvPr/>
        </p:nvCxnSpPr>
        <p:spPr bwMode="auto">
          <a:xfrm rot="10800000">
            <a:off x="5411788" y="3886200"/>
            <a:ext cx="1065212" cy="151288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6" name="TextBox 59"/>
          <p:cNvSpPr txBox="1">
            <a:spLocks noChangeArrowheads="1"/>
          </p:cNvSpPr>
          <p:nvPr/>
        </p:nvSpPr>
        <p:spPr bwMode="auto">
          <a:xfrm>
            <a:off x="6172200" y="5029200"/>
            <a:ext cx="415925" cy="276225"/>
          </a:xfrm>
          <a:prstGeom prst="rect">
            <a:avLst/>
          </a:prstGeom>
          <a:noFill/>
          <a:ln>
            <a:noFill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</a:p>
        </p:txBody>
      </p:sp>
      <p:cxnSp>
        <p:nvCxnSpPr>
          <p:cNvPr id="37" name="Elbow Connector 36"/>
          <p:cNvCxnSpPr>
            <a:stCxn id="20" idx="1"/>
            <a:endCxn id="26" idx="1"/>
          </p:cNvCxnSpPr>
          <p:nvPr/>
        </p:nvCxnSpPr>
        <p:spPr>
          <a:xfrm rot="10800000" flipH="1" flipV="1">
            <a:off x="4565650" y="3395663"/>
            <a:ext cx="1862138" cy="3079750"/>
          </a:xfrm>
          <a:prstGeom prst="bentConnector3">
            <a:avLst>
              <a:gd name="adj1" fmla="val -12277"/>
            </a:avLst>
          </a:prstGeom>
          <a:ln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" name="Multiply 2"/>
          <p:cNvSpPr/>
          <p:nvPr/>
        </p:nvSpPr>
        <p:spPr>
          <a:xfrm>
            <a:off x="4953000" y="4724400"/>
            <a:ext cx="1066800" cy="12192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>
            <a:off x="3810000" y="4800600"/>
            <a:ext cx="1246188" cy="990600"/>
          </a:xfrm>
          <a:prstGeom prst="leftArrow">
            <a:avLst/>
          </a:prstGeom>
          <a:solidFill>
            <a:srgbClr val="0000C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dirty="0">
                <a:solidFill>
                  <a:schemeClr val="bg1"/>
                </a:solidFill>
              </a:rPr>
              <a:t>Key Changes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Box 8"/>
          <p:cNvSpPr txBox="1">
            <a:spLocks noChangeArrowheads="1"/>
          </p:cNvSpPr>
          <p:nvPr/>
        </p:nvSpPr>
        <p:spPr bwMode="auto">
          <a:xfrm>
            <a:off x="1066800" y="228600"/>
            <a:ext cx="670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Accurate and Uniform  TAT Commitment </a:t>
            </a:r>
          </a:p>
        </p:txBody>
      </p:sp>
      <p:grpSp>
        <p:nvGrpSpPr>
          <p:cNvPr id="41987" name="Group 12"/>
          <p:cNvGrpSpPr>
            <a:grpSpLocks/>
          </p:cNvGrpSpPr>
          <p:nvPr/>
        </p:nvGrpSpPr>
        <p:grpSpPr bwMode="auto">
          <a:xfrm>
            <a:off x="152400" y="2362200"/>
            <a:ext cx="8382000" cy="4191000"/>
            <a:chOff x="533400" y="762000"/>
            <a:chExt cx="8382000" cy="5410200"/>
          </a:xfrm>
        </p:grpSpPr>
        <p:pic>
          <p:nvPicPr>
            <p:cNvPr id="23558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3400" y="762000"/>
              <a:ext cx="3276600" cy="342236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pic>
          <p:nvPicPr>
            <p:cNvPr id="23559" name="Picture 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876800" y="762000"/>
              <a:ext cx="3200400" cy="34285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pic>
          <p:nvPicPr>
            <p:cNvPr id="23560" name="Picture 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371600" y="4571683"/>
              <a:ext cx="6286500" cy="16005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sp>
          <p:nvSpPr>
            <p:cNvPr id="11" name="Right Arrow 10"/>
            <p:cNvSpPr/>
            <p:nvPr/>
          </p:nvSpPr>
          <p:spPr>
            <a:xfrm>
              <a:off x="3962400" y="1757969"/>
              <a:ext cx="838200" cy="1055400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Curved Left Arrow 11"/>
            <p:cNvSpPr/>
            <p:nvPr/>
          </p:nvSpPr>
          <p:spPr>
            <a:xfrm>
              <a:off x="7772400" y="2438342"/>
              <a:ext cx="1143000" cy="2438689"/>
            </a:xfrm>
            <a:prstGeom prst="curvedLeftArrow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6200" y="944563"/>
            <a:ext cx="8153400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60325">
              <a:defRPr/>
            </a:pPr>
            <a:r>
              <a:rPr lang="en-US" sz="1600" b="1" dirty="0" smtClean="0">
                <a:latin typeface="Arial" charset="0"/>
              </a:rPr>
              <a:t>End </a:t>
            </a:r>
            <a:r>
              <a:rPr lang="en-US" sz="1600" b="1" dirty="0">
                <a:latin typeface="Arial" charset="0"/>
              </a:rPr>
              <a:t>to End TAT </a:t>
            </a:r>
            <a:r>
              <a:rPr lang="en-US" sz="1600" b="1" dirty="0" smtClean="0">
                <a:latin typeface="Arial" charset="0"/>
              </a:rPr>
              <a:t>re-defined </a:t>
            </a:r>
            <a:r>
              <a:rPr lang="en-US" sz="1600" b="1" dirty="0">
                <a:latin typeface="Arial" charset="0"/>
              </a:rPr>
              <a:t>for non Insta Debit Cards </a:t>
            </a:r>
            <a:endParaRPr lang="en-US" sz="1600" b="1" dirty="0" smtClean="0">
              <a:latin typeface="Arial" charset="0"/>
            </a:endParaRPr>
          </a:p>
          <a:p>
            <a:pPr marL="60325">
              <a:defRPr/>
            </a:pPr>
            <a:r>
              <a:rPr lang="en-US" sz="1600" b="1" dirty="0" smtClean="0">
                <a:latin typeface="Arial" charset="0"/>
              </a:rPr>
              <a:t>Web based Utility was </a:t>
            </a:r>
            <a:r>
              <a:rPr lang="en-US" sz="1600" b="1" dirty="0">
                <a:latin typeface="Arial" charset="0"/>
              </a:rPr>
              <a:t>made available to Front Channels. Utility ensures: -</a:t>
            </a:r>
          </a:p>
          <a:p>
            <a:pPr marL="1035050">
              <a:buFont typeface="Arial" pitchFamily="34" charset="0"/>
              <a:buChar char="•"/>
              <a:defRPr/>
            </a:pPr>
            <a:r>
              <a:rPr lang="en-US" sz="1600" dirty="0">
                <a:latin typeface="Arial" charset="0"/>
              </a:rPr>
              <a:t> Gives Pin code wise TAT</a:t>
            </a:r>
          </a:p>
          <a:p>
            <a:pPr marL="1035050">
              <a:buFont typeface="Arial" pitchFamily="34" charset="0"/>
              <a:buChar char="•"/>
              <a:defRPr/>
            </a:pPr>
            <a:r>
              <a:rPr lang="en-US" sz="1600" dirty="0">
                <a:latin typeface="Arial" charset="0"/>
              </a:rPr>
              <a:t> Ensures uniform </a:t>
            </a:r>
            <a:r>
              <a:rPr lang="en-US" sz="1600" dirty="0" smtClean="0">
                <a:latin typeface="Arial" charset="0"/>
              </a:rPr>
              <a:t>Communication</a:t>
            </a:r>
            <a:endParaRPr lang="en-US" sz="1600" dirty="0">
              <a:latin typeface="Arial" charset="0"/>
            </a:endParaRPr>
          </a:p>
          <a:p>
            <a:pPr marL="60325">
              <a:defRPr/>
            </a:pPr>
            <a:r>
              <a:rPr lang="en-US" sz="1600" dirty="0">
                <a:latin typeface="Arial" charset="0"/>
              </a:rPr>
              <a:t>	</a:t>
            </a:r>
          </a:p>
          <a:p>
            <a:pPr marL="60325">
              <a:defRPr/>
            </a:pPr>
            <a:r>
              <a:rPr lang="en-US" sz="1600" b="1" dirty="0">
                <a:latin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xmlns="" val="41265596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29000" y="2233612"/>
            <a:ext cx="2209800" cy="2759501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xmlns="" val="3828556088"/>
              </p:ext>
            </p:extLst>
          </p:nvPr>
        </p:nvGraphicFramePr>
        <p:xfrm>
          <a:off x="228600" y="914400"/>
          <a:ext cx="44958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 dirty="0" smtClean="0"/>
              <a:t>Insta PIN – “Green PIN”</a:t>
            </a:r>
            <a:endParaRPr lang="en-US" sz="2400" b="1" kern="1200" dirty="0"/>
          </a:p>
        </p:txBody>
      </p:sp>
      <p:sp>
        <p:nvSpPr>
          <p:cNvPr id="6" name="Explosion 1 5"/>
          <p:cNvSpPr/>
          <p:nvPr/>
        </p:nvSpPr>
        <p:spPr>
          <a:xfrm>
            <a:off x="4800600" y="1371600"/>
            <a:ext cx="3657600" cy="1524000"/>
          </a:xfrm>
          <a:prstGeom prst="irregularSeal1">
            <a:avLst/>
          </a:prstGeom>
          <a:solidFill>
            <a:srgbClr val="CC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Paperless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Explosion 1 6"/>
          <p:cNvSpPr/>
          <p:nvPr/>
        </p:nvSpPr>
        <p:spPr>
          <a:xfrm>
            <a:off x="4876800" y="2895600"/>
            <a:ext cx="3657600" cy="1524000"/>
          </a:xfrm>
          <a:prstGeom prst="irregularSeal1">
            <a:avLst/>
          </a:prstGeom>
          <a:solidFill>
            <a:srgbClr val="CC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Instant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8" name="Explosion 1 7"/>
          <p:cNvSpPr/>
          <p:nvPr/>
        </p:nvSpPr>
        <p:spPr>
          <a:xfrm>
            <a:off x="4851400" y="4419600"/>
            <a:ext cx="3657600" cy="1524000"/>
          </a:xfrm>
          <a:prstGeom prst="irregularSeal1">
            <a:avLst/>
          </a:prstGeom>
          <a:solidFill>
            <a:srgbClr val="CC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Secure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57360" y="6166247"/>
            <a:ext cx="592258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Green Pin UAT </a:t>
            </a:r>
            <a:r>
              <a:rPr lang="en-US" sz="1600" b="1" dirty="0"/>
              <a:t>t</a:t>
            </a:r>
            <a:r>
              <a:rPr lang="en-US" sz="1600" b="1" dirty="0" smtClean="0"/>
              <a:t>esting is completed. Results successful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Go Live by Oct 12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BD5E9F6-1F96-41C2-8CC4-C18A68806A23}" type="slidenum">
              <a:rPr lang="en-US" smtClean="0">
                <a:latin typeface="Arial" pitchFamily="34" charset="0"/>
              </a:rPr>
              <a:pPr/>
              <a:t>34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0483" name="TextBox 1"/>
          <p:cNvSpPr txBox="1">
            <a:spLocks noChangeArrowheads="1"/>
          </p:cNvSpPr>
          <p:nvPr/>
        </p:nvSpPr>
        <p:spPr bwMode="auto">
          <a:xfrm>
            <a:off x="5795963" y="2590800"/>
            <a:ext cx="185178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 b="1" dirty="0" smtClean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xmlns="" val="14762142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1000686" y="1031183"/>
            <a:ext cx="1028078" cy="530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516758835"/>
              </p:ext>
            </p:extLst>
          </p:nvPr>
        </p:nvGraphicFramePr>
        <p:xfrm>
          <a:off x="31485" y="598372"/>
          <a:ext cx="5378715" cy="314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656340396"/>
              </p:ext>
            </p:extLst>
          </p:nvPr>
        </p:nvGraphicFramePr>
        <p:xfrm>
          <a:off x="3352800" y="3581400"/>
          <a:ext cx="5410200" cy="3124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5">
            <a:extLst/>
          </a:blip>
          <a:srcRect/>
          <a:stretch>
            <a:fillRect/>
          </a:stretch>
        </p:blipFill>
        <p:spPr bwMode="auto">
          <a:xfrm>
            <a:off x="7924800" y="3873500"/>
            <a:ext cx="990600" cy="662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" name="TextBox 8"/>
          <p:cNvSpPr txBox="1">
            <a:spLocks noChangeArrowheads="1"/>
          </p:cNvSpPr>
          <p:nvPr/>
        </p:nvSpPr>
        <p:spPr bwMode="auto">
          <a:xfrm>
            <a:off x="1036638" y="147637"/>
            <a:ext cx="71167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Achievement &amp; Sustenance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15000" y="4046142"/>
            <a:ext cx="0" cy="212739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4505886" y="3914083"/>
            <a:ext cx="1028078" cy="530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cxnSp>
        <p:nvCxnSpPr>
          <p:cNvPr id="16" name="Straight Connector 15"/>
          <p:cNvCxnSpPr/>
          <p:nvPr/>
        </p:nvCxnSpPr>
        <p:spPr>
          <a:xfrm>
            <a:off x="2362200" y="1054100"/>
            <a:ext cx="0" cy="199390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48600" y="4046142"/>
            <a:ext cx="0" cy="212739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Left-Right Arrow 2"/>
          <p:cNvSpPr/>
          <p:nvPr/>
        </p:nvSpPr>
        <p:spPr>
          <a:xfrm>
            <a:off x="5930900" y="3937000"/>
            <a:ext cx="1752600" cy="413663"/>
          </a:xfrm>
          <a:prstGeom prst="leftRightArrow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Project Phase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5">
            <a:extLst/>
          </a:blip>
          <a:srcRect/>
          <a:stretch>
            <a:fillRect/>
          </a:stretch>
        </p:blipFill>
        <p:spPr bwMode="auto">
          <a:xfrm>
            <a:off x="4572000" y="990600"/>
            <a:ext cx="990600" cy="662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25" name="Left-Right Arrow 24"/>
          <p:cNvSpPr/>
          <p:nvPr/>
        </p:nvSpPr>
        <p:spPr>
          <a:xfrm>
            <a:off x="2425700" y="1054100"/>
            <a:ext cx="1752600" cy="413663"/>
          </a:xfrm>
          <a:prstGeom prst="leftRightArrow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Project Phase</a:t>
            </a:r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4495800" y="1073003"/>
            <a:ext cx="0" cy="205119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825193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70F2AE-E2DE-456D-8FAC-C2629D4EBFD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2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411162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/>
              <a:t>Control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75648785"/>
              </p:ext>
            </p:extLst>
          </p:nvPr>
        </p:nvGraphicFramePr>
        <p:xfrm>
          <a:off x="228600" y="1066800"/>
          <a:ext cx="8534400" cy="4288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218"/>
                <a:gridCol w="5118982"/>
                <a:gridCol w="1219200"/>
                <a:gridCol w="1524000"/>
              </a:tblGrid>
              <a:tr h="6816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S. No.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Frequency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latin typeface="Arial"/>
                        </a:rPr>
                        <a:t>Responsibility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Branch wise 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Insta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Debit Card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Penetration MIS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Daily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Product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End to end TAT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Dashboard (Non Insta Cards)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Monthly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Audit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Mystery Shopping at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Branches and Phone Banking</a:t>
                      </a:r>
                      <a:endParaRPr lang="en-US" sz="1600" b="0" i="0" u="none" strike="noStrike" dirty="0" smtClean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Monthly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QIG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Complaints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MIS – Trend Analysis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Monthly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QIG </a:t>
                      </a: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Voice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of Customers thru external source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Quarterly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QIG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</a:tr>
              <a:tr h="4875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TAT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Utility Master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Updation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Monthly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Operations </a:t>
                      </a:r>
                    </a:p>
                  </a:txBody>
                  <a:tcPr marL="9525" marR="9525" marT="9525" marB="0" anchor="ctr"/>
                </a:tc>
              </a:tr>
              <a:tr h="6816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Track 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Redirection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requests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Daily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Operations 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Box 8"/>
          <p:cNvSpPr txBox="1">
            <a:spLocks noChangeArrowheads="1"/>
          </p:cNvSpPr>
          <p:nvPr/>
        </p:nvSpPr>
        <p:spPr bwMode="auto">
          <a:xfrm>
            <a:off x="1036638" y="152400"/>
            <a:ext cx="71167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Benefits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1849582" y="1245729"/>
          <a:ext cx="5541818" cy="3767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ight Arrow 3"/>
          <p:cNvSpPr/>
          <p:nvPr/>
        </p:nvSpPr>
        <p:spPr>
          <a:xfrm>
            <a:off x="360363" y="1236663"/>
            <a:ext cx="2230437" cy="9159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Total Investment</a:t>
            </a:r>
          </a:p>
        </p:txBody>
      </p:sp>
      <p:sp>
        <p:nvSpPr>
          <p:cNvPr id="5" name="Left Arrow 4"/>
          <p:cNvSpPr/>
          <p:nvPr/>
        </p:nvSpPr>
        <p:spPr>
          <a:xfrm>
            <a:off x="6477000" y="1143000"/>
            <a:ext cx="2232025" cy="1008063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dirty="0"/>
              <a:t>Cost Saving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6629400" y="3657601"/>
            <a:ext cx="2111375" cy="457200"/>
          </a:xfrm>
          <a:prstGeom prst="wedgeRectCallout">
            <a:avLst>
              <a:gd name="adj1" fmla="val -62057"/>
              <a:gd name="adj2" fmla="val -52091"/>
            </a:avLst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>
                <a:solidFill>
                  <a:srgbClr val="FF0000"/>
                </a:solidFill>
              </a:rPr>
              <a:t>Old Card Deactivation:</a:t>
            </a:r>
          </a:p>
          <a:p>
            <a:pPr algn="ctr">
              <a:defRPr/>
            </a:pPr>
            <a:r>
              <a:rPr lang="en-US" sz="1200" b="1" dirty="0" smtClean="0"/>
              <a:t>Complaint handing</a:t>
            </a:r>
            <a:endParaRPr lang="en-US" sz="1200" b="1" dirty="0"/>
          </a:p>
        </p:txBody>
      </p:sp>
      <p:sp>
        <p:nvSpPr>
          <p:cNvPr id="7" name="Rectangular Callout 6"/>
          <p:cNvSpPr/>
          <p:nvPr/>
        </p:nvSpPr>
        <p:spPr>
          <a:xfrm>
            <a:off x="6553200" y="2286000"/>
            <a:ext cx="2339975" cy="685800"/>
          </a:xfrm>
          <a:prstGeom prst="wedgeRectCallout">
            <a:avLst>
              <a:gd name="adj1" fmla="val -54633"/>
              <a:gd name="adj2" fmla="val -5021"/>
            </a:avLst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ctr">
              <a:defRPr/>
            </a:pPr>
            <a:r>
              <a:rPr lang="en-US" sz="1200" b="1" dirty="0" err="1">
                <a:solidFill>
                  <a:srgbClr val="FF0000"/>
                </a:solidFill>
              </a:rPr>
              <a:t>Insta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smtClean="0">
                <a:solidFill>
                  <a:srgbClr val="FF0000"/>
                </a:solidFill>
              </a:rPr>
              <a:t>cards:</a:t>
            </a:r>
            <a:r>
              <a:rPr lang="en-US" sz="1200" b="1" dirty="0" smtClean="0"/>
              <a:t> </a:t>
            </a:r>
            <a:r>
              <a:rPr lang="en-US" sz="1200" b="1" dirty="0"/>
              <a:t>Rework, Courier and Return Cards Handling, Form Processing costs</a:t>
            </a:r>
            <a:endParaRPr lang="en-US" sz="12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Rectangular Callout 7"/>
          <p:cNvSpPr/>
          <p:nvPr/>
        </p:nvSpPr>
        <p:spPr>
          <a:xfrm>
            <a:off x="6629400" y="3048000"/>
            <a:ext cx="2316162" cy="528637"/>
          </a:xfrm>
          <a:prstGeom prst="wedgeRectCallout">
            <a:avLst>
              <a:gd name="adj1" fmla="val -59431"/>
              <a:gd name="adj2" fmla="val -42968"/>
            </a:avLst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ctr">
              <a:defRPr/>
            </a:pPr>
            <a:r>
              <a:rPr lang="en-US" sz="1200" b="1" dirty="0" smtClean="0">
                <a:solidFill>
                  <a:srgbClr val="FF0000"/>
                </a:solidFill>
              </a:rPr>
              <a:t>Reissuance thru Phone: </a:t>
            </a:r>
          </a:p>
          <a:p>
            <a:pPr fontAlgn="ctr">
              <a:defRPr/>
            </a:pPr>
            <a:r>
              <a:rPr lang="en-US" sz="1200" b="1" dirty="0" smtClean="0"/>
              <a:t>Rework</a:t>
            </a:r>
            <a:r>
              <a:rPr lang="en-US" sz="1200" b="1" dirty="0"/>
              <a:t>, Form Processing cost.</a:t>
            </a:r>
            <a:endParaRPr lang="en-US" sz="12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Rectangular Callout 8"/>
          <p:cNvSpPr/>
          <p:nvPr/>
        </p:nvSpPr>
        <p:spPr>
          <a:xfrm>
            <a:off x="388938" y="3398838"/>
            <a:ext cx="2111375" cy="627062"/>
          </a:xfrm>
          <a:prstGeom prst="wedgeRectCallout">
            <a:avLst>
              <a:gd name="adj1" fmla="val 70222"/>
              <a:gd name="adj2" fmla="val 310"/>
            </a:avLst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/>
              <a:t>Development cost of TAT Calculator</a:t>
            </a:r>
          </a:p>
        </p:txBody>
      </p:sp>
      <p:sp>
        <p:nvSpPr>
          <p:cNvPr id="45066" name="TextBox 9"/>
          <p:cNvSpPr txBox="1">
            <a:spLocks noChangeArrowheads="1"/>
          </p:cNvSpPr>
          <p:nvPr/>
        </p:nvSpPr>
        <p:spPr bwMode="auto">
          <a:xfrm>
            <a:off x="1860550" y="6534150"/>
            <a:ext cx="18176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* All figures in crores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9400" y="762000"/>
            <a:ext cx="4038600" cy="361950"/>
          </a:xfrm>
          <a:prstGeom prst="roundRect">
            <a:avLst/>
          </a:prstGeom>
          <a:solidFill>
            <a:srgbClr val="CC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Net benefit = 6.41 </a:t>
            </a:r>
            <a:r>
              <a:rPr lang="en-US" b="1" dirty="0" err="1" smtClean="0">
                <a:solidFill>
                  <a:schemeClr val="tx1"/>
                </a:solidFill>
              </a:rPr>
              <a:t>crores</a:t>
            </a:r>
            <a:r>
              <a:rPr lang="en-US" b="1" dirty="0" smtClean="0">
                <a:solidFill>
                  <a:schemeClr val="tx1"/>
                </a:solidFill>
              </a:rPr>
              <a:t> / Annum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68350" y="5327650"/>
            <a:ext cx="1393825" cy="1206500"/>
            <a:chOff x="768845" y="5327354"/>
            <a:chExt cx="1393881" cy="1206749"/>
          </a:xfrm>
        </p:grpSpPr>
        <p:pic>
          <p:nvPicPr>
            <p:cNvPr id="45070" name="Picture 41" descr="rev.bmp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68845" y="5327354"/>
              <a:ext cx="1393881" cy="12067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71" name="Picture 45" descr="rev3.jpg"/>
            <p:cNvPicPr>
              <a:picLocks noChangeAspect="1"/>
            </p:cNvPicPr>
            <p:nvPr/>
          </p:nvPicPr>
          <p:blipFill>
            <a:blip r:embed="rId7"/>
            <a:srcRect l="8791" t="12973" r="56044"/>
            <a:stretch>
              <a:fillRect/>
            </a:stretch>
          </p:blipFill>
          <p:spPr bwMode="auto">
            <a:xfrm>
              <a:off x="834216" y="5327354"/>
              <a:ext cx="442879" cy="690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Rounded Rectangle 14"/>
          <p:cNvSpPr/>
          <p:nvPr/>
        </p:nvSpPr>
        <p:spPr>
          <a:xfrm>
            <a:off x="2162175" y="5538788"/>
            <a:ext cx="6546850" cy="633412"/>
          </a:xfrm>
          <a:prstGeom prst="roundRect">
            <a:avLst/>
          </a:prstGeom>
          <a:solidFill>
            <a:srgbClr val="CC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Debit Card portfolio spends is growing by </a:t>
            </a:r>
            <a:r>
              <a:rPr lang="en-US" b="1" dirty="0" smtClean="0">
                <a:solidFill>
                  <a:schemeClr val="tx1"/>
                </a:solidFill>
              </a:rPr>
              <a:t>30%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Rectangular Callout 15"/>
          <p:cNvSpPr/>
          <p:nvPr/>
        </p:nvSpPr>
        <p:spPr>
          <a:xfrm>
            <a:off x="6629400" y="4343400"/>
            <a:ext cx="2111375" cy="625475"/>
          </a:xfrm>
          <a:prstGeom prst="wedgeRectCallout">
            <a:avLst>
              <a:gd name="adj1" fmla="val -63996"/>
              <a:gd name="adj2" fmla="val -87003"/>
            </a:avLst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b="1" dirty="0" smtClean="0">
                <a:solidFill>
                  <a:srgbClr val="FF0000"/>
                </a:solidFill>
              </a:rPr>
              <a:t>TAT Communication: </a:t>
            </a:r>
            <a:r>
              <a:rPr lang="en-US" sz="1200" b="1" dirty="0" smtClean="0"/>
              <a:t>Complaint handing</a:t>
            </a:r>
            <a:endParaRPr lang="en-US" sz="12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400" b="1" kern="1200"/>
              <a:t>Rural Penetration So far….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229600" cy="1143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2800" b="1" dirty="0" smtClean="0"/>
              <a:t>We provide banking to 1.5 millions customers across 232 rural locations.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74DC71-1AC3-44FC-AA8F-3AF900A8260B}" type="slidenum">
              <a:rPr lang="en-US" smtClean="0">
                <a:latin typeface="Arial" pitchFamily="34" charset="0"/>
              </a:rPr>
              <a:pPr/>
              <a:t>39</a:t>
            </a:fld>
            <a:endParaRPr lang="en-US" smtClean="0">
              <a:latin typeface="Arial" pitchFamily="34" charset="0"/>
            </a:endParaRPr>
          </a:p>
        </p:txBody>
      </p:sp>
      <p:grpSp>
        <p:nvGrpSpPr>
          <p:cNvPr id="49157" name="Group 8"/>
          <p:cNvGrpSpPr>
            <a:grpSpLocks/>
          </p:cNvGrpSpPr>
          <p:nvPr/>
        </p:nvGrpSpPr>
        <p:grpSpPr bwMode="auto">
          <a:xfrm>
            <a:off x="228600" y="2743200"/>
            <a:ext cx="8686800" cy="2443163"/>
            <a:chOff x="228600" y="3048000"/>
            <a:chExt cx="8686800" cy="2443322"/>
          </a:xfrm>
        </p:grpSpPr>
        <p:pic>
          <p:nvPicPr>
            <p:cNvPr id="49158" name="Picture 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8600" y="3048000"/>
              <a:ext cx="2590800" cy="2438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9159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048000" y="3048000"/>
              <a:ext cx="5867400" cy="2443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2400" y="5486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Heading towards our resolve to provide sustainable livelihood to 7 millions customers in next 5 years.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7"/>
          <p:cNvSpPr txBox="1">
            <a:spLocks noChangeArrowheads="1"/>
          </p:cNvSpPr>
          <p:nvPr/>
        </p:nvSpPr>
        <p:spPr bwMode="auto">
          <a:xfrm>
            <a:off x="1066800" y="149225"/>
            <a:ext cx="6629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eaLnBrk="0" hangingPunct="0">
              <a:defRPr sz="2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Horizontal Deployment &amp; Way Forward</a:t>
            </a:r>
          </a:p>
        </p:txBody>
      </p:sp>
      <p:sp>
        <p:nvSpPr>
          <p:cNvPr id="47108" name="TextBox 3"/>
          <p:cNvSpPr txBox="1">
            <a:spLocks noChangeArrowheads="1"/>
          </p:cNvSpPr>
          <p:nvPr/>
        </p:nvSpPr>
        <p:spPr bwMode="auto">
          <a:xfrm>
            <a:off x="152400" y="981075"/>
            <a:ext cx="8534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rgbClr val="0000CC"/>
                </a:solidFill>
              </a:rPr>
              <a:t>Success of this project inspired us to launch much larger strategic project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“INSTA_GRATIFICATION”</a:t>
            </a:r>
            <a:r>
              <a:rPr lang="en-US" dirty="0">
                <a:solidFill>
                  <a:srgbClr val="0000CC"/>
                </a:solidFill>
              </a:rPr>
              <a:t> which encompasses: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xmlns="" val="1469845602"/>
              </p:ext>
            </p:extLst>
          </p:nvPr>
        </p:nvGraphicFramePr>
        <p:xfrm>
          <a:off x="0" y="1828800"/>
          <a:ext cx="8915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 anchor="ctr"/>
          <a:lstStyle/>
          <a:p>
            <a:pPr algn="ctr">
              <a:buFontTx/>
              <a:buNone/>
            </a:pPr>
            <a:r>
              <a:rPr lang="en-US" sz="6600" b="1" dirty="0" smtClean="0"/>
              <a:t>Thank You!</a:t>
            </a:r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BB6741-8C72-498A-81E1-82FCF4EF1BA7}" type="slidenum">
              <a:rPr lang="en-US" smtClean="0">
                <a:latin typeface="Arial" pitchFamily="34" charset="0"/>
              </a:rPr>
              <a:pPr/>
              <a:t>41</a:t>
            </a:fld>
            <a:endParaRPr lang="en-US" smtClean="0"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A25C97A2986249B41E72CADC74A191" ma:contentTypeVersion="4" ma:contentTypeDescription="Create a new document." ma:contentTypeScope="" ma:versionID="09c2f7997568f11f6f048b0b696e6d1a">
  <xsd:schema xmlns:xsd="http://www.w3.org/2001/XMLSchema" xmlns:xs="http://www.w3.org/2001/XMLSchema" xmlns:p="http://schemas.microsoft.com/office/2006/metadata/properties" xmlns:ns2="13198c3b-a4e2-4038-bec2-ba20dc2c24ec" targetNamespace="http://schemas.microsoft.com/office/2006/metadata/properties" ma:root="true" ma:fieldsID="a7ce81a64f443739af589702288e63ef" ns2:_="">
    <xsd:import namespace="13198c3b-a4e2-4038-bec2-ba20dc2c24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98c3b-a4e2-4038-bec2-ba20dc2c24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443C41-8A52-4B8E-82C3-1D904016FBD7}"/>
</file>

<file path=customXml/itemProps2.xml><?xml version="1.0" encoding="utf-8"?>
<ds:datastoreItem xmlns:ds="http://schemas.openxmlformats.org/officeDocument/2006/customXml" ds:itemID="{0EA8503B-72E3-4310-B6DF-3CB23CEDD0A2}"/>
</file>

<file path=customXml/itemProps3.xml><?xml version="1.0" encoding="utf-8"?>
<ds:datastoreItem xmlns:ds="http://schemas.openxmlformats.org/officeDocument/2006/customXml" ds:itemID="{4F691759-B843-4497-A780-1BDE4E87A336}"/>
</file>

<file path=docProps/app.xml><?xml version="1.0" encoding="utf-8"?>
<Properties xmlns="http://schemas.openxmlformats.org/officeDocument/2006/extended-properties" xmlns:vt="http://schemas.openxmlformats.org/officeDocument/2006/docPropsVTypes">
  <TotalTime>5729</TotalTime>
  <Words>2156</Words>
  <Application>Microsoft Office PowerPoint</Application>
  <PresentationFormat>On-screen Show (4:3)</PresentationFormat>
  <Paragraphs>580</Paragraphs>
  <Slides>41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Default Design</vt:lpstr>
      <vt:lpstr>Slide 1</vt:lpstr>
      <vt:lpstr> HDFC Bank – An Overview</vt:lpstr>
      <vt:lpstr>Strong National Network</vt:lpstr>
      <vt:lpstr>Slide 4</vt:lpstr>
      <vt:lpstr>Slide 5</vt:lpstr>
      <vt:lpstr>Slide 6</vt:lpstr>
      <vt:lpstr>What does a Debit Card mean to us</vt:lpstr>
      <vt:lpstr>Debit Cards – Strategic Significance</vt:lpstr>
      <vt:lpstr>Slide 9</vt:lpstr>
      <vt:lpstr>Slide 10</vt:lpstr>
      <vt:lpstr>Why This Project?</vt:lpstr>
      <vt:lpstr>Voice of Customer</vt:lpstr>
      <vt:lpstr>Debit Card Experience influencing Advocacy</vt:lpstr>
      <vt:lpstr>Slide 14</vt:lpstr>
      <vt:lpstr>Key Metrics</vt:lpstr>
      <vt:lpstr>As-is scenario &amp; Identifying Gaps</vt:lpstr>
      <vt:lpstr>Slide 17</vt:lpstr>
      <vt:lpstr>Slide 18</vt:lpstr>
      <vt:lpstr>As-is Scenario (Summary of gaps identified)</vt:lpstr>
      <vt:lpstr>Slide 20</vt:lpstr>
      <vt:lpstr>Slide 21</vt:lpstr>
      <vt:lpstr>Slide 22</vt:lpstr>
      <vt:lpstr>Slide 23</vt:lpstr>
      <vt:lpstr>Slide 24</vt:lpstr>
      <vt:lpstr>Slide 25</vt:lpstr>
      <vt:lpstr>Key Xs Identified</vt:lpstr>
      <vt:lpstr>Slide 27</vt:lpstr>
      <vt:lpstr>Solution Prioritization</vt:lpstr>
      <vt:lpstr>Bringing Customer Closer</vt:lpstr>
      <vt:lpstr>FTNR Reduction: Form Simplification &amp; Upfront Scrutiny</vt:lpstr>
      <vt:lpstr>Slide 31</vt:lpstr>
      <vt:lpstr>Slide 32</vt:lpstr>
      <vt:lpstr>Insta PIN – “Green PIN”</vt:lpstr>
      <vt:lpstr>Slide 34</vt:lpstr>
      <vt:lpstr>Slide 35</vt:lpstr>
      <vt:lpstr>Slide 36</vt:lpstr>
      <vt:lpstr>Control Plan</vt:lpstr>
      <vt:lpstr>Slide 38</vt:lpstr>
      <vt:lpstr>Rural Penetration So far….</vt:lpstr>
      <vt:lpstr>Slide 40</vt:lpstr>
      <vt:lpstr>Slide 41</vt:lpstr>
    </vt:vector>
  </TitlesOfParts>
  <Company>xebec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ranjana kamo</dc:creator>
  <cp:lastModifiedBy>DIPAL</cp:lastModifiedBy>
  <cp:revision>574</cp:revision>
  <dcterms:created xsi:type="dcterms:W3CDTF">2008-09-22T07:36:25Z</dcterms:created>
  <dcterms:modified xsi:type="dcterms:W3CDTF">2012-10-10T05:05:10Z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0x01010020A25C97A2986249B41E72CADC74A191</vt:lpwstr>
  </property>
</Properties>
</file>