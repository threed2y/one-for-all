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6"/>
  </p:notesMasterIdLst>
  <p:sldIdLst>
    <p:sldId id="256" r:id="rId5"/>
    <p:sldId id="279" r:id="rId6"/>
    <p:sldId id="285" r:id="rId7"/>
    <p:sldId id="280" r:id="rId8"/>
    <p:sldId id="284" r:id="rId9"/>
    <p:sldId id="290" r:id="rId10"/>
    <p:sldId id="286" r:id="rId11"/>
    <p:sldId id="281" r:id="rId12"/>
    <p:sldId id="287" r:id="rId13"/>
    <p:sldId id="288" r:id="rId14"/>
    <p:sldId id="289" r:id="rId15"/>
    <p:sldId id="282" r:id="rId16"/>
    <p:sldId id="292" r:id="rId17"/>
    <p:sldId id="291" r:id="rId18"/>
    <p:sldId id="295" r:id="rId19"/>
    <p:sldId id="283" r:id="rId20"/>
    <p:sldId id="293" r:id="rId21"/>
    <p:sldId id="294" r:id="rId22"/>
    <p:sldId id="296" r:id="rId23"/>
    <p:sldId id="278" r:id="rId24"/>
    <p:sldId id="274" r:id="rId2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89378-092B-479E-A1F9-098899648A61}" v="1" dt="2020-10-31T14:00:13.9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644" y="-24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zanku583@gmail.com" userId="S::shah.zanku583_gmail.com#ext#@msubarodauniversity.onmicrosoft.com::be1dc23b-f077-4cfa-b575-4e30e622165f" providerId="AD" clId="Web-{18A89378-092B-479E-A1F9-098899648A61}"/>
    <pc:docChg chg="modSld">
      <pc:chgData name="shah.zanku583@gmail.com" userId="S::shah.zanku583_gmail.com#ext#@msubarodauniversity.onmicrosoft.com::be1dc23b-f077-4cfa-b575-4e30e622165f" providerId="AD" clId="Web-{18A89378-092B-479E-A1F9-098899648A61}" dt="2020-10-31T14:00:13.963" v="0" actId="1076"/>
      <pc:docMkLst>
        <pc:docMk/>
      </pc:docMkLst>
      <pc:sldChg chg="modSp">
        <pc:chgData name="shah.zanku583@gmail.com" userId="S::shah.zanku583_gmail.com#ext#@msubarodauniversity.onmicrosoft.com::be1dc23b-f077-4cfa-b575-4e30e622165f" providerId="AD" clId="Web-{18A89378-092B-479E-A1F9-098899648A61}" dt="2020-10-31T14:00:13.963" v="0" actId="1076"/>
        <pc:sldMkLst>
          <pc:docMk/>
          <pc:sldMk cId="0" sldId="287"/>
        </pc:sldMkLst>
        <pc:spChg chg="mod">
          <ac:chgData name="shah.zanku583@gmail.com" userId="S::shah.zanku583_gmail.com#ext#@msubarodauniversity.onmicrosoft.com::be1dc23b-f077-4cfa-b575-4e30e622165f" providerId="AD" clId="Web-{18A89378-092B-479E-A1F9-098899648A61}" dt="2020-10-31T14:00:13.963" v="0" actId="1076"/>
          <ac:spMkLst>
            <pc:docMk/>
            <pc:sldMk cId="0" sldId="287"/>
            <ac:spMk id="4"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6070F01B-5C3E-4254-B80C-F16BDE456FBB}" type="datetimeFigureOut">
              <a:rPr lang="en-US" smtClean="0"/>
              <a:pPr/>
              <a:t>10/31/2020</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0211695B-277F-4DAE-8546-B2E35772EB5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87D4FCD-B6B5-4FE7-9103-36BC734156F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87D4FCD-B6B5-4FE7-9103-36BC734156F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D68094-37D2-48FC-9170-7D06BC38C1EA}" type="datetimeFigureOut">
              <a:rPr lang="en-US" smtClean="0"/>
              <a:pPr/>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3D68094-37D2-48FC-9170-7D06BC38C1EA}" type="datetimeFigureOut">
              <a:rPr lang="en-US" smtClean="0"/>
              <a:pPr/>
              <a:t>10/31/2020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87D4FCD-B6B5-4FE7-9103-36BC734156F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uralikustat@gmail.com"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biyGxEix5Zs" TargetMode="External"/><Relationship Id="rId2" Type="http://schemas.openxmlformats.org/officeDocument/2006/relationships/hyperlink" Target="https://www.youtube.com/watch?v=OZtNk__7Qy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Mn_Hd9ZtIGw" TargetMode="External"/><Relationship Id="rId2" Type="http://schemas.openxmlformats.org/officeDocument/2006/relationships/hyperlink" Target="https://www.youtube.com/watch?v=X1KONQw02H8"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447800"/>
          </a:xfrm>
        </p:spPr>
        <p:txBody>
          <a:bodyPr>
            <a:normAutofit fontScale="90000"/>
          </a:bodyPr>
          <a:lstStyle/>
          <a:p>
            <a:r>
              <a:rPr lang="en-US" sz="5400" dirty="0"/>
              <a:t>SSQI:</a:t>
            </a:r>
            <a:r>
              <a:rPr lang="en-GB" sz="5400" dirty="0"/>
              <a:t> Understanding of Deployment Strategies</a:t>
            </a:r>
            <a:endParaRPr lang="en-US" sz="3600" dirty="0"/>
          </a:p>
        </p:txBody>
      </p:sp>
      <p:sp>
        <p:nvSpPr>
          <p:cNvPr id="3" name="Subtitle 2"/>
          <p:cNvSpPr>
            <a:spLocks noGrp="1"/>
          </p:cNvSpPr>
          <p:nvPr>
            <p:ph type="subTitle" idx="1"/>
          </p:nvPr>
        </p:nvSpPr>
        <p:spPr>
          <a:xfrm>
            <a:off x="609600" y="3581400"/>
            <a:ext cx="7854696" cy="2590800"/>
          </a:xfrm>
        </p:spPr>
        <p:txBody>
          <a:bodyPr>
            <a:normAutofit/>
          </a:bodyPr>
          <a:lstStyle/>
          <a:p>
            <a:pPr>
              <a:lnSpc>
                <a:spcPct val="90000"/>
              </a:lnSpc>
            </a:pPr>
            <a:r>
              <a:rPr lang="en-US" sz="3600" dirty="0"/>
              <a:t>K. </a:t>
            </a:r>
            <a:r>
              <a:rPr lang="en-US" sz="3600" dirty="0" err="1"/>
              <a:t>Muralidharan</a:t>
            </a:r>
            <a:endParaRPr lang="en-US" sz="3600" dirty="0"/>
          </a:p>
          <a:p>
            <a:pPr>
              <a:lnSpc>
                <a:spcPct val="90000"/>
              </a:lnSpc>
            </a:pPr>
            <a:r>
              <a:rPr lang="en-US" dirty="0"/>
              <a:t>Department of Statistics, Faculty of Science</a:t>
            </a:r>
          </a:p>
          <a:p>
            <a:pPr>
              <a:lnSpc>
                <a:spcPct val="90000"/>
              </a:lnSpc>
            </a:pPr>
            <a:r>
              <a:rPr lang="en-US" dirty="0"/>
              <a:t>The </a:t>
            </a:r>
            <a:r>
              <a:rPr lang="en-US" dirty="0" err="1"/>
              <a:t>Mahraja</a:t>
            </a:r>
            <a:r>
              <a:rPr lang="en-US" dirty="0"/>
              <a:t> </a:t>
            </a:r>
            <a:r>
              <a:rPr lang="en-US" dirty="0" err="1"/>
              <a:t>Sayajirao</a:t>
            </a:r>
            <a:r>
              <a:rPr lang="en-US" dirty="0"/>
              <a:t>  University of Baroda</a:t>
            </a:r>
          </a:p>
          <a:p>
            <a:pPr>
              <a:lnSpc>
                <a:spcPct val="90000"/>
              </a:lnSpc>
            </a:pPr>
            <a:r>
              <a:rPr lang="en-US" dirty="0" err="1"/>
              <a:t>Vadodara</a:t>
            </a:r>
            <a:r>
              <a:rPr lang="en-US" dirty="0"/>
              <a:t>, 390002</a:t>
            </a:r>
          </a:p>
          <a:p>
            <a:pPr>
              <a:lnSpc>
                <a:spcPct val="90000"/>
              </a:lnSpc>
            </a:pPr>
            <a:r>
              <a:rPr lang="en-US" sz="2000" b="1" dirty="0">
                <a:solidFill>
                  <a:srgbClr val="FFFF00"/>
                </a:solidFill>
              </a:rPr>
              <a:t>email: </a:t>
            </a:r>
            <a:r>
              <a:rPr lang="en-US" sz="2000" b="1" dirty="0">
                <a:solidFill>
                  <a:srgbClr val="FFFF00"/>
                </a:solidFill>
                <a:hlinkClick r:id="rId3"/>
              </a:rPr>
              <a:t>muralikustat@gmail.com</a:t>
            </a:r>
            <a:r>
              <a:rPr lang="en-US" sz="2000" b="1" dirty="0">
                <a:solidFill>
                  <a:srgbClr val="FFFF00"/>
                </a:solidFill>
              </a:rPr>
              <a:t>,   </a:t>
            </a:r>
          </a:p>
          <a:p>
            <a:pPr>
              <a:lnSpc>
                <a:spcPct val="90000"/>
              </a:lnSpc>
            </a:pPr>
            <a:r>
              <a:rPr lang="en-US" sz="2000" b="1" dirty="0">
                <a:solidFill>
                  <a:srgbClr val="FFFF00"/>
                </a:solidFill>
              </a:rPr>
              <a:t> email: muralidharan.k-stat@msubaroda.ac.in</a:t>
            </a:r>
          </a:p>
          <a:p>
            <a:pPr>
              <a:lnSpc>
                <a:spcPct val="90000"/>
              </a:lnSpc>
            </a:pPr>
            <a:endParaRPr lang="en-US" sz="2000" dirty="0">
              <a:solidFill>
                <a:srgbClr val="FFFF00"/>
              </a:solidFill>
            </a:endParaRPr>
          </a:p>
          <a:p>
            <a:endParaRPr lang="en-US" dirty="0"/>
          </a:p>
        </p:txBody>
      </p:sp>
      <p:graphicFrame>
        <p:nvGraphicFramePr>
          <p:cNvPr id="1026" name="Object 5"/>
          <p:cNvGraphicFramePr>
            <a:graphicFrameLocks noChangeAspect="1"/>
          </p:cNvGraphicFramePr>
          <p:nvPr/>
        </p:nvGraphicFramePr>
        <p:xfrm>
          <a:off x="7543800" y="685800"/>
          <a:ext cx="838200" cy="804797"/>
        </p:xfrm>
        <a:graphic>
          <a:graphicData uri="http://schemas.openxmlformats.org/presentationml/2006/ole">
            <mc:AlternateContent xmlns:mc="http://schemas.openxmlformats.org/markup-compatibility/2006">
              <mc:Choice xmlns:v="urn:schemas-microsoft-com:vml" Requires="v">
                <p:oleObj spid="_x0000_s1027" name="Document" r:id="rId4" imgW="1020572" imgH="981478" progId="Word.Document.12">
                  <p:link updateAutomatic="1"/>
                </p:oleObj>
              </mc:Choice>
              <mc:Fallback>
                <p:oleObj name="Document" r:id="rId4" imgW="1020572" imgH="981478" progId="Word.Document.12">
                  <p:link updateAutomatic="1"/>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85800"/>
                        <a:ext cx="838200" cy="80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1524000" y="990600"/>
            <a:ext cx="1129861" cy="369332"/>
          </a:xfrm>
          <a:prstGeom prst="rect">
            <a:avLst/>
          </a:prstGeom>
          <a:noFill/>
        </p:spPr>
        <p:txBody>
          <a:bodyPr wrap="none" rtlCol="0">
            <a:spAutoFit/>
          </a:bodyPr>
          <a:lstStyle/>
          <a:p>
            <a:r>
              <a:rPr lang="en-US" dirty="0"/>
              <a:t>Lecture-3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GB" dirty="0"/>
              <a:t>Business Goals</a:t>
            </a:r>
            <a:endParaRPr lang="en-US" dirty="0"/>
          </a:p>
        </p:txBody>
      </p:sp>
      <p:pic>
        <p:nvPicPr>
          <p:cNvPr id="22530" name="Picture 2" descr="5 Ways to Stay on Track and Achieve your Small Business Goals"/>
          <p:cNvPicPr>
            <a:picLocks noChangeAspect="1" noChangeArrowheads="1"/>
          </p:cNvPicPr>
          <p:nvPr/>
        </p:nvPicPr>
        <p:blipFill>
          <a:blip r:embed="rId2" cstate="print"/>
          <a:srcRect/>
          <a:stretch>
            <a:fillRect/>
          </a:stretch>
        </p:blipFill>
        <p:spPr bwMode="auto">
          <a:xfrm>
            <a:off x="6781800" y="0"/>
            <a:ext cx="2362200" cy="1771650"/>
          </a:xfrm>
          <a:prstGeom prst="rect">
            <a:avLst/>
          </a:prstGeom>
          <a:noFill/>
        </p:spPr>
      </p:pic>
      <p:pic>
        <p:nvPicPr>
          <p:cNvPr id="22536" name="Picture 8" descr="Lesson 4: Setting Goals and Objectives. Lesson 4 Objectives Gain the  understanding that marketing strategy and planning needs to set clear,  measurable, - ppt download"/>
          <p:cNvPicPr>
            <a:picLocks noChangeAspect="1" noChangeArrowheads="1"/>
          </p:cNvPicPr>
          <p:nvPr/>
        </p:nvPicPr>
        <p:blipFill>
          <a:blip r:embed="rId3" cstate="print"/>
          <a:srcRect/>
          <a:stretch>
            <a:fillRect/>
          </a:stretch>
        </p:blipFill>
        <p:spPr bwMode="auto">
          <a:xfrm>
            <a:off x="4191000" y="1295400"/>
            <a:ext cx="4953000" cy="3505200"/>
          </a:xfrm>
          <a:prstGeom prst="rect">
            <a:avLst/>
          </a:prstGeom>
          <a:noFill/>
        </p:spPr>
      </p:pic>
      <p:sp>
        <p:nvSpPr>
          <p:cNvPr id="8" name="Content Placeholder 7"/>
          <p:cNvSpPr>
            <a:spLocks noGrp="1"/>
          </p:cNvSpPr>
          <p:nvPr>
            <p:ph idx="1"/>
          </p:nvPr>
        </p:nvSpPr>
        <p:spPr/>
        <p:txBody>
          <a:bodyPr/>
          <a:lstStyle/>
          <a:p>
            <a:endParaRPr lang="en-US" dirty="0"/>
          </a:p>
        </p:txBody>
      </p:sp>
      <p:pic>
        <p:nvPicPr>
          <p:cNvPr id="9" name="Picture 4" descr="Goal - definition and meaning - Market Business News"/>
          <p:cNvPicPr>
            <a:picLocks noChangeAspect="1" noChangeArrowheads="1"/>
          </p:cNvPicPr>
          <p:nvPr/>
        </p:nvPicPr>
        <p:blipFill>
          <a:blip r:embed="rId4" cstate="print"/>
          <a:srcRect/>
          <a:stretch>
            <a:fillRect/>
          </a:stretch>
        </p:blipFill>
        <p:spPr bwMode="auto">
          <a:xfrm>
            <a:off x="152400" y="3657600"/>
            <a:ext cx="4114800" cy="29718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23554" name="Picture 2" descr="Set Goals and Objectives in Your Business Plan - dummies"/>
          <p:cNvPicPr>
            <a:picLocks noChangeAspect="1" noChangeArrowheads="1"/>
          </p:cNvPicPr>
          <p:nvPr/>
        </p:nvPicPr>
        <p:blipFill>
          <a:blip r:embed="rId2" cstate="print"/>
          <a:srcRect/>
          <a:stretch>
            <a:fillRect/>
          </a:stretch>
        </p:blipFill>
        <p:spPr bwMode="auto">
          <a:xfrm>
            <a:off x="381000" y="609600"/>
            <a:ext cx="5867400" cy="6096000"/>
          </a:xfrm>
          <a:prstGeom prst="rect">
            <a:avLst/>
          </a:prstGeom>
          <a:noFill/>
        </p:spPr>
      </p:pic>
      <p:pic>
        <p:nvPicPr>
          <p:cNvPr id="6" name="Picture 4" descr="SMART Business Goal Examples"/>
          <p:cNvPicPr>
            <a:picLocks noChangeAspect="1" noChangeArrowheads="1"/>
          </p:cNvPicPr>
          <p:nvPr/>
        </p:nvPicPr>
        <p:blipFill>
          <a:blip r:embed="rId3" cstate="print"/>
          <a:srcRect/>
          <a:stretch>
            <a:fillRect/>
          </a:stretch>
        </p:blipFill>
        <p:spPr bwMode="auto">
          <a:xfrm>
            <a:off x="4572000" y="3886200"/>
            <a:ext cx="4182627" cy="2743200"/>
          </a:xfrm>
          <a:prstGeom prst="rect">
            <a:avLst/>
          </a:prstGeom>
          <a:noFill/>
        </p:spPr>
      </p:pic>
      <p:pic>
        <p:nvPicPr>
          <p:cNvPr id="23558" name="Picture 6" descr="Pin by Fabio Morettino on Goals | Executive summary template, Learning  objectives, Goals and objectives"/>
          <p:cNvPicPr>
            <a:picLocks noChangeAspect="1" noChangeArrowheads="1"/>
          </p:cNvPicPr>
          <p:nvPr/>
        </p:nvPicPr>
        <p:blipFill>
          <a:blip r:embed="rId4" cstate="print"/>
          <a:srcRect/>
          <a:stretch>
            <a:fillRect/>
          </a:stretch>
        </p:blipFill>
        <p:spPr bwMode="auto">
          <a:xfrm>
            <a:off x="4572000" y="1143000"/>
            <a:ext cx="4191000" cy="268605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Dashboards</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t>data dashboard</a:t>
            </a:r>
            <a:r>
              <a:rPr lang="en-US" dirty="0"/>
              <a:t> is an information management tool that visually tracks, analyzes and displays </a:t>
            </a:r>
            <a:r>
              <a:rPr lang="en-US" b="1" dirty="0"/>
              <a:t>key performance indicators (KPI)</a:t>
            </a:r>
            <a:r>
              <a:rPr lang="en-US" dirty="0"/>
              <a:t>, metrics and key data points to monitor the health of a business, department or specific process. </a:t>
            </a:r>
          </a:p>
          <a:p>
            <a:r>
              <a:rPr lang="en-US" dirty="0"/>
              <a:t>They are customizable to meet the specific needs of a department and company. Behind the scenes, a dashboard connects to your files, attachments, services and API’s, but on the surface displays all this data in the form of tables, line charts, bar charts and gauges. </a:t>
            </a:r>
          </a:p>
          <a:p>
            <a:r>
              <a:rPr lang="en-US" dirty="0"/>
              <a:t>A data dashboard is the most efficient way to track multiple data sources because it provides a central location for businesses to monitor and analyze performance. </a:t>
            </a:r>
          </a:p>
          <a:p>
            <a:r>
              <a:rPr lang="en-US" dirty="0"/>
              <a:t>Real-time monitoring reduces the hours of analyzing and long line of communication that previously challenged businesses.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GB" dirty="0"/>
              <a:t>Dashboards Examples</a:t>
            </a:r>
            <a:endParaRPr lang="en-US" dirty="0"/>
          </a:p>
        </p:txBody>
      </p:sp>
      <p:sp>
        <p:nvSpPr>
          <p:cNvPr id="3" name="Content Placeholder 2"/>
          <p:cNvSpPr>
            <a:spLocks noGrp="1"/>
          </p:cNvSpPr>
          <p:nvPr>
            <p:ph idx="1"/>
          </p:nvPr>
        </p:nvSpPr>
        <p:spPr/>
        <p:txBody>
          <a:bodyPr/>
          <a:lstStyle/>
          <a:p>
            <a:r>
              <a:rPr lang="en-US" sz="1800" dirty="0"/>
              <a:t>Management KPI Dashboard.  </a:t>
            </a:r>
          </a:p>
          <a:p>
            <a:r>
              <a:rPr lang="en-US" sz="1800" dirty="0"/>
              <a:t>Sales Cycle Length Dashboard.  </a:t>
            </a:r>
          </a:p>
          <a:p>
            <a:r>
              <a:rPr lang="en-US" sz="1800" dirty="0"/>
              <a:t>Procurement Data Analytics Dashboard.  </a:t>
            </a:r>
          </a:p>
          <a:p>
            <a:r>
              <a:rPr lang="en-US" sz="1800" dirty="0"/>
              <a:t>Web Analytics Dashboard.  </a:t>
            </a:r>
          </a:p>
          <a:p>
            <a:r>
              <a:rPr lang="en-US" sz="1800" dirty="0"/>
              <a:t>Human Resources Data Dashboard.  </a:t>
            </a:r>
          </a:p>
          <a:p>
            <a:r>
              <a:rPr lang="en-US" sz="1800" dirty="0"/>
              <a:t>Manufacturing Production Dashboard.  </a:t>
            </a:r>
          </a:p>
          <a:p>
            <a:r>
              <a:rPr lang="en-US" sz="1800" dirty="0"/>
              <a:t>IT Data Analytics Dashboard.  </a:t>
            </a:r>
          </a:p>
          <a:p>
            <a:r>
              <a:rPr lang="en-US" sz="1800" dirty="0"/>
              <a:t>Logistics Transportation Dashboard.</a:t>
            </a:r>
          </a:p>
          <a:p>
            <a:endParaRPr lang="en-US" dirty="0"/>
          </a:p>
        </p:txBody>
      </p:sp>
      <p:pic>
        <p:nvPicPr>
          <p:cNvPr id="15362" name="Picture 2" descr="What Is A Data Dashboard? Definition, Meaning &amp; Examples"/>
          <p:cNvPicPr>
            <a:picLocks noChangeAspect="1" noChangeArrowheads="1"/>
          </p:cNvPicPr>
          <p:nvPr/>
        </p:nvPicPr>
        <p:blipFill>
          <a:blip r:embed="rId2" cstate="print"/>
          <a:srcRect/>
          <a:stretch>
            <a:fillRect/>
          </a:stretch>
        </p:blipFill>
        <p:spPr bwMode="auto">
          <a:xfrm>
            <a:off x="5334000" y="609600"/>
            <a:ext cx="3581399" cy="1659382"/>
          </a:xfrm>
          <a:prstGeom prst="rect">
            <a:avLst/>
          </a:prstGeom>
          <a:noFill/>
        </p:spPr>
      </p:pic>
      <p:pic>
        <p:nvPicPr>
          <p:cNvPr id="15364" name="Picture 4" descr="What is a Data Dashboard?"/>
          <p:cNvPicPr>
            <a:picLocks noChangeAspect="1" noChangeArrowheads="1"/>
          </p:cNvPicPr>
          <p:nvPr/>
        </p:nvPicPr>
        <p:blipFill>
          <a:blip r:embed="rId3" cstate="print"/>
          <a:srcRect/>
          <a:stretch>
            <a:fillRect/>
          </a:stretch>
        </p:blipFill>
        <p:spPr bwMode="auto">
          <a:xfrm>
            <a:off x="5334000" y="2514600"/>
            <a:ext cx="3581400" cy="2128762"/>
          </a:xfrm>
          <a:prstGeom prst="rect">
            <a:avLst/>
          </a:prstGeom>
          <a:noFill/>
        </p:spPr>
      </p:pic>
      <p:pic>
        <p:nvPicPr>
          <p:cNvPr id="15366" name="Picture 6" descr="Data Analytics / Live Dashboard | Projectory"/>
          <p:cNvPicPr>
            <a:picLocks noChangeAspect="1" noChangeArrowheads="1"/>
          </p:cNvPicPr>
          <p:nvPr/>
        </p:nvPicPr>
        <p:blipFill>
          <a:blip r:embed="rId4" cstate="print"/>
          <a:srcRect/>
          <a:stretch>
            <a:fillRect/>
          </a:stretch>
        </p:blipFill>
        <p:spPr bwMode="auto">
          <a:xfrm>
            <a:off x="5410200" y="4800600"/>
            <a:ext cx="3505200" cy="1828800"/>
          </a:xfrm>
          <a:prstGeom prst="rect">
            <a:avLst/>
          </a:prstGeom>
          <a:noFill/>
        </p:spPr>
      </p:pic>
      <p:sp>
        <p:nvSpPr>
          <p:cNvPr id="15368" name="AutoShape 8" descr="Car Dashboard. Speedometer, Tachometer, Fuel And Temperature.. Royalty Free  Cliparts, Vectors, And Stock Illustration. Image 8440469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370" name="Picture 10" descr="Car Dashboard. Speedometer, Tachometer, Fuel And Temperature.. Royalty Free  Cliparts, Vectors, And Stock Illustration. Image 84404697."/>
          <p:cNvPicPr>
            <a:picLocks noChangeAspect="1" noChangeArrowheads="1"/>
          </p:cNvPicPr>
          <p:nvPr/>
        </p:nvPicPr>
        <p:blipFill>
          <a:blip r:embed="rId5" cstate="print"/>
          <a:srcRect/>
          <a:stretch>
            <a:fillRect/>
          </a:stretch>
        </p:blipFill>
        <p:spPr bwMode="auto">
          <a:xfrm>
            <a:off x="0" y="5385933"/>
            <a:ext cx="2209800" cy="1472067"/>
          </a:xfrm>
          <a:prstGeom prst="rect">
            <a:avLst/>
          </a:prstGeom>
          <a:noFill/>
        </p:spPr>
      </p:pic>
      <p:pic>
        <p:nvPicPr>
          <p:cNvPr id="15372" name="Picture 12" descr="Ultimate Speedometer in Excel - PK: An Excel Expert"/>
          <p:cNvPicPr>
            <a:picLocks noChangeAspect="1" noChangeArrowheads="1"/>
          </p:cNvPicPr>
          <p:nvPr/>
        </p:nvPicPr>
        <p:blipFill>
          <a:blip r:embed="rId6" cstate="print"/>
          <a:srcRect/>
          <a:stretch>
            <a:fillRect/>
          </a:stretch>
        </p:blipFill>
        <p:spPr bwMode="auto">
          <a:xfrm>
            <a:off x="2438400" y="5334000"/>
            <a:ext cx="2934359" cy="129539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Digital Dashboards: Benefits</a:t>
            </a:r>
            <a:endParaRPr lang="en-US" dirty="0"/>
          </a:p>
        </p:txBody>
      </p:sp>
      <p:sp>
        <p:nvSpPr>
          <p:cNvPr id="3" name="Content Placeholder 2"/>
          <p:cNvSpPr>
            <a:spLocks noGrp="1"/>
          </p:cNvSpPr>
          <p:nvPr>
            <p:ph idx="1"/>
          </p:nvPr>
        </p:nvSpPr>
        <p:spPr/>
        <p:txBody>
          <a:bodyPr>
            <a:normAutofit fontScale="92500"/>
          </a:bodyPr>
          <a:lstStyle/>
          <a:p>
            <a:pPr lvl="0"/>
            <a:r>
              <a:rPr lang="en-IN" dirty="0"/>
              <a:t>Visual presentation of performance measures</a:t>
            </a:r>
            <a:endParaRPr lang="en-US" dirty="0"/>
          </a:p>
          <a:p>
            <a:pPr lvl="0"/>
            <a:r>
              <a:rPr lang="en-IN" dirty="0"/>
              <a:t>Ability to identify and correct negative trends</a:t>
            </a:r>
            <a:endParaRPr lang="en-US" dirty="0"/>
          </a:p>
          <a:p>
            <a:pPr lvl="0"/>
            <a:r>
              <a:rPr lang="en-IN" dirty="0"/>
              <a:t>Measure efficiencies/inefficiencies</a:t>
            </a:r>
            <a:endParaRPr lang="en-US" dirty="0"/>
          </a:p>
          <a:p>
            <a:pPr lvl="0"/>
            <a:r>
              <a:rPr lang="en-IN" dirty="0"/>
              <a:t>Ability to generate detailed reports showing new trends</a:t>
            </a:r>
            <a:endParaRPr lang="en-US" dirty="0"/>
          </a:p>
          <a:p>
            <a:pPr lvl="0"/>
            <a:r>
              <a:rPr lang="en-IN" dirty="0"/>
              <a:t>Ability to make more informed decisions based on collected business intelligence</a:t>
            </a:r>
            <a:endParaRPr lang="en-US" dirty="0"/>
          </a:p>
          <a:p>
            <a:pPr lvl="0"/>
            <a:r>
              <a:rPr lang="en-IN" dirty="0"/>
              <a:t>Align strategies and organizational goals</a:t>
            </a:r>
            <a:endParaRPr lang="en-US" dirty="0"/>
          </a:p>
          <a:p>
            <a:pPr lvl="0"/>
            <a:r>
              <a:rPr lang="en-IN" dirty="0"/>
              <a:t>Saves time compared to running multiple reports</a:t>
            </a:r>
            <a:endParaRPr lang="en-US" dirty="0"/>
          </a:p>
          <a:p>
            <a:pPr lvl="0"/>
            <a:r>
              <a:rPr lang="en-IN" dirty="0"/>
              <a:t>Gain total visibility of all systems instantly</a:t>
            </a:r>
            <a:endParaRPr lang="en-US" dirty="0"/>
          </a:p>
          <a:p>
            <a:pPr lvl="0"/>
            <a:r>
              <a:rPr lang="en-IN" dirty="0"/>
              <a:t>Quick identification of data outliers and correlations</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Balance Business Score Card (BSC) or Customer Goals</a:t>
            </a:r>
            <a:endParaRPr lang="en-US" dirty="0"/>
          </a:p>
        </p:txBody>
      </p:sp>
      <p:sp>
        <p:nvSpPr>
          <p:cNvPr id="3" name="Content Placeholder 2"/>
          <p:cNvSpPr>
            <a:spLocks noGrp="1"/>
          </p:cNvSpPr>
          <p:nvPr>
            <p:ph idx="1"/>
          </p:nvPr>
        </p:nvSpPr>
        <p:spPr/>
        <p:txBody>
          <a:bodyPr/>
          <a:lstStyle/>
          <a:p>
            <a:r>
              <a:rPr lang="en-US" dirty="0"/>
              <a:t>A balanced scorecard is a strategy performance management tool – a semi-standard structured report, that can be used by managers to keep track of the execution of activities by the staff within their control and to monitor the consequences arising from these actions.</a:t>
            </a:r>
          </a:p>
        </p:txBody>
      </p:sp>
      <p:sp>
        <p:nvSpPr>
          <p:cNvPr id="24578" name="AutoShape 2" descr="Marketing Theories - Balanced Scorecard - Professional Academ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4580" name="Picture 4" descr="Marketing Theories - Balanced Scorecard - Professional Academy"/>
          <p:cNvPicPr>
            <a:picLocks noChangeAspect="1" noChangeArrowheads="1"/>
          </p:cNvPicPr>
          <p:nvPr/>
        </p:nvPicPr>
        <p:blipFill>
          <a:blip r:embed="rId2" cstate="print"/>
          <a:srcRect/>
          <a:stretch>
            <a:fillRect/>
          </a:stretch>
        </p:blipFill>
        <p:spPr bwMode="auto">
          <a:xfrm>
            <a:off x="381000" y="4495800"/>
            <a:ext cx="3352800" cy="2362200"/>
          </a:xfrm>
          <a:prstGeom prst="rect">
            <a:avLst/>
          </a:prstGeom>
          <a:noFill/>
        </p:spPr>
      </p:pic>
      <p:pic>
        <p:nvPicPr>
          <p:cNvPr id="24582" name="Picture 6" descr="Sustainability | Free Full-Text | Green Transport Balanced Scorecard Model  with Analytic Network Process Support | HTML"/>
          <p:cNvPicPr>
            <a:picLocks noChangeAspect="1" noChangeArrowheads="1"/>
          </p:cNvPicPr>
          <p:nvPr/>
        </p:nvPicPr>
        <p:blipFill>
          <a:blip r:embed="rId3" cstate="print"/>
          <a:srcRect/>
          <a:stretch>
            <a:fillRect/>
          </a:stretch>
        </p:blipFill>
        <p:spPr bwMode="auto">
          <a:xfrm>
            <a:off x="5105400" y="4648200"/>
            <a:ext cx="3581400" cy="2055989"/>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GB" dirty="0"/>
              <a:t>BSC: Types</a:t>
            </a:r>
            <a:endParaRPr lang="en-US" dirty="0"/>
          </a:p>
        </p:txBody>
      </p:sp>
      <p:sp>
        <p:nvSpPr>
          <p:cNvPr id="3" name="Content Placeholder 2"/>
          <p:cNvSpPr>
            <a:spLocks noGrp="1"/>
          </p:cNvSpPr>
          <p:nvPr>
            <p:ph idx="1"/>
          </p:nvPr>
        </p:nvSpPr>
        <p:spPr/>
        <p:txBody>
          <a:bodyPr/>
          <a:lstStyle/>
          <a:p>
            <a:endParaRPr lang="en-US" dirty="0"/>
          </a:p>
        </p:txBody>
      </p:sp>
      <p:pic>
        <p:nvPicPr>
          <p:cNvPr id="20482" name="Picture 2" descr="Advantages of Balanced Scorecard within Your Business - Latest Quality"/>
          <p:cNvPicPr>
            <a:picLocks noChangeAspect="1" noChangeArrowheads="1"/>
          </p:cNvPicPr>
          <p:nvPr/>
        </p:nvPicPr>
        <p:blipFill>
          <a:blip r:embed="rId2" cstate="print"/>
          <a:srcRect/>
          <a:stretch>
            <a:fillRect/>
          </a:stretch>
        </p:blipFill>
        <p:spPr bwMode="auto">
          <a:xfrm>
            <a:off x="609600" y="1752600"/>
            <a:ext cx="8001000" cy="484505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BSC: Four elements</a:t>
            </a:r>
          </a:p>
        </p:txBody>
      </p:sp>
      <p:sp>
        <p:nvSpPr>
          <p:cNvPr id="3" name="Content Placeholder 2"/>
          <p:cNvSpPr>
            <a:spLocks noGrp="1"/>
          </p:cNvSpPr>
          <p:nvPr>
            <p:ph idx="1"/>
          </p:nvPr>
        </p:nvSpPr>
        <p:spPr/>
        <p:txBody>
          <a:bodyPr/>
          <a:lstStyle/>
          <a:p>
            <a:r>
              <a:rPr lang="en-US" b="1" dirty="0"/>
              <a:t>learning</a:t>
            </a:r>
            <a:r>
              <a:rPr lang="en-US" dirty="0"/>
              <a:t> and </a:t>
            </a:r>
            <a:r>
              <a:rPr lang="en-US" b="1" dirty="0"/>
              <a:t>growth</a:t>
            </a:r>
            <a:r>
              <a:rPr lang="en-US" dirty="0"/>
              <a:t>, </a:t>
            </a:r>
          </a:p>
          <a:p>
            <a:r>
              <a:rPr lang="en-US" b="1" dirty="0"/>
              <a:t>business processes</a:t>
            </a:r>
            <a:r>
              <a:rPr lang="en-US" dirty="0"/>
              <a:t>, </a:t>
            </a:r>
          </a:p>
          <a:p>
            <a:r>
              <a:rPr lang="en-US" b="1" dirty="0"/>
              <a:t>customers</a:t>
            </a:r>
            <a:r>
              <a:rPr lang="en-US" dirty="0"/>
              <a:t>, and </a:t>
            </a:r>
          </a:p>
          <a:p>
            <a:r>
              <a:rPr lang="en-US" b="1" dirty="0"/>
              <a:t>finance</a:t>
            </a:r>
          </a:p>
        </p:txBody>
      </p:sp>
      <p:sp>
        <p:nvSpPr>
          <p:cNvPr id="4" name="Rectangle 3"/>
          <p:cNvSpPr/>
          <p:nvPr/>
        </p:nvSpPr>
        <p:spPr>
          <a:xfrm>
            <a:off x="1012800" y="4648200"/>
            <a:ext cx="7543800" cy="923330"/>
          </a:xfrm>
          <a:prstGeom prst="rect">
            <a:avLst/>
          </a:prstGeom>
        </p:spPr>
        <p:txBody>
          <a:bodyPr wrap="square">
            <a:spAutoFit/>
          </a:bodyPr>
          <a:lstStyle/>
          <a:p>
            <a:pPr>
              <a:buNone/>
            </a:pPr>
            <a:r>
              <a:rPr lang="en-US" dirty="0">
                <a:hlinkClick r:id="rId2"/>
              </a:rPr>
              <a:t>https://www.youtube.com/watch?v=OZtNk__7Qyg</a:t>
            </a:r>
            <a:r>
              <a:rPr lang="en-US" dirty="0"/>
              <a:t> (6.4 </a:t>
            </a:r>
            <a:r>
              <a:rPr lang="en-US" dirty="0" err="1"/>
              <a:t>mts</a:t>
            </a:r>
            <a:r>
              <a:rPr lang="en-US" dirty="0"/>
              <a:t>)</a:t>
            </a:r>
          </a:p>
          <a:p>
            <a:pPr>
              <a:buNone/>
            </a:pPr>
            <a:r>
              <a:rPr lang="en-US" dirty="0">
                <a:hlinkClick r:id="rId3"/>
              </a:rPr>
              <a:t>https://www.youtube.com/watch?v=biyGxEix5Zs</a:t>
            </a:r>
            <a:r>
              <a:rPr lang="en-US" dirty="0"/>
              <a:t> (Harvard Business Review, 2.4 </a:t>
            </a:r>
            <a:r>
              <a:rPr lang="en-US" dirty="0" err="1"/>
              <a:t>mts</a:t>
            </a:r>
            <a:r>
              <a:rPr lang="en-US" dirty="0"/>
              <a:t>)</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BSC so important?</a:t>
            </a:r>
          </a:p>
        </p:txBody>
      </p:sp>
      <p:sp>
        <p:nvSpPr>
          <p:cNvPr id="3" name="Content Placeholder 2"/>
          <p:cNvSpPr>
            <a:spLocks noGrp="1"/>
          </p:cNvSpPr>
          <p:nvPr>
            <p:ph idx="1"/>
          </p:nvPr>
        </p:nvSpPr>
        <p:spPr>
          <a:xfrm>
            <a:off x="609600" y="2468880"/>
            <a:ext cx="8229600" cy="4389120"/>
          </a:xfrm>
        </p:spPr>
        <p:txBody>
          <a:bodyPr/>
          <a:lstStyle/>
          <a:p>
            <a:r>
              <a:rPr lang="en-US" dirty="0"/>
              <a:t>The </a:t>
            </a:r>
            <a:r>
              <a:rPr lang="en-US" b="1" dirty="0"/>
              <a:t>Balanced Scorecard</a:t>
            </a:r>
            <a:r>
              <a:rPr lang="en-US" dirty="0"/>
              <a:t> can be used to guide the design of performance reports and dashboards. </a:t>
            </a:r>
          </a:p>
          <a:p>
            <a:r>
              <a:rPr lang="en-US" dirty="0"/>
              <a:t>This ensures that the management reporting focuses on the most </a:t>
            </a:r>
            <a:r>
              <a:rPr lang="en-US" b="1" dirty="0"/>
              <a:t>important</a:t>
            </a:r>
            <a:r>
              <a:rPr lang="en-US" dirty="0"/>
              <a:t> strategic issues and helps companies monitor the execution of their plan.</a:t>
            </a:r>
          </a:p>
        </p:txBody>
      </p:sp>
      <p:sp>
        <p:nvSpPr>
          <p:cNvPr id="4" name="TextBox 3"/>
          <p:cNvSpPr txBox="1"/>
          <p:nvPr/>
        </p:nvSpPr>
        <p:spPr>
          <a:xfrm>
            <a:off x="914400" y="5410200"/>
            <a:ext cx="5369547" cy="923330"/>
          </a:xfrm>
          <a:prstGeom prst="rect">
            <a:avLst/>
          </a:prstGeom>
          <a:noFill/>
        </p:spPr>
        <p:txBody>
          <a:bodyPr wrap="none" rtlCol="0">
            <a:spAutoFit/>
          </a:bodyPr>
          <a:lstStyle/>
          <a:p>
            <a:r>
              <a:rPr lang="en-US" dirty="0">
                <a:solidFill>
                  <a:srgbClr val="FF0000"/>
                </a:solidFill>
              </a:rPr>
              <a:t>ROI: return of Investment</a:t>
            </a:r>
          </a:p>
          <a:p>
            <a:r>
              <a:rPr lang="en-US" dirty="0">
                <a:solidFill>
                  <a:srgbClr val="FF0000"/>
                </a:solidFill>
              </a:rPr>
              <a:t>KPI: Key Performance Indicators </a:t>
            </a:r>
          </a:p>
          <a:p>
            <a:r>
              <a:rPr lang="en-US" dirty="0">
                <a:solidFill>
                  <a:srgbClr val="FF0000"/>
                </a:solidFill>
              </a:rPr>
              <a:t>KPI: Key process inputs, KPO: Key Process outputs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BSC: Benefits</a:t>
            </a:r>
          </a:p>
        </p:txBody>
      </p:sp>
      <p:sp>
        <p:nvSpPr>
          <p:cNvPr id="3" name="Content Placeholder 2"/>
          <p:cNvSpPr>
            <a:spLocks noGrp="1"/>
          </p:cNvSpPr>
          <p:nvPr>
            <p:ph idx="1"/>
          </p:nvPr>
        </p:nvSpPr>
        <p:spPr>
          <a:xfrm>
            <a:off x="457200" y="1828800"/>
            <a:ext cx="8229600" cy="4389120"/>
          </a:xfrm>
        </p:spPr>
        <p:txBody>
          <a:bodyPr>
            <a:normAutofit/>
          </a:bodyPr>
          <a:lstStyle/>
          <a:p>
            <a:r>
              <a:rPr lang="en-US" dirty="0"/>
              <a:t>Better Strategic Planning</a:t>
            </a:r>
          </a:p>
          <a:p>
            <a:r>
              <a:rPr lang="en-US" dirty="0"/>
              <a:t>Improved Strategy Communication &amp; Execution</a:t>
            </a:r>
          </a:p>
          <a:p>
            <a:r>
              <a:rPr lang="en-US" dirty="0"/>
              <a:t>Better Alignment of Projects and Initiatives</a:t>
            </a:r>
          </a:p>
          <a:p>
            <a:r>
              <a:rPr lang="en-US" dirty="0"/>
              <a:t>Better Management Information</a:t>
            </a:r>
          </a:p>
          <a:p>
            <a:r>
              <a:rPr lang="en-US" dirty="0"/>
              <a:t>Improved Performance Reporting</a:t>
            </a:r>
          </a:p>
          <a:p>
            <a:r>
              <a:rPr lang="en-US" dirty="0"/>
              <a:t>Better Organizational Alignment</a:t>
            </a:r>
          </a:p>
          <a:p>
            <a:r>
              <a:rPr lang="en-US" dirty="0"/>
              <a:t>Better Process Alignment</a:t>
            </a:r>
          </a:p>
          <a:p>
            <a:pPr>
              <a:buNone/>
            </a:pPr>
            <a:endParaRPr 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GB" dirty="0"/>
              <a:t>Voice of Customer  </a:t>
            </a:r>
            <a:endParaRPr lang="en-US" dirty="0"/>
          </a:p>
        </p:txBody>
      </p:sp>
      <p:sp>
        <p:nvSpPr>
          <p:cNvPr id="3" name="Content Placeholder 2"/>
          <p:cNvSpPr>
            <a:spLocks noGrp="1"/>
          </p:cNvSpPr>
          <p:nvPr>
            <p:ph idx="1"/>
          </p:nvPr>
        </p:nvSpPr>
        <p:spPr>
          <a:xfrm>
            <a:off x="457200" y="1676400"/>
            <a:ext cx="8229600" cy="4648200"/>
          </a:xfrm>
        </p:spPr>
        <p:txBody>
          <a:bodyPr>
            <a:normAutofit fontScale="85000" lnSpcReduction="20000"/>
          </a:bodyPr>
          <a:lstStyle/>
          <a:p>
            <a:r>
              <a:rPr lang="en-IN" b="1" dirty="0"/>
              <a:t>Voice of the customer</a:t>
            </a:r>
            <a:r>
              <a:rPr lang="en-IN" dirty="0"/>
              <a:t> (VOC) is a term used in business and Information Technology to describe the in-depth process of capturing a customer's expectations, preferences and aversions. </a:t>
            </a:r>
          </a:p>
          <a:p>
            <a:r>
              <a:rPr lang="en-IN" dirty="0"/>
              <a:t>Specifically, the Voice of the Customer is a market research technique that produces a detailed set of customer wants and needs, organized into a hierarchical structure, and then prioritized in terms of relative importance and satisfaction with current alternatives. </a:t>
            </a:r>
          </a:p>
          <a:p>
            <a:r>
              <a:rPr lang="en-IN" dirty="0"/>
              <a:t>Voice of the Customer studies typically consist of both qualitative and quantitative research steps. </a:t>
            </a:r>
          </a:p>
          <a:p>
            <a:r>
              <a:rPr lang="en-IN" dirty="0"/>
              <a:t>They are generally conducted at the start of any new product, process, or service design initiative in order to better understand the customer's wants and needs, and as the key input for new product definition, Quality Function Deployment (QFD), and the setting of detailed design specifications.</a:t>
            </a:r>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Understanding the Voice of the Customer | Lucidchart Blog"/>
          <p:cNvPicPr>
            <a:picLocks noChangeAspect="1" noChangeArrowheads="1"/>
          </p:cNvPicPr>
          <p:nvPr/>
        </p:nvPicPr>
        <p:blipFill>
          <a:blip r:embed="rId2" cstate="print"/>
          <a:srcRect/>
          <a:stretch>
            <a:fillRect/>
          </a:stretch>
        </p:blipFill>
        <p:spPr bwMode="auto">
          <a:xfrm>
            <a:off x="1219200" y="0"/>
            <a:ext cx="6936828" cy="68580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Steps involved in building an effective VOC analytics program</a:t>
            </a:r>
          </a:p>
        </p:txBody>
      </p:sp>
      <p:sp>
        <p:nvSpPr>
          <p:cNvPr id="3" name="Content Placeholder 2"/>
          <p:cNvSpPr>
            <a:spLocks noGrp="1"/>
          </p:cNvSpPr>
          <p:nvPr>
            <p:ph idx="1"/>
          </p:nvPr>
        </p:nvSpPr>
        <p:spPr/>
        <p:txBody>
          <a:bodyPr/>
          <a:lstStyle/>
          <a:p>
            <a:r>
              <a:rPr lang="en-US" dirty="0"/>
              <a:t>Identify a question.</a:t>
            </a:r>
          </a:p>
          <a:p>
            <a:r>
              <a:rPr lang="en-US" dirty="0"/>
              <a:t>Gather and prepare data.</a:t>
            </a:r>
          </a:p>
          <a:p>
            <a:r>
              <a:rPr lang="en-US" dirty="0"/>
              <a:t>Choose your tools.</a:t>
            </a:r>
          </a:p>
          <a:p>
            <a:r>
              <a:rPr lang="en-US" dirty="0"/>
              <a:t>Analyze and troubleshoot.</a:t>
            </a:r>
          </a:p>
          <a:p>
            <a:r>
              <a:rPr lang="en-US" dirty="0"/>
              <a:t>Draw conclusions.</a:t>
            </a:r>
          </a:p>
          <a:p>
            <a:r>
              <a:rPr lang="en-US" dirty="0"/>
              <a:t>Take action.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 Benefits</a:t>
            </a:r>
          </a:p>
        </p:txBody>
      </p:sp>
      <p:sp>
        <p:nvSpPr>
          <p:cNvPr id="3" name="Content Placeholder 2"/>
          <p:cNvSpPr>
            <a:spLocks noGrp="1"/>
          </p:cNvSpPr>
          <p:nvPr>
            <p:ph idx="1"/>
          </p:nvPr>
        </p:nvSpPr>
        <p:spPr/>
        <p:txBody>
          <a:bodyPr/>
          <a:lstStyle/>
          <a:p>
            <a:r>
              <a:rPr lang="en-US" dirty="0"/>
              <a:t>Understanding the Voice of the Customer helps you:</a:t>
            </a:r>
          </a:p>
          <a:p>
            <a:pPr lvl="1"/>
            <a:r>
              <a:rPr lang="en-US" dirty="0"/>
              <a:t>Understand your customers’ requirements.</a:t>
            </a:r>
          </a:p>
          <a:p>
            <a:pPr lvl="1"/>
            <a:r>
              <a:rPr lang="en-US" dirty="0"/>
              <a:t>Make informed business decisions that align with customer needs and expectations.</a:t>
            </a:r>
          </a:p>
          <a:p>
            <a:pPr lvl="1"/>
            <a:r>
              <a:rPr lang="en-US" dirty="0"/>
              <a:t>Discover market fit and nail the timing of new product launches.</a:t>
            </a:r>
          </a:p>
          <a:p>
            <a:pPr lvl="1"/>
            <a:r>
              <a:rPr lang="en-US" dirty="0"/>
              <a:t>Improve brand management and brand reputation.</a:t>
            </a:r>
          </a:p>
          <a:p>
            <a:pPr lvl="1"/>
            <a:r>
              <a:rPr lang="en-US" dirty="0"/>
              <a:t>Increase customer retention.</a:t>
            </a:r>
          </a:p>
          <a:p>
            <a:pPr lvl="1"/>
            <a:r>
              <a:rPr lang="en-US" dirty="0"/>
              <a:t>Minimize negative feedback and experiences.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Quality Function Deployment</a:t>
            </a:r>
            <a:endParaRPr lang="en-US" dirty="0"/>
          </a:p>
        </p:txBody>
      </p:sp>
      <p:sp>
        <p:nvSpPr>
          <p:cNvPr id="3" name="Content Placeholder 2"/>
          <p:cNvSpPr>
            <a:spLocks noGrp="1"/>
          </p:cNvSpPr>
          <p:nvPr>
            <p:ph idx="1"/>
          </p:nvPr>
        </p:nvSpPr>
        <p:spPr/>
        <p:txBody>
          <a:bodyPr>
            <a:normAutofit/>
          </a:bodyPr>
          <a:lstStyle/>
          <a:p>
            <a:r>
              <a:rPr lang="en-IN" b="1" dirty="0"/>
              <a:t>Quality function deployment (QFD)</a:t>
            </a:r>
            <a:r>
              <a:rPr lang="en-IN" dirty="0"/>
              <a:t> is a “method to transform user demands into design quality, to deploy the functions forming quality, and to deploy methods for achieving the design quality into subsystems and component parts, and ultimately to specific elements of the manufacturing process.”, </a:t>
            </a:r>
          </a:p>
          <a:p>
            <a:r>
              <a:rPr lang="en-IN" dirty="0"/>
              <a:t>Dr. </a:t>
            </a:r>
            <a:r>
              <a:rPr lang="en-IN" dirty="0" err="1"/>
              <a:t>Yoji</a:t>
            </a:r>
            <a:r>
              <a:rPr lang="en-IN" dirty="0"/>
              <a:t> </a:t>
            </a:r>
            <a:r>
              <a:rPr lang="en-IN" dirty="0" err="1"/>
              <a:t>Akao</a:t>
            </a:r>
            <a:r>
              <a:rPr lang="en-IN" dirty="0"/>
              <a:t>, who originally developed QFD in Japan in 1966, when the author combined his work in quality assurance and quality control points with function deployment used in value engineering.</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QFD: </a:t>
            </a:r>
            <a:r>
              <a:rPr lang="en-IN" dirty="0"/>
              <a:t>Characteristics </a:t>
            </a:r>
            <a:endParaRPr lang="en-US" dirty="0"/>
          </a:p>
        </p:txBody>
      </p:sp>
      <p:sp>
        <p:nvSpPr>
          <p:cNvPr id="3" name="Content Placeholder 2"/>
          <p:cNvSpPr>
            <a:spLocks noGrp="1"/>
          </p:cNvSpPr>
          <p:nvPr>
            <p:ph idx="1"/>
          </p:nvPr>
        </p:nvSpPr>
        <p:spPr/>
        <p:txBody>
          <a:bodyPr>
            <a:normAutofit fontScale="92500" lnSpcReduction="10000"/>
          </a:bodyPr>
          <a:lstStyle/>
          <a:p>
            <a:r>
              <a:rPr lang="en-IN" dirty="0"/>
              <a:t>QFD is designed to help planners focus on characteristics of a new or existing product or service from the viewpoints of market segments, company, or technology-development needs. The technique yields charts and matrices.</a:t>
            </a:r>
            <a:endParaRPr lang="en-US" dirty="0"/>
          </a:p>
          <a:p>
            <a:r>
              <a:rPr lang="en-IN" dirty="0"/>
              <a:t>QFD helps transform customer needs (the voice of the customer [VOC]) into engineering characteristics (and appropriate test methods) for a product or service, prioritizing each product or service characteristic while simultaneously setting development targets for product or service.</a:t>
            </a:r>
            <a:endParaRPr lang="en-US" dirty="0"/>
          </a:p>
          <a:p>
            <a:r>
              <a:rPr lang="en-IN" dirty="0"/>
              <a:t>QFD House of Quality for Enterprise Product Development Processes. </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a:t>QFD: Techniques</a:t>
            </a:r>
          </a:p>
        </p:txBody>
      </p:sp>
      <p:sp>
        <p:nvSpPr>
          <p:cNvPr id="3" name="Content Placeholder 2"/>
          <p:cNvSpPr>
            <a:spLocks noGrp="1"/>
          </p:cNvSpPr>
          <p:nvPr>
            <p:ph idx="1"/>
          </p:nvPr>
        </p:nvSpPr>
        <p:spPr>
          <a:xfrm>
            <a:off x="457200" y="1600200"/>
            <a:ext cx="8229600" cy="4953000"/>
          </a:xfrm>
        </p:spPr>
        <p:txBody>
          <a:bodyPr>
            <a:normAutofit fontScale="70000" lnSpcReduction="20000"/>
          </a:bodyPr>
          <a:lstStyle/>
          <a:p>
            <a:r>
              <a:rPr lang="en-IN" b="1" dirty="0"/>
              <a:t>House of Quality</a:t>
            </a:r>
          </a:p>
          <a:p>
            <a:pPr lvl="1"/>
            <a:r>
              <a:rPr lang="en-IN" dirty="0"/>
              <a:t>House of Quality appeared in 1972 in the design of an oil tanker by Mitsubishi Heavy Industries.</a:t>
            </a:r>
            <a:endParaRPr lang="en-US" b="1" dirty="0"/>
          </a:p>
          <a:p>
            <a:r>
              <a:rPr lang="en-IN" b="1" dirty="0"/>
              <a:t>Pugh concept selection</a:t>
            </a:r>
          </a:p>
          <a:p>
            <a:pPr lvl="1"/>
            <a:r>
              <a:rPr lang="en-IN" dirty="0"/>
              <a:t>Pugh Concept Selection can be used in coordination with QFD to select a promising product or service configuration from among listed alternatives.</a:t>
            </a:r>
            <a:endParaRPr lang="en-US" dirty="0"/>
          </a:p>
          <a:p>
            <a:r>
              <a:rPr lang="en-IN" b="1" dirty="0"/>
              <a:t>Modular Function Deployment</a:t>
            </a:r>
          </a:p>
          <a:p>
            <a:pPr lvl="1"/>
            <a:r>
              <a:rPr lang="en-IN" dirty="0"/>
              <a:t>Modular</a:t>
            </a:r>
            <a:r>
              <a:rPr lang="en-IN" u="sng" dirty="0"/>
              <a:t> </a:t>
            </a:r>
            <a:r>
              <a:rPr lang="en-IN" dirty="0"/>
              <a:t>Function Deployment uses QFD to establish customer requirements and to identify important design requirements with a special emphasis on modularity.</a:t>
            </a:r>
            <a:endParaRPr lang="en-IN" b="1" dirty="0"/>
          </a:p>
          <a:p>
            <a:r>
              <a:rPr lang="en-IN" b="1" dirty="0" err="1"/>
              <a:t>Hoshin</a:t>
            </a:r>
            <a:r>
              <a:rPr lang="en-IN" b="1" dirty="0"/>
              <a:t> </a:t>
            </a:r>
            <a:r>
              <a:rPr lang="en-IN" b="1" dirty="0" err="1"/>
              <a:t>Kanri</a:t>
            </a:r>
            <a:r>
              <a:rPr lang="en-IN" b="1" dirty="0"/>
              <a:t> process</a:t>
            </a:r>
          </a:p>
          <a:p>
            <a:pPr lvl="1"/>
            <a:r>
              <a:rPr lang="en-IN" dirty="0"/>
              <a:t>The QFD-associated </a:t>
            </a:r>
            <a:r>
              <a:rPr lang="en-IN" dirty="0" err="1"/>
              <a:t>Hoshin-Kanri</a:t>
            </a:r>
            <a:r>
              <a:rPr lang="en-IN" dirty="0"/>
              <a:t> process somewhat resembles Management by objectives (MBO), but adds a significant element in the goal setting process, called "</a:t>
            </a:r>
            <a:r>
              <a:rPr lang="en-IN" dirty="0" err="1"/>
              <a:t>catchball</a:t>
            </a:r>
            <a:r>
              <a:rPr lang="en-IN" dirty="0"/>
              <a:t>". </a:t>
            </a:r>
          </a:p>
          <a:p>
            <a:pPr lvl="1"/>
            <a:r>
              <a:rPr lang="en-IN" dirty="0"/>
              <a:t>Use of these </a:t>
            </a:r>
            <a:r>
              <a:rPr lang="en-IN" dirty="0" err="1"/>
              <a:t>Hoshin</a:t>
            </a:r>
            <a:r>
              <a:rPr lang="en-IN" dirty="0"/>
              <a:t> techniques by U.S. companies such as Hewlett Packard have been successful in focusing and aligning company resources to follow stated strategic goals throughout an organizational hierarchy.</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QFD: Video watch</a:t>
            </a:r>
          </a:p>
        </p:txBody>
      </p:sp>
      <p:sp>
        <p:nvSpPr>
          <p:cNvPr id="3" name="Content Placeholder 2"/>
          <p:cNvSpPr>
            <a:spLocks noGrp="1"/>
          </p:cNvSpPr>
          <p:nvPr>
            <p:ph idx="1"/>
          </p:nvPr>
        </p:nvSpPr>
        <p:spPr/>
        <p:txBody>
          <a:bodyPr/>
          <a:lstStyle/>
          <a:p>
            <a:r>
              <a:rPr lang="en-US" dirty="0">
                <a:hlinkClick r:id="rId2"/>
              </a:rPr>
              <a:t>https://www.youtube.com/watch?v=X1KONQw02H8</a:t>
            </a:r>
            <a:r>
              <a:rPr lang="en-US" dirty="0"/>
              <a:t> (13 </a:t>
            </a:r>
            <a:r>
              <a:rPr lang="en-US" dirty="0" err="1"/>
              <a:t>mits</a:t>
            </a:r>
            <a:r>
              <a:rPr lang="en-US" dirty="0"/>
              <a:t>)</a:t>
            </a:r>
          </a:p>
          <a:p>
            <a:r>
              <a:rPr lang="en-US" dirty="0">
                <a:hlinkClick r:id="rId3"/>
              </a:rPr>
              <a:t>https://www.youtube.com/watch?v=Mn_Hd9ZtIGw</a:t>
            </a:r>
            <a:r>
              <a:rPr lang="en-US" dirty="0"/>
              <a:t> (5.46 mints)</a:t>
            </a:r>
          </a:p>
          <a:p>
            <a:endParaRPr lang="en-US" dirty="0"/>
          </a:p>
          <a:p>
            <a:endParaRPr lang="en-US" dirty="0"/>
          </a:p>
          <a:p>
            <a:endParaRPr lang="en-US" dirty="0"/>
          </a:p>
        </p:txBody>
      </p:sp>
      <p:sp>
        <p:nvSpPr>
          <p:cNvPr id="4" name="TextBox 3"/>
          <p:cNvSpPr txBox="1"/>
          <p:nvPr/>
        </p:nvSpPr>
        <p:spPr>
          <a:xfrm>
            <a:off x="685800" y="4648200"/>
            <a:ext cx="8143576" cy="1200329"/>
          </a:xfrm>
          <a:prstGeom prst="rect">
            <a:avLst/>
          </a:prstGeom>
          <a:noFill/>
        </p:spPr>
        <p:txBody>
          <a:bodyPr wrap="none" rtlCol="0">
            <a:spAutoFit/>
          </a:bodyPr>
          <a:lstStyle/>
          <a:p>
            <a:r>
              <a:rPr lang="en-IN" sz="2400" dirty="0">
                <a:solidFill>
                  <a:srgbClr val="FF0000"/>
                </a:solidFill>
              </a:rPr>
              <a:t>Thus, the QFD, the technique has been developed to </a:t>
            </a:r>
          </a:p>
          <a:p>
            <a:r>
              <a:rPr lang="en-IN" sz="2400" dirty="0">
                <a:solidFill>
                  <a:srgbClr val="FF0000"/>
                </a:solidFill>
              </a:rPr>
              <a:t>Shorten the time span and reduce the required group efforts.</a:t>
            </a:r>
            <a:endParaRPr lang="en-US" sz="2400" dirty="0">
              <a:solidFill>
                <a:srgbClr val="FF0000"/>
              </a:solidFill>
            </a:endParaRPr>
          </a:p>
          <a:p>
            <a:endParaRPr lang="en-US" sz="2400"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a:p>
            <a:endParaRPr lang="en-US" dirty="0"/>
          </a:p>
          <a:p>
            <a:endParaRPr lang="en-US" dirty="0"/>
          </a:p>
          <a:p>
            <a:pPr algn="ctr">
              <a:buNone/>
            </a:pPr>
            <a:r>
              <a:rPr lang="en-US" sz="4000" dirty="0">
                <a:solidFill>
                  <a:srgbClr val="FF0000"/>
                </a:solidFill>
              </a:rPr>
              <a:t>Questions?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38914" name="Picture 2" descr="Namaste logo png 1 » PNG Image"/>
          <p:cNvPicPr>
            <a:picLocks noChangeAspect="1" noChangeArrowheads="1"/>
          </p:cNvPicPr>
          <p:nvPr/>
        </p:nvPicPr>
        <p:blipFill>
          <a:blip r:embed="rId2" cstate="print"/>
          <a:srcRect/>
          <a:stretch>
            <a:fillRect/>
          </a:stretch>
        </p:blipFill>
        <p:spPr bwMode="auto">
          <a:xfrm>
            <a:off x="2819400" y="2971800"/>
            <a:ext cx="3883229" cy="1828800"/>
          </a:xfrm>
          <a:prstGeom prst="rect">
            <a:avLst/>
          </a:prstGeom>
          <a:noFill/>
        </p:spPr>
      </p:pic>
      <p:sp>
        <p:nvSpPr>
          <p:cNvPr id="6" name="TextBox 5"/>
          <p:cNvSpPr txBox="1"/>
          <p:nvPr/>
        </p:nvSpPr>
        <p:spPr>
          <a:xfrm>
            <a:off x="4114800" y="4267200"/>
            <a:ext cx="1524000" cy="523220"/>
          </a:xfrm>
          <a:prstGeom prst="rect">
            <a:avLst/>
          </a:prstGeom>
          <a:noFill/>
        </p:spPr>
        <p:txBody>
          <a:bodyPr wrap="square" rtlCol="0">
            <a:spAutoFit/>
          </a:bodyPr>
          <a:lstStyle/>
          <a:p>
            <a:r>
              <a:rPr lang="en-US" sz="2800" dirty="0"/>
              <a:t>Thanks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0A25C97A2986249B41E72CADC74A191" ma:contentTypeVersion="4" ma:contentTypeDescription="Create a new document." ma:contentTypeScope="" ma:versionID="09c2f7997568f11f6f048b0b696e6d1a">
  <xsd:schema xmlns:xsd="http://www.w3.org/2001/XMLSchema" xmlns:xs="http://www.w3.org/2001/XMLSchema" xmlns:p="http://schemas.microsoft.com/office/2006/metadata/properties" xmlns:ns2="13198c3b-a4e2-4038-bec2-ba20dc2c24ec" targetNamespace="http://schemas.microsoft.com/office/2006/metadata/properties" ma:root="true" ma:fieldsID="a7ce81a64f443739af589702288e63ef" ns2:_="">
    <xsd:import namespace="13198c3b-a4e2-4038-bec2-ba20dc2c24e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98c3b-a4e2-4038-bec2-ba20dc2c24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2A2A84-3E41-4AC8-975D-B47DBABB3E0E}">
  <ds:schemaRefs>
    <ds:schemaRef ds:uri="http://schemas.microsoft.com/sharepoint/v3/contenttype/forms"/>
  </ds:schemaRefs>
</ds:datastoreItem>
</file>

<file path=customXml/itemProps2.xml><?xml version="1.0" encoding="utf-8"?>
<ds:datastoreItem xmlns:ds="http://schemas.openxmlformats.org/officeDocument/2006/customXml" ds:itemID="{CB4F89A7-41CD-404F-9ED8-F2721651C6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98c3b-a4e2-4038-bec2-ba20dc2c24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8804AC-4F2A-4C5C-B648-41DF8081C89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Flow</Template>
  <TotalTime>6059</TotalTime>
  <Words>836</Words>
  <Application>Microsoft Office PowerPoint</Application>
  <PresentationFormat>On-screen Show (4:3)</PresentationFormat>
  <Paragraphs>105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Flow</vt:lpstr>
      <vt:lpstr>SSQI: Understanding of Deployment Strategies</vt:lpstr>
      <vt:lpstr>Business Goals</vt:lpstr>
      <vt:lpstr>PowerPoint Presentation</vt:lpstr>
      <vt:lpstr>Dashboards</vt:lpstr>
      <vt:lpstr>Dashboards Examples</vt:lpstr>
      <vt:lpstr>Digital Dashboards: Benefits</vt:lpstr>
      <vt:lpstr>Balance Business Score Card (BSC) or Customer Goals</vt:lpstr>
      <vt:lpstr>BSC: Types</vt:lpstr>
      <vt:lpstr>BSC: Four elements</vt:lpstr>
      <vt:lpstr>Why is BSC so important?</vt:lpstr>
      <vt:lpstr>BSC: Benefits</vt:lpstr>
      <vt:lpstr>Voice of Customer  </vt:lpstr>
      <vt:lpstr>PowerPoint Presentation</vt:lpstr>
      <vt:lpstr>Steps involved in building an effective VOC analytics program</vt:lpstr>
      <vt:lpstr>VOC: Benefits</vt:lpstr>
      <vt:lpstr>Quality Function Deployment</vt:lpstr>
      <vt:lpstr>QFD: Characteristics </vt:lpstr>
      <vt:lpstr>QFD: Techniques</vt:lpstr>
      <vt:lpstr>QFD: Video watch</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Muralidharan_2</dc:creator>
  <cp:lastModifiedBy>Muralidharan_2</cp:lastModifiedBy>
  <cp:revision>82</cp:revision>
  <dcterms:created xsi:type="dcterms:W3CDTF">2020-05-20T04:35:05Z</dcterms:created>
  <dcterms:modified xsi:type="dcterms:W3CDTF">2020-10-31T14:00:14Z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0x01010020A25C97A2986249B41E72CADC74A191</vt:lpwstr>
  </property>
</Properties>
</file>