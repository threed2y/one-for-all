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21"/>
  </p:notesMasterIdLst>
  <p:sldIdLst>
    <p:sldId id="256" r:id="rId5"/>
    <p:sldId id="283" r:id="rId6"/>
    <p:sldId id="293" r:id="rId7"/>
    <p:sldId id="294" r:id="rId8"/>
    <p:sldId id="296" r:id="rId9"/>
    <p:sldId id="298" r:id="rId10"/>
    <p:sldId id="303" r:id="rId11"/>
    <p:sldId id="304" r:id="rId12"/>
    <p:sldId id="301" r:id="rId13"/>
    <p:sldId id="300" r:id="rId14"/>
    <p:sldId id="302" r:id="rId15"/>
    <p:sldId id="306" r:id="rId16"/>
    <p:sldId id="307" r:id="rId17"/>
    <p:sldId id="305" r:id="rId18"/>
    <p:sldId id="278" r:id="rId19"/>
    <p:sldId id="274" r:id="rId20"/>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D2FAD8-9628-43F5-109D-44471F2DA819}" v="1" dt="2020-09-10T05:06:17.6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h.zanku583@gmail.com" userId="S::shah.zanku583_gmail.com#ext#@msubarodauniversity.onmicrosoft.com::be1dc23b-f077-4cfa-b575-4e30e622165f" providerId="AD" clId="Web-{33D2FAD8-9628-43F5-109D-44471F2DA819}"/>
    <pc:docChg chg="modSld">
      <pc:chgData name="shah.zanku583@gmail.com" userId="S::shah.zanku583_gmail.com#ext#@msubarodauniversity.onmicrosoft.com::be1dc23b-f077-4cfa-b575-4e30e622165f" providerId="AD" clId="Web-{33D2FAD8-9628-43F5-109D-44471F2DA819}" dt="2020-09-10T05:06:17.652" v="0" actId="1076"/>
      <pc:docMkLst>
        <pc:docMk/>
      </pc:docMkLst>
      <pc:sldChg chg="modSp">
        <pc:chgData name="shah.zanku583@gmail.com" userId="S::shah.zanku583_gmail.com#ext#@msubarodauniversity.onmicrosoft.com::be1dc23b-f077-4cfa-b575-4e30e622165f" providerId="AD" clId="Web-{33D2FAD8-9628-43F5-109D-44471F2DA819}" dt="2020-09-10T05:06:17.652" v="0" actId="1076"/>
        <pc:sldMkLst>
          <pc:docMk/>
          <pc:sldMk cId="0" sldId="296"/>
        </pc:sldMkLst>
        <pc:spChg chg="mod">
          <ac:chgData name="shah.zanku583@gmail.com" userId="S::shah.zanku583_gmail.com#ext#@msubarodauniversity.onmicrosoft.com::be1dc23b-f077-4cfa-b575-4e30e622165f" providerId="AD" clId="Web-{33D2FAD8-9628-43F5-109D-44471F2DA819}" dt="2020-09-10T05:06:17.652" v="0" actId="1076"/>
          <ac:spMkLst>
            <pc:docMk/>
            <pc:sldMk cId="0" sldId="296"/>
            <ac:spMk id="3" creationId="{00000000-0000-0000-0000-000000000000}"/>
          </ac:spMkLst>
        </pc:spChg>
      </pc:sldChg>
    </pc:docChg>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6070F01B-5C3E-4254-B80C-F16BDE456FBB}" type="datetimeFigureOut">
              <a:rPr lang="en-US" smtClean="0"/>
              <a:pPr/>
              <a:t>9/9/2020</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0211695B-277F-4DAE-8546-B2E35772EB56}"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53D68094-37D2-48FC-9170-7D06BC38C1EA}" type="datetimeFigureOut">
              <a:rPr lang="en-US" smtClean="0"/>
              <a:pPr/>
              <a:t>9/9/2020</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387D4FCD-B6B5-4FE7-9103-36BC734156FC}"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53D68094-37D2-48FC-9170-7D06BC38C1EA}" type="datetimeFigureOut">
              <a:rPr lang="en-US" smtClean="0"/>
              <a:pPr/>
              <a:t>9/9/2020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7D4FCD-B6B5-4FE7-9103-36BC734156FC}"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53D68094-37D2-48FC-9170-7D06BC38C1EA}" type="datetimeFigureOut">
              <a:rPr lang="en-US" smtClean="0"/>
              <a:pPr/>
              <a:t>9/9/2020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7D4FCD-B6B5-4FE7-9103-36BC734156FC}"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53D68094-37D2-48FC-9170-7D06BC38C1EA}" type="datetimeFigureOut">
              <a:rPr lang="en-US" smtClean="0"/>
              <a:pPr/>
              <a:t>9/9/2020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7D4FCD-B6B5-4FE7-9103-36BC734156FC}"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53D68094-37D2-48FC-9170-7D06BC38C1EA}" type="datetimeFigureOut">
              <a:rPr lang="en-US" smtClean="0"/>
              <a:pPr/>
              <a:t>9/9/2020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87D4FCD-B6B5-4FE7-9103-36BC734156FC}"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53D68094-37D2-48FC-9170-7D06BC38C1EA}" type="datetimeFigureOut">
              <a:rPr lang="en-US" smtClean="0"/>
              <a:pPr/>
              <a:t>9/9/2020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87D4FCD-B6B5-4FE7-9103-36BC734156FC}"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D68094-37D2-48FC-9170-7D06BC38C1EA}" type="datetimeFigureOut">
              <a:rPr lang="en-US" smtClean="0"/>
              <a:pPr/>
              <a:t>9/9/2020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87D4FCD-B6B5-4FE7-9103-36BC734156F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53D68094-37D2-48FC-9170-7D06BC38C1EA}" type="datetimeFigureOut">
              <a:rPr lang="en-US" smtClean="0"/>
              <a:pPr/>
              <a:t>9/9/2020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87D4FCD-B6B5-4FE7-9103-36BC734156FC}"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53D68094-37D2-48FC-9170-7D06BC38C1EA}" type="datetimeFigureOut">
              <a:rPr lang="en-US" smtClean="0"/>
              <a:pPr/>
              <a:t>9/9/2020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387D4FCD-B6B5-4FE7-9103-36BC734156FC}"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53D68094-37D2-48FC-9170-7D06BC38C1EA}" type="datetimeFigureOut">
              <a:rPr lang="en-US" smtClean="0"/>
              <a:pPr/>
              <a:t>9/9/2020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7D4FCD-B6B5-4FE7-9103-36BC734156F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53D68094-37D2-48FC-9170-7D06BC38C1EA}" type="datetimeFigureOut">
              <a:rPr lang="en-US" smtClean="0"/>
              <a:pPr/>
              <a:t>9/9/2020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87D4FCD-B6B5-4FE7-9103-36BC734156FC}"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53D68094-37D2-48FC-9170-7D06BC38C1EA}" type="datetimeFigureOut">
              <a:rPr lang="en-US" smtClean="0"/>
              <a:pPr/>
              <a:t>9/9/2020</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387D4FCD-B6B5-4FE7-9103-36BC734156FC}"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muralikustat@gmail.com" TargetMode="External"/><Relationship Id="rId2" Type="http://schemas.openxmlformats.org/officeDocument/2006/relationships/slideLayout" Target="../slideLayouts/slideLayout1.xml"/><Relationship Id="rId1" Type="http://schemas.openxmlformats.org/officeDocument/2006/relationships/vmlDrawing" Target="../drawings/vmlDrawing1.vml"/><Relationship Id="rId5" Type="http://schemas.openxmlformats.org/officeDocument/2006/relationships/image" Target="../media/image2.emf"/><Relationship Id="rId4" Type="http://schemas.openxmlformats.org/officeDocument/2006/relationships/oleObject" Target="???"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youtube.com/watch?v=Mn_Hd9ZtIGw" TargetMode="External"/><Relationship Id="rId2" Type="http://schemas.openxmlformats.org/officeDocument/2006/relationships/hyperlink" Target="https://www.youtube.com/watch?v=X1KONQw02H8"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1371600"/>
            <a:ext cx="7851648" cy="1447800"/>
          </a:xfrm>
        </p:spPr>
        <p:txBody>
          <a:bodyPr>
            <a:normAutofit fontScale="90000"/>
          </a:bodyPr>
          <a:lstStyle/>
          <a:p>
            <a:r>
              <a:rPr lang="en-US" sz="5400"/>
              <a:t>SSQI:</a:t>
            </a:r>
            <a:r>
              <a:rPr lang="en-GB" sz="5400"/>
              <a:t> Understanding of Deployment Strategies</a:t>
            </a:r>
            <a:endParaRPr lang="en-US" sz="3600"/>
          </a:p>
        </p:txBody>
      </p:sp>
      <p:sp>
        <p:nvSpPr>
          <p:cNvPr id="3" name="Subtitle 2"/>
          <p:cNvSpPr>
            <a:spLocks noGrp="1"/>
          </p:cNvSpPr>
          <p:nvPr>
            <p:ph type="subTitle" idx="1"/>
          </p:nvPr>
        </p:nvSpPr>
        <p:spPr>
          <a:xfrm>
            <a:off x="609600" y="3581400"/>
            <a:ext cx="7854696" cy="2590800"/>
          </a:xfrm>
        </p:spPr>
        <p:txBody>
          <a:bodyPr>
            <a:normAutofit/>
          </a:bodyPr>
          <a:lstStyle/>
          <a:p>
            <a:pPr>
              <a:lnSpc>
                <a:spcPct val="90000"/>
              </a:lnSpc>
            </a:pPr>
            <a:r>
              <a:rPr lang="en-US" sz="3600"/>
              <a:t>K. </a:t>
            </a:r>
            <a:r>
              <a:rPr lang="en-US" sz="3600" err="1"/>
              <a:t>Muralidharan</a:t>
            </a:r>
            <a:endParaRPr lang="en-US" sz="3600"/>
          </a:p>
          <a:p>
            <a:pPr>
              <a:lnSpc>
                <a:spcPct val="90000"/>
              </a:lnSpc>
            </a:pPr>
            <a:r>
              <a:rPr lang="en-US"/>
              <a:t>Department of Statistics, Faculty of Science</a:t>
            </a:r>
          </a:p>
          <a:p>
            <a:pPr>
              <a:lnSpc>
                <a:spcPct val="90000"/>
              </a:lnSpc>
            </a:pPr>
            <a:r>
              <a:rPr lang="en-US"/>
              <a:t>The </a:t>
            </a:r>
            <a:r>
              <a:rPr lang="en-US" err="1"/>
              <a:t>Mahraja</a:t>
            </a:r>
            <a:r>
              <a:rPr lang="en-US"/>
              <a:t> </a:t>
            </a:r>
            <a:r>
              <a:rPr lang="en-US" err="1"/>
              <a:t>Sayajirao</a:t>
            </a:r>
            <a:r>
              <a:rPr lang="en-US"/>
              <a:t>  University of Baroda</a:t>
            </a:r>
          </a:p>
          <a:p>
            <a:pPr>
              <a:lnSpc>
                <a:spcPct val="90000"/>
              </a:lnSpc>
            </a:pPr>
            <a:r>
              <a:rPr lang="en-US" err="1"/>
              <a:t>Vadodara</a:t>
            </a:r>
            <a:r>
              <a:rPr lang="en-US"/>
              <a:t>, 390002</a:t>
            </a:r>
          </a:p>
          <a:p>
            <a:pPr>
              <a:lnSpc>
                <a:spcPct val="90000"/>
              </a:lnSpc>
            </a:pPr>
            <a:r>
              <a:rPr lang="en-US" sz="2000" b="1">
                <a:solidFill>
                  <a:srgbClr val="FFFF00"/>
                </a:solidFill>
              </a:rPr>
              <a:t>email: </a:t>
            </a:r>
            <a:r>
              <a:rPr lang="en-US" sz="2000" b="1">
                <a:solidFill>
                  <a:srgbClr val="FFFF00"/>
                </a:solidFill>
                <a:hlinkClick r:id="rId3"/>
              </a:rPr>
              <a:t>muralikustat@gmail.com</a:t>
            </a:r>
            <a:r>
              <a:rPr lang="en-US" sz="2000" b="1">
                <a:solidFill>
                  <a:srgbClr val="FFFF00"/>
                </a:solidFill>
              </a:rPr>
              <a:t>,   </a:t>
            </a:r>
          </a:p>
          <a:p>
            <a:pPr>
              <a:lnSpc>
                <a:spcPct val="90000"/>
              </a:lnSpc>
            </a:pPr>
            <a:r>
              <a:rPr lang="en-US" sz="2000" b="1">
                <a:solidFill>
                  <a:srgbClr val="FFFF00"/>
                </a:solidFill>
              </a:rPr>
              <a:t> email: muralidharan.k-stat@msubaroda.ac.in</a:t>
            </a:r>
          </a:p>
          <a:p>
            <a:pPr>
              <a:lnSpc>
                <a:spcPct val="90000"/>
              </a:lnSpc>
            </a:pPr>
            <a:endParaRPr lang="en-US" sz="2000">
              <a:solidFill>
                <a:srgbClr val="FFFF00"/>
              </a:solidFill>
            </a:endParaRPr>
          </a:p>
          <a:p>
            <a:endParaRPr lang="en-US"/>
          </a:p>
        </p:txBody>
      </p:sp>
      <p:graphicFrame>
        <p:nvGraphicFramePr>
          <p:cNvPr id="1026" name="Object 5"/>
          <p:cNvGraphicFramePr>
            <a:graphicFrameLocks noChangeAspect="1"/>
          </p:cNvGraphicFramePr>
          <p:nvPr/>
        </p:nvGraphicFramePr>
        <p:xfrm>
          <a:off x="7543800" y="685800"/>
          <a:ext cx="838200" cy="804797"/>
        </p:xfrm>
        <a:graphic>
          <a:graphicData uri="http://schemas.openxmlformats.org/presentationml/2006/ole">
            <mc:AlternateContent xmlns:mc="http://schemas.openxmlformats.org/markup-compatibility/2006">
              <mc:Choice xmlns:v="urn:schemas-microsoft-com:vml" Requires="v">
                <p:oleObj spid="_x0000_s14337" name="Document" r:id="rId4" imgW="1020572" imgH="981478" progId="Word.Document.12">
                  <p:link updateAutomatic="1"/>
                </p:oleObj>
              </mc:Choice>
              <mc:Fallback>
                <p:oleObj name="Document" r:id="rId4" imgW="1020572" imgH="981478" progId="Word.Document.12">
                  <p:link updateAutomatic="1"/>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43800" y="685800"/>
                        <a:ext cx="838200" cy="804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TextBox 4"/>
          <p:cNvSpPr txBox="1"/>
          <p:nvPr/>
        </p:nvSpPr>
        <p:spPr>
          <a:xfrm>
            <a:off x="1524000" y="990600"/>
            <a:ext cx="1133067" cy="369332"/>
          </a:xfrm>
          <a:prstGeom prst="rect">
            <a:avLst/>
          </a:prstGeom>
          <a:noFill/>
        </p:spPr>
        <p:txBody>
          <a:bodyPr wrap="none" rtlCol="0">
            <a:spAutoFit/>
          </a:bodyPr>
          <a:lstStyle/>
          <a:p>
            <a:r>
              <a:rPr lang="en-US"/>
              <a:t>Lecture-5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a:t>Quality Function Deployment</a:t>
            </a:r>
            <a:endParaRPr lang="en-US"/>
          </a:p>
        </p:txBody>
      </p:sp>
      <p:sp>
        <p:nvSpPr>
          <p:cNvPr id="3" name="Content Placeholder 2"/>
          <p:cNvSpPr>
            <a:spLocks noGrp="1"/>
          </p:cNvSpPr>
          <p:nvPr>
            <p:ph idx="1"/>
          </p:nvPr>
        </p:nvSpPr>
        <p:spPr/>
        <p:txBody>
          <a:bodyPr>
            <a:normAutofit/>
          </a:bodyPr>
          <a:lstStyle/>
          <a:p>
            <a:r>
              <a:rPr lang="en-IN" b="1"/>
              <a:t>Quality function deployment (QFD)</a:t>
            </a:r>
            <a:r>
              <a:rPr lang="en-IN"/>
              <a:t> is a “method to transform user demands into design quality, to deploy the functions forming quality, and to deploy methods for achieving the design quality into subsystems and component parts, and ultimately to specific elements of the manufacturing process.”, </a:t>
            </a:r>
          </a:p>
          <a:p>
            <a:r>
              <a:rPr lang="en-IN"/>
              <a:t>Dr. </a:t>
            </a:r>
            <a:r>
              <a:rPr lang="en-IN" err="1"/>
              <a:t>Yoji</a:t>
            </a:r>
            <a:r>
              <a:rPr lang="en-IN"/>
              <a:t> </a:t>
            </a:r>
            <a:r>
              <a:rPr lang="en-IN" err="1"/>
              <a:t>Akao</a:t>
            </a:r>
            <a:r>
              <a:rPr lang="en-IN"/>
              <a:t>, who originally developed QFD in Japan in 1966, when the author combined his work in quality assurance and quality control points with function deployment used in value engineering.</a:t>
            </a:r>
            <a:endParaRPr lang="en-US"/>
          </a:p>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QFD: </a:t>
            </a:r>
            <a:r>
              <a:rPr lang="en-IN"/>
              <a:t>Characteristics </a:t>
            </a:r>
            <a:endParaRPr lang="en-US"/>
          </a:p>
        </p:txBody>
      </p:sp>
      <p:sp>
        <p:nvSpPr>
          <p:cNvPr id="3" name="Content Placeholder 2"/>
          <p:cNvSpPr>
            <a:spLocks noGrp="1"/>
          </p:cNvSpPr>
          <p:nvPr>
            <p:ph idx="1"/>
          </p:nvPr>
        </p:nvSpPr>
        <p:spPr/>
        <p:txBody>
          <a:bodyPr>
            <a:normAutofit fontScale="92500" lnSpcReduction="10000"/>
          </a:bodyPr>
          <a:lstStyle/>
          <a:p>
            <a:r>
              <a:rPr lang="en-IN"/>
              <a:t>QFD is designed to help planners focus on characteristics of a new or existing product or service from the viewpoints of market segments, company, or technology-development needs. The technique yields charts and matrices.</a:t>
            </a:r>
            <a:endParaRPr lang="en-US"/>
          </a:p>
          <a:p>
            <a:r>
              <a:rPr lang="en-IN"/>
              <a:t>QFD helps transform customer needs (the voice of the customer [VOC]) into engineering characteristics (and appropriate test methods) for a product or service, prioritizing each product or service characteristic while simultaneously setting development targets for product or service.</a:t>
            </a:r>
            <a:endParaRPr lang="en-US"/>
          </a:p>
          <a:p>
            <a:r>
              <a:rPr lang="en-IN"/>
              <a:t>QFD House of Quality for Enterprise Product Development Processes. </a:t>
            </a:r>
            <a:endParaRPr lang="en-US"/>
          </a:p>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43712"/>
          </a:xfrm>
        </p:spPr>
        <p:txBody>
          <a:bodyPr>
            <a:normAutofit fontScale="90000"/>
          </a:bodyPr>
          <a:lstStyle/>
          <a:p>
            <a:r>
              <a:rPr lang="en-US"/>
              <a:t>QFD: Techniques</a:t>
            </a:r>
          </a:p>
        </p:txBody>
      </p:sp>
      <p:sp>
        <p:nvSpPr>
          <p:cNvPr id="3" name="Content Placeholder 2"/>
          <p:cNvSpPr>
            <a:spLocks noGrp="1"/>
          </p:cNvSpPr>
          <p:nvPr>
            <p:ph idx="1"/>
          </p:nvPr>
        </p:nvSpPr>
        <p:spPr>
          <a:xfrm>
            <a:off x="457200" y="1600200"/>
            <a:ext cx="8229600" cy="4953000"/>
          </a:xfrm>
        </p:spPr>
        <p:txBody>
          <a:bodyPr>
            <a:normAutofit fontScale="70000" lnSpcReduction="20000"/>
          </a:bodyPr>
          <a:lstStyle/>
          <a:p>
            <a:r>
              <a:rPr lang="en-IN" b="1"/>
              <a:t>House of Quality</a:t>
            </a:r>
          </a:p>
          <a:p>
            <a:pPr lvl="1"/>
            <a:r>
              <a:rPr lang="en-IN"/>
              <a:t>House of Quality appeared in 1972 in the design of an oil tanker by Mitsubishi Heavy Industries.</a:t>
            </a:r>
            <a:endParaRPr lang="en-US" b="1"/>
          </a:p>
          <a:p>
            <a:r>
              <a:rPr lang="en-IN" b="1"/>
              <a:t>Pugh concept selection</a:t>
            </a:r>
          </a:p>
          <a:p>
            <a:pPr lvl="1"/>
            <a:r>
              <a:rPr lang="en-IN"/>
              <a:t>Pugh Concept Selection can be used in coordination with QFD to select a promising product or service configuration from among listed alternatives.</a:t>
            </a:r>
            <a:endParaRPr lang="en-US"/>
          </a:p>
          <a:p>
            <a:r>
              <a:rPr lang="en-IN" b="1"/>
              <a:t>Modular Function Deployment</a:t>
            </a:r>
          </a:p>
          <a:p>
            <a:pPr lvl="1"/>
            <a:r>
              <a:rPr lang="en-IN"/>
              <a:t>Modular</a:t>
            </a:r>
            <a:r>
              <a:rPr lang="en-IN" u="sng"/>
              <a:t> </a:t>
            </a:r>
            <a:r>
              <a:rPr lang="en-IN"/>
              <a:t>Function Deployment uses QFD to establish customer requirements and to identify important design requirements with a special emphasis on modularity.</a:t>
            </a:r>
            <a:endParaRPr lang="en-IN" b="1"/>
          </a:p>
          <a:p>
            <a:r>
              <a:rPr lang="en-IN" b="1" err="1"/>
              <a:t>Hoshin</a:t>
            </a:r>
            <a:r>
              <a:rPr lang="en-IN" b="1"/>
              <a:t> </a:t>
            </a:r>
            <a:r>
              <a:rPr lang="en-IN" b="1" err="1"/>
              <a:t>Kanri</a:t>
            </a:r>
            <a:r>
              <a:rPr lang="en-IN" b="1"/>
              <a:t> process</a:t>
            </a:r>
          </a:p>
          <a:p>
            <a:pPr lvl="1"/>
            <a:r>
              <a:rPr lang="en-IN"/>
              <a:t>The QFD-associated </a:t>
            </a:r>
            <a:r>
              <a:rPr lang="en-IN" err="1"/>
              <a:t>Hoshin-Kanri</a:t>
            </a:r>
            <a:r>
              <a:rPr lang="en-IN"/>
              <a:t> process somewhat resembles Management by objectives (MBO), but adds a significant element in the goal setting process, called "</a:t>
            </a:r>
            <a:r>
              <a:rPr lang="en-IN" err="1"/>
              <a:t>catchball</a:t>
            </a:r>
            <a:r>
              <a:rPr lang="en-IN"/>
              <a:t>". </a:t>
            </a:r>
          </a:p>
          <a:p>
            <a:pPr lvl="1"/>
            <a:r>
              <a:rPr lang="en-IN"/>
              <a:t>Use of these </a:t>
            </a:r>
            <a:r>
              <a:rPr lang="en-IN" err="1"/>
              <a:t>Hoshin</a:t>
            </a:r>
            <a:r>
              <a:rPr lang="en-IN"/>
              <a:t> techniques by U.S. companies such as Hewlett Packard have been successful in focusing and aligning company resources to follow stated strategic goals throughout an organizational hierarchy.</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QFD: Video watch</a:t>
            </a:r>
          </a:p>
        </p:txBody>
      </p:sp>
      <p:sp>
        <p:nvSpPr>
          <p:cNvPr id="3" name="Content Placeholder 2"/>
          <p:cNvSpPr>
            <a:spLocks noGrp="1"/>
          </p:cNvSpPr>
          <p:nvPr>
            <p:ph idx="1"/>
          </p:nvPr>
        </p:nvSpPr>
        <p:spPr>
          <a:xfrm>
            <a:off x="349200" y="2466480"/>
            <a:ext cx="8229600" cy="4389120"/>
          </a:xfrm>
        </p:spPr>
        <p:txBody>
          <a:bodyPr/>
          <a:lstStyle/>
          <a:p>
            <a:r>
              <a:rPr lang="en-US">
                <a:hlinkClick r:id="rId2"/>
              </a:rPr>
              <a:t>https://www.youtube.com/watch?v=X1KONQw02H8</a:t>
            </a:r>
            <a:r>
              <a:rPr lang="en-US"/>
              <a:t> (13 </a:t>
            </a:r>
            <a:r>
              <a:rPr lang="en-US" err="1"/>
              <a:t>mits</a:t>
            </a:r>
            <a:r>
              <a:rPr lang="en-US"/>
              <a:t>)</a:t>
            </a:r>
          </a:p>
          <a:p>
            <a:r>
              <a:rPr lang="en-US">
                <a:hlinkClick r:id="rId3"/>
              </a:rPr>
              <a:t>https://www.youtube.com/watch?v=Mn_Hd9ZtIGw</a:t>
            </a:r>
            <a:r>
              <a:rPr lang="en-US"/>
              <a:t> (5.46 mints)</a:t>
            </a:r>
          </a:p>
          <a:p>
            <a:endParaRPr lang="en-US"/>
          </a:p>
          <a:p>
            <a:endParaRPr lang="en-US"/>
          </a:p>
          <a:p>
            <a:endParaRPr lang="en-US"/>
          </a:p>
        </p:txBody>
      </p:sp>
      <p:sp>
        <p:nvSpPr>
          <p:cNvPr id="4" name="TextBox 3"/>
          <p:cNvSpPr txBox="1"/>
          <p:nvPr/>
        </p:nvSpPr>
        <p:spPr>
          <a:xfrm>
            <a:off x="685800" y="4648200"/>
            <a:ext cx="8143576" cy="1200329"/>
          </a:xfrm>
          <a:prstGeom prst="rect">
            <a:avLst/>
          </a:prstGeom>
          <a:noFill/>
        </p:spPr>
        <p:txBody>
          <a:bodyPr wrap="none" rtlCol="0">
            <a:spAutoFit/>
          </a:bodyPr>
          <a:lstStyle/>
          <a:p>
            <a:r>
              <a:rPr lang="en-IN" sz="2400">
                <a:solidFill>
                  <a:srgbClr val="FF0000"/>
                </a:solidFill>
              </a:rPr>
              <a:t>Thus, the QFD, the technique has been developed to </a:t>
            </a:r>
          </a:p>
          <a:p>
            <a:r>
              <a:rPr lang="en-IN" sz="2400">
                <a:solidFill>
                  <a:srgbClr val="FF0000"/>
                </a:solidFill>
              </a:rPr>
              <a:t>Shorten the time span and reduce the required group efforts.</a:t>
            </a:r>
            <a:endParaRPr lang="en-US" sz="2400">
              <a:solidFill>
                <a:srgbClr val="FF0000"/>
              </a:solidFill>
            </a:endParaRPr>
          </a:p>
          <a:p>
            <a:endParaRPr lang="en-US" sz="2400">
              <a:solidFill>
                <a:srgbClr val="FF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Executive roles and responsibilities </a:t>
            </a:r>
            <a:endParaRPr lang="en-US"/>
          </a:p>
        </p:txBody>
      </p:sp>
      <p:sp>
        <p:nvSpPr>
          <p:cNvPr id="3" name="Content Placeholder 2"/>
          <p:cNvSpPr>
            <a:spLocks noGrp="1"/>
          </p:cNvSpPr>
          <p:nvPr>
            <p:ph idx="1"/>
          </p:nvPr>
        </p:nvSpPr>
        <p:spPr/>
        <p:txBody>
          <a:bodyPr>
            <a:normAutofit fontScale="70000" lnSpcReduction="20000"/>
          </a:bodyPr>
          <a:lstStyle/>
          <a:p>
            <a:pPr>
              <a:buNone/>
            </a:pPr>
            <a:r>
              <a:rPr lang="en-US" sz="2900" b="1" i="1"/>
              <a:t>Green Belt (GB). </a:t>
            </a:r>
          </a:p>
          <a:p>
            <a:pPr lvl="1"/>
            <a:r>
              <a:rPr lang="en-US"/>
              <a:t>A Six Sigma role associated with an individual who retains his or her regular position within the firm but is trained in the tools, methods, and skills necessary to conduct Six Sigma improvement projects either individually or as part of larger teams. </a:t>
            </a:r>
          </a:p>
          <a:p>
            <a:pPr lvl="1"/>
            <a:r>
              <a:rPr lang="en-US"/>
              <a:t>GB training is typically for one or two weeks, and they generally assist on major project teams or lead teams engaged in smaller, more highly specific projects.</a:t>
            </a:r>
          </a:p>
          <a:p>
            <a:pPr>
              <a:buNone/>
            </a:pPr>
            <a:r>
              <a:rPr lang="en-US" sz="2900" b="1" i="1"/>
              <a:t>Black Belts (BB). </a:t>
            </a:r>
          </a:p>
          <a:p>
            <a:pPr lvl="1"/>
            <a:r>
              <a:rPr lang="en-US"/>
              <a:t>A Six Sigma role associated with an individual who is typically assigned full time to train and mentor Green Belts as well as lead improvement projects using specified methodologies such as DMAIC; DMADV), and DFSS tools etc.</a:t>
            </a:r>
          </a:p>
          <a:p>
            <a:pPr lvl="1"/>
            <a:r>
              <a:rPr lang="en-US"/>
              <a:t> BBs typically have a minimum of four weeks of specialized training, sometimes spread over a four-month period and usually combined with concurrent work on a Six Sigma project. T</a:t>
            </a:r>
          </a:p>
          <a:p>
            <a:pPr lvl="1"/>
            <a:r>
              <a:rPr lang="en-US"/>
              <a:t>hey lead teams that are focused on projects with both quality and business impact for the organization. In most organizations, BBs train GBs and work on other functions such as new project identification.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Roles and responsibilities</a:t>
            </a:r>
            <a:endParaRPr lang="en-US"/>
          </a:p>
        </p:txBody>
      </p:sp>
      <p:sp>
        <p:nvSpPr>
          <p:cNvPr id="3" name="Content Placeholder 2"/>
          <p:cNvSpPr>
            <a:spLocks noGrp="1"/>
          </p:cNvSpPr>
          <p:nvPr>
            <p:ph idx="1"/>
          </p:nvPr>
        </p:nvSpPr>
        <p:spPr/>
        <p:txBody>
          <a:bodyPr>
            <a:normAutofit fontScale="70000" lnSpcReduction="20000"/>
          </a:bodyPr>
          <a:lstStyle/>
          <a:p>
            <a:pPr>
              <a:buNone/>
            </a:pPr>
            <a:r>
              <a:rPr lang="en-US" sz="2900" b="1" i="1"/>
              <a:t>Master Black Belt (MBB).</a:t>
            </a:r>
            <a:r>
              <a:rPr lang="en-US" sz="2900" b="1"/>
              <a:t> </a:t>
            </a:r>
          </a:p>
          <a:p>
            <a:pPr lvl="1"/>
            <a:r>
              <a:rPr lang="en-US"/>
              <a:t>A Six Sigma role associated with an individual typically assigned full time to train and mentor Black Belts as well as lead the strategy to ensure improvement projects chartered are the right strategic projects for the organization. </a:t>
            </a:r>
          </a:p>
          <a:p>
            <a:pPr lvl="1"/>
            <a:r>
              <a:rPr lang="en-US"/>
              <a:t>MBB’s are usually the authorizing body to certify Green Belts and Black Belts within an organization. </a:t>
            </a:r>
          </a:p>
          <a:p>
            <a:pPr lvl="1"/>
            <a:r>
              <a:rPr lang="en-US"/>
              <a:t>They often write and develop training materials, are heavily involved in project definition and selection, and work closely with business leaders called Champions. </a:t>
            </a:r>
          </a:p>
          <a:p>
            <a:pPr lvl="1"/>
            <a:r>
              <a:rPr lang="en-US"/>
              <a:t>The BBs and MBBs have specialized training and education on statistical methods and other quality and process improvement tools that equip them to function as team leaders, facilitators, and technical problem solvers (</a:t>
            </a:r>
            <a:r>
              <a:rPr lang="en-US" err="1"/>
              <a:t>Hoerl</a:t>
            </a:r>
            <a:r>
              <a:rPr lang="en-US"/>
              <a:t>, 2001).  </a:t>
            </a:r>
          </a:p>
          <a:p>
            <a:pPr>
              <a:buNone/>
            </a:pPr>
            <a:r>
              <a:rPr lang="en-US" sz="2900" b="1" i="1"/>
              <a:t>Champions</a:t>
            </a:r>
          </a:p>
          <a:p>
            <a:pPr>
              <a:buNone/>
            </a:pPr>
            <a:r>
              <a:rPr lang="en-US"/>
              <a:t>	Their responsibility </a:t>
            </a:r>
            <a:r>
              <a:rPr lang="en-US" sz="2400"/>
              <a:t>is to ensure that the right projects are being identified and worked on, that teams are making good progress, and that the resources required for successful project completion are in place. </a:t>
            </a:r>
          </a:p>
          <a:p>
            <a:pPr>
              <a:buNone/>
            </a:pPr>
            <a:r>
              <a:rPr lang="en-US" sz="2400"/>
              <a:t>	Champions are project sponsors.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 Six Sigma project</a:t>
            </a:r>
          </a:p>
        </p:txBody>
      </p:sp>
      <p:sp>
        <p:nvSpPr>
          <p:cNvPr id="3" name="Content Placeholder 2"/>
          <p:cNvSpPr>
            <a:spLocks noGrp="1"/>
          </p:cNvSpPr>
          <p:nvPr>
            <p:ph idx="1"/>
          </p:nvPr>
        </p:nvSpPr>
        <p:spPr/>
        <p:txBody>
          <a:bodyPr>
            <a:normAutofit fontScale="92500"/>
          </a:bodyPr>
          <a:lstStyle/>
          <a:p>
            <a:pPr lvl="0"/>
            <a:r>
              <a:rPr lang="en-US"/>
              <a:t>Will the project maximize profits?</a:t>
            </a:r>
          </a:p>
          <a:p>
            <a:pPr lvl="0"/>
            <a:r>
              <a:rPr lang="en-US"/>
              <a:t>Will the project maintain the market share?</a:t>
            </a:r>
          </a:p>
          <a:p>
            <a:pPr lvl="0"/>
            <a:r>
              <a:rPr lang="en-US"/>
              <a:t>Will the project consolidate the market position?</a:t>
            </a:r>
          </a:p>
          <a:p>
            <a:pPr lvl="0"/>
            <a:r>
              <a:rPr lang="en-US"/>
              <a:t>Will the project open up new markets?</a:t>
            </a:r>
          </a:p>
          <a:p>
            <a:pPr lvl="0"/>
            <a:r>
              <a:rPr lang="en-US"/>
              <a:t>Will the project maximize profits?</a:t>
            </a:r>
          </a:p>
          <a:p>
            <a:pPr lvl="0"/>
            <a:r>
              <a:rPr lang="en-US"/>
              <a:t>Will the project maximize utilization of existing resources?</a:t>
            </a:r>
          </a:p>
          <a:p>
            <a:pPr lvl="0"/>
            <a:r>
              <a:rPr lang="en-US"/>
              <a:t>Will the project boost company’s image?</a:t>
            </a:r>
          </a:p>
          <a:p>
            <a:pPr lvl="0"/>
            <a:r>
              <a:rPr lang="en-US"/>
              <a:t>Will the project increase risk faced by the company?</a:t>
            </a:r>
          </a:p>
          <a:p>
            <a:pPr lvl="0"/>
            <a:r>
              <a:rPr lang="en-US"/>
              <a:t>Is the project scope within the company’s current skills and experience?</a:t>
            </a:r>
          </a:p>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819912"/>
          </a:xfrm>
        </p:spPr>
        <p:txBody>
          <a:bodyPr>
            <a:normAutofit fontScale="90000"/>
          </a:bodyPr>
          <a:lstStyle/>
          <a:p>
            <a:r>
              <a:rPr lang="en-GB"/>
              <a:t>Over view of Six Sigma Project execution</a:t>
            </a:r>
            <a:endParaRPr lang="en-US"/>
          </a:p>
        </p:txBody>
      </p:sp>
      <p:sp>
        <p:nvSpPr>
          <p:cNvPr id="3" name="Content Placeholder 2"/>
          <p:cNvSpPr>
            <a:spLocks noGrp="1"/>
          </p:cNvSpPr>
          <p:nvPr>
            <p:ph idx="1"/>
          </p:nvPr>
        </p:nvSpPr>
        <p:spPr>
          <a:xfrm>
            <a:off x="533400" y="1524000"/>
            <a:ext cx="8229600" cy="5074920"/>
          </a:xfrm>
        </p:spPr>
        <p:txBody>
          <a:bodyPr>
            <a:normAutofit fontScale="55000" lnSpcReduction="20000"/>
          </a:bodyPr>
          <a:lstStyle/>
          <a:p>
            <a:pPr lvl="0">
              <a:buNone/>
            </a:pPr>
            <a:r>
              <a:rPr lang="en-US" i="1"/>
              <a:t>DMAIC</a:t>
            </a:r>
          </a:p>
          <a:p>
            <a:pPr lvl="0"/>
            <a:r>
              <a:rPr lang="en-US" i="1"/>
              <a:t>Define</a:t>
            </a:r>
            <a:r>
              <a:rPr lang="en-US"/>
              <a:t> - Define the problem or project goals that need to be addressed</a:t>
            </a:r>
          </a:p>
          <a:p>
            <a:pPr lvl="0"/>
            <a:r>
              <a:rPr lang="en-US" i="1"/>
              <a:t>Measure</a:t>
            </a:r>
            <a:r>
              <a:rPr lang="en-US"/>
              <a:t> - Measure the problem and process from which it was produced</a:t>
            </a:r>
          </a:p>
          <a:p>
            <a:pPr lvl="0"/>
            <a:r>
              <a:rPr lang="en-US" i="1"/>
              <a:t>Analyze</a:t>
            </a:r>
            <a:r>
              <a:rPr lang="en-US"/>
              <a:t> - Analyze data and process to identify the root causes of defects and opportunities</a:t>
            </a:r>
          </a:p>
          <a:p>
            <a:pPr lvl="0"/>
            <a:r>
              <a:rPr lang="en-US" i="1"/>
              <a:t>Improve</a:t>
            </a:r>
            <a:r>
              <a:rPr lang="en-US"/>
              <a:t> - Improve the process by finding solutions to fix, diminish, and prevent future problems</a:t>
            </a:r>
          </a:p>
          <a:p>
            <a:pPr lvl="0"/>
            <a:r>
              <a:rPr lang="en-US" i="1"/>
              <a:t>Control</a:t>
            </a:r>
            <a:r>
              <a:rPr lang="en-US"/>
              <a:t> - Implement, control, and sustain the improvements and solutions to keep the process on the new course</a:t>
            </a:r>
          </a:p>
          <a:p>
            <a:pPr lvl="1"/>
            <a:endParaRPr lang="en-GB"/>
          </a:p>
          <a:p>
            <a:pPr>
              <a:buNone/>
            </a:pPr>
            <a:r>
              <a:rPr lang="en-GB"/>
              <a:t>DMADV </a:t>
            </a:r>
          </a:p>
          <a:p>
            <a:pPr lvl="0"/>
            <a:r>
              <a:rPr lang="en-US" sz="2800" i="1"/>
              <a:t>Define</a:t>
            </a:r>
            <a:r>
              <a:rPr lang="en-US" sz="2800"/>
              <a:t> – Define the problem and/or new requirements</a:t>
            </a:r>
            <a:endParaRPr lang="en-US" sz="2400"/>
          </a:p>
          <a:p>
            <a:pPr lvl="0"/>
            <a:r>
              <a:rPr lang="en-US" sz="2800" i="1"/>
              <a:t>Measure</a:t>
            </a:r>
            <a:r>
              <a:rPr lang="en-US" sz="2800"/>
              <a:t> – Measure the process and gather the data that is associated with the problem or in comparison to the new requirements</a:t>
            </a:r>
            <a:endParaRPr lang="en-US" sz="2400"/>
          </a:p>
          <a:p>
            <a:pPr lvl="0"/>
            <a:r>
              <a:rPr lang="en-US" sz="2800" i="1"/>
              <a:t>Analyze</a:t>
            </a:r>
            <a:r>
              <a:rPr lang="en-US" sz="2800"/>
              <a:t> – Analyze the data to identify a cause-and-effect relationship between key variables</a:t>
            </a:r>
            <a:endParaRPr lang="en-US" sz="2400"/>
          </a:p>
          <a:p>
            <a:pPr lvl="0"/>
            <a:r>
              <a:rPr lang="en-US" sz="2800" i="1"/>
              <a:t>Design</a:t>
            </a:r>
            <a:r>
              <a:rPr lang="en-US" sz="2800"/>
              <a:t> – Design a new process so that the problem is eliminated or new requirements are met</a:t>
            </a:r>
            <a:endParaRPr lang="en-US" sz="2400"/>
          </a:p>
          <a:p>
            <a:pPr lvl="0"/>
            <a:r>
              <a:rPr lang="en-US" sz="2800" i="1"/>
              <a:t>Validate</a:t>
            </a:r>
            <a:r>
              <a:rPr lang="en-US" sz="2800"/>
              <a:t> – Validate the new process to be capable of meeting the new process requirements</a:t>
            </a:r>
            <a:endParaRPr lang="en-US" sz="2400"/>
          </a:p>
          <a:p>
            <a:pPr lvl="1">
              <a:buNone/>
            </a:pPr>
            <a:endParaRPr lang="en-GB"/>
          </a:p>
          <a:p>
            <a:pPr>
              <a:buNone/>
            </a:pPr>
            <a:r>
              <a:rPr lang="en-GB"/>
              <a:t>DMEDI</a:t>
            </a:r>
          </a:p>
          <a:p>
            <a:pPr lvl="0"/>
            <a:r>
              <a:rPr lang="en-US" i="1"/>
              <a:t>Define</a:t>
            </a:r>
            <a:r>
              <a:rPr lang="en-US"/>
              <a:t> – Define the problem and/or new requirements</a:t>
            </a:r>
          </a:p>
          <a:p>
            <a:pPr lvl="0"/>
            <a:r>
              <a:rPr lang="en-US" i="1"/>
              <a:t>Measure</a:t>
            </a:r>
            <a:r>
              <a:rPr lang="en-US"/>
              <a:t> – Measure the process and gather the data that is associated with the problem or in comparison to the new requirements</a:t>
            </a:r>
          </a:p>
          <a:p>
            <a:pPr lvl="0"/>
            <a:r>
              <a:rPr lang="en-US" i="1"/>
              <a:t>Explore</a:t>
            </a:r>
            <a:r>
              <a:rPr lang="en-US"/>
              <a:t> – Explore the data to identify a cause-and-effect relationship between key variables</a:t>
            </a:r>
          </a:p>
          <a:p>
            <a:pPr lvl="0"/>
            <a:r>
              <a:rPr lang="en-US" i="1"/>
              <a:t>Develop</a:t>
            </a:r>
            <a:r>
              <a:rPr lang="en-US"/>
              <a:t> – Develop a new process so that the problem is eliminated or new requirements are met</a:t>
            </a:r>
          </a:p>
          <a:p>
            <a:pPr lvl="0"/>
            <a:r>
              <a:rPr lang="en-US" i="1"/>
              <a:t>Implement</a:t>
            </a:r>
            <a:r>
              <a:rPr lang="en-US"/>
              <a:t> – Execute the new process under a control plan</a:t>
            </a:r>
          </a:p>
          <a:p>
            <a:endParaRPr lang="en-US" b="1"/>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Designed for Six Sigma</a:t>
            </a:r>
          </a:p>
        </p:txBody>
      </p:sp>
      <p:sp>
        <p:nvSpPr>
          <p:cNvPr id="3" name="Content Placeholder 2"/>
          <p:cNvSpPr>
            <a:spLocks noGrp="1"/>
          </p:cNvSpPr>
          <p:nvPr>
            <p:ph idx="1"/>
          </p:nvPr>
        </p:nvSpPr>
        <p:spPr/>
        <p:txBody>
          <a:bodyPr>
            <a:normAutofit lnSpcReduction="10000"/>
          </a:bodyPr>
          <a:lstStyle/>
          <a:p>
            <a:r>
              <a:rPr lang="en-US"/>
              <a:t>Design for Six Sigma is an Engineering design process, business process management method related to traditional Six Sigma. </a:t>
            </a:r>
          </a:p>
          <a:p>
            <a:r>
              <a:rPr lang="en-US"/>
              <a:t>It is used in many industries, like finance, marketing, basic engineering, process industries, waste management, and electronic</a:t>
            </a:r>
          </a:p>
          <a:p>
            <a:r>
              <a:rPr lang="en-US"/>
              <a:t>This methodology is most effective when used to improve a current process or make incremental changes to a product design. </a:t>
            </a:r>
          </a:p>
          <a:p>
            <a:r>
              <a:rPr lang="en-US"/>
              <a:t>In contrast, Design for Six Sigma is used primarily for the complete re-design of a product or process. s.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Voice of customer (VOC)</a:t>
            </a:r>
          </a:p>
        </p:txBody>
      </p:sp>
      <p:sp>
        <p:nvSpPr>
          <p:cNvPr id="3" name="Content Placeholder 2"/>
          <p:cNvSpPr>
            <a:spLocks noGrp="1"/>
          </p:cNvSpPr>
          <p:nvPr>
            <p:ph idx="1"/>
          </p:nvPr>
        </p:nvSpPr>
        <p:spPr/>
        <p:txBody>
          <a:bodyPr>
            <a:normAutofit fontScale="92500" lnSpcReduction="10000"/>
          </a:bodyPr>
          <a:lstStyle/>
          <a:p>
            <a:r>
              <a:rPr lang="en-US"/>
              <a:t>Voice of the customer is a term used in business and Information Technology to describe the in-depth process of capturing customer's expectations, preferences and aversions.</a:t>
            </a:r>
          </a:p>
          <a:p>
            <a:r>
              <a:rPr lang="en-US"/>
              <a:t>Some methods of VOC</a:t>
            </a:r>
          </a:p>
          <a:p>
            <a:pPr lvl="1"/>
            <a:r>
              <a:rPr lang="en-US"/>
              <a:t>Surveys. Surveys offer the most scalable way to gather structured customer feedback. ...</a:t>
            </a:r>
          </a:p>
          <a:p>
            <a:pPr lvl="1"/>
            <a:r>
              <a:rPr lang="en-US"/>
              <a:t>Social listening. Social media is a great resource for collecting VOC data online. ...</a:t>
            </a:r>
          </a:p>
          <a:p>
            <a:pPr lvl="1"/>
            <a:r>
              <a:rPr lang="en-US"/>
              <a:t>Customer interviews. ...</a:t>
            </a:r>
          </a:p>
          <a:p>
            <a:pPr lvl="1"/>
            <a:r>
              <a:rPr lang="en-US"/>
              <a:t>Focus Groups. ...</a:t>
            </a:r>
          </a:p>
          <a:p>
            <a:pPr lvl="1"/>
            <a:r>
              <a:rPr lang="en-US"/>
              <a:t>Net Promoter Score (NPS)</a:t>
            </a:r>
          </a:p>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How to measurer VOC?</a:t>
            </a:r>
          </a:p>
        </p:txBody>
      </p:sp>
      <p:sp>
        <p:nvSpPr>
          <p:cNvPr id="3" name="Content Placeholder 2"/>
          <p:cNvSpPr>
            <a:spLocks noGrp="1"/>
          </p:cNvSpPr>
          <p:nvPr>
            <p:ph idx="1"/>
          </p:nvPr>
        </p:nvSpPr>
        <p:spPr>
          <a:xfrm>
            <a:off x="457200" y="1828800"/>
            <a:ext cx="8229600" cy="4495800"/>
          </a:xfrm>
        </p:spPr>
        <p:txBody>
          <a:bodyPr/>
          <a:lstStyle/>
          <a:p>
            <a:r>
              <a:rPr lang="en-US"/>
              <a:t>Net Promoter Score. The Net Promoter Score (NPS) </a:t>
            </a:r>
            <a:r>
              <a:rPr lang="en-US" b="1"/>
              <a:t>measures</a:t>
            </a:r>
            <a:r>
              <a:rPr lang="en-US"/>
              <a:t> whether a </a:t>
            </a:r>
            <a:r>
              <a:rPr lang="en-US" b="1"/>
              <a:t>customer</a:t>
            </a:r>
            <a:r>
              <a:rPr lang="en-US"/>
              <a:t> would personally recommend your product or service to a family member, friend, or colleague. ...</a:t>
            </a:r>
          </a:p>
          <a:p>
            <a:r>
              <a:rPr lang="en-US" b="1"/>
              <a:t>Customer</a:t>
            </a:r>
            <a:r>
              <a:rPr lang="en-US"/>
              <a:t> Effort Score. ...</a:t>
            </a:r>
          </a:p>
          <a:p>
            <a:r>
              <a:rPr lang="en-US"/>
              <a:t>Overall </a:t>
            </a:r>
            <a:r>
              <a:rPr lang="en-US" b="1"/>
              <a:t>Customer</a:t>
            </a:r>
            <a:r>
              <a:rPr lang="en-US"/>
              <a:t> Satisfaction. ...</a:t>
            </a:r>
          </a:p>
          <a:p>
            <a:r>
              <a:rPr lang="en-US"/>
              <a:t>Loyalty Index.</a:t>
            </a:r>
          </a:p>
          <a:p>
            <a:endParaRPr lang="en-US"/>
          </a:p>
        </p:txBody>
      </p:sp>
      <p:pic>
        <p:nvPicPr>
          <p:cNvPr id="4" name="Picture 2" descr="How Social Listening + Voice of the Customer Data Power Unbeatable Customer  Experience Analytics - NetBase"/>
          <p:cNvPicPr>
            <a:picLocks noChangeAspect="1" noChangeArrowheads="1"/>
          </p:cNvPicPr>
          <p:nvPr/>
        </p:nvPicPr>
        <p:blipFill>
          <a:blip r:embed="rId2" cstate="print"/>
          <a:srcRect/>
          <a:stretch>
            <a:fillRect/>
          </a:stretch>
        </p:blipFill>
        <p:spPr bwMode="auto">
          <a:xfrm>
            <a:off x="4706529" y="4419600"/>
            <a:ext cx="4437471" cy="2438400"/>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Steps involved in building an effective </a:t>
            </a:r>
            <a:r>
              <a:rPr lang="en-US" err="1"/>
              <a:t>VoC</a:t>
            </a:r>
            <a:endParaRPr lang="en-US"/>
          </a:p>
        </p:txBody>
      </p:sp>
      <p:sp>
        <p:nvSpPr>
          <p:cNvPr id="3" name="Content Placeholder 2"/>
          <p:cNvSpPr>
            <a:spLocks noGrp="1"/>
          </p:cNvSpPr>
          <p:nvPr>
            <p:ph idx="1"/>
          </p:nvPr>
        </p:nvSpPr>
        <p:spPr/>
        <p:txBody>
          <a:bodyPr/>
          <a:lstStyle/>
          <a:p>
            <a:r>
              <a:rPr lang="en-US"/>
              <a:t>Identify a question.</a:t>
            </a:r>
          </a:p>
          <a:p>
            <a:r>
              <a:rPr lang="en-US"/>
              <a:t>Gather and prepare data.</a:t>
            </a:r>
          </a:p>
          <a:p>
            <a:r>
              <a:rPr lang="en-US"/>
              <a:t>Choose your tools.</a:t>
            </a:r>
          </a:p>
          <a:p>
            <a:r>
              <a:rPr lang="en-US"/>
              <a:t>Analyze and troubleshoot.</a:t>
            </a:r>
          </a:p>
          <a:p>
            <a:r>
              <a:rPr lang="en-US"/>
              <a:t>Draw conclusions.</a:t>
            </a:r>
          </a:p>
          <a:p>
            <a:r>
              <a:rPr lang="en-US"/>
              <a:t>Take action.</a:t>
            </a:r>
          </a:p>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Voice of Process (VOP)</a:t>
            </a:r>
          </a:p>
        </p:txBody>
      </p:sp>
      <p:sp>
        <p:nvSpPr>
          <p:cNvPr id="3" name="Content Placeholder 2"/>
          <p:cNvSpPr>
            <a:spLocks noGrp="1"/>
          </p:cNvSpPr>
          <p:nvPr>
            <p:ph idx="1"/>
          </p:nvPr>
        </p:nvSpPr>
        <p:spPr/>
        <p:txBody>
          <a:bodyPr/>
          <a:lstStyle/>
          <a:p>
            <a:r>
              <a:rPr lang="en-US" b="1"/>
              <a:t>Voice of Process</a:t>
            </a:r>
            <a:r>
              <a:rPr lang="en-US"/>
              <a:t> is the performance of a </a:t>
            </a:r>
            <a:r>
              <a:rPr lang="en-US" b="1"/>
              <a:t>process</a:t>
            </a:r>
            <a:r>
              <a:rPr lang="en-US"/>
              <a:t> over a period of time. </a:t>
            </a:r>
          </a:p>
          <a:p>
            <a:r>
              <a:rPr lang="en-US"/>
              <a:t>The upper and lower limits can be plotted on the </a:t>
            </a:r>
            <a:r>
              <a:rPr lang="en-US" b="1"/>
              <a:t>Process</a:t>
            </a:r>
            <a:r>
              <a:rPr lang="en-US"/>
              <a:t> Performance graph showing the gap between the </a:t>
            </a:r>
            <a:r>
              <a:rPr lang="en-US" b="1"/>
              <a:t>Voice</a:t>
            </a:r>
            <a:r>
              <a:rPr lang="en-US"/>
              <a:t> of Customer and the </a:t>
            </a:r>
            <a:r>
              <a:rPr lang="en-US" b="1"/>
              <a:t>Voice of Process</a:t>
            </a:r>
            <a:r>
              <a:rPr lang="en-US"/>
              <a:t>. </a:t>
            </a:r>
          </a:p>
          <a:p>
            <a:r>
              <a:rPr lang="en-US"/>
              <a:t>If the VOP is lying within the VOC, then everything is fine with the </a:t>
            </a:r>
            <a:r>
              <a:rPr lang="en-US" b="1"/>
              <a:t>process</a:t>
            </a:r>
            <a:r>
              <a:rPr lang="en-US"/>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a:p>
            <a:endParaRPr lang="en-US"/>
          </a:p>
          <a:p>
            <a:endParaRPr lang="en-US"/>
          </a:p>
          <a:p>
            <a:pPr algn="ctr">
              <a:buNone/>
            </a:pPr>
            <a:r>
              <a:rPr lang="en-US" sz="4000">
                <a:solidFill>
                  <a:srgbClr val="FF0000"/>
                </a:solidFill>
              </a:rPr>
              <a:t>Questions?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38914" name="Picture 2" descr="Namaste logo png 1 » PNG Image"/>
          <p:cNvPicPr>
            <a:picLocks noChangeAspect="1" noChangeArrowheads="1"/>
          </p:cNvPicPr>
          <p:nvPr/>
        </p:nvPicPr>
        <p:blipFill>
          <a:blip r:embed="rId2" cstate="print"/>
          <a:srcRect/>
          <a:stretch>
            <a:fillRect/>
          </a:stretch>
        </p:blipFill>
        <p:spPr bwMode="auto">
          <a:xfrm>
            <a:off x="2819400" y="2971800"/>
            <a:ext cx="3883229" cy="1828800"/>
          </a:xfrm>
          <a:prstGeom prst="rect">
            <a:avLst/>
          </a:prstGeom>
          <a:noFill/>
        </p:spPr>
      </p:pic>
      <p:sp>
        <p:nvSpPr>
          <p:cNvPr id="6" name="TextBox 5"/>
          <p:cNvSpPr txBox="1"/>
          <p:nvPr/>
        </p:nvSpPr>
        <p:spPr>
          <a:xfrm>
            <a:off x="4114800" y="4267200"/>
            <a:ext cx="1524000" cy="523220"/>
          </a:xfrm>
          <a:prstGeom prst="rect">
            <a:avLst/>
          </a:prstGeom>
          <a:noFill/>
        </p:spPr>
        <p:txBody>
          <a:bodyPr wrap="square" rtlCol="0">
            <a:spAutoFit/>
          </a:bodyPr>
          <a:lstStyle/>
          <a:p>
            <a:r>
              <a:rPr lang="en-US" sz="2800"/>
              <a:t>Thanks</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0A25C97A2986249B41E72CADC74A191" ma:contentTypeVersion="4" ma:contentTypeDescription="Create a new document." ma:contentTypeScope="" ma:versionID="09c2f7997568f11f6f048b0b696e6d1a">
  <xsd:schema xmlns:xsd="http://www.w3.org/2001/XMLSchema" xmlns:xs="http://www.w3.org/2001/XMLSchema" xmlns:p="http://schemas.microsoft.com/office/2006/metadata/properties" xmlns:ns2="13198c3b-a4e2-4038-bec2-ba20dc2c24ec" targetNamespace="http://schemas.microsoft.com/office/2006/metadata/properties" ma:root="true" ma:fieldsID="a7ce81a64f443739af589702288e63ef" ns2:_="">
    <xsd:import namespace="13198c3b-a4e2-4038-bec2-ba20dc2c24e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3198c3b-a4e2-4038-bec2-ba20dc2c24e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B9533C3-8011-48AE-B324-C50939A22A2F}">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A83DF12B-B10A-45C3-BED3-88198B9029E2}">
  <ds:schemaRefs>
    <ds:schemaRef ds:uri="http://schemas.microsoft.com/sharepoint/v3/contenttype/forms"/>
  </ds:schemaRefs>
</ds:datastoreItem>
</file>

<file path=customXml/itemProps3.xml><?xml version="1.0" encoding="utf-8"?>
<ds:datastoreItem xmlns:ds="http://schemas.openxmlformats.org/officeDocument/2006/customXml" ds:itemID="{49242DEF-CCA6-484A-94FB-92DC4F359EE2}">
  <ds:schemaRefs>
    <ds:schemaRef ds:uri="13198c3b-a4e2-4038-bec2-ba20dc2c24e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Flow</Template>
  <Application>Microsoft Office PowerPoint</Application>
  <PresentationFormat>On-screen Show (4:3)</PresentationFormat>
  <Slides>16</Slides>
  <Notes>0</Notes>
  <HiddenSlides>0</HiddenSlide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Flow</vt:lpstr>
      <vt:lpstr>SSQI: Understanding of Deployment Strategies</vt:lpstr>
      <vt:lpstr>Quality Function Deployment</vt:lpstr>
      <vt:lpstr>QFD: Characteristics </vt:lpstr>
      <vt:lpstr>QFD: Techniques</vt:lpstr>
      <vt:lpstr>QFD: Video watch</vt:lpstr>
      <vt:lpstr>Executive roles and responsibilities </vt:lpstr>
      <vt:lpstr>Roles and responsibilities</vt:lpstr>
      <vt:lpstr>A Six Sigma project</vt:lpstr>
      <vt:lpstr>Over view of Six Sigma Project execution</vt:lpstr>
      <vt:lpstr>Designed for Six Sigma</vt:lpstr>
      <vt:lpstr>Voice of customer (VOC)</vt:lpstr>
      <vt:lpstr>How to measurer VOC?</vt:lpstr>
      <vt:lpstr>Steps involved in building an effective VoC</vt:lpstr>
      <vt:lpstr>Voice of Process (VOP)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Muralidharan_2</dc:creator>
  <cp:revision>1</cp:revision>
  <dcterms:created xsi:type="dcterms:W3CDTF">2020-05-20T04:35:05Z</dcterms:created>
  <dcterms:modified xsi:type="dcterms:W3CDTF">2020-09-10T05:06:41Z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0x01010020A25C97A2986249B41E72CADC74A191</vt:lpwstr>
  </property>
</Properties>
</file>