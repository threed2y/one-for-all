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88" r:id="rId3"/>
    <p:sldId id="285" r:id="rId4"/>
    <p:sldId id="287" r:id="rId5"/>
    <p:sldId id="289" r:id="rId6"/>
    <p:sldId id="290" r:id="rId7"/>
    <p:sldId id="291" r:id="rId8"/>
    <p:sldId id="293" r:id="rId9"/>
    <p:sldId id="294" r:id="rId10"/>
    <p:sldId id="295" r:id="rId11"/>
    <p:sldId id="296" r:id="rId12"/>
    <p:sldId id="292" r:id="rId13"/>
    <p:sldId id="297" r:id="rId14"/>
    <p:sldId id="299" r:id="rId15"/>
    <p:sldId id="278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0F01B-5C3E-4254-B80C-F16BDE456FBB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1695B-277F-4DAE-8546-B2E35772E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3D68094-37D2-48FC-9170-7D06BC38C1EA}" type="datetimeFigureOut">
              <a:rPr lang="en-US" smtClean="0"/>
              <a:pPr/>
              <a:t>8/27/2020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87D4FCD-B6B5-4FE7-9103-36BC734156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uralikustat@gmail.com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???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4478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Stochastic Processes-I</a:t>
            </a:r>
            <a:r>
              <a:rPr lang="en-US" sz="3600" dirty="0" smtClean="0"/>
              <a:t>: </a:t>
            </a:r>
            <a:br>
              <a:rPr lang="en-US" sz="3600" dirty="0" smtClean="0"/>
            </a:br>
            <a:r>
              <a:rPr lang="en-US" sz="3600" dirty="0" smtClean="0"/>
              <a:t>Markov Chain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581400"/>
            <a:ext cx="7854696" cy="259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 smtClean="0"/>
              <a:t>K. </a:t>
            </a:r>
            <a:r>
              <a:rPr lang="en-US" sz="3600" dirty="0" err="1" smtClean="0"/>
              <a:t>Muralidharan</a:t>
            </a:r>
            <a:endParaRPr lang="en-US" sz="3600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Department of Statistics, Faculty of Science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The </a:t>
            </a:r>
            <a:r>
              <a:rPr lang="en-US" dirty="0" err="1" smtClean="0"/>
              <a:t>Mahraja</a:t>
            </a:r>
            <a:r>
              <a:rPr lang="en-US" dirty="0" smtClean="0"/>
              <a:t> </a:t>
            </a:r>
            <a:r>
              <a:rPr lang="en-US" dirty="0" err="1" smtClean="0"/>
              <a:t>Sayajirao</a:t>
            </a:r>
            <a:r>
              <a:rPr lang="en-US" dirty="0" smtClean="0"/>
              <a:t>  University of Baroda</a:t>
            </a:r>
          </a:p>
          <a:p>
            <a:pPr>
              <a:lnSpc>
                <a:spcPct val="90000"/>
              </a:lnSpc>
            </a:pPr>
            <a:r>
              <a:rPr lang="en-US" dirty="0" err="1" smtClean="0"/>
              <a:t>Vadodara</a:t>
            </a:r>
            <a:r>
              <a:rPr lang="en-US" dirty="0" smtClean="0"/>
              <a:t>, 390002</a:t>
            </a:r>
          </a:p>
          <a:p>
            <a:pPr>
              <a:lnSpc>
                <a:spcPct val="90000"/>
              </a:lnSpc>
            </a:pPr>
            <a:r>
              <a:rPr lang="en-US" sz="2000" b="1" dirty="0" smtClean="0">
                <a:solidFill>
                  <a:srgbClr val="FFFF00"/>
                </a:solidFill>
              </a:rPr>
              <a:t>email: </a:t>
            </a:r>
            <a:r>
              <a:rPr lang="en-US" sz="2000" b="1" dirty="0" smtClean="0">
                <a:solidFill>
                  <a:srgbClr val="FFFF00"/>
                </a:solidFill>
                <a:hlinkClick r:id="rId3"/>
              </a:rPr>
              <a:t>muralikustat@gmail.com</a:t>
            </a:r>
            <a:r>
              <a:rPr lang="en-US" sz="2000" b="1" dirty="0" smtClean="0">
                <a:solidFill>
                  <a:srgbClr val="FFFF00"/>
                </a:solidFill>
              </a:rPr>
              <a:t>,   </a:t>
            </a:r>
          </a:p>
          <a:p>
            <a:pPr>
              <a:lnSpc>
                <a:spcPct val="90000"/>
              </a:lnSpc>
            </a:pPr>
            <a:r>
              <a:rPr lang="en-US" sz="2000" b="1" dirty="0" smtClean="0">
                <a:solidFill>
                  <a:srgbClr val="FFFF00"/>
                </a:solidFill>
              </a:rPr>
              <a:t> email: muralidharan.k-stat@msubaroda.ac.in</a:t>
            </a:r>
          </a:p>
          <a:p>
            <a:pPr>
              <a:lnSpc>
                <a:spcPct val="90000"/>
              </a:lnSpc>
            </a:pPr>
            <a:endParaRPr lang="en-US" sz="2000" dirty="0" smtClean="0">
              <a:solidFill>
                <a:srgbClr val="FFFF00"/>
              </a:solidFill>
            </a:endParaRPr>
          </a:p>
          <a:p>
            <a:endParaRPr lang="en-US" dirty="0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7543800" y="685800"/>
          <a:ext cx="838200" cy="804797"/>
        </p:xfrm>
        <a:graphic>
          <a:graphicData uri="http://schemas.openxmlformats.org/presentationml/2006/ole">
            <p:oleObj spid="_x0000_s1026" name="Document" r:id="rId4" imgW="1020572" imgH="981478" progId="Word.Document.12">
              <p:link updateAutomatic="1"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990600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Lecture-2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Markov Process</a:t>
            </a:r>
          </a:p>
          <a:p>
            <a:pPr algn="ctr">
              <a:buNone/>
            </a:pPr>
            <a:r>
              <a:rPr lang="en-US" sz="2800" dirty="0" smtClean="0"/>
              <a:t>(Discrete time discrete state space SP)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r>
              <a:rPr lang="en-US" dirty="0" smtClean="0"/>
              <a:t>Property: 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For any two random variables X and Y</a:t>
            </a:r>
          </a:p>
          <a:p>
            <a:pPr lvl="1">
              <a:buNone/>
            </a:pPr>
            <a:r>
              <a:rPr lang="en-US" dirty="0" smtClean="0"/>
              <a:t>	P(x, y) = P(x y) =  P(</a:t>
            </a:r>
            <a:r>
              <a:rPr lang="en-US" dirty="0" err="1" smtClean="0"/>
              <a:t>x|y</a:t>
            </a:r>
            <a:r>
              <a:rPr lang="en-US" dirty="0" smtClean="0"/>
              <a:t>) P(y)</a:t>
            </a:r>
          </a:p>
          <a:p>
            <a:pPr lvl="1">
              <a:buNone/>
            </a:pPr>
            <a:r>
              <a:rPr lang="en-US" dirty="0" smtClean="0"/>
              <a:t>                = P(y x) = P(</a:t>
            </a:r>
            <a:r>
              <a:rPr lang="en-US" dirty="0" err="1" smtClean="0"/>
              <a:t>y|x</a:t>
            </a:r>
            <a:r>
              <a:rPr lang="en-US" dirty="0" smtClean="0"/>
              <a:t>) P(x)   </a:t>
            </a:r>
          </a:p>
          <a:p>
            <a:r>
              <a:rPr lang="en-US" dirty="0" smtClean="0"/>
              <a:t>For any three random variables X, Y, and Z</a:t>
            </a:r>
          </a:p>
          <a:p>
            <a:pPr>
              <a:buNone/>
            </a:pPr>
            <a:r>
              <a:rPr lang="en-US" dirty="0" smtClean="0"/>
              <a:t>	   P(x, y, z) = P(x y z) = P(</a:t>
            </a:r>
            <a:r>
              <a:rPr lang="en-US" dirty="0" err="1" smtClean="0"/>
              <a:t>x|y,z</a:t>
            </a:r>
            <a:r>
              <a:rPr lang="en-US" dirty="0" smtClean="0"/>
              <a:t>) P(</a:t>
            </a:r>
            <a:r>
              <a:rPr lang="en-US" dirty="0" err="1" smtClean="0"/>
              <a:t>y|z</a:t>
            </a:r>
            <a:r>
              <a:rPr lang="en-US" dirty="0" smtClean="0"/>
              <a:t>) P(z)</a:t>
            </a:r>
          </a:p>
          <a:p>
            <a:pPr>
              <a:buNone/>
            </a:pPr>
            <a:r>
              <a:rPr lang="en-US" dirty="0" smtClean="0"/>
              <a:t>		          = P(z y x) = P(</a:t>
            </a:r>
            <a:r>
              <a:rPr lang="en-US" dirty="0" err="1" smtClean="0"/>
              <a:t>z|x,y</a:t>
            </a:r>
            <a:r>
              <a:rPr lang="en-US" dirty="0" smtClean="0"/>
              <a:t>) P(</a:t>
            </a:r>
            <a:r>
              <a:rPr lang="en-US" dirty="0" err="1" smtClean="0"/>
              <a:t>y|x</a:t>
            </a:r>
            <a:r>
              <a:rPr lang="en-US" dirty="0" smtClean="0"/>
              <a:t>) P(x)</a:t>
            </a:r>
          </a:p>
          <a:p>
            <a:pPr>
              <a:buNone/>
            </a:pPr>
            <a:r>
              <a:rPr lang="en-US" dirty="0" smtClean="0"/>
              <a:t>		          = P(x </a:t>
            </a:r>
            <a:r>
              <a:rPr lang="en-US" dirty="0" err="1" smtClean="0"/>
              <a:t>y|z</a:t>
            </a:r>
            <a:r>
              <a:rPr lang="en-US" dirty="0" smtClean="0"/>
              <a:t>) P(z) = P(y </a:t>
            </a:r>
            <a:r>
              <a:rPr lang="en-US" dirty="0" err="1" smtClean="0"/>
              <a:t>z|x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In general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              = </a:t>
            </a:r>
          </a:p>
          <a:p>
            <a:pPr>
              <a:buNone/>
            </a:pPr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61" name="Picture 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0" y="5105400"/>
            <a:ext cx="4343400" cy="384371"/>
          </a:xfrm>
          <a:prstGeom prst="rect">
            <a:avLst/>
          </a:prstGeom>
          <a:noFill/>
        </p:spPr>
      </p:pic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63" name="Picture 1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5600" y="5715000"/>
            <a:ext cx="6248400" cy="350050"/>
          </a:xfrm>
          <a:prstGeom prst="rect">
            <a:avLst/>
          </a:prstGeom>
          <a:noFill/>
        </p:spPr>
      </p:pic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Property: 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property of dependence of events or random variables is a very common phenomenon in statistical analysis. </a:t>
            </a:r>
          </a:p>
          <a:p>
            <a:r>
              <a:rPr lang="en-US" dirty="0" smtClean="0"/>
              <a:t>The analysis of general dependence system is too complicated in general.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Markov property </a:t>
            </a:r>
            <a:r>
              <a:rPr lang="en-US" dirty="0" smtClean="0"/>
              <a:t>comes to the rescue of it.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Markov Property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Suppose X(t) is defined for various values of t. </a:t>
            </a:r>
          </a:p>
          <a:p>
            <a:r>
              <a:rPr lang="en-US" dirty="0" smtClean="0"/>
              <a:t>The Markov property assumes that the dependence of X(n) does not extend beyond the immediate predecessor X(n-1).</a:t>
            </a:r>
          </a:p>
          <a:p>
            <a:r>
              <a:rPr lang="en-US" dirty="0" smtClean="0"/>
              <a:t>That is given the values of X(t), the values of X(s), t&lt;s does not depend on the values of X(u), u&lt;t.</a:t>
            </a:r>
          </a:p>
          <a:p>
            <a:r>
              <a:rPr lang="en-US" dirty="0" smtClean="0"/>
              <a:t>That is given the </a:t>
            </a:r>
            <a:r>
              <a:rPr lang="en-US" dirty="0" smtClean="0">
                <a:solidFill>
                  <a:srgbClr val="0070C0"/>
                </a:solidFill>
              </a:rPr>
              <a:t>present, </a:t>
            </a:r>
            <a:r>
              <a:rPr lang="en-US" dirty="0" smtClean="0"/>
              <a:t>the</a:t>
            </a:r>
            <a:r>
              <a:rPr lang="en-US" dirty="0" smtClean="0">
                <a:solidFill>
                  <a:srgbClr val="0070C0"/>
                </a:solidFill>
              </a:rPr>
              <a:t> future </a:t>
            </a:r>
            <a:r>
              <a:rPr lang="en-US" dirty="0" smtClean="0"/>
              <a:t>is independent of the </a:t>
            </a:r>
            <a:r>
              <a:rPr lang="en-US" dirty="0" smtClean="0">
                <a:solidFill>
                  <a:srgbClr val="0070C0"/>
                </a:solidFill>
              </a:rPr>
              <a:t>past.</a:t>
            </a:r>
          </a:p>
          <a:p>
            <a:r>
              <a:rPr lang="en-US" dirty="0" smtClean="0"/>
              <a:t>Any process satisfying this property is called </a:t>
            </a:r>
            <a:r>
              <a:rPr lang="en-US" dirty="0" smtClean="0">
                <a:solidFill>
                  <a:srgbClr val="C00000"/>
                </a:solidFill>
              </a:rPr>
              <a:t>Markov Process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Markov Property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38912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Suppose                     , t=1,2, …, n be a SP, then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That is </a:t>
            </a:r>
          </a:p>
          <a:p>
            <a:pPr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4495800"/>
            <a:ext cx="4686300" cy="457200"/>
          </a:xfrm>
          <a:prstGeom prst="rect">
            <a:avLst/>
          </a:prstGeom>
          <a:noFill/>
        </p:spPr>
      </p:pic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2057400"/>
            <a:ext cx="1600200" cy="340468"/>
          </a:xfrm>
          <a:prstGeom prst="rect">
            <a:avLst/>
          </a:prstGeom>
          <a:noFill/>
        </p:spPr>
      </p:pic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9706" name="Picture 1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52600" y="3276600"/>
            <a:ext cx="4076700" cy="381000"/>
          </a:xfrm>
          <a:prstGeom prst="rect">
            <a:avLst/>
          </a:prstGeom>
          <a:noFill/>
        </p:spPr>
      </p:pic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9708" name="Picture 12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2743200"/>
            <a:ext cx="6934200" cy="381000"/>
          </a:xfrm>
          <a:prstGeom prst="rect">
            <a:avLst/>
          </a:prstGeom>
          <a:noFill/>
        </p:spPr>
      </p:pic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Markov 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4152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Markov process for which both the state space and time space are discrete is known as Markov Chain (MC).</a:t>
            </a:r>
          </a:p>
          <a:p>
            <a:r>
              <a:rPr lang="en-US" dirty="0" smtClean="0"/>
              <a:t>A MC can be of any order.</a:t>
            </a:r>
          </a:p>
          <a:p>
            <a:r>
              <a:rPr lang="en-US" dirty="0" smtClean="0"/>
              <a:t>A MC of order </a:t>
            </a:r>
            <a:r>
              <a:rPr lang="en-US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 (or one-step transition probability) is defined as </a:t>
            </a:r>
          </a:p>
          <a:p>
            <a:endParaRPr lang="en-US" dirty="0" smtClean="0"/>
          </a:p>
          <a:p>
            <a:r>
              <a:rPr lang="en-US" dirty="0" smtClean="0"/>
              <a:t>A MC of order </a:t>
            </a:r>
            <a:r>
              <a:rPr lang="en-US" dirty="0" smtClean="0">
                <a:solidFill>
                  <a:srgbClr val="FF0000"/>
                </a:solidFill>
              </a:rPr>
              <a:t>two</a:t>
            </a:r>
            <a:r>
              <a:rPr lang="en-US" dirty="0" smtClean="0"/>
              <a:t> (or two-step transition probability) is defined as </a:t>
            </a:r>
          </a:p>
          <a:p>
            <a:endParaRPr lang="en-US" dirty="0" smtClean="0"/>
          </a:p>
          <a:p>
            <a:r>
              <a:rPr lang="en-US" dirty="0" smtClean="0"/>
              <a:t>A MC of order ‘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’ (or n-step transition probability) is defined as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5600" y="3581400"/>
            <a:ext cx="3221182" cy="457200"/>
          </a:xfrm>
          <a:prstGeom prst="rect">
            <a:avLst/>
          </a:prstGeom>
          <a:noFill/>
        </p:spPr>
      </p:pic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71800" y="5943600"/>
            <a:ext cx="3124200" cy="699122"/>
          </a:xfrm>
          <a:prstGeom prst="rect">
            <a:avLst/>
          </a:prstGeom>
          <a:noFill/>
        </p:spPr>
      </p:pic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5600" y="4648200"/>
            <a:ext cx="3200400" cy="708949"/>
          </a:xfrm>
          <a:prstGeom prst="rect">
            <a:avLst/>
          </a:prstGeom>
          <a:noFill/>
        </p:spPr>
      </p:pic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0" y="790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Homogeneous MC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534400" cy="438912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A MC of order </a:t>
            </a:r>
            <a:r>
              <a:rPr lang="en-US" sz="2000" dirty="0" smtClean="0">
                <a:solidFill>
                  <a:srgbClr val="FF0000"/>
                </a:solidFill>
              </a:rPr>
              <a:t>one</a:t>
            </a:r>
            <a:r>
              <a:rPr lang="en-US" sz="2000" dirty="0" smtClean="0"/>
              <a:t> (or one-step transition probability) defined as </a:t>
            </a:r>
          </a:p>
          <a:p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      = P(the state ‘j’ at time ‘n’ given that the state ‘</a:t>
            </a:r>
            <a:r>
              <a:rPr lang="en-US" sz="2000" dirty="0" err="1" smtClean="0"/>
              <a:t>i</a:t>
            </a:r>
            <a:r>
              <a:rPr lang="en-US" sz="2000" dirty="0" smtClean="0"/>
              <a:t>’ is at time ‘n-1’)</a:t>
            </a:r>
          </a:p>
          <a:p>
            <a:pPr>
              <a:buNone/>
            </a:pPr>
            <a:r>
              <a:rPr lang="en-US" sz="2000" dirty="0" smtClean="0"/>
              <a:t>		      = P( the system moves from state ‘</a:t>
            </a:r>
            <a:r>
              <a:rPr lang="en-US" sz="2000" dirty="0" err="1" smtClean="0"/>
              <a:t>i</a:t>
            </a:r>
            <a:r>
              <a:rPr lang="en-US" sz="2000" dirty="0" smtClean="0"/>
              <a:t>’ to state ‘j’ as time </a:t>
            </a:r>
          </a:p>
          <a:p>
            <a:pPr>
              <a:buNone/>
            </a:pPr>
            <a:r>
              <a:rPr lang="en-US" sz="2000" dirty="0" smtClean="0"/>
              <a:t>					moves from ‘n-1’ to ‘n’)</a:t>
            </a:r>
          </a:p>
          <a:p>
            <a:pPr>
              <a:buNone/>
            </a:pPr>
            <a:r>
              <a:rPr lang="en-US" sz="2000" dirty="0" smtClean="0"/>
              <a:t>		      = </a:t>
            </a:r>
          </a:p>
          <a:p>
            <a:pPr>
              <a:buNone/>
            </a:pPr>
            <a:r>
              <a:rPr lang="en-US" sz="2000" dirty="0" smtClean="0"/>
              <a:t>		      =        = the (</a:t>
            </a:r>
            <a:r>
              <a:rPr lang="en-US" sz="2000" dirty="0" err="1" smtClean="0"/>
              <a:t>i</a:t>
            </a:r>
            <a:r>
              <a:rPr lang="en-US" sz="2000" dirty="0" smtClean="0"/>
              <a:t>, j)</a:t>
            </a:r>
            <a:r>
              <a:rPr lang="en-US" sz="2000" dirty="0" err="1" smtClean="0"/>
              <a:t>th</a:t>
            </a:r>
            <a:r>
              <a:rPr lang="en-US" sz="2000" dirty="0" smtClean="0"/>
              <a:t> element of P, and P is called the</a:t>
            </a:r>
          </a:p>
          <a:p>
            <a:pPr>
              <a:buNone/>
            </a:pPr>
            <a:r>
              <a:rPr lang="en-US" sz="2000" dirty="0" smtClean="0"/>
              <a:t>					 transition probability matrix</a:t>
            </a:r>
          </a:p>
          <a:p>
            <a:pPr>
              <a:buNone/>
            </a:pPr>
            <a:endParaRPr lang="en-US" sz="2000" dirty="0" smtClean="0"/>
          </a:p>
          <a:p>
            <a:r>
              <a:rPr lang="en-US" sz="2000" dirty="0" smtClean="0"/>
              <a:t>A Mc of order one is called a Homogeneous MC.</a:t>
            </a:r>
          </a:p>
          <a:p>
            <a:r>
              <a:rPr lang="en-US" sz="2000" dirty="0" smtClean="0"/>
              <a:t>Examples:                                 are all order one and hence is homogeneous. </a:t>
            </a:r>
            <a:endParaRPr lang="en-US" sz="2000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47800" y="2438400"/>
            <a:ext cx="2438400" cy="346095"/>
          </a:xfrm>
          <a:prstGeom prst="rect">
            <a:avLst/>
          </a:prstGeom>
          <a:noFill/>
        </p:spPr>
      </p:pic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7400" y="4191000"/>
            <a:ext cx="235527" cy="304800"/>
          </a:xfrm>
          <a:prstGeom prst="rect">
            <a:avLst/>
          </a:prstGeom>
          <a:noFill/>
        </p:spPr>
      </p:pic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7400" y="3657600"/>
            <a:ext cx="762000" cy="459828"/>
          </a:xfrm>
          <a:prstGeom prst="rect">
            <a:avLst/>
          </a:prstGeom>
          <a:noFill/>
        </p:spPr>
      </p:pic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4584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81200" y="5562600"/>
            <a:ext cx="1828800" cy="516194"/>
          </a:xfrm>
          <a:prstGeom prst="rect">
            <a:avLst/>
          </a:prstGeom>
          <a:noFill/>
        </p:spPr>
      </p:pic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0" y="333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 or order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534400" cy="438912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A MC of order </a:t>
            </a:r>
            <a:r>
              <a:rPr lang="en-US" sz="2000" dirty="0" smtClean="0">
                <a:solidFill>
                  <a:srgbClr val="FF0000"/>
                </a:solidFill>
              </a:rPr>
              <a:t>two </a:t>
            </a:r>
            <a:r>
              <a:rPr lang="en-US" sz="2000" dirty="0" smtClean="0"/>
              <a:t>(or two-step transition probability) defined as </a:t>
            </a:r>
          </a:p>
          <a:p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      = P(the state ‘j’ at time ‘n’ given that the state ‘</a:t>
            </a:r>
            <a:r>
              <a:rPr lang="en-US" sz="2000" dirty="0" err="1" smtClean="0"/>
              <a:t>i</a:t>
            </a:r>
            <a:r>
              <a:rPr lang="en-US" sz="2000" dirty="0" smtClean="0"/>
              <a:t>’ is at time ‘n-2’)</a:t>
            </a:r>
          </a:p>
          <a:p>
            <a:pPr>
              <a:buNone/>
            </a:pPr>
            <a:r>
              <a:rPr lang="en-US" sz="2000" dirty="0" smtClean="0"/>
              <a:t>		      = P( the system moves from state ‘</a:t>
            </a:r>
            <a:r>
              <a:rPr lang="en-US" sz="2000" dirty="0" err="1" smtClean="0"/>
              <a:t>i</a:t>
            </a:r>
            <a:r>
              <a:rPr lang="en-US" sz="2000" dirty="0" smtClean="0"/>
              <a:t>’ to state ‘j’ as time </a:t>
            </a:r>
          </a:p>
          <a:p>
            <a:pPr>
              <a:buNone/>
            </a:pPr>
            <a:r>
              <a:rPr lang="en-US" sz="2000" dirty="0" smtClean="0"/>
              <a:t>					moves from ‘n-2’ to ‘n’)</a:t>
            </a:r>
          </a:p>
          <a:p>
            <a:pPr>
              <a:buNone/>
            </a:pPr>
            <a:r>
              <a:rPr lang="en-US" sz="2000" dirty="0" smtClean="0"/>
              <a:t>		      = </a:t>
            </a:r>
          </a:p>
          <a:p>
            <a:pPr>
              <a:buNone/>
            </a:pPr>
            <a:r>
              <a:rPr lang="en-US" sz="2000" dirty="0" smtClean="0"/>
              <a:t>		      =         = the (</a:t>
            </a:r>
            <a:r>
              <a:rPr lang="en-US" sz="2000" dirty="0" err="1" smtClean="0"/>
              <a:t>i</a:t>
            </a:r>
            <a:r>
              <a:rPr lang="en-US" sz="2000" dirty="0" smtClean="0"/>
              <a:t>, j)</a:t>
            </a:r>
            <a:r>
              <a:rPr lang="en-US" sz="2000" dirty="0" err="1" smtClean="0"/>
              <a:t>th</a:t>
            </a:r>
            <a:r>
              <a:rPr lang="en-US" sz="2000" dirty="0" smtClean="0"/>
              <a:t> element of </a:t>
            </a:r>
            <a:r>
              <a:rPr lang="en-US" sz="2000" dirty="0" err="1" smtClean="0"/>
              <a:t>PxP</a:t>
            </a:r>
            <a:r>
              <a:rPr lang="en-US" sz="2000" dirty="0" smtClean="0"/>
              <a:t> =   </a:t>
            </a:r>
          </a:p>
          <a:p>
            <a:pPr>
              <a:buNone/>
            </a:pPr>
            <a:endParaRPr lang="en-US" sz="2000" dirty="0" smtClean="0"/>
          </a:p>
          <a:p>
            <a:r>
              <a:rPr lang="en-US" sz="2000" dirty="0" smtClean="0"/>
              <a:t>Examples:                                 are all two-step transition probabilities. </a:t>
            </a:r>
            <a:endParaRPr lang="en-US" sz="2000" dirty="0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0" y="333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24000" y="2286000"/>
            <a:ext cx="2133600" cy="472633"/>
          </a:xfrm>
          <a:prstGeom prst="rect">
            <a:avLst/>
          </a:prstGeom>
          <a:noFill/>
        </p:spPr>
      </p:pic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7400" y="3733800"/>
            <a:ext cx="757646" cy="457200"/>
          </a:xfrm>
          <a:prstGeom prst="rect">
            <a:avLst/>
          </a:prstGeom>
          <a:noFill/>
        </p:spPr>
      </p:pic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7400" y="4191000"/>
            <a:ext cx="261257" cy="457200"/>
          </a:xfrm>
          <a:prstGeom prst="rect">
            <a:avLst/>
          </a:prstGeom>
          <a:noFill/>
        </p:spPr>
      </p:pic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607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7399" y="4876800"/>
            <a:ext cx="1724297" cy="457200"/>
          </a:xfrm>
          <a:prstGeom prst="rect">
            <a:avLst/>
          </a:prstGeom>
          <a:noFill/>
        </p:spPr>
      </p:pic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609" name="Picture 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1200" y="4191000"/>
            <a:ext cx="304800" cy="381000"/>
          </a:xfrm>
          <a:prstGeom prst="rect">
            <a:avLst/>
          </a:prstGeom>
          <a:noFill/>
        </p:spPr>
      </p:pic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 or order n-m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534400" cy="438912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A MC of order </a:t>
            </a:r>
            <a:r>
              <a:rPr lang="en-US" sz="2000" dirty="0" smtClean="0">
                <a:solidFill>
                  <a:srgbClr val="FF0000"/>
                </a:solidFill>
              </a:rPr>
              <a:t>m</a:t>
            </a:r>
            <a:r>
              <a:rPr lang="en-US" sz="2000" dirty="0" smtClean="0"/>
              <a:t>(or two-step transition probability) defined as </a:t>
            </a:r>
          </a:p>
          <a:p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      = P(the state ‘j’ at time ‘n’ given that the state ‘</a:t>
            </a:r>
            <a:r>
              <a:rPr lang="en-US" sz="2000" dirty="0" err="1" smtClean="0"/>
              <a:t>i</a:t>
            </a:r>
            <a:r>
              <a:rPr lang="en-US" sz="2000" dirty="0" smtClean="0"/>
              <a:t>’ is at time ‘m’)</a:t>
            </a:r>
          </a:p>
          <a:p>
            <a:pPr>
              <a:buNone/>
            </a:pPr>
            <a:r>
              <a:rPr lang="en-US" sz="2000" dirty="0" smtClean="0"/>
              <a:t>		      = P( the system moves from state ‘</a:t>
            </a:r>
            <a:r>
              <a:rPr lang="en-US" sz="2000" dirty="0" err="1" smtClean="0"/>
              <a:t>i</a:t>
            </a:r>
            <a:r>
              <a:rPr lang="en-US" sz="2000" dirty="0" smtClean="0"/>
              <a:t>’ to state ‘j’ as time </a:t>
            </a:r>
          </a:p>
          <a:p>
            <a:pPr>
              <a:buNone/>
            </a:pPr>
            <a:r>
              <a:rPr lang="en-US" sz="2000" dirty="0" smtClean="0"/>
              <a:t>					moves from ‘m’ to ‘n’)</a:t>
            </a:r>
          </a:p>
          <a:p>
            <a:pPr>
              <a:buNone/>
            </a:pPr>
            <a:r>
              <a:rPr lang="en-US" sz="2000" dirty="0" smtClean="0"/>
              <a:t>		      =                 = the (</a:t>
            </a:r>
            <a:r>
              <a:rPr lang="en-US" sz="2000" dirty="0" err="1" smtClean="0"/>
              <a:t>i</a:t>
            </a:r>
            <a:r>
              <a:rPr lang="en-US" sz="2000" dirty="0" smtClean="0"/>
              <a:t>, j)</a:t>
            </a:r>
            <a:r>
              <a:rPr lang="en-US" sz="2000" dirty="0" err="1" smtClean="0"/>
              <a:t>th</a:t>
            </a:r>
            <a:r>
              <a:rPr lang="en-US" sz="2000" dirty="0" smtClean="0"/>
              <a:t> element of             and P is called the</a:t>
            </a:r>
          </a:p>
          <a:p>
            <a:pPr>
              <a:buNone/>
            </a:pPr>
            <a:r>
              <a:rPr lang="en-US" sz="2000" dirty="0" smtClean="0"/>
              <a:t>					 transition probability matrix</a:t>
            </a:r>
          </a:p>
          <a:p>
            <a:pPr>
              <a:buNone/>
            </a:pPr>
            <a:r>
              <a:rPr lang="en-US" sz="2000" dirty="0" smtClean="0"/>
              <a:t>		      </a:t>
            </a:r>
          </a:p>
          <a:p>
            <a:pPr>
              <a:buNone/>
            </a:pPr>
            <a:endParaRPr lang="en-US" sz="2000" dirty="0" smtClean="0"/>
          </a:p>
          <a:p>
            <a:r>
              <a:rPr lang="en-US" sz="2000" dirty="0" smtClean="0"/>
              <a:t>Examples:                                 are all four-step transition probabilities. </a:t>
            </a:r>
            <a:endParaRPr lang="en-US" sz="2000" dirty="0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0" y="333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71600" y="2286000"/>
            <a:ext cx="2328863" cy="4572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3600" y="3810000"/>
            <a:ext cx="685800" cy="457200"/>
          </a:xfrm>
          <a:prstGeom prst="rect">
            <a:avLst/>
          </a:prstGeom>
          <a:noFill/>
        </p:spPr>
      </p:pic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7400" y="5105400"/>
            <a:ext cx="2011680" cy="533400"/>
          </a:xfrm>
          <a:prstGeom prst="rect">
            <a:avLst/>
          </a:prstGeom>
          <a:noFill/>
        </p:spPr>
      </p:pic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0" y="333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5000" y="3886200"/>
            <a:ext cx="533400" cy="304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Transition Probability Matrix (TPM)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matrix P = (     ) is called  a TPM if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Examples:  </a:t>
            </a:r>
            <a:endParaRPr lang="en-US" dirty="0"/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64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19400" y="2057400"/>
            <a:ext cx="304800" cy="394447"/>
          </a:xfrm>
          <a:prstGeom prst="rect">
            <a:avLst/>
          </a:prstGeom>
          <a:noFill/>
        </p:spPr>
      </p:pic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23999" y="2819400"/>
            <a:ext cx="2057401" cy="390197"/>
          </a:xfrm>
          <a:prstGeom prst="rect">
            <a:avLst/>
          </a:prstGeom>
          <a:noFill/>
        </p:spPr>
      </p:pic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47800" y="3352800"/>
            <a:ext cx="1752600" cy="694724"/>
          </a:xfrm>
          <a:prstGeom prst="rect">
            <a:avLst/>
          </a:prstGeom>
          <a:noFill/>
        </p:spPr>
      </p:pic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656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14600" y="4343400"/>
            <a:ext cx="1974980" cy="762000"/>
          </a:xfrm>
          <a:prstGeom prst="rect">
            <a:avLst/>
          </a:prstGeom>
          <a:noFill/>
        </p:spPr>
      </p:pic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0" y="923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659" name="Picture 1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24400" y="4343400"/>
            <a:ext cx="1974980" cy="762000"/>
          </a:xfrm>
          <a:prstGeom prst="rect">
            <a:avLst/>
          </a:prstGeom>
          <a:noFill/>
        </p:spPr>
      </p:pic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0" y="923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662" name="Picture 14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10400" y="4267200"/>
            <a:ext cx="1607976" cy="838200"/>
          </a:xfrm>
          <a:prstGeom prst="rect">
            <a:avLst/>
          </a:prstGeom>
          <a:noFill/>
        </p:spPr>
      </p:pic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923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665" name="Picture 17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24000" y="5257800"/>
            <a:ext cx="1315616" cy="685800"/>
          </a:xfrm>
          <a:prstGeom prst="rect">
            <a:avLst/>
          </a:prstGeom>
          <a:noFill/>
        </p:spPr>
      </p:pic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0" y="923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6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668" name="Picture 20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24200" y="5257800"/>
            <a:ext cx="1803918" cy="762000"/>
          </a:xfrm>
          <a:prstGeom prst="rect">
            <a:avLst/>
          </a:prstGeom>
          <a:noFill/>
        </p:spPr>
      </p:pic>
      <p:sp>
        <p:nvSpPr>
          <p:cNvPr id="27670" name="Rectangle 22"/>
          <p:cNvSpPr>
            <a:spLocks noChangeArrowheads="1"/>
          </p:cNvSpPr>
          <p:nvPr/>
        </p:nvSpPr>
        <p:spPr bwMode="auto">
          <a:xfrm>
            <a:off x="0" y="923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672" name="Rectangle 2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671" name="Picture 23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57800" y="5257800"/>
            <a:ext cx="2133600" cy="762000"/>
          </a:xfrm>
          <a:prstGeom prst="rect">
            <a:avLst/>
          </a:prstGeom>
          <a:noFill/>
        </p:spPr>
      </p:pic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0" y="933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4000" y="6248400"/>
            <a:ext cx="651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If Column total is also one, then the process is doubly stochastic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Transition Probability Matrix (TPM)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9392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Consider the following COVID-19 situation:</a:t>
            </a:r>
          </a:p>
          <a:p>
            <a:pPr>
              <a:buNone/>
            </a:pPr>
            <a:r>
              <a:rPr lang="en-US" dirty="0" smtClean="0"/>
              <a:t>	There are three states: {Confirmed, Recovered, Death}</a:t>
            </a:r>
          </a:p>
          <a:p>
            <a:pPr>
              <a:buNone/>
            </a:pPr>
            <a:r>
              <a:rPr lang="en-US" dirty="0" smtClean="0"/>
              <a:t>	That is                = {Confirmed, Recovered, Death}</a:t>
            </a:r>
          </a:p>
          <a:p>
            <a:pPr>
              <a:buNone/>
            </a:pPr>
            <a:r>
              <a:rPr lang="en-US" dirty="0" smtClean="0"/>
              <a:t>				= { 1, 2, 3}</a:t>
            </a:r>
          </a:p>
          <a:p>
            <a:pPr>
              <a:buNone/>
            </a:pPr>
            <a:r>
              <a:rPr lang="en-US" dirty="0" smtClean="0"/>
              <a:t>Then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                               OR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and so on …</a:t>
            </a:r>
            <a:endParaRPr lang="en-US" dirty="0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4114800"/>
            <a:ext cx="2172478" cy="838200"/>
          </a:xfrm>
          <a:prstGeom prst="rect">
            <a:avLst/>
          </a:prstGeom>
          <a:noFill/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2895600"/>
            <a:ext cx="1219198" cy="381000"/>
          </a:xfrm>
          <a:prstGeom prst="rect">
            <a:avLst/>
          </a:prstGeom>
          <a:noFill/>
        </p:spPr>
      </p:pic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68" name="Picture 8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81600" y="4191000"/>
            <a:ext cx="2360645" cy="838200"/>
          </a:xfrm>
          <a:prstGeom prst="rect">
            <a:avLst/>
          </a:prstGeom>
          <a:noFill/>
        </p:spPr>
      </p:pic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70" name="Picture 1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43600" y="3733800"/>
            <a:ext cx="1371600" cy="366889"/>
          </a:xfrm>
          <a:prstGeom prst="rect">
            <a:avLst/>
          </a:prstGeom>
          <a:noFill/>
        </p:spPr>
      </p:pic>
      <p:pic>
        <p:nvPicPr>
          <p:cNvPr id="15375" name="Picture 1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5257800"/>
            <a:ext cx="2834640" cy="304800"/>
          </a:xfrm>
          <a:prstGeom prst="rect">
            <a:avLst/>
          </a:prstGeom>
          <a:noFill/>
        </p:spPr>
      </p:pic>
      <p:pic>
        <p:nvPicPr>
          <p:cNvPr id="15374" name="Picture 14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5638800"/>
            <a:ext cx="2834640" cy="304800"/>
          </a:xfrm>
          <a:prstGeom prst="rect">
            <a:avLst/>
          </a:prstGeom>
          <a:noFill/>
        </p:spPr>
      </p:pic>
      <p:pic>
        <p:nvPicPr>
          <p:cNvPr id="15373" name="Picture 13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57800" y="5257800"/>
            <a:ext cx="2834640" cy="304800"/>
          </a:xfrm>
          <a:prstGeom prst="rect">
            <a:avLst/>
          </a:prstGeom>
          <a:noFill/>
        </p:spPr>
      </p:pic>
      <p:sp>
        <p:nvSpPr>
          <p:cNvPr id="15376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377" name="Rectangle 17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79" name="Rectangle 19"/>
          <p:cNvSpPr>
            <a:spLocks noChangeArrowheads="1"/>
          </p:cNvSpPr>
          <p:nvPr/>
        </p:nvSpPr>
        <p:spPr bwMode="auto">
          <a:xfrm>
            <a:off x="0" y="1028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80" name="Rectangle 20"/>
          <p:cNvSpPr>
            <a:spLocks noChangeArrowheads="1"/>
          </p:cNvSpPr>
          <p:nvPr/>
        </p:nvSpPr>
        <p:spPr bwMode="auto">
          <a:xfrm>
            <a:off x="0" y="1219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82" name="Rectangle 2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81" name="Picture 21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0" y="5562600"/>
            <a:ext cx="2834640" cy="304800"/>
          </a:xfrm>
          <a:prstGeom prst="rect">
            <a:avLst/>
          </a:prstGeom>
          <a:noFill/>
        </p:spPr>
      </p:pic>
      <p:sp>
        <p:nvSpPr>
          <p:cNvPr id="15383" name="Rectangle 23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r>
              <a:rPr lang="en-US" dirty="0" smtClean="0"/>
              <a:t>Some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r>
              <a:rPr lang="en-US" dirty="0" smtClean="0"/>
              <a:t>Show that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Particular cases:</a:t>
            </a:r>
          </a:p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0" y="866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23999" y="2362200"/>
            <a:ext cx="2424223" cy="685800"/>
          </a:xfrm>
          <a:prstGeom prst="rect">
            <a:avLst/>
          </a:prstGeom>
          <a:noFill/>
        </p:spPr>
      </p:pic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866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8682" name="Picture 10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47800" y="3200400"/>
            <a:ext cx="3290455" cy="762000"/>
          </a:xfrm>
          <a:prstGeom prst="rect">
            <a:avLst/>
          </a:prstGeom>
          <a:noFill/>
        </p:spPr>
      </p:pic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8685" name="Picture 1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7400" y="4724399"/>
            <a:ext cx="1981200" cy="7145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TPM: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Consider the following COVID-19 situation: The states are {1=Confirmed, 2=Recovered, 3=Death}. The TPM is given as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Do as directed:</a:t>
            </a:r>
          </a:p>
          <a:p>
            <a:pPr>
              <a:buNone/>
            </a:pPr>
            <a:r>
              <a:rPr lang="en-US" sz="2000" dirty="0" smtClean="0"/>
              <a:t>	(1) Interpret                                                and</a:t>
            </a:r>
          </a:p>
          <a:p>
            <a:pPr>
              <a:buNone/>
            </a:pPr>
            <a:r>
              <a:rPr lang="en-US" sz="2000" dirty="0" smtClean="0"/>
              <a:t>	(2)   </a:t>
            </a:r>
          </a:p>
          <a:p>
            <a:pPr>
              <a:buNone/>
            </a:pPr>
            <a:r>
              <a:rPr lang="en-US" sz="2000" dirty="0" smtClean="0"/>
              <a:t>	</a:t>
            </a:r>
          </a:p>
          <a:p>
            <a:pPr>
              <a:buNone/>
            </a:pPr>
            <a:endParaRPr lang="en-US" sz="2000" dirty="0" smtClean="0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2133600"/>
            <a:ext cx="2172478" cy="838200"/>
          </a:xfrm>
          <a:prstGeom prst="rect">
            <a:avLst/>
          </a:prstGeom>
          <a:noFill/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73" name="Picture 1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0" y="3505200"/>
            <a:ext cx="2834640" cy="304800"/>
          </a:xfrm>
          <a:prstGeom prst="rect">
            <a:avLst/>
          </a:prstGeom>
          <a:noFill/>
        </p:spPr>
      </p:pic>
      <p:sp>
        <p:nvSpPr>
          <p:cNvPr id="15376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377" name="Rectangle 17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79" name="Rectangle 19"/>
          <p:cNvSpPr>
            <a:spLocks noChangeArrowheads="1"/>
          </p:cNvSpPr>
          <p:nvPr/>
        </p:nvSpPr>
        <p:spPr bwMode="auto">
          <a:xfrm>
            <a:off x="0" y="1028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80" name="Rectangle 20"/>
          <p:cNvSpPr>
            <a:spLocks noChangeArrowheads="1"/>
          </p:cNvSpPr>
          <p:nvPr/>
        </p:nvSpPr>
        <p:spPr bwMode="auto">
          <a:xfrm>
            <a:off x="0" y="1219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5000" y="3505200"/>
            <a:ext cx="2834640" cy="304800"/>
          </a:xfrm>
          <a:prstGeom prst="rect">
            <a:avLst/>
          </a:prstGeom>
          <a:noFill/>
        </p:spPr>
      </p:pic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Questions?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8914" name="Picture 2" descr="Namaste logo png 1 » PNG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2971800"/>
            <a:ext cx="3883229" cy="18288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114800" y="4267200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Thanks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7CADB074942047AD961AC00F1B65D6" ma:contentTypeVersion="2" ma:contentTypeDescription="Create a new document." ma:contentTypeScope="" ma:versionID="cbc4063071f6a14357197a37a702f1e7">
  <xsd:schema xmlns:xsd="http://www.w3.org/2001/XMLSchema" xmlns:xs="http://www.w3.org/2001/XMLSchema" xmlns:p="http://schemas.microsoft.com/office/2006/metadata/properties" xmlns:ns2="09a1d25c-fc4f-491e-9688-f8e8dd5e0b62" targetNamespace="http://schemas.microsoft.com/office/2006/metadata/properties" ma:root="true" ma:fieldsID="ba4f5979be897e41ee7c8db5aa8fe08a" ns2:_="">
    <xsd:import namespace="09a1d25c-fc4f-491e-9688-f8e8dd5e0b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1d25c-fc4f-491e-9688-f8e8dd5e0b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4F3101-A4E3-45E2-AFB1-8A9CA1E8C596}"/>
</file>

<file path=customXml/itemProps2.xml><?xml version="1.0" encoding="utf-8"?>
<ds:datastoreItem xmlns:ds="http://schemas.openxmlformats.org/officeDocument/2006/customXml" ds:itemID="{7C266FB8-1386-411B-A309-BAE4D6B3CBEF}"/>
</file>

<file path=customXml/itemProps3.xml><?xml version="1.0" encoding="utf-8"?>
<ds:datastoreItem xmlns:ds="http://schemas.openxmlformats.org/officeDocument/2006/customXml" ds:itemID="{11B69675-1A53-4FE1-8EB5-2E568386B545}"/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5732</TotalTime>
  <Words>404</Words>
  <Application>Microsoft Office PowerPoint</Application>
  <PresentationFormat>On-screen Show (4:3)</PresentationFormat>
  <Paragraphs>133</Paragraphs>
  <Slides>16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Flow</vt:lpstr>
      <vt:lpstr>???</vt:lpstr>
      <vt:lpstr>Stochastic Processes-I:  Markov Chain</vt:lpstr>
      <vt:lpstr>Slide 2</vt:lpstr>
      <vt:lpstr>Property: Dependence</vt:lpstr>
      <vt:lpstr>Property: Dependence</vt:lpstr>
      <vt:lpstr>Markov Property</vt:lpstr>
      <vt:lpstr>Markov Property</vt:lpstr>
      <vt:lpstr>Markov Chain</vt:lpstr>
      <vt:lpstr>Homogeneous MC</vt:lpstr>
      <vt:lpstr>MC or order 2</vt:lpstr>
      <vt:lpstr>MC or order n-m</vt:lpstr>
      <vt:lpstr>Transition Probability Matrix (TPM)</vt:lpstr>
      <vt:lpstr>Transition Probability Matrix (TPM)</vt:lpstr>
      <vt:lpstr>Some results</vt:lpstr>
      <vt:lpstr>TPM: Example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Muralidharan_2</dc:creator>
  <cp:lastModifiedBy>Muralidharan_2</cp:lastModifiedBy>
  <cp:revision>82</cp:revision>
  <dcterms:created xsi:type="dcterms:W3CDTF">2020-05-20T04:35:05Z</dcterms:created>
  <dcterms:modified xsi:type="dcterms:W3CDTF">2020-08-27T15:46:38Z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0x010100EA7CADB074942047AD961AC00F1B65D6</vt:lpwstr>
  </property>
</Properties>
</file>