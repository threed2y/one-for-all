
<file path=[Content_Types].xml><?xml version="1.0" encoding="utf-8"?>
<Types xmlns="http://schemas.openxmlformats.org/package/2006/content-types">
  <Default Extension="png" ContentType="image/png"/>
  <Default Extension="rels" ContentType="application/vnd.openxmlformats-package.relationships+xml"/>
  <Default Extension="jpeg" ContentType="image/jpeg"/>
  <Default Extension="xml" ContentType="application/xml"/>
  <Override PartName="/ppt/presentation.xml" ContentType="application/vnd.openxmlformats-officedocument.presentationml.presentation.main+xml"/>
  <Override PartName="/ppt/slides/slide5.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9.xml" ContentType="application/vnd.openxmlformats-officedocument.presentationml.slide+xml"/>
  <Override PartName="/ppt/slides/slide58.xml" ContentType="application/vnd.openxmlformats-officedocument.presentationml.slide+xml"/>
  <Override PartName="/ppt/slides/slide57.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29.xml" ContentType="application/vnd.openxmlformats-officedocument.presentationml.slide+xml"/>
  <Override PartName="/ppt/slides/slide36.xml" ContentType="application/vnd.openxmlformats-officedocument.presentationml.slide+xml"/>
  <Override PartName="/ppt/slides/slide27.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28.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2.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Slides/notesSlide4.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theme/themeOverride1.xml" ContentType="application/vnd.openxmlformats-officedocument.themeOverride+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4"/>
  </p:notesMasterIdLst>
  <p:sldIdLst>
    <p:sldId id="256" r:id="rId2"/>
    <p:sldId id="266" r:id="rId3"/>
    <p:sldId id="257" r:id="rId4"/>
    <p:sldId id="258" r:id="rId5"/>
    <p:sldId id="259" r:id="rId6"/>
    <p:sldId id="260" r:id="rId7"/>
    <p:sldId id="261" r:id="rId8"/>
    <p:sldId id="291" r:id="rId9"/>
    <p:sldId id="262" r:id="rId10"/>
    <p:sldId id="263" r:id="rId11"/>
    <p:sldId id="329" r:id="rId12"/>
    <p:sldId id="298" r:id="rId13"/>
    <p:sldId id="264" r:id="rId14"/>
    <p:sldId id="293" r:id="rId15"/>
    <p:sldId id="294" r:id="rId16"/>
    <p:sldId id="295" r:id="rId17"/>
    <p:sldId id="321" r:id="rId18"/>
    <p:sldId id="322" r:id="rId19"/>
    <p:sldId id="323" r:id="rId20"/>
    <p:sldId id="324" r:id="rId21"/>
    <p:sldId id="296" r:id="rId22"/>
    <p:sldId id="299" r:id="rId23"/>
    <p:sldId id="297" r:id="rId24"/>
    <p:sldId id="300" r:id="rId25"/>
    <p:sldId id="327" r:id="rId26"/>
    <p:sldId id="328" r:id="rId27"/>
    <p:sldId id="326" r:id="rId28"/>
    <p:sldId id="301" r:id="rId29"/>
    <p:sldId id="302" r:id="rId30"/>
    <p:sldId id="303" r:id="rId31"/>
    <p:sldId id="314" r:id="rId32"/>
    <p:sldId id="305" r:id="rId33"/>
    <p:sldId id="292" r:id="rId34"/>
    <p:sldId id="318" r:id="rId35"/>
    <p:sldId id="311" r:id="rId36"/>
    <p:sldId id="312" r:id="rId37"/>
    <p:sldId id="313" r:id="rId38"/>
    <p:sldId id="306" r:id="rId39"/>
    <p:sldId id="320" r:id="rId40"/>
    <p:sldId id="325" r:id="rId41"/>
    <p:sldId id="307" r:id="rId42"/>
    <p:sldId id="308" r:id="rId43"/>
    <p:sldId id="309" r:id="rId44"/>
    <p:sldId id="310" r:id="rId45"/>
    <p:sldId id="319" r:id="rId46"/>
    <p:sldId id="315" r:id="rId47"/>
    <p:sldId id="316" r:id="rId48"/>
    <p:sldId id="317" r:id="rId49"/>
    <p:sldId id="265" r:id="rId50"/>
    <p:sldId id="267" r:id="rId51"/>
    <p:sldId id="268" r:id="rId52"/>
    <p:sldId id="269" r:id="rId53"/>
    <p:sldId id="270" r:id="rId54"/>
    <p:sldId id="271" r:id="rId55"/>
    <p:sldId id="272" r:id="rId56"/>
    <p:sldId id="273" r:id="rId57"/>
    <p:sldId id="274" r:id="rId58"/>
    <p:sldId id="275" r:id="rId59"/>
    <p:sldId id="276" r:id="rId60"/>
    <p:sldId id="277" r:id="rId61"/>
    <p:sldId id="278" r:id="rId62"/>
    <p:sldId id="279" r:id="rId6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FF"/>
    <a:srgbClr val="663300"/>
    <a:srgbClr val="C2D4A4"/>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443" autoAdjust="0"/>
    <p:restoredTop sz="94660"/>
  </p:normalViewPr>
  <p:slideViewPr>
    <p:cSldViewPr>
      <p:cViewPr varScale="1">
        <p:scale>
          <a:sx n="68" d="100"/>
          <a:sy n="68" d="100"/>
        </p:scale>
        <p:origin x="-1494"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EA555CF8-954E-4423-85C9-0496F8FF8125}" type="datetimeFigureOut">
              <a:rPr lang="en-US"/>
              <a:pPr>
                <a:defRPr/>
              </a:pPr>
              <a:t>4/13/2012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611CBAC8-3F4A-4ACB-928F-5F4E90E9D6E5}"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p:spPr>
      </p:sp>
      <p:sp>
        <p:nvSpPr>
          <p:cNvPr id="6758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p>
        </p:txBody>
      </p:sp>
      <p:sp>
        <p:nvSpPr>
          <p:cNvPr id="1945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635E313-D5C4-48A5-A508-D2AAD4AAF1BC}" type="slidenum">
              <a:rPr lang="en-US" smtClean="0"/>
              <a:pPr fontAlgn="base">
                <a:spcBef>
                  <a:spcPct val="0"/>
                </a:spcBef>
                <a:spcAft>
                  <a:spcPct val="0"/>
                </a:spcAft>
                <a:defRPr/>
              </a:pPr>
              <a:t>5</a:t>
            </a:fld>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p:spPr>
      </p:sp>
      <p:sp>
        <p:nvSpPr>
          <p:cNvPr id="686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p>
        </p:txBody>
      </p:sp>
      <p:sp>
        <p:nvSpPr>
          <p:cNvPr id="28675"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B077A80-4A3A-42CF-9A5A-BB688F3AA964}" type="slidenum">
              <a:rPr lang="en-US" smtClean="0"/>
              <a:pPr fontAlgn="base">
                <a:spcBef>
                  <a:spcPct val="0"/>
                </a:spcBef>
                <a:spcAft>
                  <a:spcPct val="0"/>
                </a:spcAft>
                <a:defRPr/>
              </a:pPr>
              <a:t>14</a:t>
            </a:fld>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611CBAC8-3F4A-4ACB-928F-5F4E90E9D6E5}" type="slidenum">
              <a:rPr lang="en-US" smtClean="0"/>
              <a:pPr>
                <a:defRPr/>
              </a:pPr>
              <a:t>19</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611CBAC8-3F4A-4ACB-928F-5F4E90E9D6E5}" type="slidenum">
              <a:rPr lang="en-US" smtClean="0"/>
              <a:pPr>
                <a:defRPr/>
              </a:pPr>
              <a:t>26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Straight Connector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29" name="Title 28"/>
          <p:cNvSpPr>
            <a:spLocks noGrp="1"/>
          </p:cNvSpPr>
          <p:nvPr>
            <p:ph type="ctrTitle"/>
          </p:nvPr>
        </p:nvSpPr>
        <p:spPr>
          <a:xfrm>
            <a:off x="381000" y="4853411"/>
            <a:ext cx="8458200" cy="1222375"/>
          </a:xfrm>
        </p:spPr>
        <p:txBody>
          <a:bodyPr anchor="t"/>
          <a:lstStyle/>
          <a:p>
            <a:r>
              <a:rPr lang="en-US" smtClean="0"/>
              <a:t>Click to edit Master title style</a:t>
            </a:r>
            <a:endParaRPr lang="en-US"/>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5" name="Date Placeholder 15"/>
          <p:cNvSpPr>
            <a:spLocks noGrp="1"/>
          </p:cNvSpPr>
          <p:nvPr>
            <p:ph type="dt" sz="half" idx="10"/>
          </p:nvPr>
        </p:nvSpPr>
        <p:spPr/>
        <p:txBody>
          <a:bodyPr/>
          <a:lstStyle>
            <a:lvl1pPr>
              <a:defRPr/>
            </a:lvl1pPr>
          </a:lstStyle>
          <a:p>
            <a:pPr>
              <a:defRPr/>
            </a:pPr>
            <a:fld id="{F755E9FA-53A4-46AD-9390-68741F027656}" type="datetimeFigureOut">
              <a:rPr lang="en-US"/>
              <a:pPr>
                <a:defRPr/>
              </a:pPr>
              <a:t>4/13/2012</a:t>
            </a:fld>
            <a:endParaRPr lang="en-US" dirty="0"/>
          </a:p>
        </p:txBody>
      </p:sp>
      <p:sp>
        <p:nvSpPr>
          <p:cNvPr id="6" name="Footer Placeholder 1"/>
          <p:cNvSpPr>
            <a:spLocks noGrp="1"/>
          </p:cNvSpPr>
          <p:nvPr>
            <p:ph type="ftr" sz="quarter" idx="11"/>
          </p:nvPr>
        </p:nvSpPr>
        <p:spPr/>
        <p:txBody>
          <a:bodyPr/>
          <a:lstStyle>
            <a:lvl1pPr>
              <a:defRPr/>
            </a:lvl1pPr>
          </a:lstStyle>
          <a:p>
            <a:pPr>
              <a:defRPr/>
            </a:pPr>
            <a:endParaRPr lang="en-US"/>
          </a:p>
        </p:txBody>
      </p:sp>
      <p:sp>
        <p:nvSpPr>
          <p:cNvPr id="7" name="Slide Number Placeholder 14"/>
          <p:cNvSpPr>
            <a:spLocks noGrp="1"/>
          </p:cNvSpPr>
          <p:nvPr>
            <p:ph type="sldNum" sz="quarter" idx="12"/>
          </p:nvPr>
        </p:nvSpPr>
        <p:spPr>
          <a:xfrm>
            <a:off x="8229600" y="6473825"/>
            <a:ext cx="758825" cy="247650"/>
          </a:xfrm>
        </p:spPr>
        <p:txBody>
          <a:bodyPr/>
          <a:lstStyle>
            <a:lvl1pPr>
              <a:defRPr/>
            </a:lvl1pPr>
          </a:lstStyle>
          <a:p>
            <a:pPr>
              <a:defRPr/>
            </a:pPr>
            <a:fld id="{6C663196-C262-4E06-B972-FB1068B25CE3}"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lang="en-US" smtClean="0"/>
              <a:t>Click to edit Master title style</a:t>
            </a:r>
            <a:endParaRPr lang="en-US"/>
          </a:p>
        </p:txBody>
      </p:sp>
      <p:sp>
        <p:nvSpPr>
          <p:cNvPr id="27" name="Content Placeholder 26"/>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24"/>
          <p:cNvSpPr>
            <a:spLocks noGrp="1"/>
          </p:cNvSpPr>
          <p:nvPr>
            <p:ph type="dt" sz="half" idx="10"/>
          </p:nvPr>
        </p:nvSpPr>
        <p:spPr/>
        <p:txBody>
          <a:bodyPr/>
          <a:lstStyle>
            <a:lvl1pPr>
              <a:defRPr/>
            </a:lvl1pPr>
          </a:lstStyle>
          <a:p>
            <a:pPr>
              <a:defRPr/>
            </a:pPr>
            <a:fld id="{4BD42B4D-794F-4B0E-BE58-88D2AC6790AA}" type="datetimeFigureOut">
              <a:rPr lang="en-US"/>
              <a:pPr>
                <a:defRPr/>
              </a:pPr>
              <a:t>4/13/2012</a:t>
            </a:fld>
            <a:endParaRPr lang="en-US" dirty="0"/>
          </a:p>
        </p:txBody>
      </p:sp>
      <p:sp>
        <p:nvSpPr>
          <p:cNvPr id="5" name="Footer Placeholder 18"/>
          <p:cNvSpPr>
            <a:spLocks noGrp="1"/>
          </p:cNvSpPr>
          <p:nvPr>
            <p:ph type="ftr" sz="quarter" idx="11"/>
          </p:nvPr>
        </p:nvSpPr>
        <p:spPr>
          <a:xfrm>
            <a:off x="3581400" y="76200"/>
            <a:ext cx="2895600" cy="288925"/>
          </a:xfrm>
        </p:spPr>
        <p:txBody>
          <a:bodyPr/>
          <a:lstStyle>
            <a:lvl1pPr>
              <a:defRPr/>
            </a:lvl1pPr>
          </a:lstStyle>
          <a:p>
            <a:pPr>
              <a:defRPr/>
            </a:pPr>
            <a:endParaRPr lang="en-US"/>
          </a:p>
        </p:txBody>
      </p:sp>
      <p:sp>
        <p:nvSpPr>
          <p:cNvPr id="6" name="Slide Number Placeholder 15"/>
          <p:cNvSpPr>
            <a:spLocks noGrp="1"/>
          </p:cNvSpPr>
          <p:nvPr>
            <p:ph type="sldNum" sz="quarter" idx="12"/>
          </p:nvPr>
        </p:nvSpPr>
        <p:spPr>
          <a:xfrm>
            <a:off x="8229600" y="6473825"/>
            <a:ext cx="758825" cy="247650"/>
          </a:xfrm>
        </p:spPr>
        <p:txBody>
          <a:bodyPr/>
          <a:lstStyle>
            <a:lvl1pPr>
              <a:defRPr/>
            </a:lvl1pPr>
          </a:lstStyle>
          <a:p>
            <a:pPr>
              <a:defRPr/>
            </a:pPr>
            <a:fld id="{5886B29B-F3F4-422D-AC7F-AC99699B8294}"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Straight Connector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8" name="Title 7"/>
          <p:cNvSpPr>
            <a:spLocks noGrp="1"/>
          </p:cNvSpPr>
          <p:nvPr>
            <p:ph type="title"/>
          </p:nvPr>
        </p:nvSpPr>
        <p:spPr>
          <a:xfrm>
            <a:off x="180475" y="2947085"/>
            <a:ext cx="8686800" cy="1184825"/>
          </a:xfrm>
        </p:spPr>
        <p:txBody>
          <a:bodyPr rtlCol="0" anchor="t"/>
          <a:lstStyle>
            <a:lvl1pPr algn="r">
              <a:defRPr/>
            </a:lvl1pPr>
          </a:lstStyle>
          <a:p>
            <a:r>
              <a:rPr lang="en-US" smtClean="0"/>
              <a:t>Click to edit Master title style</a:t>
            </a:r>
            <a:endParaRPr lang="en-US"/>
          </a:p>
        </p:txBody>
      </p:sp>
      <p:sp>
        <p:nvSpPr>
          <p:cNvPr id="5" name="Date Placeholder 18"/>
          <p:cNvSpPr>
            <a:spLocks noGrp="1"/>
          </p:cNvSpPr>
          <p:nvPr>
            <p:ph type="dt" sz="half" idx="10"/>
          </p:nvPr>
        </p:nvSpPr>
        <p:spPr/>
        <p:txBody>
          <a:bodyPr/>
          <a:lstStyle>
            <a:lvl1pPr>
              <a:defRPr/>
            </a:lvl1pPr>
          </a:lstStyle>
          <a:p>
            <a:pPr>
              <a:defRPr/>
            </a:pPr>
            <a:fld id="{EB2C6D05-099E-4D63-9F97-6CA5A2BC9A9F}" type="datetimeFigureOut">
              <a:rPr lang="en-US"/>
              <a:pPr>
                <a:defRPr/>
              </a:pPr>
              <a:t>4/13/2012</a:t>
            </a:fld>
            <a:endParaRPr lang="en-US" dirty="0"/>
          </a:p>
        </p:txBody>
      </p:sp>
      <p:sp>
        <p:nvSpPr>
          <p:cNvPr id="7" name="Footer Placeholder 10"/>
          <p:cNvSpPr>
            <a:spLocks noGrp="1"/>
          </p:cNvSpPr>
          <p:nvPr>
            <p:ph type="ftr" sz="quarter" idx="11"/>
          </p:nvPr>
        </p:nvSpPr>
        <p:spPr/>
        <p:txBody>
          <a:bodyPr/>
          <a:lstStyle>
            <a:lvl1pPr>
              <a:defRPr/>
            </a:lvl1pPr>
          </a:lstStyle>
          <a:p>
            <a:pPr>
              <a:defRPr/>
            </a:pPr>
            <a:endParaRPr lang="en-US"/>
          </a:p>
        </p:txBody>
      </p:sp>
      <p:sp>
        <p:nvSpPr>
          <p:cNvPr id="9" name="Slide Number Placeholder 15"/>
          <p:cNvSpPr>
            <a:spLocks noGrp="1"/>
          </p:cNvSpPr>
          <p:nvPr>
            <p:ph type="sldNum" sz="quarter" idx="12"/>
          </p:nvPr>
        </p:nvSpPr>
        <p:spPr/>
        <p:txBody>
          <a:bodyPr/>
          <a:lstStyle>
            <a:lvl1pPr>
              <a:defRPr/>
            </a:lvl1pPr>
          </a:lstStyle>
          <a:p>
            <a:pPr>
              <a:defRPr/>
            </a:pPr>
            <a:fld id="{345D03B2-4E3E-4B5E-B87A-66E36B251C3D}" type="slidenum">
              <a:rPr lang="en-US"/>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lang="en-US" smtClean="0"/>
              <a:t>Click to edit Master title style</a:t>
            </a:r>
            <a:endParaRPr lang="en-US"/>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0"/>
          <p:cNvSpPr>
            <a:spLocks noGrp="1"/>
          </p:cNvSpPr>
          <p:nvPr>
            <p:ph type="dt" sz="half" idx="10"/>
          </p:nvPr>
        </p:nvSpPr>
        <p:spPr/>
        <p:txBody>
          <a:bodyPr/>
          <a:lstStyle>
            <a:lvl1pPr>
              <a:defRPr/>
            </a:lvl1pPr>
          </a:lstStyle>
          <a:p>
            <a:pPr>
              <a:defRPr/>
            </a:pPr>
            <a:fld id="{695C55DD-0F1B-4F25-92D1-775D73BDA304}" type="datetimeFigureOut">
              <a:rPr lang="en-US"/>
              <a:pPr>
                <a:defRPr/>
              </a:pPr>
              <a:t>4/13/2012</a:t>
            </a:fld>
            <a:endParaRPr lang="en-US" dirty="0"/>
          </a:p>
        </p:txBody>
      </p:sp>
      <p:sp>
        <p:nvSpPr>
          <p:cNvPr id="6" name="Footer Placeholder 27"/>
          <p:cNvSpPr>
            <a:spLocks noGrp="1"/>
          </p:cNvSpPr>
          <p:nvPr>
            <p:ph type="ftr" sz="quarter" idx="11"/>
          </p:nvPr>
        </p:nvSpPr>
        <p:spPr/>
        <p:txBody>
          <a:bodyPr/>
          <a:lstStyle>
            <a:lvl1pPr>
              <a:defRPr/>
            </a:lvl1pPr>
          </a:lstStyle>
          <a:p>
            <a:pPr>
              <a:defRPr/>
            </a:pPr>
            <a:endParaRPr lang="en-US"/>
          </a:p>
        </p:txBody>
      </p:sp>
      <p:sp>
        <p:nvSpPr>
          <p:cNvPr id="7" name="Slide Number Placeholder 4"/>
          <p:cNvSpPr>
            <a:spLocks noGrp="1"/>
          </p:cNvSpPr>
          <p:nvPr>
            <p:ph type="sldNum" sz="quarter" idx="12"/>
          </p:nvPr>
        </p:nvSpPr>
        <p:spPr/>
        <p:txBody>
          <a:bodyPr/>
          <a:lstStyle>
            <a:lvl1pPr>
              <a:defRPr/>
            </a:lvl1pPr>
          </a:lstStyle>
          <a:p>
            <a:pPr>
              <a:defRPr/>
            </a:pPr>
            <a:fld id="{1BCE4371-23F6-4677-BA54-5EA78EBB66FE}"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7" name="Straight Connector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29" name="Title 28"/>
          <p:cNvSpPr>
            <a:spLocks noGrp="1"/>
          </p:cNvSpPr>
          <p:nvPr>
            <p:ph type="title"/>
          </p:nvPr>
        </p:nvSpPr>
        <p:spPr>
          <a:xfrm>
            <a:off x="304800" y="5410200"/>
            <a:ext cx="8610600" cy="882650"/>
          </a:xfrm>
        </p:spPr>
        <p:txBody>
          <a:bodyPr/>
          <a:lstStyle>
            <a:lvl1pPr>
              <a:defRPr/>
            </a:lvl1pPr>
          </a:lstStyle>
          <a:p>
            <a:r>
              <a:rPr lang="en-US" smtClean="0"/>
              <a:t>Click to edit Master title style</a:t>
            </a:r>
            <a:endParaRPr lang="en-US"/>
          </a:p>
        </p:txBody>
      </p:sp>
      <p:sp>
        <p:nvSpPr>
          <p:cNvPr id="13" name="Text Placeholder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Content Placeholder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28" name="Content Placeholder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9"/>
          <p:cNvSpPr>
            <a:spLocks noGrp="1"/>
          </p:cNvSpPr>
          <p:nvPr>
            <p:ph type="dt" sz="half" idx="10"/>
          </p:nvPr>
        </p:nvSpPr>
        <p:spPr/>
        <p:txBody>
          <a:bodyPr/>
          <a:lstStyle>
            <a:lvl1pPr>
              <a:defRPr/>
            </a:lvl1pPr>
          </a:lstStyle>
          <a:p>
            <a:pPr>
              <a:defRPr/>
            </a:pPr>
            <a:fld id="{10741A7C-92A7-4B19-8013-4C1120A0E0A3}" type="datetimeFigureOut">
              <a:rPr lang="en-US"/>
              <a:pPr>
                <a:defRPr/>
              </a:pPr>
              <a:t>4/13/2012</a:t>
            </a:fld>
            <a:endParaRPr lang="en-US" dirty="0"/>
          </a:p>
        </p:txBody>
      </p:sp>
      <p:sp>
        <p:nvSpPr>
          <p:cNvPr id="9" name="Footer Placeholder 5"/>
          <p:cNvSpPr>
            <a:spLocks noGrp="1"/>
          </p:cNvSpPr>
          <p:nvPr>
            <p:ph type="ftr" sz="quarter" idx="11"/>
          </p:nvPr>
        </p:nvSpPr>
        <p:spPr/>
        <p:txBody>
          <a:bodyPr/>
          <a:lstStyle>
            <a:lvl1pPr>
              <a:defRPr/>
            </a:lvl1pPr>
          </a:lstStyle>
          <a:p>
            <a:pPr>
              <a:defRPr/>
            </a:pPr>
            <a:endParaRPr lang="en-US"/>
          </a:p>
        </p:txBody>
      </p:sp>
      <p:sp>
        <p:nvSpPr>
          <p:cNvPr id="10" name="Slide Number Placeholder 6"/>
          <p:cNvSpPr>
            <a:spLocks noGrp="1"/>
          </p:cNvSpPr>
          <p:nvPr>
            <p:ph type="sldNum" sz="quarter" idx="12"/>
          </p:nvPr>
        </p:nvSpPr>
        <p:spPr>
          <a:xfrm>
            <a:off x="8229600" y="6477000"/>
            <a:ext cx="762000" cy="247650"/>
          </a:xfrm>
        </p:spPr>
        <p:txBody>
          <a:bodyPr/>
          <a:lstStyle>
            <a:lvl1pPr>
              <a:defRPr/>
            </a:lvl1pPr>
          </a:lstStyle>
          <a:p>
            <a:pPr>
              <a:defRPr/>
            </a:pPr>
            <a:fld id="{7E01CCF2-6750-49EE-B2E9-15E99C6ED46F}"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lang="en-US" smtClean="0"/>
              <a:t>Click to edit Master title style</a:t>
            </a:r>
            <a:endParaRPr lang="en-US"/>
          </a:p>
        </p:txBody>
      </p:sp>
      <p:sp>
        <p:nvSpPr>
          <p:cNvPr id="3" name="Date Placeholder 10"/>
          <p:cNvSpPr>
            <a:spLocks noGrp="1"/>
          </p:cNvSpPr>
          <p:nvPr>
            <p:ph type="dt" sz="half" idx="10"/>
          </p:nvPr>
        </p:nvSpPr>
        <p:spPr/>
        <p:txBody>
          <a:bodyPr/>
          <a:lstStyle>
            <a:lvl1pPr>
              <a:defRPr/>
            </a:lvl1pPr>
          </a:lstStyle>
          <a:p>
            <a:pPr>
              <a:defRPr/>
            </a:pPr>
            <a:fld id="{0651121F-A876-4137-8F71-7CE72B19D252}" type="datetimeFigureOut">
              <a:rPr lang="en-US"/>
              <a:pPr>
                <a:defRPr/>
              </a:pPr>
              <a:t>4/13/2012</a:t>
            </a:fld>
            <a:endParaRPr lang="en-US" dirty="0"/>
          </a:p>
        </p:txBody>
      </p:sp>
      <p:sp>
        <p:nvSpPr>
          <p:cNvPr id="4" name="Footer Placeholder 27"/>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p:txBody>
          <a:bodyPr/>
          <a:lstStyle>
            <a:lvl1pPr>
              <a:defRPr/>
            </a:lvl1pPr>
          </a:lstStyle>
          <a:p>
            <a:pPr>
              <a:defRPr/>
            </a:pPr>
            <a:fld id="{0AE2F144-62C1-47D0-A71E-5818B98D112D}"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2"/>
          <p:cNvSpPr>
            <a:spLocks noGrp="1"/>
          </p:cNvSpPr>
          <p:nvPr>
            <p:ph type="dt" sz="half" idx="10"/>
          </p:nvPr>
        </p:nvSpPr>
        <p:spPr/>
        <p:txBody>
          <a:bodyPr/>
          <a:lstStyle>
            <a:lvl1pPr>
              <a:defRPr/>
            </a:lvl1pPr>
          </a:lstStyle>
          <a:p>
            <a:pPr>
              <a:defRPr/>
            </a:pPr>
            <a:fld id="{1D330552-20CB-47DD-9317-4A282C47D499}" type="datetimeFigureOut">
              <a:rPr lang="en-US"/>
              <a:pPr>
                <a:defRPr/>
              </a:pPr>
              <a:t>4/13/2012</a:t>
            </a:fld>
            <a:endParaRPr lang="en-US" dirty="0"/>
          </a:p>
        </p:txBody>
      </p:sp>
      <p:sp>
        <p:nvSpPr>
          <p:cNvPr id="3" name="Footer Placeholder 23"/>
          <p:cNvSpPr>
            <a:spLocks noGrp="1"/>
          </p:cNvSpPr>
          <p:nvPr>
            <p:ph type="ftr" sz="quarter" idx="11"/>
          </p:nvPr>
        </p:nvSpPr>
        <p:spPr/>
        <p:txBody>
          <a:bodyPr/>
          <a:lstStyle>
            <a:lvl1pPr>
              <a:defRPr/>
            </a:lvl1pPr>
          </a:lstStyle>
          <a:p>
            <a:pPr>
              <a:defRPr/>
            </a:pPr>
            <a:endParaRPr lang="en-US"/>
          </a:p>
        </p:txBody>
      </p:sp>
      <p:sp>
        <p:nvSpPr>
          <p:cNvPr id="4" name="Slide Number Placeholder 6"/>
          <p:cNvSpPr>
            <a:spLocks noGrp="1"/>
          </p:cNvSpPr>
          <p:nvPr>
            <p:ph type="sldNum" sz="quarter" idx="12"/>
          </p:nvPr>
        </p:nvSpPr>
        <p:spPr/>
        <p:txBody>
          <a:bodyPr/>
          <a:lstStyle>
            <a:lvl1pPr>
              <a:defRPr/>
            </a:lvl1pPr>
          </a:lstStyle>
          <a:p>
            <a:pPr>
              <a:defRPr/>
            </a:pPr>
            <a:fld id="{4AD26AA4-AE1C-487F-A71A-BFC371479AE8}"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12" name="Title 11"/>
          <p:cNvSpPr>
            <a:spLocks noGrp="1"/>
          </p:cNvSpPr>
          <p:nvPr>
            <p:ph type="title"/>
          </p:nvPr>
        </p:nvSpPr>
        <p:spPr>
          <a:xfrm>
            <a:off x="457200" y="5486400"/>
            <a:ext cx="8458200" cy="520700"/>
          </a:xfrm>
        </p:spPr>
        <p:txBody>
          <a:bodyPr/>
          <a:lstStyle>
            <a:lvl1pPr algn="l">
              <a:buNone/>
              <a:defRPr sz="2000" b="1"/>
            </a:lvl1pPr>
          </a:lstStyle>
          <a:p>
            <a:r>
              <a:rPr lang="en-US" smtClean="0"/>
              <a:t>Click to edit Master title style</a:t>
            </a:r>
            <a:endParaRPr lang="en-US"/>
          </a:p>
        </p:txBody>
      </p:sp>
      <p:sp>
        <p:nvSpPr>
          <p:cNvPr id="26" name="Text Placeholder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24"/>
          <p:cNvSpPr>
            <a:spLocks noGrp="1"/>
          </p:cNvSpPr>
          <p:nvPr>
            <p:ph type="dt" sz="half" idx="10"/>
          </p:nvPr>
        </p:nvSpPr>
        <p:spPr/>
        <p:txBody>
          <a:bodyPr/>
          <a:lstStyle>
            <a:lvl1pPr>
              <a:defRPr/>
            </a:lvl1pPr>
          </a:lstStyle>
          <a:p>
            <a:pPr>
              <a:defRPr/>
            </a:pPr>
            <a:fld id="{9539371A-5CD9-4276-AAEF-AADF0167E372}" type="datetimeFigureOut">
              <a:rPr lang="en-US"/>
              <a:pPr>
                <a:defRPr/>
              </a:pPr>
              <a:t>4/13/2012</a:t>
            </a:fld>
            <a:endParaRPr lang="en-US" dirty="0"/>
          </a:p>
        </p:txBody>
      </p:sp>
      <p:sp>
        <p:nvSpPr>
          <p:cNvPr id="7" name="Footer Placeholder 28"/>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8030D19C-9EA7-474E-BFBD-33A6637067F5}"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normAutofit/>
          </a:bodyPr>
          <a:lstStyle>
            <a:lvl1pPr marL="0" indent="0">
              <a:buNone/>
              <a:defRPr sz="3200"/>
            </a:lvl1pPr>
          </a:lstStyle>
          <a:p>
            <a:pPr lvl="0"/>
            <a:r>
              <a:rPr lang="en-US" noProof="0" dirty="0" smtClean="0"/>
              <a:t>Click icon to add picture</a:t>
            </a:r>
            <a:endParaRPr lang="en-US" noProof="0" dirty="0"/>
          </a:p>
        </p:txBody>
      </p:sp>
      <p:sp>
        <p:nvSpPr>
          <p:cNvPr id="17" name="Title 16"/>
          <p:cNvSpPr>
            <a:spLocks noGrp="1"/>
          </p:cNvSpPr>
          <p:nvPr>
            <p:ph type="title"/>
          </p:nvPr>
        </p:nvSpPr>
        <p:spPr>
          <a:xfrm>
            <a:off x="381000" y="4993760"/>
            <a:ext cx="5867400" cy="522288"/>
          </a:xfrm>
        </p:spPr>
        <p:txBody>
          <a:bodyPr/>
          <a:lstStyle>
            <a:lvl1pPr algn="l">
              <a:buNone/>
              <a:defRPr sz="2000" b="1"/>
            </a:lvl1pPr>
          </a:lstStyle>
          <a:p>
            <a:r>
              <a:rPr lang="en-US" smtClean="0"/>
              <a:t>Click to edit Master title style</a:t>
            </a:r>
            <a:endParaRPr lang="en-US"/>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5" name="Date Placeholder 6"/>
          <p:cNvSpPr>
            <a:spLocks noGrp="1"/>
          </p:cNvSpPr>
          <p:nvPr>
            <p:ph type="dt" sz="half" idx="10"/>
          </p:nvPr>
        </p:nvSpPr>
        <p:spPr/>
        <p:txBody>
          <a:bodyPr/>
          <a:lstStyle>
            <a:lvl1pPr>
              <a:defRPr/>
            </a:lvl1pPr>
          </a:lstStyle>
          <a:p>
            <a:pPr>
              <a:defRPr/>
            </a:pPr>
            <a:fld id="{9F6BE77B-F808-4A96-BF59-FA2A299299BB}" type="datetimeFigureOut">
              <a:rPr lang="en-US"/>
              <a:pPr>
                <a:defRPr/>
              </a:pPr>
              <a:t>4/13/2012</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30"/>
          <p:cNvSpPr>
            <a:spLocks noGrp="1"/>
          </p:cNvSpPr>
          <p:nvPr>
            <p:ph type="sldNum" sz="quarter" idx="12"/>
          </p:nvPr>
        </p:nvSpPr>
        <p:spPr/>
        <p:txBody>
          <a:bodyPr/>
          <a:lstStyle>
            <a:lvl1pPr>
              <a:defRPr/>
            </a:lvl1pPr>
          </a:lstStyle>
          <a:p>
            <a:pPr>
              <a:defRPr/>
            </a:pPr>
            <a:fld id="{52CF32EF-A9FE-4702-89FA-9CFC68FBF99C}"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0"/>
          <p:cNvSpPr>
            <a:spLocks noGrp="1"/>
          </p:cNvSpPr>
          <p:nvPr>
            <p:ph type="dt" sz="half" idx="10"/>
          </p:nvPr>
        </p:nvSpPr>
        <p:spPr/>
        <p:txBody>
          <a:bodyPr/>
          <a:lstStyle>
            <a:lvl1pPr>
              <a:defRPr/>
            </a:lvl1pPr>
          </a:lstStyle>
          <a:p>
            <a:pPr>
              <a:defRPr/>
            </a:pPr>
            <a:fld id="{6CF8BFD5-B479-4DE2-A494-680E673086CF}" type="datetimeFigureOut">
              <a:rPr lang="en-US"/>
              <a:pPr>
                <a:defRPr/>
              </a:pPr>
              <a:t>4/13/2012</a:t>
            </a:fld>
            <a:endParaRPr lang="en-US" dirty="0"/>
          </a:p>
        </p:txBody>
      </p:sp>
      <p:sp>
        <p:nvSpPr>
          <p:cNvPr id="5" name="Footer Placeholder 27"/>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9AB457C1-6B8F-4CC5-A928-E834314372F5}"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6"/>
            <a:ext cx="18288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549276"/>
            <a:ext cx="6248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06F0CEC-6832-444E-82E4-65D68D429646}" type="datetimeFigureOut">
              <a:rPr lang="en-US"/>
              <a:pPr>
                <a:defRPr/>
              </a:pPr>
              <a:t>4/13/2012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9CD95B4-1D9F-4AA3-9314-0A75219291DA}"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1029" name="Text Placeholder 7"/>
          <p:cNvSpPr>
            <a:spLocks noGrp="1"/>
          </p:cNvSpPr>
          <p:nvPr>
            <p:ph type="body" idx="1"/>
          </p:nvPr>
        </p:nvSpPr>
        <p:spPr bwMode="auto">
          <a:xfrm>
            <a:off x="304800" y="1554163"/>
            <a:ext cx="8686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1" name="Date Placeholder 10"/>
          <p:cNvSpPr>
            <a:spLocks noGrp="1"/>
          </p:cNvSpPr>
          <p:nvPr>
            <p:ph type="dt" sz="half" idx="2"/>
          </p:nvPr>
        </p:nvSpPr>
        <p:spPr>
          <a:xfrm>
            <a:off x="6477000" y="76200"/>
            <a:ext cx="2514600" cy="288925"/>
          </a:xfrm>
          <a:prstGeom prst="rect">
            <a:avLst/>
          </a:prstGeom>
        </p:spPr>
        <p:txBody>
          <a:bodyPr vert="horz"/>
          <a:lstStyle>
            <a:lvl1pPr algn="l" eaLnBrk="1" fontAlgn="auto" latinLnBrk="0" hangingPunct="1">
              <a:spcBef>
                <a:spcPts val="0"/>
              </a:spcBef>
              <a:spcAft>
                <a:spcPts val="0"/>
              </a:spcAft>
              <a:defRPr kumimoji="0" sz="1200">
                <a:solidFill>
                  <a:schemeClr val="accent1">
                    <a:shade val="75000"/>
                  </a:schemeClr>
                </a:solidFill>
                <a:latin typeface="+mn-lt"/>
              </a:defRPr>
            </a:lvl1pPr>
          </a:lstStyle>
          <a:p>
            <a:pPr>
              <a:defRPr/>
            </a:pPr>
            <a:fld id="{ED9AEF67-EAE1-41F8-AF74-DA08370B3E60}" type="datetimeFigureOut">
              <a:rPr lang="en-US"/>
              <a:pPr>
                <a:defRPr/>
              </a:pPr>
              <a:t>4/13/2012</a:t>
            </a:fld>
            <a:endParaRPr lang="en-US" dirty="0"/>
          </a:p>
        </p:txBody>
      </p:sp>
      <p:sp>
        <p:nvSpPr>
          <p:cNvPr id="28" name="Footer Placeholder 27"/>
          <p:cNvSpPr>
            <a:spLocks noGrp="1"/>
          </p:cNvSpPr>
          <p:nvPr>
            <p:ph type="ftr" sz="quarter" idx="3"/>
          </p:nvPr>
        </p:nvSpPr>
        <p:spPr>
          <a:xfrm>
            <a:off x="3124200" y="76200"/>
            <a:ext cx="3352800" cy="288925"/>
          </a:xfrm>
          <a:prstGeom prst="rect">
            <a:avLst/>
          </a:prstGeom>
        </p:spPr>
        <p:txBody>
          <a:bodyPr vert="horz"/>
          <a:lstStyle>
            <a:lvl1pPr algn="r" eaLnBrk="1" fontAlgn="auto" latinLnBrk="0" hangingPunct="1">
              <a:spcBef>
                <a:spcPts val="0"/>
              </a:spcBef>
              <a:spcAft>
                <a:spcPts val="0"/>
              </a:spcAft>
              <a:defRPr kumimoji="0" sz="1200">
                <a:solidFill>
                  <a:schemeClr val="accent1">
                    <a:shade val="75000"/>
                  </a:schemeClr>
                </a:solidFill>
                <a:latin typeface="+mn-lt"/>
              </a:defRPr>
            </a:lvl1pPr>
          </a:lstStyle>
          <a:p>
            <a:pPr>
              <a:defRPr/>
            </a:pPr>
            <a:endParaRPr lang="en-US"/>
          </a:p>
        </p:txBody>
      </p:sp>
      <p:sp>
        <p:nvSpPr>
          <p:cNvPr id="5" name="Slide Number Placeholder 4"/>
          <p:cNvSpPr>
            <a:spLocks noGrp="1"/>
          </p:cNvSpPr>
          <p:nvPr>
            <p:ph type="sldNum" sz="quarter" idx="4"/>
          </p:nvPr>
        </p:nvSpPr>
        <p:spPr>
          <a:xfrm>
            <a:off x="8229600" y="6477000"/>
            <a:ext cx="762000" cy="244475"/>
          </a:xfrm>
          <a:prstGeom prst="rect">
            <a:avLst/>
          </a:prstGeom>
        </p:spPr>
        <p:txBody>
          <a:bodyPr vert="horz"/>
          <a:lstStyle>
            <a:lvl1pPr algn="r" eaLnBrk="1" fontAlgn="auto" latinLnBrk="0" hangingPunct="1">
              <a:spcBef>
                <a:spcPts val="0"/>
              </a:spcBef>
              <a:spcAft>
                <a:spcPts val="0"/>
              </a:spcAft>
              <a:defRPr kumimoji="0" sz="1200">
                <a:solidFill>
                  <a:schemeClr val="accent1">
                    <a:shade val="75000"/>
                  </a:schemeClr>
                </a:solidFill>
                <a:latin typeface="+mn-lt"/>
              </a:defRPr>
            </a:lvl1pPr>
          </a:lstStyle>
          <a:p>
            <a:pPr>
              <a:defRPr/>
            </a:pPr>
            <a:fld id="{3FB0DCA6-A374-41EC-8B04-75DD7DA5BA85}" type="slidenum">
              <a:rPr lang="en-US"/>
              <a:pPr>
                <a:defRPr/>
              </a:pPr>
              <a:t>‹#›</a:t>
            </a:fld>
            <a:endParaRPr lang="en-US" dirty="0"/>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lang="en-US" smtClean="0"/>
              <a:t>Click to edit Master title style</a:t>
            </a:r>
            <a:endParaRPr lang="en-US"/>
          </a:p>
        </p:txBody>
      </p:sp>
      <p:sp>
        <p:nvSpPr>
          <p:cNvPr id="9" name="Straight Connector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12" name="Straight Connector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88" r:id="rId4"/>
    <p:sldLayoutId id="2147483694" r:id="rId5"/>
    <p:sldLayoutId id="2147483689" r:id="rId6"/>
    <p:sldLayoutId id="2147483695" r:id="rId7"/>
    <p:sldLayoutId id="2147483696" r:id="rId8"/>
    <p:sldLayoutId id="2147483697" r:id="rId9"/>
    <p:sldLayoutId id="2147483690" r:id="rId10"/>
    <p:sldLayoutId id="2147483698" r:id="rId11"/>
  </p:sldLayoutIdLst>
  <p:txStyles>
    <p:titleStyle>
      <a:lvl1pPr algn="l" rtl="0" eaLnBrk="0" fontAlgn="base" hangingPunct="0">
        <a:spcBef>
          <a:spcPct val="0"/>
        </a:spcBef>
        <a:spcAft>
          <a:spcPct val="0"/>
        </a:spcAft>
        <a:defRPr sz="3600" kern="1200" cap="all">
          <a:solidFill>
            <a:schemeClr val="tx2"/>
          </a:solidFill>
          <a:effectLst>
            <a:reflection blurRad="12700" stA="48000" endA="300" endPos="55000" dir="5400000" sy="-90000" algn="bl" rotWithShape="0"/>
          </a:effectLst>
          <a:latin typeface="+mj-lt"/>
          <a:ea typeface="+mj-ea"/>
          <a:cs typeface="+mj-cs"/>
        </a:defRPr>
      </a:lvl1pPr>
      <a:lvl2pPr algn="l" rtl="0" eaLnBrk="0" fontAlgn="base" hangingPunct="0">
        <a:spcBef>
          <a:spcPct val="0"/>
        </a:spcBef>
        <a:spcAft>
          <a:spcPct val="0"/>
        </a:spcAft>
        <a:defRPr sz="3600">
          <a:solidFill>
            <a:schemeClr val="tx2"/>
          </a:solidFill>
          <a:latin typeface="Franklin Gothic Medium" pitchFamily="34" charset="0"/>
        </a:defRPr>
      </a:lvl2pPr>
      <a:lvl3pPr algn="l" rtl="0" eaLnBrk="0" fontAlgn="base" hangingPunct="0">
        <a:spcBef>
          <a:spcPct val="0"/>
        </a:spcBef>
        <a:spcAft>
          <a:spcPct val="0"/>
        </a:spcAft>
        <a:defRPr sz="3600">
          <a:solidFill>
            <a:schemeClr val="tx2"/>
          </a:solidFill>
          <a:latin typeface="Franklin Gothic Medium" pitchFamily="34" charset="0"/>
        </a:defRPr>
      </a:lvl3pPr>
      <a:lvl4pPr algn="l" rtl="0" eaLnBrk="0" fontAlgn="base" hangingPunct="0">
        <a:spcBef>
          <a:spcPct val="0"/>
        </a:spcBef>
        <a:spcAft>
          <a:spcPct val="0"/>
        </a:spcAft>
        <a:defRPr sz="3600">
          <a:solidFill>
            <a:schemeClr val="tx2"/>
          </a:solidFill>
          <a:latin typeface="Franklin Gothic Medium" pitchFamily="34" charset="0"/>
        </a:defRPr>
      </a:lvl4pPr>
      <a:lvl5pPr algn="l" rtl="0" eaLnBrk="0" fontAlgn="base" hangingPunct="0">
        <a:spcBef>
          <a:spcPct val="0"/>
        </a:spcBef>
        <a:spcAft>
          <a:spcPct val="0"/>
        </a:spcAft>
        <a:defRPr sz="3600">
          <a:solidFill>
            <a:schemeClr val="tx2"/>
          </a:solidFill>
          <a:latin typeface="Franklin Gothic Medium" pitchFamily="34" charset="0"/>
        </a:defRPr>
      </a:lvl5pPr>
      <a:lvl6pPr marL="457200" algn="l" rtl="0" fontAlgn="base">
        <a:spcBef>
          <a:spcPct val="0"/>
        </a:spcBef>
        <a:spcAft>
          <a:spcPct val="0"/>
        </a:spcAft>
        <a:defRPr sz="3600">
          <a:solidFill>
            <a:schemeClr val="tx2"/>
          </a:solidFill>
          <a:latin typeface="Franklin Gothic Medium" pitchFamily="34" charset="0"/>
        </a:defRPr>
      </a:lvl6pPr>
      <a:lvl7pPr marL="914400" algn="l" rtl="0" fontAlgn="base">
        <a:spcBef>
          <a:spcPct val="0"/>
        </a:spcBef>
        <a:spcAft>
          <a:spcPct val="0"/>
        </a:spcAft>
        <a:defRPr sz="3600">
          <a:solidFill>
            <a:schemeClr val="tx2"/>
          </a:solidFill>
          <a:latin typeface="Franklin Gothic Medium" pitchFamily="34" charset="0"/>
        </a:defRPr>
      </a:lvl7pPr>
      <a:lvl8pPr marL="1371600" algn="l" rtl="0" fontAlgn="base">
        <a:spcBef>
          <a:spcPct val="0"/>
        </a:spcBef>
        <a:spcAft>
          <a:spcPct val="0"/>
        </a:spcAft>
        <a:defRPr sz="3600">
          <a:solidFill>
            <a:schemeClr val="tx2"/>
          </a:solidFill>
          <a:latin typeface="Franklin Gothic Medium" pitchFamily="34" charset="0"/>
        </a:defRPr>
      </a:lvl8pPr>
      <a:lvl9pPr marL="1828800" algn="l" rtl="0" fontAlgn="base">
        <a:spcBef>
          <a:spcPct val="0"/>
        </a:spcBef>
        <a:spcAft>
          <a:spcPct val="0"/>
        </a:spcAft>
        <a:defRPr sz="3600">
          <a:solidFill>
            <a:schemeClr val="tx2"/>
          </a:solidFill>
          <a:latin typeface="Franklin Gothic Medium" pitchFamily="34" charset="0"/>
        </a:defRPr>
      </a:lvl9pPr>
    </p:titleStyle>
    <p:bodyStyle>
      <a:lvl1pPr marL="342900" indent="-342900" algn="l" rtl="0" eaLnBrk="0" fontAlgn="base" hangingPunct="0">
        <a:spcBef>
          <a:spcPct val="20000"/>
        </a:spcBef>
        <a:spcAft>
          <a:spcPct val="0"/>
        </a:spcAft>
        <a:buClr>
          <a:schemeClr val="accent1"/>
        </a:buClr>
        <a:buSzPct val="70000"/>
        <a:buFont typeface="Wingdings 2" pitchFamily="18" charset="2"/>
        <a:buChar char=""/>
        <a:defRPr sz="3200" kern="12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70000"/>
        <a:buFont typeface="Wingdings 2" pitchFamily="18" charset="2"/>
        <a:buChar char=""/>
        <a:defRPr sz="2800" kern="1200">
          <a:solidFill>
            <a:schemeClr val="tx2"/>
          </a:solidFill>
          <a:latin typeface="+mn-lt"/>
          <a:ea typeface="+mn-ea"/>
          <a:cs typeface="+mn-cs"/>
        </a:defRPr>
      </a:lvl2pPr>
      <a:lvl3pPr marL="1143000" indent="-228600" algn="l" rtl="0" eaLnBrk="0" fontAlgn="base" hangingPunct="0">
        <a:spcBef>
          <a:spcPct val="20000"/>
        </a:spcBef>
        <a:spcAft>
          <a:spcPct val="0"/>
        </a:spcAft>
        <a:buClr>
          <a:schemeClr val="accent1"/>
        </a:buClr>
        <a:buSzPct val="70000"/>
        <a:buFont typeface="Wingdings 2" pitchFamily="18" charset="2"/>
        <a:buChar char=""/>
        <a:defRPr sz="2400" kern="1200">
          <a:solidFill>
            <a:schemeClr val="tx2"/>
          </a:solidFill>
          <a:latin typeface="+mn-lt"/>
          <a:ea typeface="+mn-ea"/>
          <a:cs typeface="+mn-cs"/>
        </a:defRPr>
      </a:lvl3pPr>
      <a:lvl4pPr marL="1600200" indent="-228600" algn="l" rtl="0" eaLnBrk="0" fontAlgn="base" hangingPunct="0">
        <a:spcBef>
          <a:spcPct val="20000"/>
        </a:spcBef>
        <a:spcAft>
          <a:spcPct val="0"/>
        </a:spcAft>
        <a:buClr>
          <a:schemeClr val="accent1"/>
        </a:buClr>
        <a:buSzPct val="70000"/>
        <a:buFont typeface="Wingdings 2" pitchFamily="18" charset="2"/>
        <a:buChar char=""/>
        <a:defRPr sz="2000" kern="1200">
          <a:solidFill>
            <a:schemeClr val="tx2"/>
          </a:solidFill>
          <a:latin typeface="+mn-lt"/>
          <a:ea typeface="+mn-ea"/>
          <a:cs typeface="+mn-cs"/>
        </a:defRPr>
      </a:lvl4pPr>
      <a:lvl5pPr marL="2057400" indent="-228600" algn="l" rtl="0" eaLnBrk="0" fontAlgn="base" hangingPunct="0">
        <a:spcBef>
          <a:spcPct val="20000"/>
        </a:spcBef>
        <a:spcAft>
          <a:spcPct val="0"/>
        </a:spcAft>
        <a:buClr>
          <a:schemeClr val="accent1"/>
        </a:buClr>
        <a:buSzPct val="60000"/>
        <a:buFont typeface="Wingdings 2" pitchFamily="18" charset="2"/>
        <a:buChar char=""/>
        <a:defRPr sz="20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85800" y="1905000"/>
            <a:ext cx="8077200" cy="1524000"/>
          </a:xfrm>
          <a:noFill/>
          <a:ln>
            <a:noFill/>
          </a:ln>
          <a:effectLst>
            <a:outerShdw blurRad="152400" dist="317500" dir="5400000" sx="90000" sy="-19000" rotWithShape="0">
              <a:srgbClr val="FF66FF">
                <a:alpha val="15000"/>
              </a:srgbClr>
            </a:outerShdw>
          </a:effectLst>
        </p:spPr>
        <p:style>
          <a:lnRef idx="1">
            <a:schemeClr val="accent4"/>
          </a:lnRef>
          <a:fillRef idx="3">
            <a:schemeClr val="accent4"/>
          </a:fillRef>
          <a:effectRef idx="2">
            <a:schemeClr val="accent4"/>
          </a:effectRef>
          <a:fontRef idx="minor">
            <a:schemeClr val="lt1"/>
          </a:fontRef>
        </p:style>
        <p:txBody>
          <a:bodyPr>
            <a:normAutofit fontScale="47500" lnSpcReduction="20000"/>
          </a:bodyPr>
          <a:lstStyle/>
          <a:p>
            <a:pPr algn="ctr" eaLnBrk="1" fontAlgn="auto" hangingPunct="1">
              <a:spcAft>
                <a:spcPts val="0"/>
              </a:spcAft>
              <a:buFont typeface="Wingdings 2"/>
              <a:buNone/>
              <a:defRPr/>
            </a:pPr>
            <a:r>
              <a:rPr lang="en-US" sz="10700" b="1" dirty="0">
                <a:solidFill>
                  <a:schemeClr val="tx1"/>
                </a:solidFill>
                <a:latin typeface="Castellar" pitchFamily="18" charset="0"/>
              </a:rPr>
              <a:t>MULTICOLLINEARITY</a:t>
            </a:r>
          </a:p>
          <a:p>
            <a:pPr eaLnBrk="1" fontAlgn="auto" hangingPunct="1">
              <a:spcAft>
                <a:spcPts val="0"/>
              </a:spcAft>
              <a:buFont typeface="Wingdings 2"/>
              <a:buNone/>
              <a:defRPr/>
            </a:pPr>
            <a:endParaRPr lang="en-US"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19200"/>
            <a:ext cx="8839200" cy="5334000"/>
          </a:xfrm>
        </p:spPr>
        <p:txBody>
          <a:bodyPr>
            <a:normAutofit/>
          </a:bodyPr>
          <a:lstStyle/>
          <a:p>
            <a:pPr marL="514350" indent="-514350" eaLnBrk="1" fontAlgn="auto" hangingPunct="1">
              <a:spcAft>
                <a:spcPts val="0"/>
              </a:spcAft>
              <a:buClrTx/>
              <a:buFont typeface="Wingdings 2"/>
              <a:buNone/>
              <a:defRPr/>
            </a:pPr>
            <a:endParaRPr lang="en-US" sz="2200" dirty="0" smtClean="0">
              <a:solidFill>
                <a:schemeClr val="tx1"/>
              </a:solidFill>
              <a:latin typeface="+mj-lt"/>
            </a:endParaRPr>
          </a:p>
          <a:p>
            <a:pPr marL="514350" indent="-514350" eaLnBrk="1" fontAlgn="auto" hangingPunct="1">
              <a:spcAft>
                <a:spcPts val="0"/>
              </a:spcAft>
              <a:buClrTx/>
              <a:buFont typeface="Wingdings" pitchFamily="2" charset="2"/>
              <a:buChar char="Ø"/>
              <a:defRPr/>
            </a:pPr>
            <a:r>
              <a:rPr lang="en-US" sz="3500" dirty="0" smtClean="0">
                <a:solidFill>
                  <a:schemeClr val="tx1"/>
                </a:solidFill>
                <a:latin typeface="+mj-lt"/>
              </a:rPr>
              <a:t>What is multicollinearity.</a:t>
            </a:r>
          </a:p>
          <a:p>
            <a:pPr marL="514350" indent="-514350" eaLnBrk="1" fontAlgn="auto" hangingPunct="1">
              <a:spcAft>
                <a:spcPts val="0"/>
              </a:spcAft>
              <a:buClrTx/>
              <a:buFont typeface="Wingdings" pitchFamily="2" charset="2"/>
              <a:buChar char="Ø"/>
              <a:defRPr/>
            </a:pPr>
            <a:r>
              <a:rPr lang="en-US" sz="3500" dirty="0" smtClean="0">
                <a:solidFill>
                  <a:schemeClr val="tx1"/>
                </a:solidFill>
                <a:latin typeface="+mj-lt"/>
              </a:rPr>
              <a:t>Sources of Multicollinearity.</a:t>
            </a:r>
          </a:p>
          <a:p>
            <a:pPr marL="514350" indent="-514350" eaLnBrk="1" fontAlgn="auto" hangingPunct="1">
              <a:spcAft>
                <a:spcPts val="0"/>
              </a:spcAft>
              <a:buClrTx/>
              <a:buFont typeface="Wingdings" pitchFamily="2" charset="2"/>
              <a:buChar char="Ø"/>
              <a:defRPr/>
            </a:pPr>
            <a:r>
              <a:rPr lang="en-US" sz="3500" dirty="0" smtClean="0">
                <a:solidFill>
                  <a:schemeClr val="tx1"/>
                </a:solidFill>
                <a:latin typeface="+mj-lt"/>
              </a:rPr>
              <a:t>Consequences of multicollinearity.</a:t>
            </a:r>
          </a:p>
          <a:p>
            <a:pPr marL="514350" indent="-514350" eaLnBrk="1" fontAlgn="auto" hangingPunct="1">
              <a:spcAft>
                <a:spcPts val="0"/>
              </a:spcAft>
              <a:buClrTx/>
              <a:buFont typeface="Wingdings" pitchFamily="2" charset="2"/>
              <a:buChar char="Ø"/>
              <a:defRPr/>
            </a:pPr>
            <a:r>
              <a:rPr lang="en-US" sz="3500" dirty="0" smtClean="0">
                <a:solidFill>
                  <a:schemeClr val="tx1"/>
                </a:solidFill>
                <a:latin typeface="+mj-lt"/>
              </a:rPr>
              <a:t>Detection </a:t>
            </a:r>
            <a:r>
              <a:rPr lang="en-US" sz="3500" b="1" dirty="0" smtClean="0">
                <a:solidFill>
                  <a:schemeClr val="tx1"/>
                </a:solidFill>
              </a:rPr>
              <a:t>of multicollinearity.</a:t>
            </a:r>
          </a:p>
          <a:p>
            <a:pPr marL="514350" indent="-514350" eaLnBrk="1" fontAlgn="auto" hangingPunct="1">
              <a:spcAft>
                <a:spcPts val="0"/>
              </a:spcAft>
              <a:buClrTx/>
              <a:buFont typeface="Wingdings" pitchFamily="2" charset="2"/>
              <a:buChar char="Ø"/>
              <a:defRPr/>
            </a:pPr>
            <a:r>
              <a:rPr lang="en-US" sz="3500" dirty="0" smtClean="0">
                <a:solidFill>
                  <a:schemeClr val="tx1"/>
                </a:solidFill>
                <a:latin typeface="+mj-lt"/>
              </a:rPr>
              <a:t>Remedial Measures</a:t>
            </a:r>
          </a:p>
          <a:p>
            <a:pPr marL="514350" indent="-514350" eaLnBrk="1" fontAlgn="auto" hangingPunct="1">
              <a:spcAft>
                <a:spcPts val="0"/>
              </a:spcAft>
              <a:buClrTx/>
              <a:buFont typeface="Wingdings" pitchFamily="2" charset="2"/>
              <a:buChar char="Ø"/>
              <a:defRPr/>
            </a:pPr>
            <a:r>
              <a:rPr lang="en-US" sz="3500" dirty="0" smtClean="0">
                <a:solidFill>
                  <a:schemeClr val="tx1"/>
                </a:solidFill>
                <a:latin typeface="+mj-lt"/>
              </a:rPr>
              <a:t>Is multicollinearity necessarily bad?</a:t>
            </a:r>
          </a:p>
          <a:p>
            <a:pPr marL="457200" indent="-457200" eaLnBrk="1" fontAlgn="auto" hangingPunct="1">
              <a:spcAft>
                <a:spcPts val="0"/>
              </a:spcAft>
              <a:buFont typeface="Wingdings 2"/>
              <a:buAutoNum type="romanUcPeriod"/>
              <a:defRPr/>
            </a:pPr>
            <a:endParaRPr lang="en-US" sz="2200" b="1" dirty="0" smtClean="0">
              <a:solidFill>
                <a:schemeClr val="tx1"/>
              </a:solidFill>
              <a:latin typeface="+mj-l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686800" cy="838200"/>
          </a:xfrm>
        </p:spPr>
        <p:txBody>
          <a:bodyPr>
            <a:noAutofit/>
          </a:bodyPr>
          <a:lstStyle/>
          <a:p>
            <a:pPr eaLnBrk="1" fontAlgn="auto" hangingPunct="1">
              <a:spcAft>
                <a:spcPts val="0"/>
              </a:spcAft>
              <a:defRPr/>
            </a:pPr>
            <a:r>
              <a:rPr lang="en-US" b="1" dirty="0">
                <a:solidFill>
                  <a:schemeClr val="tx1"/>
                </a:solidFill>
                <a:latin typeface="Times New Roman" pitchFamily="18" charset="0"/>
                <a:cs typeface="Times New Roman" pitchFamily="18" charset="0"/>
              </a:rPr>
              <a:t>What is Multicollinearity?</a:t>
            </a:r>
            <a:r>
              <a:rPr lang="en-US" dirty="0">
                <a:solidFill>
                  <a:schemeClr val="tx1"/>
                </a:solidFill>
                <a:latin typeface="Times New Roman" pitchFamily="18" charset="0"/>
                <a:cs typeface="Times New Roman" pitchFamily="18" charset="0"/>
              </a:rPr>
              <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12291" name="Content Placeholder 2"/>
          <p:cNvSpPr>
            <a:spLocks noGrp="1"/>
          </p:cNvSpPr>
          <p:nvPr>
            <p:ph idx="1"/>
          </p:nvPr>
        </p:nvSpPr>
        <p:spPr>
          <a:xfrm>
            <a:off x="152400" y="1219200"/>
            <a:ext cx="8839200" cy="5486400"/>
          </a:xfrm>
        </p:spPr>
        <p:txBody>
          <a:bodyPr/>
          <a:lstStyle/>
          <a:p>
            <a:pPr eaLnBrk="1" hangingPunct="1">
              <a:lnSpc>
                <a:spcPct val="90000"/>
              </a:lnSpc>
              <a:buFont typeface="Wingdings 2" pitchFamily="18" charset="2"/>
              <a:buNone/>
            </a:pPr>
            <a:r>
              <a:rPr lang="en-US" sz="2200" b="1" dirty="0" smtClean="0">
                <a:solidFill>
                  <a:schemeClr val="tx1"/>
                </a:solidFill>
              </a:rPr>
              <a:t>The explanatory variables specified in an econometric model usually </a:t>
            </a:r>
          </a:p>
          <a:p>
            <a:pPr eaLnBrk="1" hangingPunct="1">
              <a:lnSpc>
                <a:spcPct val="90000"/>
              </a:lnSpc>
              <a:buFont typeface="Wingdings 2" pitchFamily="18" charset="2"/>
              <a:buNone/>
            </a:pPr>
            <a:r>
              <a:rPr lang="en-US" sz="2200" b="1" dirty="0" smtClean="0">
                <a:solidFill>
                  <a:schemeClr val="tx1"/>
                </a:solidFill>
              </a:rPr>
              <a:t>come from economic theory or a basic understanding of the behavior </a:t>
            </a:r>
          </a:p>
          <a:p>
            <a:pPr eaLnBrk="1" hangingPunct="1">
              <a:lnSpc>
                <a:spcPct val="90000"/>
              </a:lnSpc>
              <a:buFont typeface="Wingdings 2" pitchFamily="18" charset="2"/>
              <a:buNone/>
            </a:pPr>
            <a:r>
              <a:rPr lang="en-US" sz="2200" b="1" dirty="0" smtClean="0">
                <a:solidFill>
                  <a:schemeClr val="tx1"/>
                </a:solidFill>
              </a:rPr>
              <a:t>we are trying to model, as well as from past experience. The data for</a:t>
            </a:r>
          </a:p>
          <a:p>
            <a:pPr eaLnBrk="1" hangingPunct="1">
              <a:lnSpc>
                <a:spcPct val="90000"/>
              </a:lnSpc>
              <a:buFont typeface="Wingdings 2" pitchFamily="18" charset="2"/>
              <a:buNone/>
            </a:pPr>
            <a:r>
              <a:rPr lang="en-US" sz="2200" b="1" dirty="0" smtClean="0">
                <a:solidFill>
                  <a:schemeClr val="tx1"/>
                </a:solidFill>
              </a:rPr>
              <a:t> the variables usually come from uncontrolled experiments and often</a:t>
            </a:r>
          </a:p>
          <a:p>
            <a:pPr eaLnBrk="1" hangingPunct="1">
              <a:lnSpc>
                <a:spcPct val="90000"/>
              </a:lnSpc>
              <a:buFont typeface="Wingdings 2" pitchFamily="18" charset="2"/>
              <a:buNone/>
            </a:pPr>
            <a:r>
              <a:rPr lang="en-US" sz="2200" b="1" dirty="0" smtClean="0">
                <a:solidFill>
                  <a:schemeClr val="tx1"/>
                </a:solidFill>
              </a:rPr>
              <a:t> move together. This is especially true of time series variable that often </a:t>
            </a:r>
          </a:p>
          <a:p>
            <a:pPr eaLnBrk="1" hangingPunct="1">
              <a:lnSpc>
                <a:spcPct val="90000"/>
              </a:lnSpc>
              <a:buFont typeface="Wingdings 2" pitchFamily="18" charset="2"/>
              <a:buNone/>
            </a:pPr>
            <a:r>
              <a:rPr lang="en-US" sz="2200" b="1" dirty="0" smtClean="0">
                <a:solidFill>
                  <a:schemeClr val="tx1"/>
                </a:solidFill>
              </a:rPr>
              <a:t>have common underlying trends. When two explanatory variables </a:t>
            </a:r>
          </a:p>
          <a:p>
            <a:pPr eaLnBrk="1" hangingPunct="1">
              <a:lnSpc>
                <a:spcPct val="90000"/>
              </a:lnSpc>
              <a:buFont typeface="Wingdings 2" pitchFamily="18" charset="2"/>
              <a:buNone/>
            </a:pPr>
            <a:r>
              <a:rPr lang="en-US" sz="2200" b="1" dirty="0" smtClean="0">
                <a:solidFill>
                  <a:schemeClr val="tx1"/>
                </a:solidFill>
              </a:rPr>
              <a:t>move closely together, however, we cannot simply hold one constant </a:t>
            </a:r>
          </a:p>
          <a:p>
            <a:pPr eaLnBrk="1" hangingPunct="1">
              <a:lnSpc>
                <a:spcPct val="90000"/>
              </a:lnSpc>
              <a:buFont typeface="Wingdings 2" pitchFamily="18" charset="2"/>
              <a:buNone/>
            </a:pPr>
            <a:r>
              <a:rPr lang="en-US" sz="2200" b="1" dirty="0" smtClean="0">
                <a:solidFill>
                  <a:schemeClr val="tx1"/>
                </a:solidFill>
              </a:rPr>
              <a:t>and change the other because when the latter is changed, the former</a:t>
            </a:r>
          </a:p>
          <a:p>
            <a:pPr eaLnBrk="1" hangingPunct="1">
              <a:lnSpc>
                <a:spcPct val="90000"/>
              </a:lnSpc>
              <a:buFont typeface="Wingdings 2" pitchFamily="18" charset="2"/>
              <a:buNone/>
            </a:pPr>
            <a:r>
              <a:rPr lang="en-US" sz="2200" b="1" dirty="0" smtClean="0">
                <a:solidFill>
                  <a:schemeClr val="tx1"/>
                </a:solidFill>
              </a:rPr>
              <a:t>is changed. In this situation, it would be difficult to isolate the partial </a:t>
            </a:r>
          </a:p>
          <a:p>
            <a:pPr eaLnBrk="1" hangingPunct="1">
              <a:lnSpc>
                <a:spcPct val="90000"/>
              </a:lnSpc>
              <a:buFont typeface="Wingdings 2" pitchFamily="18" charset="2"/>
              <a:buNone/>
            </a:pPr>
            <a:r>
              <a:rPr lang="en-US" sz="2200" b="1" dirty="0" smtClean="0">
                <a:solidFill>
                  <a:schemeClr val="tx1"/>
                </a:solidFill>
              </a:rPr>
              <a:t>effect of the single variable. Also, changing the model by omitting or </a:t>
            </a:r>
          </a:p>
          <a:p>
            <a:pPr eaLnBrk="1" hangingPunct="1">
              <a:lnSpc>
                <a:spcPct val="90000"/>
              </a:lnSpc>
              <a:buFont typeface="Wingdings 2" pitchFamily="18" charset="2"/>
              <a:buNone/>
            </a:pPr>
            <a:r>
              <a:rPr lang="en-US" sz="2200" b="1" dirty="0" smtClean="0">
                <a:solidFill>
                  <a:schemeClr val="tx1"/>
                </a:solidFill>
              </a:rPr>
              <a:t>adding variables can drastically alter the results, making the </a:t>
            </a:r>
          </a:p>
          <a:p>
            <a:pPr eaLnBrk="1" hangingPunct="1">
              <a:lnSpc>
                <a:spcPct val="90000"/>
              </a:lnSpc>
              <a:buFont typeface="Wingdings 2" pitchFamily="18" charset="2"/>
              <a:buNone/>
            </a:pPr>
            <a:r>
              <a:rPr lang="en-US" sz="2200" b="1" dirty="0" smtClean="0">
                <a:solidFill>
                  <a:schemeClr val="tx1"/>
                </a:solidFill>
              </a:rPr>
              <a:t>interpretation of the estimates more difficult. This is the problem of </a:t>
            </a:r>
          </a:p>
          <a:p>
            <a:pPr eaLnBrk="1" hangingPunct="1">
              <a:lnSpc>
                <a:spcPct val="90000"/>
              </a:lnSpc>
              <a:buFont typeface="Wingdings 2" pitchFamily="18" charset="2"/>
              <a:buNone/>
            </a:pPr>
            <a:r>
              <a:rPr lang="en-US" sz="2200" b="1" dirty="0" smtClean="0">
                <a:solidFill>
                  <a:schemeClr val="tx1"/>
                </a:solidFill>
                <a:latin typeface="Franklin Gothic Medium" pitchFamily="34" charset="0"/>
              </a:rPr>
              <a:t>MULTICOLLINEARITY.   </a:t>
            </a:r>
          </a:p>
          <a:p>
            <a:pPr eaLnBrk="1" hangingPunct="1">
              <a:lnSpc>
                <a:spcPct val="90000"/>
              </a:lnSpc>
              <a:buFont typeface="Wingdings 2" pitchFamily="18" charset="2"/>
              <a:buNone/>
            </a:pPr>
            <a:endParaRPr lang="en-US" sz="27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p:cNvSpPr>
            <a:spLocks noGrp="1"/>
          </p:cNvSpPr>
          <p:nvPr>
            <p:ph idx="1"/>
          </p:nvPr>
        </p:nvSpPr>
        <p:spPr>
          <a:xfrm>
            <a:off x="304800" y="1066800"/>
            <a:ext cx="8686800" cy="5791200"/>
          </a:xfrm>
        </p:spPr>
        <p:txBody>
          <a:bodyPr/>
          <a:lstStyle/>
          <a:p>
            <a:pPr eaLnBrk="1" hangingPunct="1">
              <a:buFont typeface="Wingdings 2" pitchFamily="18" charset="2"/>
              <a:buNone/>
            </a:pPr>
            <a:r>
              <a:rPr lang="en-US" sz="2200" b="1" dirty="0" smtClean="0">
                <a:solidFill>
                  <a:schemeClr val="tx1"/>
                </a:solidFill>
                <a:latin typeface="Franklin Gothic Demi" pitchFamily="34" charset="0"/>
              </a:rPr>
              <a:t>Therefore, multicollinearity refers to -- presence of more than one – </a:t>
            </a:r>
          </a:p>
          <a:p>
            <a:pPr eaLnBrk="1" hangingPunct="1">
              <a:buFont typeface="Wingdings 2" pitchFamily="18" charset="2"/>
              <a:buNone/>
            </a:pPr>
            <a:r>
              <a:rPr lang="en-US" sz="2200" b="1" dirty="0" smtClean="0">
                <a:solidFill>
                  <a:schemeClr val="tx1"/>
                </a:solidFill>
                <a:latin typeface="Franklin Gothic Demi" pitchFamily="34" charset="0"/>
              </a:rPr>
              <a:t>exact linear relationship -- among some or all explanatory variables </a:t>
            </a:r>
          </a:p>
          <a:p>
            <a:pPr eaLnBrk="1" hangingPunct="1">
              <a:buFont typeface="Wingdings 2" pitchFamily="18" charset="2"/>
              <a:buNone/>
            </a:pPr>
            <a:r>
              <a:rPr lang="en-US" sz="2200" b="1" dirty="0" smtClean="0">
                <a:solidFill>
                  <a:schemeClr val="tx1"/>
                </a:solidFill>
                <a:latin typeface="Franklin Gothic Demi" pitchFamily="34" charset="0"/>
              </a:rPr>
              <a:t>of the model.</a:t>
            </a:r>
          </a:p>
          <a:p>
            <a:pPr eaLnBrk="1" hangingPunct="1">
              <a:buFont typeface="Wingdings 2" pitchFamily="18" charset="2"/>
              <a:buNone/>
            </a:pPr>
            <a:endParaRPr lang="en-US" sz="2200" b="1" dirty="0" smtClean="0">
              <a:solidFill>
                <a:schemeClr val="tx1"/>
              </a:solidFill>
              <a:latin typeface="Franklin Gothic Demi" pitchFamily="34" charset="0"/>
            </a:endParaRPr>
          </a:p>
          <a:p>
            <a:pPr eaLnBrk="1" hangingPunct="1">
              <a:buFont typeface="Wingdings 2" pitchFamily="18" charset="2"/>
              <a:buNone/>
            </a:pPr>
            <a:r>
              <a:rPr lang="en-US" sz="2200" b="1" dirty="0" smtClean="0">
                <a:solidFill>
                  <a:schemeClr val="tx1"/>
                </a:solidFill>
              </a:rPr>
              <a:t>“No multicollinearity is one of the assumptions of CLRM i.e. we require </a:t>
            </a:r>
          </a:p>
          <a:p>
            <a:pPr eaLnBrk="1" hangingPunct="1">
              <a:buFont typeface="Wingdings 2" pitchFamily="18" charset="2"/>
              <a:buNone/>
            </a:pPr>
            <a:r>
              <a:rPr lang="en-US" sz="2200" b="1" dirty="0" smtClean="0">
                <a:solidFill>
                  <a:schemeClr val="tx1"/>
                </a:solidFill>
              </a:rPr>
              <a:t>that none of the explanatory variable be correlated with any </a:t>
            </a:r>
          </a:p>
          <a:p>
            <a:pPr eaLnBrk="1" hangingPunct="1">
              <a:buFont typeface="Wingdings 2" pitchFamily="18" charset="2"/>
              <a:buNone/>
            </a:pPr>
            <a:r>
              <a:rPr lang="en-US" sz="2200" b="1" dirty="0" smtClean="0">
                <a:solidFill>
                  <a:schemeClr val="tx1"/>
                </a:solidFill>
              </a:rPr>
              <a:t>other explanatory variable or with any other combination of other </a:t>
            </a:r>
          </a:p>
          <a:p>
            <a:pPr eaLnBrk="1" hangingPunct="1">
              <a:buFont typeface="Wingdings 2" pitchFamily="18" charset="2"/>
              <a:buNone/>
            </a:pPr>
            <a:r>
              <a:rPr lang="en-US" sz="2200" b="1" dirty="0" smtClean="0">
                <a:solidFill>
                  <a:schemeClr val="tx1"/>
                </a:solidFill>
              </a:rPr>
              <a:t>explanatory variable. When this assumption is violated we speak of </a:t>
            </a:r>
          </a:p>
          <a:p>
            <a:pPr eaLnBrk="1" hangingPunct="1">
              <a:buFont typeface="Wingdings 2" pitchFamily="18" charset="2"/>
              <a:buNone/>
            </a:pPr>
            <a:r>
              <a:rPr lang="en-US" sz="2400" b="1" dirty="0" smtClean="0">
                <a:solidFill>
                  <a:schemeClr val="tx1"/>
                </a:solidFill>
                <a:latin typeface="Franklin Gothic Medium" pitchFamily="34" charset="0"/>
              </a:rPr>
              <a:t>perfect multicollinearity</a:t>
            </a:r>
            <a:r>
              <a:rPr lang="en-US" sz="2200" b="1" dirty="0" smtClean="0">
                <a:solidFill>
                  <a:schemeClr val="tx1"/>
                </a:solidFill>
              </a:rPr>
              <a:t>. On the other hand, when the variables of </a:t>
            </a:r>
          </a:p>
          <a:p>
            <a:pPr eaLnBrk="1" hangingPunct="1">
              <a:buFont typeface="Wingdings 2" pitchFamily="18" charset="2"/>
              <a:buNone/>
            </a:pPr>
            <a:r>
              <a:rPr lang="en-US" sz="2200" b="1" dirty="0" smtClean="0">
                <a:solidFill>
                  <a:schemeClr val="tx1"/>
                </a:solidFill>
              </a:rPr>
              <a:t>the model are not correlated </a:t>
            </a:r>
            <a:r>
              <a:rPr lang="en-US" sz="2400" b="1" dirty="0" smtClean="0">
                <a:solidFill>
                  <a:schemeClr val="tx1"/>
                </a:solidFill>
              </a:rPr>
              <a:t>with each other, then this is </a:t>
            </a:r>
            <a:r>
              <a:rPr lang="en-US" sz="2400" b="1" dirty="0" smtClean="0">
                <a:solidFill>
                  <a:schemeClr val="tx1"/>
                </a:solidFill>
                <a:latin typeface="Franklin Gothic Medium" pitchFamily="34" charset="0"/>
              </a:rPr>
              <a:t>absence of </a:t>
            </a:r>
          </a:p>
          <a:p>
            <a:pPr eaLnBrk="1" hangingPunct="1">
              <a:buFont typeface="Wingdings 2" pitchFamily="18" charset="2"/>
              <a:buNone/>
            </a:pPr>
            <a:r>
              <a:rPr lang="en-US" sz="2400" b="1" dirty="0" smtClean="0">
                <a:solidFill>
                  <a:schemeClr val="tx1"/>
                </a:solidFill>
                <a:latin typeface="Franklin Gothic Medium" pitchFamily="34" charset="0"/>
              </a:rPr>
              <a:t>multicollinearity. </a:t>
            </a:r>
          </a:p>
          <a:p>
            <a:pPr eaLnBrk="1" hangingPunct="1">
              <a:buFont typeface="Wingdings 2" pitchFamily="18" charset="2"/>
              <a:buNone/>
            </a:pPr>
            <a:endParaRPr lang="en-US" sz="2200" dirty="0" smtClean="0">
              <a:solidFill>
                <a:schemeClr val="tx1"/>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066800"/>
            <a:ext cx="8991600" cy="5715000"/>
          </a:xfrm>
        </p:spPr>
        <p:txBody>
          <a:bodyPr>
            <a:normAutofit fontScale="92500" lnSpcReduction="10000"/>
          </a:bodyPr>
          <a:lstStyle/>
          <a:p>
            <a:pPr eaLnBrk="1" fontAlgn="auto" hangingPunct="1">
              <a:spcAft>
                <a:spcPts val="0"/>
              </a:spcAft>
              <a:buFont typeface="Wingdings 2"/>
              <a:buNone/>
              <a:defRPr/>
            </a:pPr>
            <a:r>
              <a:rPr lang="en-US" sz="2400" b="1" dirty="0" smtClean="0">
                <a:solidFill>
                  <a:schemeClr val="tx1"/>
                </a:solidFill>
              </a:rPr>
              <a:t>An exact linear relationship is said to be exist if following condition is </a:t>
            </a:r>
          </a:p>
          <a:p>
            <a:pPr eaLnBrk="1" fontAlgn="auto" hangingPunct="1">
              <a:spcAft>
                <a:spcPts val="0"/>
              </a:spcAft>
              <a:buFont typeface="Wingdings 2"/>
              <a:buNone/>
              <a:defRPr/>
            </a:pPr>
            <a:r>
              <a:rPr lang="en-US" sz="2400" b="1" dirty="0" smtClean="0">
                <a:solidFill>
                  <a:schemeClr val="tx1"/>
                </a:solidFill>
              </a:rPr>
              <a:t>satisfied:</a:t>
            </a:r>
          </a:p>
          <a:p>
            <a:pPr algn="ctr" eaLnBrk="1" fontAlgn="auto" hangingPunct="1">
              <a:spcAft>
                <a:spcPts val="0"/>
              </a:spcAft>
              <a:buFont typeface="Wingdings 2"/>
              <a:buNone/>
              <a:defRPr/>
            </a:pPr>
            <a:endParaRPr lang="en-US" sz="2400" b="1" dirty="0" smtClean="0">
              <a:solidFill>
                <a:schemeClr val="tx1"/>
              </a:solidFill>
            </a:endParaRPr>
          </a:p>
          <a:p>
            <a:pPr algn="ctr" eaLnBrk="1" fontAlgn="auto" hangingPunct="1">
              <a:spcAft>
                <a:spcPts val="0"/>
              </a:spcAft>
              <a:buFont typeface="Wingdings 2"/>
              <a:buNone/>
              <a:defRPr/>
            </a:pPr>
            <a:endParaRPr lang="en-US" sz="2400" b="1" dirty="0" smtClean="0">
              <a:solidFill>
                <a:schemeClr val="tx1"/>
              </a:solidFill>
            </a:endParaRPr>
          </a:p>
          <a:p>
            <a:pPr eaLnBrk="1" fontAlgn="auto" hangingPunct="1">
              <a:spcAft>
                <a:spcPts val="0"/>
              </a:spcAft>
              <a:buFont typeface="Wingdings 2"/>
              <a:buNone/>
              <a:defRPr/>
            </a:pPr>
            <a:r>
              <a:rPr lang="en-US" sz="2400" b="1" dirty="0" smtClean="0">
                <a:solidFill>
                  <a:schemeClr val="tx1"/>
                </a:solidFill>
              </a:rPr>
              <a:t>Where,    ,    ……….</a:t>
            </a:r>
            <a:r>
              <a:rPr lang="en-US" sz="2400" b="1" baseline="-25000" dirty="0" smtClean="0">
                <a:solidFill>
                  <a:schemeClr val="tx1"/>
                </a:solidFill>
              </a:rPr>
              <a:t>.   </a:t>
            </a:r>
            <a:r>
              <a:rPr lang="en-US" sz="2400" b="1" dirty="0" smtClean="0">
                <a:solidFill>
                  <a:schemeClr val="tx1"/>
                </a:solidFill>
              </a:rPr>
              <a:t>= constants such that not all of them are zero </a:t>
            </a:r>
          </a:p>
          <a:p>
            <a:pPr eaLnBrk="1" fontAlgn="auto" hangingPunct="1">
              <a:spcAft>
                <a:spcPts val="0"/>
              </a:spcAft>
              <a:buFont typeface="Wingdings 2"/>
              <a:buNone/>
              <a:defRPr/>
            </a:pPr>
            <a:r>
              <a:rPr lang="en-US" sz="2400" b="1" dirty="0" smtClean="0">
                <a:solidFill>
                  <a:schemeClr val="tx1"/>
                </a:solidFill>
              </a:rPr>
              <a:t>simultaneously.</a:t>
            </a:r>
          </a:p>
          <a:p>
            <a:pPr eaLnBrk="1" fontAlgn="auto" hangingPunct="1">
              <a:spcAft>
                <a:spcPts val="0"/>
              </a:spcAft>
              <a:buFont typeface="Wingdings 2"/>
              <a:buNone/>
              <a:defRPr/>
            </a:pPr>
            <a:r>
              <a:rPr lang="en-US" sz="2400" b="1" dirty="0" smtClean="0">
                <a:solidFill>
                  <a:schemeClr val="tx1"/>
                </a:solidFill>
              </a:rPr>
              <a:t> But, In broader sense multicollinearity includes the case of perfect </a:t>
            </a:r>
          </a:p>
          <a:p>
            <a:pPr eaLnBrk="1" fontAlgn="auto" hangingPunct="1">
              <a:spcAft>
                <a:spcPts val="0"/>
              </a:spcAft>
              <a:buFont typeface="Wingdings 2"/>
              <a:buNone/>
              <a:defRPr/>
            </a:pPr>
            <a:r>
              <a:rPr lang="en-US" sz="2400" b="1" dirty="0" smtClean="0">
                <a:solidFill>
                  <a:schemeClr val="tx1"/>
                </a:solidFill>
              </a:rPr>
              <a:t>multicollinearity shown above as well as includes case of imperfect </a:t>
            </a:r>
          </a:p>
          <a:p>
            <a:pPr eaLnBrk="1" fontAlgn="auto" hangingPunct="1">
              <a:spcAft>
                <a:spcPts val="0"/>
              </a:spcAft>
              <a:buFont typeface="Wingdings 2"/>
              <a:buNone/>
              <a:defRPr/>
            </a:pPr>
            <a:r>
              <a:rPr lang="en-US" sz="2400" b="1" dirty="0" smtClean="0">
                <a:solidFill>
                  <a:schemeClr val="tx1"/>
                </a:solidFill>
              </a:rPr>
              <a:t>multicollinearity. Following is the case of imperfect multicollinearity: </a:t>
            </a:r>
          </a:p>
          <a:p>
            <a:pPr algn="ctr" eaLnBrk="1" fontAlgn="auto" hangingPunct="1">
              <a:spcAft>
                <a:spcPts val="0"/>
              </a:spcAft>
              <a:buFont typeface="Wingdings 2"/>
              <a:buNone/>
              <a:defRPr/>
            </a:pPr>
            <a:endParaRPr lang="en-US" sz="2400" b="1" dirty="0" smtClean="0">
              <a:solidFill>
                <a:schemeClr val="tx1"/>
              </a:solidFill>
            </a:endParaRPr>
          </a:p>
          <a:p>
            <a:pPr eaLnBrk="1" fontAlgn="auto" hangingPunct="1">
              <a:spcAft>
                <a:spcPts val="0"/>
              </a:spcAft>
              <a:buFont typeface="Wingdings 2"/>
              <a:buNone/>
              <a:defRPr/>
            </a:pPr>
            <a:endParaRPr lang="en-US" sz="2400" b="1" dirty="0" smtClean="0">
              <a:latin typeface="+mj-lt"/>
            </a:endParaRPr>
          </a:p>
          <a:p>
            <a:pPr marL="0" indent="0" eaLnBrk="1" hangingPunct="1">
              <a:spcBef>
                <a:spcPct val="0"/>
              </a:spcBef>
              <a:buClrTx/>
              <a:buSzTx/>
              <a:buFont typeface="Wingdings 2"/>
              <a:buNone/>
              <a:defRPr/>
            </a:pPr>
            <a:r>
              <a:rPr lang="en-US" sz="2400" dirty="0" smtClean="0">
                <a:solidFill>
                  <a:schemeClr val="tx1"/>
                </a:solidFill>
                <a:latin typeface="+mj-lt"/>
                <a:ea typeface="Times New Roman" pitchFamily="18" charset="0"/>
              </a:rPr>
              <a:t>Where, v</a:t>
            </a:r>
            <a:r>
              <a:rPr lang="en-US" sz="2400" baseline="-30000" dirty="0" smtClean="0">
                <a:solidFill>
                  <a:schemeClr val="tx1"/>
                </a:solidFill>
                <a:latin typeface="+mj-lt"/>
                <a:ea typeface="Times New Roman" pitchFamily="18" charset="0"/>
              </a:rPr>
              <a:t>i</a:t>
            </a:r>
            <a:r>
              <a:rPr lang="en-US" sz="2400" dirty="0" smtClean="0">
                <a:solidFill>
                  <a:schemeClr val="tx1"/>
                </a:solidFill>
                <a:latin typeface="+mj-lt"/>
                <a:ea typeface="Times New Roman" pitchFamily="18" charset="0"/>
              </a:rPr>
              <a:t> = stochastic error term. In above equation X</a:t>
            </a:r>
            <a:r>
              <a:rPr lang="en-US" sz="2400" baseline="-30000" dirty="0" smtClean="0">
                <a:solidFill>
                  <a:schemeClr val="tx1"/>
                </a:solidFill>
                <a:latin typeface="+mj-lt"/>
                <a:ea typeface="Times New Roman" pitchFamily="18" charset="0"/>
              </a:rPr>
              <a:t>s</a:t>
            </a:r>
            <a:r>
              <a:rPr lang="en-US" sz="2400" dirty="0" smtClean="0">
                <a:solidFill>
                  <a:schemeClr val="tx1"/>
                </a:solidFill>
                <a:latin typeface="+mj-lt"/>
                <a:ea typeface="Times New Roman" pitchFamily="18" charset="0"/>
              </a:rPr>
              <a:t> that is the explanatory are not linearly related because of the presence of stochastic error term </a:t>
            </a:r>
            <a:endParaRPr lang="en-US" sz="2400" dirty="0" smtClean="0">
              <a:solidFill>
                <a:schemeClr val="tx1"/>
              </a:solidFill>
              <a:latin typeface="+mj-lt"/>
            </a:endParaRPr>
          </a:p>
          <a:p>
            <a:pPr marL="0" indent="0">
              <a:spcBef>
                <a:spcPct val="0"/>
              </a:spcBef>
              <a:buClrTx/>
              <a:buSzTx/>
              <a:buFont typeface="Wingdings 2"/>
              <a:buNone/>
              <a:defRPr/>
            </a:pPr>
            <a:r>
              <a:rPr lang="en-US" sz="2400" dirty="0" smtClean="0">
                <a:solidFill>
                  <a:schemeClr val="tx1"/>
                </a:solidFill>
                <a:latin typeface="+mj-lt"/>
                <a:ea typeface="Times New Roman" pitchFamily="18" charset="0"/>
              </a:rPr>
              <a:t>If two or more independent variables have a linear relationship between or among them, we have exact v</a:t>
            </a:r>
            <a:r>
              <a:rPr lang="en-US" sz="2400" baseline="-30000" dirty="0" smtClean="0">
                <a:solidFill>
                  <a:schemeClr val="tx1"/>
                </a:solidFill>
                <a:latin typeface="+mj-lt"/>
                <a:ea typeface="Times New Roman" pitchFamily="18" charset="0"/>
              </a:rPr>
              <a:t>i</a:t>
            </a:r>
            <a:r>
              <a:rPr lang="en-US" sz="2400" dirty="0" smtClean="0">
                <a:solidFill>
                  <a:schemeClr val="tx1"/>
                </a:solidFill>
                <a:latin typeface="+mj-lt"/>
                <a:ea typeface="Times New Roman" pitchFamily="18" charset="0"/>
              </a:rPr>
              <a:t>.</a:t>
            </a:r>
            <a:endParaRPr lang="en-US" sz="2400" dirty="0" smtClean="0">
              <a:solidFill>
                <a:schemeClr val="tx1"/>
              </a:solidFill>
              <a:latin typeface="+mj-lt"/>
            </a:endParaRPr>
          </a:p>
          <a:p>
            <a:pPr eaLnBrk="1" fontAlgn="auto" hangingPunct="1">
              <a:spcAft>
                <a:spcPts val="0"/>
              </a:spcAft>
              <a:buFont typeface="Wingdings 2"/>
              <a:buNone/>
              <a:defRPr/>
            </a:pPr>
            <a:endParaRPr lang="en-US" sz="2200" dirty="0" smtClean="0"/>
          </a:p>
          <a:p>
            <a:pPr eaLnBrk="1" fontAlgn="auto" hangingPunct="1">
              <a:spcAft>
                <a:spcPts val="0"/>
              </a:spcAft>
              <a:buFont typeface="Wingdings 2"/>
              <a:buNone/>
              <a:defRPr/>
            </a:pPr>
            <a:endParaRPr lang="en-US" sz="2200" dirty="0" smtClean="0"/>
          </a:p>
          <a:p>
            <a:pPr eaLnBrk="1" fontAlgn="auto" hangingPunct="1">
              <a:spcAft>
                <a:spcPts val="0"/>
              </a:spcAft>
              <a:buFont typeface="Wingdings 2"/>
              <a:buNone/>
              <a:defRPr/>
            </a:pPr>
            <a:endParaRPr lang="en-US" sz="2200" dirty="0" smtClean="0"/>
          </a:p>
          <a:p>
            <a:pPr eaLnBrk="1" fontAlgn="auto" hangingPunct="1">
              <a:spcAft>
                <a:spcPts val="0"/>
              </a:spcAft>
              <a:buFont typeface="Wingdings 2"/>
              <a:buNone/>
              <a:defRPr/>
            </a:pPr>
            <a:endParaRPr lang="en-US" sz="2200" dirty="0" smtClean="0"/>
          </a:p>
          <a:p>
            <a:pPr eaLnBrk="1" fontAlgn="auto" hangingPunct="1">
              <a:spcAft>
                <a:spcPts val="0"/>
              </a:spcAft>
              <a:buFont typeface="Wingdings 2"/>
              <a:buNone/>
              <a:defRPr/>
            </a:pPr>
            <a:endParaRPr lang="en-US" sz="2200" dirty="0" smtClean="0"/>
          </a:p>
          <a:p>
            <a:pPr eaLnBrk="1" fontAlgn="auto" hangingPunct="1">
              <a:spcAft>
                <a:spcPts val="0"/>
              </a:spcAft>
              <a:buFont typeface="Wingdings 2"/>
              <a:buNone/>
              <a:defRPr/>
            </a:pPr>
            <a:endParaRPr lang="en-US" sz="2200" dirty="0" smtClean="0"/>
          </a:p>
        </p:txBody>
      </p:sp>
      <p:sp>
        <p:nvSpPr>
          <p:cNvPr id="1433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pic>
        <p:nvPicPr>
          <p:cNvPr id="14340"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447800" y="1752600"/>
            <a:ext cx="4800600" cy="419100"/>
          </a:xfrm>
          <a:prstGeom prst="rect">
            <a:avLst/>
          </a:prstGeom>
          <a:noFill/>
          <a:ln w="9525">
            <a:noFill/>
            <a:miter lim="800000"/>
            <a:headEnd/>
            <a:tailEnd/>
          </a:ln>
        </p:spPr>
      </p:pic>
      <p:sp>
        <p:nvSpPr>
          <p:cNvPr id="14341"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pic>
        <p:nvPicPr>
          <p:cNvPr id="14342" name="Picture 3"/>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1676400" y="4495800"/>
            <a:ext cx="5124450" cy="342900"/>
          </a:xfrm>
          <a:prstGeom prst="rect">
            <a:avLst/>
          </a:prstGeom>
          <a:noFill/>
          <a:ln w="9525">
            <a:noFill/>
            <a:miter lim="800000"/>
            <a:headEnd/>
            <a:tailEnd/>
          </a:ln>
        </p:spPr>
      </p:pic>
      <p:sp>
        <p:nvSpPr>
          <p:cNvPr id="14343"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pic>
        <p:nvPicPr>
          <p:cNvPr id="14344" name="Picture 5"/>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1066800" y="2590800"/>
            <a:ext cx="247650" cy="342900"/>
          </a:xfrm>
          <a:prstGeom prst="rect">
            <a:avLst/>
          </a:prstGeom>
          <a:noFill/>
          <a:ln w="9525">
            <a:noFill/>
            <a:miter lim="800000"/>
            <a:headEnd/>
            <a:tailEnd/>
          </a:ln>
        </p:spPr>
      </p:pic>
      <p:sp>
        <p:nvSpPr>
          <p:cNvPr id="14345"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pic>
        <p:nvPicPr>
          <p:cNvPr id="14346" name="Picture 7"/>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1371600" y="2590800"/>
            <a:ext cx="257175" cy="342900"/>
          </a:xfrm>
          <a:prstGeom prst="rect">
            <a:avLst/>
          </a:prstGeom>
          <a:noFill/>
          <a:ln w="9525">
            <a:noFill/>
            <a:miter lim="800000"/>
            <a:headEnd/>
            <a:tailEnd/>
          </a:ln>
        </p:spPr>
      </p:pic>
      <p:sp>
        <p:nvSpPr>
          <p:cNvPr id="14347"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pic>
        <p:nvPicPr>
          <p:cNvPr id="14348" name="Picture 9"/>
          <p:cNvPicPr>
            <a:picLocks noChangeAspect="1" noChangeArrowheads="1"/>
          </p:cNvPicPr>
          <p:nvPr/>
        </p:nvPicPr>
        <p:blipFill>
          <a:blip r:embed="rId7">
            <a:clrChange>
              <a:clrFrom>
                <a:srgbClr val="FFFFFF"/>
              </a:clrFrom>
              <a:clrTo>
                <a:srgbClr val="FFFFFF">
                  <a:alpha val="0"/>
                </a:srgbClr>
              </a:clrTo>
            </a:clrChange>
          </a:blip>
          <a:srcRect/>
          <a:stretch>
            <a:fillRect/>
          </a:stretch>
        </p:blipFill>
        <p:spPr bwMode="auto">
          <a:xfrm>
            <a:off x="2324100" y="2590800"/>
            <a:ext cx="266700" cy="3429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p:cNvSpPr>
            <a:spLocks noGrp="1"/>
          </p:cNvSpPr>
          <p:nvPr>
            <p:ph idx="1"/>
          </p:nvPr>
        </p:nvSpPr>
        <p:spPr>
          <a:xfrm>
            <a:off x="152400" y="1066800"/>
            <a:ext cx="8839200" cy="5715000"/>
          </a:xfrm>
        </p:spPr>
        <p:txBody>
          <a:bodyPr/>
          <a:lstStyle/>
          <a:p>
            <a:pPr eaLnBrk="1" hangingPunct="1">
              <a:buFont typeface="Wingdings 2" pitchFamily="18" charset="2"/>
              <a:buNone/>
            </a:pPr>
            <a:r>
              <a:rPr lang="en-US" sz="2200" b="1" dirty="0" smtClean="0">
                <a:solidFill>
                  <a:schemeClr val="tx1"/>
                </a:solidFill>
              </a:rPr>
              <a:t>Let us take numerical example:</a:t>
            </a:r>
          </a:p>
          <a:p>
            <a:pPr eaLnBrk="1" hangingPunct="1">
              <a:buFont typeface="Wingdings 2" pitchFamily="18" charset="2"/>
              <a:buNone/>
            </a:pPr>
            <a:endParaRPr lang="en-US" sz="2200" dirty="0" smtClean="0">
              <a:solidFill>
                <a:schemeClr val="tx1"/>
              </a:solidFill>
            </a:endParaRPr>
          </a:p>
          <a:p>
            <a:pPr eaLnBrk="1" hangingPunct="1">
              <a:buFont typeface="Wingdings 2" pitchFamily="18" charset="2"/>
              <a:buNone/>
            </a:pPr>
            <a:endParaRPr lang="en-US" sz="2200" dirty="0" smtClean="0">
              <a:solidFill>
                <a:schemeClr val="tx1"/>
              </a:solidFill>
            </a:endParaRPr>
          </a:p>
          <a:p>
            <a:pPr eaLnBrk="1" hangingPunct="1">
              <a:buFont typeface="Wingdings 2" pitchFamily="18" charset="2"/>
              <a:buNone/>
            </a:pPr>
            <a:endParaRPr lang="en-US" sz="2200" dirty="0" smtClean="0">
              <a:solidFill>
                <a:schemeClr val="tx1"/>
              </a:solidFill>
            </a:endParaRPr>
          </a:p>
          <a:p>
            <a:pPr eaLnBrk="1" hangingPunct="1">
              <a:buFont typeface="Wingdings 2" pitchFamily="18" charset="2"/>
              <a:buNone/>
            </a:pPr>
            <a:endParaRPr lang="en-US" sz="2200" dirty="0" smtClean="0">
              <a:solidFill>
                <a:schemeClr val="tx1"/>
              </a:solidFill>
            </a:endParaRPr>
          </a:p>
          <a:p>
            <a:pPr eaLnBrk="1" hangingPunct="1">
              <a:buFont typeface="Wingdings 2" pitchFamily="18" charset="2"/>
              <a:buNone/>
            </a:pPr>
            <a:endParaRPr lang="en-US" sz="2200" dirty="0" smtClean="0">
              <a:solidFill>
                <a:schemeClr val="tx1"/>
              </a:solidFill>
            </a:endParaRPr>
          </a:p>
          <a:p>
            <a:pPr eaLnBrk="1" hangingPunct="1">
              <a:buFont typeface="Wingdings 2" pitchFamily="18" charset="2"/>
              <a:buNone/>
            </a:pPr>
            <a:endParaRPr lang="en-US" sz="2200" dirty="0" smtClean="0">
              <a:solidFill>
                <a:schemeClr val="tx1"/>
              </a:solidFill>
            </a:endParaRPr>
          </a:p>
          <a:p>
            <a:pPr eaLnBrk="1" hangingPunct="1">
              <a:buFont typeface="Wingdings 2" pitchFamily="18" charset="2"/>
              <a:buNone/>
            </a:pPr>
            <a:endParaRPr lang="en-US" sz="2200" dirty="0" smtClean="0">
              <a:solidFill>
                <a:schemeClr val="tx1"/>
              </a:solidFill>
            </a:endParaRPr>
          </a:p>
          <a:p>
            <a:pPr eaLnBrk="1" hangingPunct="1">
              <a:buFont typeface="Wingdings 2" pitchFamily="18" charset="2"/>
              <a:buNone/>
            </a:pPr>
            <a:r>
              <a:rPr lang="en-US" sz="2200" b="1" dirty="0" smtClean="0">
                <a:solidFill>
                  <a:schemeClr val="tx1"/>
                </a:solidFill>
              </a:rPr>
              <a:t>Here, X</a:t>
            </a:r>
            <a:r>
              <a:rPr lang="en-US" sz="2200" b="1" baseline="-25000" dirty="0" smtClean="0">
                <a:solidFill>
                  <a:schemeClr val="tx1"/>
                </a:solidFill>
              </a:rPr>
              <a:t>3</a:t>
            </a:r>
            <a:r>
              <a:rPr lang="en-US" sz="2200" b="1" dirty="0" smtClean="0">
                <a:solidFill>
                  <a:schemeClr val="tx1"/>
                </a:solidFill>
              </a:rPr>
              <a:t> = 2X</a:t>
            </a:r>
            <a:r>
              <a:rPr lang="en-US" sz="2200" b="1" baseline="-25000" dirty="0" smtClean="0">
                <a:solidFill>
                  <a:schemeClr val="tx1"/>
                </a:solidFill>
              </a:rPr>
              <a:t>2i</a:t>
            </a:r>
            <a:endParaRPr lang="en-US" sz="2200" b="1" dirty="0" smtClean="0">
              <a:solidFill>
                <a:schemeClr val="tx1"/>
              </a:solidFill>
            </a:endParaRPr>
          </a:p>
          <a:p>
            <a:pPr eaLnBrk="1" hangingPunct="1">
              <a:buFont typeface="Wingdings 2" pitchFamily="18" charset="2"/>
              <a:buNone/>
            </a:pPr>
            <a:r>
              <a:rPr lang="en-US" sz="2200" b="1" dirty="0" smtClean="0">
                <a:solidFill>
                  <a:schemeClr val="tx1"/>
                </a:solidFill>
              </a:rPr>
              <a:t>Therefore, there is perfect multicollinearity between X</a:t>
            </a:r>
            <a:r>
              <a:rPr lang="en-US" sz="2200" b="1" baseline="-25000" dirty="0" smtClean="0">
                <a:solidFill>
                  <a:schemeClr val="tx1"/>
                </a:solidFill>
              </a:rPr>
              <a:t>2</a:t>
            </a:r>
            <a:r>
              <a:rPr lang="en-US" sz="2200" b="1" dirty="0" smtClean="0">
                <a:solidFill>
                  <a:schemeClr val="tx1"/>
                </a:solidFill>
              </a:rPr>
              <a:t> and X</a:t>
            </a:r>
            <a:r>
              <a:rPr lang="en-US" sz="2200" b="1" baseline="-25000" dirty="0" smtClean="0">
                <a:solidFill>
                  <a:schemeClr val="tx1"/>
                </a:solidFill>
              </a:rPr>
              <a:t>3</a:t>
            </a:r>
            <a:r>
              <a:rPr lang="en-US" sz="2200" b="1" dirty="0" smtClean="0">
                <a:solidFill>
                  <a:schemeClr val="tx1"/>
                </a:solidFill>
              </a:rPr>
              <a:t> because </a:t>
            </a:r>
          </a:p>
          <a:p>
            <a:pPr eaLnBrk="1" hangingPunct="1">
              <a:buFont typeface="Wingdings 2" pitchFamily="18" charset="2"/>
              <a:buNone/>
            </a:pPr>
            <a:r>
              <a:rPr lang="en-US" sz="2200" b="1" dirty="0" smtClean="0">
                <a:solidFill>
                  <a:schemeClr val="tx1"/>
                </a:solidFill>
              </a:rPr>
              <a:t>coefficient of correlation ‘r’ is 1. Bur there is no multicollinearity between </a:t>
            </a:r>
          </a:p>
          <a:p>
            <a:pPr eaLnBrk="1" hangingPunct="1">
              <a:buFont typeface="Wingdings 2" pitchFamily="18" charset="2"/>
              <a:buNone/>
            </a:pPr>
            <a:r>
              <a:rPr lang="en-US" sz="2200" b="1" dirty="0" smtClean="0">
                <a:solidFill>
                  <a:schemeClr val="tx1"/>
                </a:solidFill>
              </a:rPr>
              <a:t>X</a:t>
            </a:r>
            <a:r>
              <a:rPr lang="en-US" sz="2200" b="1" baseline="-25000" dirty="0" smtClean="0">
                <a:solidFill>
                  <a:schemeClr val="tx1"/>
                </a:solidFill>
              </a:rPr>
              <a:t>3</a:t>
            </a:r>
            <a:r>
              <a:rPr lang="en-US" sz="2200" b="1" baseline="30000" dirty="0" smtClean="0">
                <a:solidFill>
                  <a:schemeClr val="tx1"/>
                </a:solidFill>
              </a:rPr>
              <a:t>*</a:t>
            </a:r>
            <a:r>
              <a:rPr lang="en-US" sz="2200" b="1" dirty="0" smtClean="0">
                <a:solidFill>
                  <a:schemeClr val="tx1"/>
                </a:solidFill>
              </a:rPr>
              <a:t> and X</a:t>
            </a:r>
            <a:r>
              <a:rPr lang="en-US" sz="2200" b="1" baseline="-25000" dirty="0" smtClean="0">
                <a:solidFill>
                  <a:schemeClr val="tx1"/>
                </a:solidFill>
              </a:rPr>
              <a:t>2</a:t>
            </a:r>
            <a:r>
              <a:rPr lang="en-US" sz="2200" b="1" dirty="0" smtClean="0">
                <a:solidFill>
                  <a:schemeClr val="tx1"/>
                </a:solidFill>
              </a:rPr>
              <a:t> or X</a:t>
            </a:r>
            <a:r>
              <a:rPr lang="en-US" sz="2200" b="1" baseline="-25000" dirty="0" smtClean="0">
                <a:solidFill>
                  <a:schemeClr val="tx1"/>
                </a:solidFill>
              </a:rPr>
              <a:t>3</a:t>
            </a:r>
            <a:r>
              <a:rPr lang="en-US" sz="2200" b="1" baseline="30000" dirty="0" smtClean="0">
                <a:solidFill>
                  <a:schemeClr val="tx1"/>
                </a:solidFill>
              </a:rPr>
              <a:t>*</a:t>
            </a:r>
            <a:r>
              <a:rPr lang="en-US" sz="2200" b="1" dirty="0" smtClean="0">
                <a:solidFill>
                  <a:schemeClr val="tx1"/>
                </a:solidFill>
              </a:rPr>
              <a:t> and X</a:t>
            </a:r>
            <a:r>
              <a:rPr lang="en-US" sz="2200" b="1" baseline="-25000" dirty="0" smtClean="0">
                <a:solidFill>
                  <a:schemeClr val="tx1"/>
                </a:solidFill>
              </a:rPr>
              <a:t>3</a:t>
            </a:r>
            <a:r>
              <a:rPr lang="en-US" sz="2200" b="1" dirty="0" smtClean="0">
                <a:solidFill>
                  <a:schemeClr val="tx1"/>
                </a:solidFill>
              </a:rPr>
              <a:t>.</a:t>
            </a:r>
          </a:p>
          <a:p>
            <a:pPr eaLnBrk="1" hangingPunct="1"/>
            <a:endParaRPr lang="en-US" dirty="0" smtClean="0">
              <a:solidFill>
                <a:schemeClr val="tx1"/>
              </a:solidFill>
            </a:endParaRPr>
          </a:p>
          <a:p>
            <a:pPr eaLnBrk="1" hangingPunct="1">
              <a:buFont typeface="Wingdings 2" pitchFamily="18" charset="2"/>
              <a:buNone/>
            </a:pPr>
            <a:endParaRPr lang="en-US" dirty="0" smtClean="0"/>
          </a:p>
          <a:p>
            <a:pPr eaLnBrk="1" hangingPunct="1"/>
            <a:endParaRPr lang="en-US" dirty="0" smtClean="0"/>
          </a:p>
        </p:txBody>
      </p:sp>
      <p:graphicFrame>
        <p:nvGraphicFramePr>
          <p:cNvPr id="4" name="Table 3"/>
          <p:cNvGraphicFramePr>
            <a:graphicFrameLocks noGrp="1"/>
          </p:cNvGraphicFramePr>
          <p:nvPr/>
        </p:nvGraphicFramePr>
        <p:xfrm>
          <a:off x="762000" y="1752600"/>
          <a:ext cx="7543800" cy="2560320"/>
        </p:xfrm>
        <a:graphic>
          <a:graphicData uri="http://schemas.openxmlformats.org/drawingml/2006/table">
            <a:tbl>
              <a:tblPr firstRow="1" bandRow="1">
                <a:tableStyleId>{5C22544A-7EE6-4342-B048-85BDC9FD1C3A}</a:tableStyleId>
              </a:tblPr>
              <a:tblGrid>
                <a:gridCol w="2514600"/>
                <a:gridCol w="2514600"/>
                <a:gridCol w="2514600"/>
              </a:tblGrid>
              <a:tr h="685800">
                <a:tc>
                  <a:txBody>
                    <a:bodyPr/>
                    <a:lstStyle/>
                    <a:p>
                      <a:pPr algn="ctr"/>
                      <a:r>
                        <a:rPr lang="en-US" sz="2400" b="1" dirty="0" smtClean="0">
                          <a:solidFill>
                            <a:schemeClr val="tx1"/>
                          </a:solidFill>
                          <a:latin typeface="+mj-lt"/>
                        </a:rPr>
                        <a:t>X</a:t>
                      </a:r>
                      <a:r>
                        <a:rPr lang="en-US" sz="2400" b="1" baseline="-25000" dirty="0" smtClean="0">
                          <a:solidFill>
                            <a:schemeClr val="tx1"/>
                          </a:solidFill>
                          <a:latin typeface="+mj-lt"/>
                        </a:rPr>
                        <a:t>2</a:t>
                      </a:r>
                      <a:endParaRPr lang="en-US" sz="2400" dirty="0">
                        <a:latin typeface="+mj-lt"/>
                      </a:endParaRPr>
                    </a:p>
                  </a:txBody>
                  <a:tcPr/>
                </a:tc>
                <a:tc>
                  <a:txBody>
                    <a:bodyPr/>
                    <a:lstStyle/>
                    <a:p>
                      <a:pPr algn="ctr"/>
                      <a:r>
                        <a:rPr lang="en-US" sz="2400" b="1" dirty="0" smtClean="0">
                          <a:solidFill>
                            <a:schemeClr val="tx1"/>
                          </a:solidFill>
                          <a:latin typeface="+mj-lt"/>
                        </a:rPr>
                        <a:t>X</a:t>
                      </a:r>
                      <a:r>
                        <a:rPr lang="en-US" sz="2400" b="1" baseline="-25000" dirty="0" smtClean="0">
                          <a:solidFill>
                            <a:schemeClr val="tx1"/>
                          </a:solidFill>
                          <a:latin typeface="+mj-lt"/>
                        </a:rPr>
                        <a:t>3</a:t>
                      </a:r>
                      <a:endParaRPr lang="en-US" sz="2400" dirty="0">
                        <a:latin typeface="+mj-lt"/>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dirty="0" smtClean="0">
                          <a:solidFill>
                            <a:schemeClr val="tx1"/>
                          </a:solidFill>
                          <a:latin typeface="+mj-lt"/>
                        </a:rPr>
                        <a:t>X</a:t>
                      </a:r>
                      <a:r>
                        <a:rPr lang="en-US" sz="2400" b="1" baseline="-25000" dirty="0" smtClean="0">
                          <a:solidFill>
                            <a:schemeClr val="tx1"/>
                          </a:solidFill>
                          <a:latin typeface="+mj-lt"/>
                        </a:rPr>
                        <a:t>3</a:t>
                      </a:r>
                      <a:r>
                        <a:rPr lang="en-US" sz="2400" b="1" baseline="30000" dirty="0" smtClean="0">
                          <a:solidFill>
                            <a:schemeClr val="tx1"/>
                          </a:solidFill>
                          <a:latin typeface="+mj-lt"/>
                        </a:rPr>
                        <a:t>*</a:t>
                      </a:r>
                      <a:endParaRPr lang="en-US" sz="2400" dirty="0" smtClean="0">
                        <a:solidFill>
                          <a:schemeClr val="tx1"/>
                        </a:solidFill>
                        <a:latin typeface="+mj-lt"/>
                      </a:endParaRPr>
                    </a:p>
                    <a:p>
                      <a:pPr algn="ctr"/>
                      <a:endParaRPr lang="en-US" sz="2400" dirty="0">
                        <a:latin typeface="+mj-lt"/>
                      </a:endParaRPr>
                    </a:p>
                  </a:txBody>
                  <a:tcPr/>
                </a:tc>
              </a:tr>
              <a:tr h="1447800">
                <a:tc>
                  <a:txBody>
                    <a:bodyPr/>
                    <a:lstStyle/>
                    <a:p>
                      <a:pPr algn="ctr"/>
                      <a:r>
                        <a:rPr lang="en-US" b="1" dirty="0" smtClean="0">
                          <a:solidFill>
                            <a:schemeClr val="tx1"/>
                          </a:solidFill>
                        </a:rPr>
                        <a:t>1</a:t>
                      </a:r>
                      <a:endParaRPr lang="en-US" dirty="0" smtClean="0">
                        <a:solidFill>
                          <a:schemeClr val="tx1"/>
                        </a:solidFill>
                      </a:endParaRPr>
                    </a:p>
                    <a:p>
                      <a:pPr algn="ctr"/>
                      <a:r>
                        <a:rPr lang="en-US" b="1" dirty="0" smtClean="0">
                          <a:solidFill>
                            <a:schemeClr val="tx1"/>
                          </a:solidFill>
                        </a:rPr>
                        <a:t>2</a:t>
                      </a:r>
                      <a:endParaRPr lang="en-US" dirty="0" smtClean="0">
                        <a:solidFill>
                          <a:schemeClr val="tx1"/>
                        </a:solidFill>
                      </a:endParaRPr>
                    </a:p>
                    <a:p>
                      <a:pPr algn="ctr"/>
                      <a:r>
                        <a:rPr lang="en-US" b="1" dirty="0" smtClean="0">
                          <a:solidFill>
                            <a:schemeClr val="tx1"/>
                          </a:solidFill>
                        </a:rPr>
                        <a:t>3</a:t>
                      </a:r>
                      <a:endParaRPr lang="en-US" dirty="0" smtClean="0">
                        <a:solidFill>
                          <a:schemeClr val="tx1"/>
                        </a:solidFill>
                      </a:endParaRPr>
                    </a:p>
                    <a:p>
                      <a:pPr algn="ctr"/>
                      <a:r>
                        <a:rPr lang="en-US" b="1" dirty="0" smtClean="0">
                          <a:solidFill>
                            <a:schemeClr val="tx1"/>
                          </a:solidFill>
                        </a:rPr>
                        <a:t>4</a:t>
                      </a:r>
                      <a:endParaRPr lang="en-US" dirty="0" smtClean="0">
                        <a:solidFill>
                          <a:schemeClr val="tx1"/>
                        </a:solidFill>
                      </a:endParaRPr>
                    </a:p>
                    <a:p>
                      <a:pPr algn="ctr"/>
                      <a:r>
                        <a:rPr lang="en-US" b="1" dirty="0" smtClean="0">
                          <a:solidFill>
                            <a:schemeClr val="tx1"/>
                          </a:solidFill>
                        </a:rPr>
                        <a:t>5</a:t>
                      </a:r>
                      <a:endParaRPr lang="en-US" dirty="0" smtClean="0">
                        <a:solidFill>
                          <a:schemeClr val="tx1"/>
                        </a:solidFill>
                      </a:endParaRPr>
                    </a:p>
                    <a:p>
                      <a:pPr algn="ctr"/>
                      <a:endParaRPr lang="en-US" dirty="0"/>
                    </a:p>
                  </a:txBody>
                  <a:tcPr/>
                </a:tc>
                <a:tc>
                  <a:txBody>
                    <a:bodyPr/>
                    <a:lstStyle/>
                    <a:p>
                      <a:pPr algn="ctr"/>
                      <a:r>
                        <a:rPr lang="en-US" b="1" dirty="0" smtClean="0">
                          <a:solidFill>
                            <a:schemeClr val="tx1"/>
                          </a:solidFill>
                        </a:rPr>
                        <a:t>2</a:t>
                      </a:r>
                    </a:p>
                    <a:p>
                      <a:pPr algn="ctr"/>
                      <a:r>
                        <a:rPr lang="en-US" b="1" dirty="0" smtClean="0">
                          <a:solidFill>
                            <a:schemeClr val="tx1"/>
                          </a:solidFill>
                        </a:rPr>
                        <a:t>4</a:t>
                      </a:r>
                      <a:endParaRPr lang="en-US" dirty="0" smtClean="0">
                        <a:solidFill>
                          <a:schemeClr val="tx1"/>
                        </a:solidFill>
                      </a:endParaRPr>
                    </a:p>
                    <a:p>
                      <a:pPr algn="ctr"/>
                      <a:r>
                        <a:rPr lang="en-US" b="1" dirty="0" smtClean="0">
                          <a:solidFill>
                            <a:schemeClr val="tx1"/>
                          </a:solidFill>
                        </a:rPr>
                        <a:t>6</a:t>
                      </a:r>
                      <a:endParaRPr lang="en-US" dirty="0" smtClean="0">
                        <a:solidFill>
                          <a:schemeClr val="tx1"/>
                        </a:solidFill>
                      </a:endParaRPr>
                    </a:p>
                    <a:p>
                      <a:pPr algn="ctr"/>
                      <a:r>
                        <a:rPr lang="en-US" b="1" dirty="0" smtClean="0">
                          <a:solidFill>
                            <a:schemeClr val="tx1"/>
                          </a:solidFill>
                        </a:rPr>
                        <a:t>8</a:t>
                      </a:r>
                      <a:endParaRPr lang="en-US" dirty="0" smtClean="0">
                        <a:solidFill>
                          <a:schemeClr val="tx1"/>
                        </a:solidFill>
                      </a:endParaRPr>
                    </a:p>
                    <a:p>
                      <a:pPr algn="ctr"/>
                      <a:r>
                        <a:rPr lang="en-US" b="1" dirty="0" smtClean="0">
                          <a:solidFill>
                            <a:schemeClr val="tx1"/>
                          </a:solidFill>
                        </a:rPr>
                        <a:t>10</a:t>
                      </a:r>
                      <a:endParaRPr lang="en-US" dirty="0"/>
                    </a:p>
                  </a:txBody>
                  <a:tcPr/>
                </a:tc>
                <a:tc>
                  <a:txBody>
                    <a:bodyPr/>
                    <a:lstStyle/>
                    <a:p>
                      <a:pPr algn="ctr"/>
                      <a:r>
                        <a:rPr lang="en-US" b="1" dirty="0" smtClean="0">
                          <a:solidFill>
                            <a:schemeClr val="tx1"/>
                          </a:solidFill>
                        </a:rPr>
                        <a:t>9</a:t>
                      </a:r>
                      <a:endParaRPr lang="en-US" dirty="0" smtClean="0">
                        <a:solidFill>
                          <a:schemeClr val="tx1"/>
                        </a:solidFill>
                      </a:endParaRPr>
                    </a:p>
                    <a:p>
                      <a:pPr algn="ctr"/>
                      <a:r>
                        <a:rPr lang="en-US" b="1" dirty="0" smtClean="0">
                          <a:solidFill>
                            <a:schemeClr val="tx1"/>
                          </a:solidFill>
                        </a:rPr>
                        <a:t>8</a:t>
                      </a:r>
                      <a:endParaRPr lang="en-US" dirty="0" smtClean="0">
                        <a:solidFill>
                          <a:schemeClr val="tx1"/>
                        </a:solidFill>
                      </a:endParaRPr>
                    </a:p>
                    <a:p>
                      <a:pPr algn="ctr"/>
                      <a:r>
                        <a:rPr lang="en-US" b="1" dirty="0" smtClean="0">
                          <a:solidFill>
                            <a:schemeClr val="tx1"/>
                          </a:solidFill>
                        </a:rPr>
                        <a:t>15</a:t>
                      </a:r>
                      <a:endParaRPr lang="en-US" dirty="0" smtClean="0">
                        <a:solidFill>
                          <a:schemeClr val="tx1"/>
                        </a:solidFill>
                      </a:endParaRPr>
                    </a:p>
                    <a:p>
                      <a:pPr algn="ctr"/>
                      <a:r>
                        <a:rPr lang="en-US" b="1" dirty="0" smtClean="0">
                          <a:solidFill>
                            <a:schemeClr val="tx1"/>
                          </a:solidFill>
                        </a:rPr>
                        <a:t>1</a:t>
                      </a:r>
                      <a:endParaRPr lang="en-US" dirty="0" smtClean="0">
                        <a:solidFill>
                          <a:schemeClr val="tx1"/>
                        </a:solidFill>
                      </a:endParaRPr>
                    </a:p>
                    <a:p>
                      <a:pPr algn="ctr"/>
                      <a:r>
                        <a:rPr lang="en-US" b="1" dirty="0" smtClean="0">
                          <a:solidFill>
                            <a:schemeClr val="tx1"/>
                          </a:solidFill>
                        </a:rPr>
                        <a:t>6</a:t>
                      </a:r>
                      <a:endParaRPr lang="en-US" dirty="0" smtClean="0">
                        <a:solidFill>
                          <a:schemeClr val="tx1"/>
                        </a:solidFill>
                      </a:endParaRPr>
                    </a:p>
                    <a:p>
                      <a:pPr algn="ctr"/>
                      <a:endParaRPr lang="en-US" dirty="0"/>
                    </a:p>
                  </a:txBody>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eaLnBrk="1" fontAlgn="auto" hangingPunct="1">
              <a:spcAft>
                <a:spcPts val="0"/>
              </a:spcAft>
              <a:defRPr/>
            </a:pPr>
            <a:r>
              <a:rPr lang="en-US" b="1" dirty="0" smtClean="0">
                <a:solidFill>
                  <a:schemeClr val="tx1"/>
                </a:solidFill>
                <a:latin typeface="Times New Roman" pitchFamily="18" charset="0"/>
                <a:cs typeface="Times New Roman" pitchFamily="18" charset="0"/>
              </a:rPr>
              <a:t>Degrees of multicollinearity</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76200" y="1143000"/>
            <a:ext cx="8915400" cy="5562600"/>
          </a:xfrm>
        </p:spPr>
        <p:txBody>
          <a:bodyPr>
            <a:normAutofit fontScale="55000" lnSpcReduction="20000"/>
          </a:bodyPr>
          <a:lstStyle/>
          <a:p>
            <a:pPr eaLnBrk="1" fontAlgn="auto" hangingPunct="1">
              <a:spcAft>
                <a:spcPts val="0"/>
              </a:spcAft>
              <a:buFont typeface="Wingdings 2"/>
              <a:buNone/>
              <a:defRPr/>
            </a:pPr>
            <a:r>
              <a:rPr lang="en-US" sz="3500" b="1" dirty="0" smtClean="0">
                <a:solidFill>
                  <a:schemeClr val="tx1"/>
                </a:solidFill>
              </a:rPr>
              <a:t>The cases between presence and absence of multicollinearity are described as </a:t>
            </a:r>
          </a:p>
          <a:p>
            <a:pPr eaLnBrk="1" fontAlgn="auto" hangingPunct="1">
              <a:spcAft>
                <a:spcPts val="0"/>
              </a:spcAft>
              <a:buFont typeface="Wingdings 2"/>
              <a:buNone/>
              <a:defRPr/>
            </a:pPr>
            <a:r>
              <a:rPr lang="en-US" sz="3500" b="1" dirty="0" smtClean="0">
                <a:solidFill>
                  <a:schemeClr val="tx1"/>
                </a:solidFill>
              </a:rPr>
              <a:t>“Degrees of multicollinearity”. High degree of multicollinearity arises whenever one </a:t>
            </a:r>
          </a:p>
          <a:p>
            <a:pPr eaLnBrk="1" fontAlgn="auto" hangingPunct="1">
              <a:spcAft>
                <a:spcPts val="0"/>
              </a:spcAft>
              <a:buFont typeface="Wingdings 2"/>
              <a:buNone/>
              <a:defRPr/>
            </a:pPr>
            <a:r>
              <a:rPr lang="en-US" sz="3500" b="1" dirty="0" smtClean="0">
                <a:solidFill>
                  <a:schemeClr val="tx1"/>
                </a:solidFill>
              </a:rPr>
              <a:t>explanatory variable is highly correlated with a linear combination of other explanatory </a:t>
            </a:r>
          </a:p>
          <a:p>
            <a:pPr eaLnBrk="1" fontAlgn="auto" hangingPunct="1">
              <a:spcAft>
                <a:spcPts val="0"/>
              </a:spcAft>
              <a:buFont typeface="Wingdings 2"/>
              <a:buNone/>
              <a:defRPr/>
            </a:pPr>
            <a:r>
              <a:rPr lang="en-US" sz="3500" b="1" dirty="0" smtClean="0">
                <a:solidFill>
                  <a:schemeClr val="tx1"/>
                </a:solidFill>
              </a:rPr>
              <a:t>variable. The degrees of multicollinearity can be portrayed in the diagrammatical </a:t>
            </a:r>
          </a:p>
          <a:p>
            <a:pPr eaLnBrk="1" fontAlgn="auto" hangingPunct="1">
              <a:spcAft>
                <a:spcPts val="0"/>
              </a:spcAft>
              <a:buFont typeface="Wingdings 2"/>
              <a:buNone/>
              <a:defRPr/>
            </a:pPr>
            <a:r>
              <a:rPr lang="en-US" sz="3500" b="1" dirty="0" smtClean="0">
                <a:solidFill>
                  <a:schemeClr val="tx1"/>
                </a:solidFill>
              </a:rPr>
              <a:t>from: </a:t>
            </a:r>
          </a:p>
          <a:p>
            <a:pPr eaLnBrk="1" fontAlgn="auto" hangingPunct="1">
              <a:spcAft>
                <a:spcPts val="0"/>
              </a:spcAft>
              <a:buFont typeface="Wingdings 2"/>
              <a:buNone/>
              <a:defRPr/>
            </a:pPr>
            <a:r>
              <a:rPr lang="en-US" sz="3500" b="1" dirty="0" smtClean="0">
                <a:solidFill>
                  <a:schemeClr val="tx1"/>
                </a:solidFill>
              </a:rPr>
              <a:t> </a:t>
            </a:r>
          </a:p>
          <a:p>
            <a:pPr eaLnBrk="1" fontAlgn="auto" hangingPunct="1">
              <a:spcAft>
                <a:spcPts val="0"/>
              </a:spcAft>
              <a:buFont typeface="Wingdings 2"/>
              <a:buNone/>
              <a:defRPr/>
            </a:pPr>
            <a:r>
              <a:rPr lang="en-US" b="1" dirty="0" smtClean="0">
                <a:solidFill>
                  <a:schemeClr val="tx1"/>
                </a:solidFill>
              </a:rPr>
              <a:t> </a:t>
            </a:r>
          </a:p>
          <a:p>
            <a:pPr eaLnBrk="1" fontAlgn="auto" hangingPunct="1">
              <a:spcAft>
                <a:spcPts val="0"/>
              </a:spcAft>
              <a:buFont typeface="Wingdings 2"/>
              <a:buNone/>
              <a:defRPr/>
            </a:pPr>
            <a:r>
              <a:rPr lang="en-US" b="1" dirty="0" smtClean="0">
                <a:solidFill>
                  <a:schemeClr val="tx1"/>
                </a:solidFill>
              </a:rPr>
              <a:t> </a:t>
            </a:r>
          </a:p>
          <a:p>
            <a:pPr eaLnBrk="1" fontAlgn="auto" hangingPunct="1">
              <a:spcAft>
                <a:spcPts val="0"/>
              </a:spcAft>
              <a:buFont typeface="Wingdings 2"/>
              <a:buNone/>
              <a:defRPr/>
            </a:pPr>
            <a:r>
              <a:rPr lang="en-US" b="1" dirty="0" smtClean="0">
                <a:solidFill>
                  <a:schemeClr val="tx1"/>
                </a:solidFill>
              </a:rPr>
              <a:t> </a:t>
            </a:r>
          </a:p>
          <a:p>
            <a:pPr eaLnBrk="1" fontAlgn="auto" hangingPunct="1">
              <a:spcAft>
                <a:spcPts val="0"/>
              </a:spcAft>
              <a:buFont typeface="Wingdings 2"/>
              <a:buNone/>
              <a:defRPr/>
            </a:pPr>
            <a:r>
              <a:rPr lang="en-US" b="1" dirty="0" smtClean="0">
                <a:solidFill>
                  <a:schemeClr val="tx1"/>
                </a:solidFill>
              </a:rPr>
              <a:t> </a:t>
            </a:r>
          </a:p>
          <a:p>
            <a:pPr eaLnBrk="1" fontAlgn="auto" hangingPunct="1">
              <a:spcAft>
                <a:spcPts val="0"/>
              </a:spcAft>
              <a:buFont typeface="Wingdings 2"/>
              <a:buNone/>
              <a:defRPr/>
            </a:pPr>
            <a:endParaRPr lang="en-US" b="1" dirty="0" smtClean="0">
              <a:solidFill>
                <a:schemeClr val="tx1"/>
              </a:solidFill>
            </a:endParaRPr>
          </a:p>
          <a:p>
            <a:pPr eaLnBrk="1" fontAlgn="auto" hangingPunct="1">
              <a:spcAft>
                <a:spcPts val="0"/>
              </a:spcAft>
              <a:buFont typeface="Wingdings 2"/>
              <a:buNone/>
              <a:defRPr/>
            </a:pPr>
            <a:r>
              <a:rPr lang="en-US" b="1" dirty="0" smtClean="0">
                <a:solidFill>
                  <a:schemeClr val="tx1"/>
                </a:solidFill>
              </a:rPr>
              <a:t> </a:t>
            </a:r>
          </a:p>
          <a:p>
            <a:pPr eaLnBrk="1" fontAlgn="auto" hangingPunct="1">
              <a:spcAft>
                <a:spcPts val="0"/>
              </a:spcAft>
              <a:buFont typeface="Wingdings 2"/>
              <a:buNone/>
              <a:defRPr/>
            </a:pPr>
            <a:r>
              <a:rPr lang="en-US" sz="3500" b="1" dirty="0" smtClean="0">
                <a:solidFill>
                  <a:schemeClr val="tx1"/>
                </a:solidFill>
              </a:rPr>
              <a:t>When we move from figure 1 to 3 we move from low degree of multicollinearity to high </a:t>
            </a:r>
          </a:p>
          <a:p>
            <a:pPr eaLnBrk="1" fontAlgn="auto" hangingPunct="1">
              <a:spcAft>
                <a:spcPts val="0"/>
              </a:spcAft>
              <a:buFont typeface="Wingdings 2"/>
              <a:buNone/>
              <a:defRPr/>
            </a:pPr>
            <a:r>
              <a:rPr lang="en-US" sz="3500" b="1" dirty="0" smtClean="0">
                <a:solidFill>
                  <a:schemeClr val="tx1"/>
                </a:solidFill>
              </a:rPr>
              <a:t>degree. X</a:t>
            </a:r>
            <a:r>
              <a:rPr lang="en-US" sz="3500" b="1" baseline="-25000" dirty="0" smtClean="0">
                <a:solidFill>
                  <a:schemeClr val="tx1"/>
                </a:solidFill>
              </a:rPr>
              <a:t>2</a:t>
            </a:r>
            <a:r>
              <a:rPr lang="en-US" sz="3500" b="1" dirty="0" smtClean="0">
                <a:solidFill>
                  <a:schemeClr val="tx1"/>
                </a:solidFill>
              </a:rPr>
              <a:t> and X</a:t>
            </a:r>
            <a:r>
              <a:rPr lang="en-US" sz="3500" b="1" baseline="-25000" dirty="0" smtClean="0">
                <a:solidFill>
                  <a:schemeClr val="tx1"/>
                </a:solidFill>
              </a:rPr>
              <a:t>3</a:t>
            </a:r>
            <a:r>
              <a:rPr lang="en-US" sz="3500" b="1" dirty="0" smtClean="0">
                <a:solidFill>
                  <a:schemeClr val="tx1"/>
                </a:solidFill>
              </a:rPr>
              <a:t> represent respectively the variations in Y. Y is dependent variable </a:t>
            </a:r>
          </a:p>
          <a:p>
            <a:pPr eaLnBrk="1" fontAlgn="auto" hangingPunct="1">
              <a:spcAft>
                <a:spcPts val="0"/>
              </a:spcAft>
              <a:buFont typeface="Wingdings 2"/>
              <a:buNone/>
              <a:defRPr/>
            </a:pPr>
            <a:r>
              <a:rPr lang="en-US" sz="3500" b="1" dirty="0" smtClean="0">
                <a:solidFill>
                  <a:schemeClr val="tx1"/>
                </a:solidFill>
              </a:rPr>
              <a:t>and X</a:t>
            </a:r>
            <a:r>
              <a:rPr lang="en-US" sz="3500" b="1" baseline="-25000" dirty="0" smtClean="0">
                <a:solidFill>
                  <a:schemeClr val="tx1"/>
                </a:solidFill>
              </a:rPr>
              <a:t>2</a:t>
            </a:r>
            <a:r>
              <a:rPr lang="en-US" sz="3500" b="1" dirty="0" smtClean="0">
                <a:solidFill>
                  <a:schemeClr val="tx1"/>
                </a:solidFill>
              </a:rPr>
              <a:t> and X</a:t>
            </a:r>
            <a:r>
              <a:rPr lang="en-US" sz="3500" b="1" baseline="-25000" dirty="0" smtClean="0">
                <a:solidFill>
                  <a:schemeClr val="tx1"/>
                </a:solidFill>
              </a:rPr>
              <a:t>3 </a:t>
            </a:r>
            <a:r>
              <a:rPr lang="en-US" sz="3500" b="1" dirty="0" smtClean="0">
                <a:solidFill>
                  <a:schemeClr val="tx1"/>
                </a:solidFill>
              </a:rPr>
              <a:t>are independent variable. The degree of collinearity can be measured </a:t>
            </a:r>
          </a:p>
          <a:p>
            <a:pPr eaLnBrk="1" fontAlgn="auto" hangingPunct="1">
              <a:spcAft>
                <a:spcPts val="0"/>
              </a:spcAft>
              <a:buFont typeface="Wingdings 2"/>
              <a:buNone/>
              <a:defRPr/>
            </a:pPr>
            <a:r>
              <a:rPr lang="en-US" sz="3500" b="1" dirty="0" smtClean="0">
                <a:solidFill>
                  <a:schemeClr val="tx1"/>
                </a:solidFill>
              </a:rPr>
              <a:t>by the extent of overlap, higher the overlap between X</a:t>
            </a:r>
            <a:r>
              <a:rPr lang="en-US" sz="3500" b="1" baseline="-25000" dirty="0" smtClean="0">
                <a:solidFill>
                  <a:schemeClr val="tx1"/>
                </a:solidFill>
              </a:rPr>
              <a:t>2</a:t>
            </a:r>
            <a:r>
              <a:rPr lang="en-US" sz="3500" b="1" dirty="0" smtClean="0">
                <a:solidFill>
                  <a:schemeClr val="tx1"/>
                </a:solidFill>
              </a:rPr>
              <a:t> and X</a:t>
            </a:r>
            <a:r>
              <a:rPr lang="en-US" sz="3500" b="1" baseline="-25000" dirty="0" smtClean="0">
                <a:solidFill>
                  <a:schemeClr val="tx1"/>
                </a:solidFill>
              </a:rPr>
              <a:t>3</a:t>
            </a:r>
            <a:r>
              <a:rPr lang="en-US" sz="3500" b="1" dirty="0" smtClean="0">
                <a:solidFill>
                  <a:schemeClr val="tx1"/>
                </a:solidFill>
              </a:rPr>
              <a:t>, higher is the </a:t>
            </a:r>
          </a:p>
          <a:p>
            <a:pPr eaLnBrk="1" fontAlgn="auto" hangingPunct="1">
              <a:spcAft>
                <a:spcPts val="0"/>
              </a:spcAft>
              <a:buFont typeface="Wingdings 2"/>
              <a:buNone/>
              <a:defRPr/>
            </a:pPr>
            <a:r>
              <a:rPr lang="en-US" sz="3500" b="1" dirty="0" smtClean="0">
                <a:solidFill>
                  <a:schemeClr val="tx1"/>
                </a:solidFill>
              </a:rPr>
              <a:t>multicollinearity or we can say that when X</a:t>
            </a:r>
            <a:r>
              <a:rPr lang="en-US" sz="3500" b="1" baseline="-25000" dirty="0" smtClean="0">
                <a:solidFill>
                  <a:schemeClr val="tx1"/>
                </a:solidFill>
              </a:rPr>
              <a:t>2</a:t>
            </a:r>
            <a:r>
              <a:rPr lang="en-US" sz="3500" b="1" dirty="0" smtClean="0">
                <a:solidFill>
                  <a:schemeClr val="tx1"/>
                </a:solidFill>
              </a:rPr>
              <a:t> and X</a:t>
            </a:r>
            <a:r>
              <a:rPr lang="en-US" sz="3500" b="1" baseline="-25000" dirty="0" smtClean="0">
                <a:solidFill>
                  <a:schemeClr val="tx1"/>
                </a:solidFill>
              </a:rPr>
              <a:t>3</a:t>
            </a:r>
            <a:r>
              <a:rPr lang="en-US" sz="3500" b="1" dirty="0" smtClean="0">
                <a:solidFill>
                  <a:schemeClr val="tx1"/>
                </a:solidFill>
              </a:rPr>
              <a:t> overlap completely there is Perfect </a:t>
            </a:r>
          </a:p>
          <a:p>
            <a:pPr eaLnBrk="1" fontAlgn="auto" hangingPunct="1">
              <a:spcAft>
                <a:spcPts val="0"/>
              </a:spcAft>
              <a:buFont typeface="Wingdings 2"/>
              <a:buNone/>
              <a:defRPr/>
            </a:pPr>
            <a:r>
              <a:rPr lang="en-US" sz="3500" b="1" dirty="0" smtClean="0">
                <a:solidFill>
                  <a:schemeClr val="tx1"/>
                </a:solidFill>
              </a:rPr>
              <a:t>multicollinearity.</a:t>
            </a:r>
          </a:p>
          <a:p>
            <a:pPr eaLnBrk="1" fontAlgn="auto" hangingPunct="1">
              <a:spcAft>
                <a:spcPts val="0"/>
              </a:spcAft>
              <a:buFont typeface="Wingdings 2"/>
              <a:buNone/>
              <a:defRPr/>
            </a:pPr>
            <a:r>
              <a:rPr lang="en-US" b="1" dirty="0" smtClean="0">
                <a:solidFill>
                  <a:schemeClr val="tx1"/>
                </a:solidFill>
              </a:rPr>
              <a:t> </a:t>
            </a:r>
          </a:p>
        </p:txBody>
      </p:sp>
      <p:sp>
        <p:nvSpPr>
          <p:cNvPr id="4" name="Oval 3"/>
          <p:cNvSpPr/>
          <p:nvPr/>
        </p:nvSpPr>
        <p:spPr>
          <a:xfrm>
            <a:off x="762000" y="2819400"/>
            <a:ext cx="8382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b="1" dirty="0"/>
              <a:t>Y</a:t>
            </a:r>
            <a:endParaRPr lang="en-US" dirty="0"/>
          </a:p>
        </p:txBody>
      </p:sp>
      <p:sp>
        <p:nvSpPr>
          <p:cNvPr id="13" name="Oval 12"/>
          <p:cNvSpPr/>
          <p:nvPr/>
        </p:nvSpPr>
        <p:spPr>
          <a:xfrm>
            <a:off x="228600" y="3200400"/>
            <a:ext cx="838200" cy="8382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b="1" dirty="0"/>
              <a:t>X</a:t>
            </a:r>
            <a:r>
              <a:rPr lang="en-US" b="1" baseline="-25000" dirty="0"/>
              <a:t>2</a:t>
            </a:r>
            <a:endParaRPr lang="en-US" dirty="0"/>
          </a:p>
        </p:txBody>
      </p:sp>
      <p:sp>
        <p:nvSpPr>
          <p:cNvPr id="14" name="Oval 13"/>
          <p:cNvSpPr/>
          <p:nvPr/>
        </p:nvSpPr>
        <p:spPr>
          <a:xfrm>
            <a:off x="1219200" y="3200400"/>
            <a:ext cx="838200" cy="8382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b="1" dirty="0"/>
              <a:t>X</a:t>
            </a:r>
            <a:r>
              <a:rPr lang="en-US" b="1" baseline="-25000" dirty="0"/>
              <a:t>3</a:t>
            </a:r>
            <a:endParaRPr lang="en-US" dirty="0"/>
          </a:p>
        </p:txBody>
      </p:sp>
      <p:sp>
        <p:nvSpPr>
          <p:cNvPr id="17" name="Oval 16"/>
          <p:cNvSpPr/>
          <p:nvPr/>
        </p:nvSpPr>
        <p:spPr>
          <a:xfrm>
            <a:off x="3352800" y="2743200"/>
            <a:ext cx="8382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b="1" dirty="0"/>
              <a:t>Y</a:t>
            </a:r>
            <a:endParaRPr lang="en-US" dirty="0"/>
          </a:p>
        </p:txBody>
      </p:sp>
      <p:sp>
        <p:nvSpPr>
          <p:cNvPr id="20" name="Oval 19"/>
          <p:cNvSpPr/>
          <p:nvPr/>
        </p:nvSpPr>
        <p:spPr>
          <a:xfrm>
            <a:off x="6248400" y="2667000"/>
            <a:ext cx="8382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b="1" dirty="0"/>
              <a:t>Y</a:t>
            </a:r>
            <a:endParaRPr lang="en-US" dirty="0"/>
          </a:p>
        </p:txBody>
      </p:sp>
      <p:sp>
        <p:nvSpPr>
          <p:cNvPr id="16" name="Oval 15"/>
          <p:cNvSpPr/>
          <p:nvPr/>
        </p:nvSpPr>
        <p:spPr>
          <a:xfrm>
            <a:off x="3048000" y="3124200"/>
            <a:ext cx="838200" cy="8382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b="1" dirty="0"/>
              <a:t>X</a:t>
            </a:r>
            <a:r>
              <a:rPr lang="en-US" b="1" baseline="-25000" dirty="0"/>
              <a:t>2</a:t>
            </a:r>
            <a:endParaRPr lang="en-US" dirty="0"/>
          </a:p>
        </p:txBody>
      </p:sp>
      <p:sp>
        <p:nvSpPr>
          <p:cNvPr id="15" name="Oval 14"/>
          <p:cNvSpPr/>
          <p:nvPr/>
        </p:nvSpPr>
        <p:spPr>
          <a:xfrm>
            <a:off x="3733800" y="3124200"/>
            <a:ext cx="838200" cy="8382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b="1" dirty="0"/>
              <a:t>X</a:t>
            </a:r>
            <a:r>
              <a:rPr lang="en-US" b="1" baseline="-25000" dirty="0"/>
              <a:t>3</a:t>
            </a:r>
            <a:endParaRPr lang="en-US" dirty="0"/>
          </a:p>
        </p:txBody>
      </p:sp>
      <p:sp>
        <p:nvSpPr>
          <p:cNvPr id="19" name="Oval 18"/>
          <p:cNvSpPr/>
          <p:nvPr/>
        </p:nvSpPr>
        <p:spPr>
          <a:xfrm>
            <a:off x="6096000" y="3124200"/>
            <a:ext cx="838200" cy="8382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b="1" dirty="0"/>
              <a:t>X</a:t>
            </a:r>
            <a:r>
              <a:rPr lang="en-US" b="1" baseline="-25000" dirty="0"/>
              <a:t>2</a:t>
            </a:r>
            <a:endParaRPr lang="en-US" dirty="0"/>
          </a:p>
        </p:txBody>
      </p:sp>
      <p:sp>
        <p:nvSpPr>
          <p:cNvPr id="18" name="Oval 17"/>
          <p:cNvSpPr/>
          <p:nvPr/>
        </p:nvSpPr>
        <p:spPr>
          <a:xfrm>
            <a:off x="6400800" y="3124200"/>
            <a:ext cx="838200" cy="8382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b="1" dirty="0"/>
              <a:t>X</a:t>
            </a:r>
            <a:r>
              <a:rPr lang="en-US" b="1" baseline="-25000" dirty="0"/>
              <a:t>3</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p:cNvSpPr>
            <a:spLocks noGrp="1"/>
          </p:cNvSpPr>
          <p:nvPr>
            <p:ph idx="1"/>
          </p:nvPr>
        </p:nvSpPr>
        <p:spPr>
          <a:xfrm>
            <a:off x="0" y="1143000"/>
            <a:ext cx="8991600" cy="5486400"/>
          </a:xfrm>
        </p:spPr>
        <p:txBody>
          <a:bodyPr/>
          <a:lstStyle/>
          <a:p>
            <a:pPr eaLnBrk="1" hangingPunct="1">
              <a:buClrTx/>
              <a:buFont typeface="Wingdings" pitchFamily="2" charset="2"/>
              <a:buChar char="Ø"/>
            </a:pPr>
            <a:r>
              <a:rPr lang="en-US" sz="2200" b="1" dirty="0" smtClean="0">
                <a:solidFill>
                  <a:schemeClr val="tx1"/>
                </a:solidFill>
              </a:rPr>
              <a:t>Multicollinearity is a question of degree and not of kind. </a:t>
            </a:r>
          </a:p>
          <a:p>
            <a:pPr eaLnBrk="1" hangingPunct="1">
              <a:buClrTx/>
              <a:buFont typeface="Wingdings" pitchFamily="2" charset="2"/>
              <a:buChar char="Ø"/>
            </a:pPr>
            <a:endParaRPr lang="en-US" sz="2200" b="1" dirty="0" smtClean="0">
              <a:solidFill>
                <a:schemeClr val="tx1"/>
              </a:solidFill>
            </a:endParaRPr>
          </a:p>
          <a:p>
            <a:pPr eaLnBrk="1" hangingPunct="1">
              <a:buClrTx/>
              <a:buFont typeface="Wingdings" pitchFamily="2" charset="2"/>
              <a:buChar char="Ø"/>
            </a:pPr>
            <a:r>
              <a:rPr lang="en-US" sz="2200" b="1" dirty="0" smtClean="0">
                <a:solidFill>
                  <a:schemeClr val="tx1"/>
                </a:solidFill>
              </a:rPr>
              <a:t>It does not rule out non-linear relationship among the explanatory variables.</a:t>
            </a:r>
          </a:p>
          <a:p>
            <a:pPr eaLnBrk="1" hangingPunct="1">
              <a:buClrTx/>
              <a:buFont typeface="Wingdings" pitchFamily="2" charset="2"/>
              <a:buChar char="Ø"/>
            </a:pPr>
            <a:endParaRPr lang="en-US" sz="2200" b="1" dirty="0" smtClean="0">
              <a:solidFill>
                <a:schemeClr val="tx1"/>
              </a:solidFill>
            </a:endParaRPr>
          </a:p>
          <a:p>
            <a:pPr eaLnBrk="1" hangingPunct="1">
              <a:buClrTx/>
              <a:buFont typeface="Wingdings" pitchFamily="2" charset="2"/>
              <a:buChar char="Ø"/>
            </a:pPr>
            <a:r>
              <a:rPr lang="en-US" sz="2200" b="1" dirty="0" smtClean="0">
                <a:solidFill>
                  <a:schemeClr val="tx1"/>
                </a:solidFill>
              </a:rPr>
              <a:t>Multicollinearity is the sample phenomenon i.e., even if ‘X’ variables are not linearly related in the population, they may be so correlated in the particular sample at hand.</a:t>
            </a:r>
          </a:p>
          <a:p>
            <a:pPr eaLnBrk="1" hangingPunct="1">
              <a:buClrTx/>
              <a:buFont typeface="Wingdings" pitchFamily="2" charset="2"/>
              <a:buChar char="Ø"/>
            </a:pPr>
            <a:endParaRPr lang="en-US" sz="2200" b="1" dirty="0" smtClean="0">
              <a:solidFill>
                <a:schemeClr val="tx1"/>
              </a:solidFill>
            </a:endParaRPr>
          </a:p>
          <a:p>
            <a:pPr eaLnBrk="1" hangingPunct="1">
              <a:buClrTx/>
              <a:buFont typeface="Wingdings" pitchFamily="2" charset="2"/>
              <a:buChar char="Ø"/>
            </a:pPr>
            <a:r>
              <a:rPr lang="en-US" sz="2200" b="1" dirty="0" smtClean="0">
                <a:solidFill>
                  <a:schemeClr val="tx1"/>
                </a:solidFill>
              </a:rPr>
              <a:t>Multicollinearity is good for forecasting.</a:t>
            </a:r>
          </a:p>
          <a:p>
            <a:pPr eaLnBrk="1" hangingPunct="1">
              <a:buClrTx/>
              <a:buFont typeface="Wingdings 2" pitchFamily="18" charset="2"/>
              <a:buNone/>
            </a:pPr>
            <a:endParaRPr lang="en-US"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a:spLocks noGrp="1"/>
          </p:cNvSpPr>
          <p:nvPr>
            <p:ph idx="1"/>
          </p:nvPr>
        </p:nvSpPr>
        <p:spPr>
          <a:xfrm>
            <a:off x="304800" y="1066800"/>
            <a:ext cx="8686800" cy="5638800"/>
          </a:xfrm>
        </p:spPr>
        <p:txBody>
          <a:bodyPr/>
          <a:lstStyle/>
          <a:p>
            <a:pPr eaLnBrk="1" hangingPunct="1">
              <a:lnSpc>
                <a:spcPct val="80000"/>
              </a:lnSpc>
              <a:buFont typeface="Wingdings 2" pitchFamily="18" charset="2"/>
              <a:buNone/>
            </a:pPr>
            <a:r>
              <a:rPr lang="en-US" sz="2400" b="1" u="sng" dirty="0" smtClean="0">
                <a:solidFill>
                  <a:schemeClr val="tx1"/>
                </a:solidFill>
                <a:latin typeface="+mj-lt"/>
              </a:rPr>
              <a:t>Example :</a:t>
            </a:r>
            <a:endParaRPr lang="en-US" sz="2400" b="1" dirty="0" smtClean="0">
              <a:solidFill>
                <a:schemeClr val="tx1"/>
              </a:solidFill>
              <a:latin typeface="+mj-lt"/>
            </a:endParaRPr>
          </a:p>
          <a:p>
            <a:pPr eaLnBrk="1" hangingPunct="1">
              <a:lnSpc>
                <a:spcPct val="80000"/>
              </a:lnSpc>
              <a:buFont typeface="Wingdings 2" pitchFamily="18" charset="2"/>
              <a:buNone/>
            </a:pPr>
            <a:r>
              <a:rPr lang="en-US" sz="2200" b="1" dirty="0" smtClean="0">
                <a:solidFill>
                  <a:schemeClr val="tx1"/>
                </a:solidFill>
              </a:rPr>
              <a:t> </a:t>
            </a:r>
          </a:p>
          <a:p>
            <a:pPr eaLnBrk="1" hangingPunct="1">
              <a:lnSpc>
                <a:spcPct val="80000"/>
              </a:lnSpc>
              <a:buFont typeface="Wingdings 2" pitchFamily="18" charset="2"/>
              <a:buNone/>
            </a:pPr>
            <a:r>
              <a:rPr lang="en-US" sz="2200" b="1" dirty="0" smtClean="0">
                <a:solidFill>
                  <a:schemeClr val="tx1"/>
                </a:solidFill>
              </a:rPr>
              <a:t>Consumption is the function of Income and Wealth.</a:t>
            </a:r>
          </a:p>
          <a:p>
            <a:pPr eaLnBrk="1" hangingPunct="1">
              <a:lnSpc>
                <a:spcPct val="80000"/>
              </a:lnSpc>
              <a:buFont typeface="Wingdings 2" pitchFamily="18" charset="2"/>
              <a:buNone/>
            </a:pPr>
            <a:r>
              <a:rPr lang="en-US" sz="2200" b="1" dirty="0" smtClean="0">
                <a:solidFill>
                  <a:schemeClr val="tx1"/>
                </a:solidFill>
              </a:rPr>
              <a:t>Therefore, </a:t>
            </a:r>
          </a:p>
          <a:p>
            <a:pPr eaLnBrk="1" hangingPunct="1">
              <a:lnSpc>
                <a:spcPct val="80000"/>
              </a:lnSpc>
              <a:buFont typeface="Wingdings 2" pitchFamily="18" charset="2"/>
              <a:buNone/>
            </a:pPr>
            <a:endParaRPr lang="en-US" sz="2200" b="1" dirty="0" smtClean="0">
              <a:solidFill>
                <a:schemeClr val="tx1"/>
              </a:solidFill>
            </a:endParaRPr>
          </a:p>
          <a:p>
            <a:pPr algn="ctr" eaLnBrk="1" hangingPunct="1">
              <a:lnSpc>
                <a:spcPct val="80000"/>
              </a:lnSpc>
              <a:buFont typeface="Wingdings 2" pitchFamily="18" charset="2"/>
              <a:buNone/>
            </a:pPr>
            <a:r>
              <a:rPr lang="en-US" sz="2200" b="1" dirty="0" smtClean="0">
                <a:solidFill>
                  <a:schemeClr val="tx1"/>
                </a:solidFill>
              </a:rPr>
              <a:t>C = β</a:t>
            </a:r>
            <a:r>
              <a:rPr lang="en-US" sz="2200" b="1" baseline="-25000" dirty="0" smtClean="0">
                <a:solidFill>
                  <a:schemeClr val="tx1"/>
                </a:solidFill>
              </a:rPr>
              <a:t>1</a:t>
            </a:r>
            <a:r>
              <a:rPr lang="en-US" sz="2200" b="1" dirty="0" smtClean="0">
                <a:solidFill>
                  <a:schemeClr val="tx1"/>
                </a:solidFill>
              </a:rPr>
              <a:t> + β</a:t>
            </a:r>
            <a:r>
              <a:rPr lang="en-US" sz="2200" b="1" baseline="-25000" dirty="0" smtClean="0">
                <a:solidFill>
                  <a:schemeClr val="tx1"/>
                </a:solidFill>
              </a:rPr>
              <a:t>2</a:t>
            </a:r>
            <a:r>
              <a:rPr lang="en-US" sz="2200" b="1" dirty="0" smtClean="0">
                <a:solidFill>
                  <a:schemeClr val="tx1"/>
                </a:solidFill>
              </a:rPr>
              <a:t>Income + β</a:t>
            </a:r>
            <a:r>
              <a:rPr lang="en-US" sz="2200" b="1" baseline="-25000" dirty="0" smtClean="0">
                <a:solidFill>
                  <a:schemeClr val="tx1"/>
                </a:solidFill>
              </a:rPr>
              <a:t>3</a:t>
            </a:r>
            <a:r>
              <a:rPr lang="en-US" sz="2200" b="1" dirty="0" smtClean="0">
                <a:solidFill>
                  <a:schemeClr val="tx1"/>
                </a:solidFill>
              </a:rPr>
              <a:t> wealth + v</a:t>
            </a:r>
            <a:r>
              <a:rPr lang="en-US" sz="2200" b="1" baseline="-25000" dirty="0" smtClean="0">
                <a:solidFill>
                  <a:schemeClr val="tx1"/>
                </a:solidFill>
              </a:rPr>
              <a:t>i</a:t>
            </a:r>
            <a:r>
              <a:rPr lang="en-US" sz="2200" b="1" dirty="0" smtClean="0">
                <a:solidFill>
                  <a:schemeClr val="tx1"/>
                </a:solidFill>
              </a:rPr>
              <a:t> </a:t>
            </a:r>
          </a:p>
          <a:p>
            <a:pPr algn="ctr" eaLnBrk="1" hangingPunct="1">
              <a:lnSpc>
                <a:spcPct val="80000"/>
              </a:lnSpc>
              <a:buFont typeface="Wingdings 2" pitchFamily="18" charset="2"/>
              <a:buNone/>
            </a:pPr>
            <a:endParaRPr lang="en-US" sz="2200" b="1" dirty="0" smtClean="0">
              <a:solidFill>
                <a:schemeClr val="tx1"/>
              </a:solidFill>
            </a:endParaRPr>
          </a:p>
          <a:p>
            <a:pPr eaLnBrk="1" hangingPunct="1">
              <a:lnSpc>
                <a:spcPct val="80000"/>
              </a:lnSpc>
              <a:buFont typeface="Wingdings 2" pitchFamily="18" charset="2"/>
              <a:buNone/>
            </a:pPr>
            <a:r>
              <a:rPr lang="en-US" sz="2200" b="1" dirty="0" smtClean="0">
                <a:solidFill>
                  <a:schemeClr val="tx1"/>
                </a:solidFill>
              </a:rPr>
              <a:t>It may happen that when we obtain data on income and wealth, </a:t>
            </a:r>
          </a:p>
          <a:p>
            <a:pPr eaLnBrk="1" hangingPunct="1">
              <a:lnSpc>
                <a:spcPct val="80000"/>
              </a:lnSpc>
              <a:buFont typeface="Wingdings 2" pitchFamily="18" charset="2"/>
              <a:buNone/>
            </a:pPr>
            <a:r>
              <a:rPr lang="en-US" sz="2200" b="1" dirty="0" smtClean="0">
                <a:solidFill>
                  <a:schemeClr val="tx1"/>
                </a:solidFill>
              </a:rPr>
              <a:t>the two variable may be highly or perfectly correlated. Because </a:t>
            </a:r>
          </a:p>
          <a:p>
            <a:pPr eaLnBrk="1" hangingPunct="1">
              <a:lnSpc>
                <a:spcPct val="80000"/>
              </a:lnSpc>
              <a:buFont typeface="Wingdings 2" pitchFamily="18" charset="2"/>
              <a:buNone/>
            </a:pPr>
            <a:r>
              <a:rPr lang="en-US" sz="2200" b="1" dirty="0" smtClean="0">
                <a:solidFill>
                  <a:schemeClr val="tx1"/>
                </a:solidFill>
              </a:rPr>
              <a:t>wealthier people generally tend to have higher income, so they are </a:t>
            </a:r>
          </a:p>
          <a:p>
            <a:pPr eaLnBrk="1" hangingPunct="1">
              <a:lnSpc>
                <a:spcPct val="80000"/>
              </a:lnSpc>
              <a:buFont typeface="Wingdings 2" pitchFamily="18" charset="2"/>
              <a:buNone/>
            </a:pPr>
            <a:r>
              <a:rPr lang="en-US" sz="2200" b="1" dirty="0" smtClean="0">
                <a:solidFill>
                  <a:schemeClr val="tx1"/>
                </a:solidFill>
              </a:rPr>
              <a:t>highly correlated. Therefore their separate influence on ‘Y’ cannot be </a:t>
            </a:r>
          </a:p>
          <a:p>
            <a:pPr eaLnBrk="1" hangingPunct="1">
              <a:lnSpc>
                <a:spcPct val="80000"/>
              </a:lnSpc>
              <a:buFont typeface="Wingdings 2" pitchFamily="18" charset="2"/>
              <a:buNone/>
            </a:pPr>
            <a:r>
              <a:rPr lang="en-US" sz="2200" b="1" dirty="0" smtClean="0">
                <a:solidFill>
                  <a:schemeClr val="tx1"/>
                </a:solidFill>
              </a:rPr>
              <a:t>determined. To know their separate influence there should be sufficient </a:t>
            </a:r>
          </a:p>
          <a:p>
            <a:pPr eaLnBrk="1" hangingPunct="1">
              <a:lnSpc>
                <a:spcPct val="80000"/>
              </a:lnSpc>
              <a:buFont typeface="Wingdings 2" pitchFamily="18" charset="2"/>
              <a:buNone/>
            </a:pPr>
            <a:r>
              <a:rPr lang="en-US" sz="2200" b="1" dirty="0" smtClean="0">
                <a:solidFill>
                  <a:schemeClr val="tx1"/>
                </a:solidFill>
              </a:rPr>
              <a:t>number of sample observation on people having high income &amp; low </a:t>
            </a:r>
          </a:p>
          <a:p>
            <a:pPr eaLnBrk="1" hangingPunct="1">
              <a:lnSpc>
                <a:spcPct val="80000"/>
              </a:lnSpc>
              <a:buFont typeface="Wingdings 2" pitchFamily="18" charset="2"/>
              <a:buNone/>
            </a:pPr>
            <a:r>
              <a:rPr lang="en-US" sz="2200" b="1" dirty="0" smtClean="0">
                <a:solidFill>
                  <a:schemeClr val="tx1"/>
                </a:solidFill>
              </a:rPr>
              <a:t>wealth and people having low income and high wealth.</a:t>
            </a:r>
          </a:p>
          <a:p>
            <a:pPr eaLnBrk="1" hangingPunct="1">
              <a:lnSpc>
                <a:spcPct val="80000"/>
              </a:lnSpc>
              <a:buFont typeface="Wingdings 2" pitchFamily="18" charset="2"/>
              <a:buNone/>
            </a:pPr>
            <a:endParaRPr lang="en-US" sz="2200"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686800" cy="685800"/>
          </a:xfrm>
        </p:spPr>
        <p:txBody>
          <a:bodyPr>
            <a:normAutofit fontScale="90000"/>
          </a:bodyPr>
          <a:lstStyle/>
          <a:p>
            <a:pPr eaLnBrk="1" fontAlgn="auto" hangingPunct="1">
              <a:spcAft>
                <a:spcPts val="0"/>
              </a:spcAft>
              <a:defRPr/>
            </a:pPr>
            <a:r>
              <a:rPr lang="en-US" sz="3000" b="1" dirty="0" smtClean="0">
                <a:solidFill>
                  <a:schemeClr val="tx1"/>
                </a:solidFill>
                <a:latin typeface="Times New Roman" pitchFamily="18" charset="0"/>
                <a:cs typeface="Times New Roman" pitchFamily="18" charset="0"/>
              </a:rPr>
              <a:t>Sources of Multicollinearity</a:t>
            </a:r>
            <a:br>
              <a:rPr lang="en-US" sz="3000" b="1" dirty="0" smtClean="0">
                <a:solidFill>
                  <a:schemeClr val="tx1"/>
                </a:solidFill>
                <a:latin typeface="Times New Roman" pitchFamily="18" charset="0"/>
                <a:cs typeface="Times New Roman" pitchFamily="18" charset="0"/>
              </a:rPr>
            </a:br>
            <a:r>
              <a:rPr lang="en-US" b="1" dirty="0" smtClean="0"/>
              <a:t> </a:t>
            </a:r>
            <a:endParaRPr lang="en-US" dirty="0"/>
          </a:p>
        </p:txBody>
      </p:sp>
      <p:sp>
        <p:nvSpPr>
          <p:cNvPr id="3" name="Content Placeholder 2"/>
          <p:cNvSpPr>
            <a:spLocks noGrp="1"/>
          </p:cNvSpPr>
          <p:nvPr>
            <p:ph idx="1"/>
          </p:nvPr>
        </p:nvSpPr>
        <p:spPr>
          <a:xfrm>
            <a:off x="152400" y="1219200"/>
            <a:ext cx="8839200" cy="5486399"/>
          </a:xfrm>
          <a:ln>
            <a:solidFill>
              <a:schemeClr val="bg2"/>
            </a:solidFill>
          </a:ln>
        </p:spPr>
        <p:txBody>
          <a:bodyPr>
            <a:normAutofit/>
          </a:bodyPr>
          <a:lstStyle/>
          <a:p>
            <a:pPr marL="514350" indent="-514350" eaLnBrk="1" fontAlgn="auto" hangingPunct="1">
              <a:spcAft>
                <a:spcPts val="0"/>
              </a:spcAft>
              <a:buClrTx/>
              <a:buFont typeface="Wingdings" pitchFamily="2" charset="2"/>
              <a:buChar char="Ø"/>
              <a:defRPr/>
            </a:pPr>
            <a:r>
              <a:rPr lang="en-US" sz="2400" b="1" u="sng" dirty="0" smtClean="0">
                <a:solidFill>
                  <a:schemeClr val="tx1"/>
                </a:solidFill>
                <a:latin typeface="+mj-lt"/>
              </a:rPr>
              <a:t>Data collection method employed</a:t>
            </a:r>
          </a:p>
          <a:p>
            <a:pPr marL="514350" indent="-514350" eaLnBrk="1" fontAlgn="auto" hangingPunct="1">
              <a:spcAft>
                <a:spcPts val="0"/>
              </a:spcAft>
              <a:buClrTx/>
              <a:buNone/>
              <a:defRPr/>
            </a:pPr>
            <a:r>
              <a:rPr lang="en-US" sz="2200" b="1" dirty="0" smtClean="0">
                <a:solidFill>
                  <a:schemeClr val="tx1"/>
                </a:solidFill>
                <a:latin typeface="+mj-lt"/>
              </a:rPr>
              <a:t>        </a:t>
            </a:r>
            <a:r>
              <a:rPr lang="en-US" sz="2200" b="1" dirty="0" smtClean="0">
                <a:solidFill>
                  <a:schemeClr val="tx1"/>
                </a:solidFill>
              </a:rPr>
              <a:t>For example, sampling over a limited range of values, taken by the regressors in the population. </a:t>
            </a:r>
          </a:p>
          <a:p>
            <a:pPr marL="514350" indent="-514350" eaLnBrk="1" fontAlgn="auto" hangingPunct="1">
              <a:spcAft>
                <a:spcPts val="0"/>
              </a:spcAft>
              <a:buClrTx/>
              <a:buNone/>
              <a:defRPr/>
            </a:pPr>
            <a:endParaRPr lang="en-US" sz="2200" b="1" dirty="0" smtClean="0">
              <a:solidFill>
                <a:schemeClr val="tx1"/>
              </a:solidFill>
              <a:latin typeface="+mj-lt"/>
            </a:endParaRPr>
          </a:p>
          <a:p>
            <a:pPr marL="514350" indent="-514350" eaLnBrk="1" fontAlgn="auto" hangingPunct="1">
              <a:spcAft>
                <a:spcPts val="0"/>
              </a:spcAft>
              <a:buClrTx/>
              <a:buFont typeface="Wingdings" pitchFamily="2" charset="2"/>
              <a:buChar char="Ø"/>
              <a:defRPr/>
            </a:pPr>
            <a:r>
              <a:rPr lang="en-US" sz="2400" b="1" u="sng" dirty="0" smtClean="0">
                <a:solidFill>
                  <a:schemeClr val="tx1"/>
                </a:solidFill>
                <a:latin typeface="+mj-lt"/>
              </a:rPr>
              <a:t>Constraints in the model or in the population being sampled</a:t>
            </a:r>
          </a:p>
          <a:p>
            <a:pPr marL="514350" indent="-514350" eaLnBrk="1" fontAlgn="auto" hangingPunct="1">
              <a:spcAft>
                <a:spcPts val="0"/>
              </a:spcAft>
              <a:buClrTx/>
              <a:buNone/>
              <a:defRPr/>
            </a:pPr>
            <a:r>
              <a:rPr lang="en-US" sz="2200" b="1" dirty="0" smtClean="0">
                <a:solidFill>
                  <a:schemeClr val="tx1"/>
                </a:solidFill>
                <a:latin typeface="+mj-lt"/>
              </a:rPr>
              <a:t>        </a:t>
            </a:r>
            <a:r>
              <a:rPr lang="en-US" sz="2200" b="1" dirty="0" smtClean="0">
                <a:solidFill>
                  <a:schemeClr val="tx1"/>
                </a:solidFill>
              </a:rPr>
              <a:t>For example, in the regression of the electricity consumption on income (</a:t>
            </a:r>
            <a:r>
              <a:rPr lang="en-US" sz="2200" b="1" i="1" dirty="0" smtClean="0">
                <a:solidFill>
                  <a:schemeClr val="tx1"/>
                </a:solidFill>
              </a:rPr>
              <a:t>X</a:t>
            </a:r>
            <a:r>
              <a:rPr lang="en-US" sz="2200" b="1" i="1" baseline="-25000" dirty="0" smtClean="0">
                <a:solidFill>
                  <a:schemeClr val="tx1"/>
                </a:solidFill>
              </a:rPr>
              <a:t>2</a:t>
            </a:r>
            <a:r>
              <a:rPr lang="en-US" sz="2200" b="1" i="1" dirty="0" smtClean="0">
                <a:solidFill>
                  <a:schemeClr val="tx1"/>
                </a:solidFill>
              </a:rPr>
              <a:t> </a:t>
            </a:r>
            <a:r>
              <a:rPr lang="en-US" sz="2200" b="1" dirty="0" smtClean="0">
                <a:solidFill>
                  <a:schemeClr val="tx1"/>
                </a:solidFill>
              </a:rPr>
              <a:t>) and house size (</a:t>
            </a:r>
            <a:r>
              <a:rPr lang="en-US" sz="2200" b="1" i="1" dirty="0" smtClean="0">
                <a:solidFill>
                  <a:schemeClr val="tx1"/>
                </a:solidFill>
              </a:rPr>
              <a:t>X</a:t>
            </a:r>
            <a:r>
              <a:rPr lang="en-US" sz="2200" b="1" i="1" baseline="-25000" dirty="0" smtClean="0">
                <a:solidFill>
                  <a:schemeClr val="tx1"/>
                </a:solidFill>
              </a:rPr>
              <a:t>3</a:t>
            </a:r>
            <a:r>
              <a:rPr lang="en-US" sz="2200" b="1" i="1" dirty="0" smtClean="0">
                <a:solidFill>
                  <a:schemeClr val="tx1"/>
                </a:solidFill>
              </a:rPr>
              <a:t> </a:t>
            </a:r>
            <a:r>
              <a:rPr lang="en-US" sz="2200" b="1" dirty="0" smtClean="0">
                <a:solidFill>
                  <a:schemeClr val="tx1"/>
                </a:solidFill>
              </a:rPr>
              <a:t>) there is physical constraints in the population, in that families with higher income generally have larger homes than families with lower incomes. </a:t>
            </a:r>
          </a:p>
          <a:p>
            <a:pPr marL="514350" indent="-514350" eaLnBrk="1" fontAlgn="auto" hangingPunct="1">
              <a:spcAft>
                <a:spcPts val="0"/>
              </a:spcAft>
              <a:buClrTx/>
              <a:buNone/>
              <a:defRPr/>
            </a:pPr>
            <a:endParaRPr lang="en-US" sz="2200" b="1" dirty="0" smtClean="0">
              <a:solidFill>
                <a:schemeClr val="tx1"/>
              </a:solidFill>
              <a:latin typeface="+mj-lt"/>
            </a:endParaRPr>
          </a:p>
          <a:p>
            <a:pPr marL="514350" indent="-514350" eaLnBrk="1" fontAlgn="auto" hangingPunct="1">
              <a:spcAft>
                <a:spcPts val="0"/>
              </a:spcAft>
              <a:buClrTx/>
              <a:buFont typeface="Wingdings" pitchFamily="2" charset="2"/>
              <a:buChar char="Ø"/>
              <a:defRPr/>
            </a:pPr>
            <a:r>
              <a:rPr lang="en-US" sz="2400" b="1" u="sng" dirty="0" smtClean="0">
                <a:solidFill>
                  <a:schemeClr val="tx1"/>
                </a:solidFill>
                <a:latin typeface="+mj-lt"/>
              </a:rPr>
              <a:t>Model Specification</a:t>
            </a:r>
          </a:p>
          <a:p>
            <a:pPr marL="514350" indent="-514350" eaLnBrk="1" fontAlgn="auto" hangingPunct="1">
              <a:spcAft>
                <a:spcPts val="0"/>
              </a:spcAft>
              <a:buClrTx/>
              <a:buNone/>
              <a:defRPr/>
            </a:pPr>
            <a:r>
              <a:rPr lang="en-US" sz="2200" b="1" dirty="0" smtClean="0">
                <a:solidFill>
                  <a:schemeClr val="tx1"/>
                </a:solidFill>
                <a:latin typeface="+mj-lt"/>
              </a:rPr>
              <a:t>        </a:t>
            </a:r>
            <a:r>
              <a:rPr lang="en-US" sz="2200" b="1" dirty="0" smtClean="0">
                <a:solidFill>
                  <a:schemeClr val="tx1"/>
                </a:solidFill>
              </a:rPr>
              <a:t>For example, adding polynomial terms to a regression model, especially when the range of </a:t>
            </a:r>
            <a:r>
              <a:rPr lang="en-US" sz="2200" b="1" i="1" dirty="0" smtClean="0">
                <a:solidFill>
                  <a:schemeClr val="tx1"/>
                </a:solidFill>
              </a:rPr>
              <a:t>X</a:t>
            </a:r>
            <a:r>
              <a:rPr lang="en-US" sz="2200" b="1" dirty="0" smtClean="0">
                <a:solidFill>
                  <a:schemeClr val="tx1"/>
                </a:solidFill>
              </a:rPr>
              <a:t> variable is small.</a:t>
            </a:r>
            <a:endParaRPr lang="en-US" sz="2200" b="1" dirty="0" smtClean="0">
              <a:solidFill>
                <a:schemeClr val="tx1"/>
              </a:solidFill>
              <a:latin typeface="+mj-lt"/>
            </a:endParaRPr>
          </a:p>
          <a:p>
            <a:pPr marL="514350" indent="-514350" eaLnBrk="1" fontAlgn="auto" hangingPunct="1">
              <a:spcAft>
                <a:spcPts val="0"/>
              </a:spcAft>
              <a:buClrTx/>
              <a:buNone/>
              <a:defRPr/>
            </a:pPr>
            <a:endParaRPr lang="en-US" sz="2200" b="1" dirty="0" smtClean="0">
              <a:solidFill>
                <a:schemeClr val="tx1"/>
              </a:solidFill>
            </a:endParaRPr>
          </a:p>
          <a:p>
            <a:pPr eaLnBrk="1" fontAlgn="auto" hangingPunct="1">
              <a:spcAft>
                <a:spcPts val="0"/>
              </a:spcAft>
              <a:buFont typeface="Wingdings 2"/>
              <a:buNone/>
              <a:defRPr/>
            </a:pPr>
            <a:endParaRPr lang="en-US" dirty="0">
              <a:solidFill>
                <a:schemeClr val="tx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143000"/>
            <a:ext cx="8991600" cy="5562600"/>
          </a:xfrm>
        </p:spPr>
        <p:txBody>
          <a:bodyPr/>
          <a:lstStyle/>
          <a:p>
            <a:pPr>
              <a:buClrTx/>
              <a:buFont typeface="Wingdings" pitchFamily="2" charset="2"/>
              <a:buChar char="Ø"/>
            </a:pPr>
            <a:r>
              <a:rPr lang="en-US" sz="2400" b="1" u="sng" dirty="0" smtClean="0">
                <a:solidFill>
                  <a:schemeClr val="tx1"/>
                </a:solidFill>
                <a:latin typeface="+mj-lt"/>
              </a:rPr>
              <a:t>An over-fitted model</a:t>
            </a:r>
          </a:p>
          <a:p>
            <a:pPr>
              <a:buClrTx/>
              <a:buNone/>
            </a:pPr>
            <a:r>
              <a:rPr lang="en-US" sz="2200" b="1" dirty="0" smtClean="0">
                <a:solidFill>
                  <a:schemeClr val="tx1"/>
                </a:solidFill>
                <a:latin typeface="+mj-lt"/>
              </a:rPr>
              <a:t>     </a:t>
            </a:r>
            <a:r>
              <a:rPr lang="en-US" sz="2200" b="1" dirty="0" smtClean="0">
                <a:solidFill>
                  <a:schemeClr val="tx1"/>
                </a:solidFill>
              </a:rPr>
              <a:t>This happen when the model has more explanatory variables than the number of observations. This could happen in medical research where there is small number of patients about whom information is collected on a large number of variables.</a:t>
            </a:r>
          </a:p>
          <a:p>
            <a:pPr>
              <a:buClrTx/>
              <a:buNone/>
            </a:pPr>
            <a:endParaRPr lang="en-US" sz="2200" b="1" dirty="0" smtClean="0">
              <a:solidFill>
                <a:schemeClr val="tx1"/>
              </a:solidFill>
            </a:endParaRPr>
          </a:p>
          <a:p>
            <a:pPr>
              <a:buClrTx/>
              <a:buNone/>
            </a:pPr>
            <a:r>
              <a:rPr lang="en-US" sz="2200" b="1" dirty="0" smtClean="0">
                <a:solidFill>
                  <a:schemeClr val="tx1"/>
                </a:solidFill>
              </a:rPr>
              <a:t>An additional reason for multicollinearity especially in time series data, </a:t>
            </a:r>
          </a:p>
          <a:p>
            <a:pPr>
              <a:buClrTx/>
              <a:buNone/>
            </a:pPr>
            <a:r>
              <a:rPr lang="en-US" sz="2200" b="1" dirty="0" smtClean="0">
                <a:solidFill>
                  <a:schemeClr val="tx1"/>
                </a:solidFill>
              </a:rPr>
              <a:t>may be the regressors included in the model share a common trend, </a:t>
            </a:r>
          </a:p>
          <a:p>
            <a:pPr>
              <a:buClrTx/>
              <a:buNone/>
            </a:pPr>
            <a:r>
              <a:rPr lang="en-US" sz="2200" b="1" dirty="0" smtClean="0">
                <a:solidFill>
                  <a:schemeClr val="tx1"/>
                </a:solidFill>
              </a:rPr>
              <a:t>that is, they all increase or decrease over time. Thus, in the regression </a:t>
            </a:r>
          </a:p>
          <a:p>
            <a:pPr>
              <a:buClrTx/>
              <a:buNone/>
            </a:pPr>
            <a:r>
              <a:rPr lang="en-US" sz="2200" b="1" dirty="0" smtClean="0">
                <a:solidFill>
                  <a:schemeClr val="tx1"/>
                </a:solidFill>
              </a:rPr>
              <a:t>of consumption expenditure on income, wealth, and population, the </a:t>
            </a:r>
          </a:p>
          <a:p>
            <a:pPr>
              <a:buClrTx/>
              <a:buNone/>
            </a:pPr>
            <a:r>
              <a:rPr lang="en-US" sz="2200" b="1" dirty="0" smtClean="0">
                <a:solidFill>
                  <a:schemeClr val="tx1"/>
                </a:solidFill>
              </a:rPr>
              <a:t>regressors income, wealth and population may all be growing over time </a:t>
            </a:r>
          </a:p>
          <a:p>
            <a:pPr>
              <a:buClrTx/>
              <a:buNone/>
            </a:pPr>
            <a:r>
              <a:rPr lang="en-US" sz="2200" b="1" dirty="0" smtClean="0">
                <a:solidFill>
                  <a:schemeClr val="tx1"/>
                </a:solidFill>
              </a:rPr>
              <a:t>at more or less the same rate, leading to collinearity among these </a:t>
            </a:r>
          </a:p>
          <a:p>
            <a:pPr>
              <a:buClrTx/>
              <a:buNone/>
            </a:pPr>
            <a:r>
              <a:rPr lang="en-US" sz="2200" b="1" dirty="0" smtClean="0">
                <a:solidFill>
                  <a:schemeClr val="tx1"/>
                </a:solidFill>
              </a:rPr>
              <a:t>variables. </a:t>
            </a:r>
            <a:endParaRPr lang="en-US" sz="2200" b="1" dirty="0" smtClean="0">
              <a:solidFill>
                <a:schemeClr val="tx1"/>
              </a:solidFill>
              <a:latin typeface="+mj-lt"/>
            </a:endParaRPr>
          </a:p>
          <a:p>
            <a:pPr>
              <a:buNone/>
            </a:pPr>
            <a:endParaRPr lang="en-US" sz="2200" b="1"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xfrm>
            <a:off x="152400" y="1371600"/>
            <a:ext cx="8763000" cy="5410200"/>
          </a:xfrm>
        </p:spPr>
        <p:txBody>
          <a:bodyPr/>
          <a:lstStyle/>
          <a:p>
            <a:pPr eaLnBrk="1" hangingPunct="1">
              <a:buFont typeface="Wingdings 2" pitchFamily="18" charset="2"/>
              <a:buNone/>
            </a:pPr>
            <a:r>
              <a:rPr lang="en-US" sz="2200" b="1" dirty="0" smtClean="0">
                <a:solidFill>
                  <a:schemeClr val="tx1"/>
                </a:solidFill>
              </a:rPr>
              <a:t>The only effect of multicollinearity is to make it hard to get coefficients </a:t>
            </a:r>
          </a:p>
          <a:p>
            <a:pPr eaLnBrk="1" hangingPunct="1">
              <a:buFont typeface="Wingdings 2" pitchFamily="18" charset="2"/>
              <a:buNone/>
            </a:pPr>
            <a:r>
              <a:rPr lang="en-US" sz="2200" b="1" dirty="0" smtClean="0">
                <a:solidFill>
                  <a:schemeClr val="tx1"/>
                </a:solidFill>
              </a:rPr>
              <a:t>estimates with small standard error. But having a small number of </a:t>
            </a:r>
          </a:p>
          <a:p>
            <a:pPr eaLnBrk="1" hangingPunct="1">
              <a:buFont typeface="Wingdings 2" pitchFamily="18" charset="2"/>
              <a:buNone/>
            </a:pPr>
            <a:r>
              <a:rPr lang="en-US" sz="2200" b="1" dirty="0" smtClean="0">
                <a:solidFill>
                  <a:schemeClr val="tx1"/>
                </a:solidFill>
              </a:rPr>
              <a:t>observation also has that effect, as does having independent variable </a:t>
            </a:r>
          </a:p>
          <a:p>
            <a:pPr eaLnBrk="1" hangingPunct="1">
              <a:buFont typeface="Wingdings 2" pitchFamily="18" charset="2"/>
              <a:buNone/>
            </a:pPr>
            <a:r>
              <a:rPr lang="en-US" sz="2200" b="1" dirty="0" smtClean="0">
                <a:solidFill>
                  <a:schemeClr val="tx1"/>
                </a:solidFill>
              </a:rPr>
              <a:t>with small variances. In fact at a theoretical level, multicollinearity, few </a:t>
            </a:r>
          </a:p>
          <a:p>
            <a:pPr eaLnBrk="1" hangingPunct="1">
              <a:buFont typeface="Wingdings 2" pitchFamily="18" charset="2"/>
              <a:buNone/>
            </a:pPr>
            <a:r>
              <a:rPr lang="en-US" sz="2200" b="1" dirty="0" smtClean="0">
                <a:solidFill>
                  <a:schemeClr val="tx1"/>
                </a:solidFill>
              </a:rPr>
              <a:t>observations and small variances on the independent variables are </a:t>
            </a:r>
          </a:p>
          <a:p>
            <a:pPr eaLnBrk="1" hangingPunct="1">
              <a:buFont typeface="Wingdings 2" pitchFamily="18" charset="2"/>
              <a:buNone/>
            </a:pPr>
            <a:r>
              <a:rPr lang="en-US" sz="2200" b="1" dirty="0" smtClean="0">
                <a:solidFill>
                  <a:schemeClr val="tx1"/>
                </a:solidFill>
              </a:rPr>
              <a:t>essentially all the same problem. Thus, “What should I do about </a:t>
            </a:r>
          </a:p>
          <a:p>
            <a:pPr eaLnBrk="1" hangingPunct="1">
              <a:buFont typeface="Wingdings 2" pitchFamily="18" charset="2"/>
              <a:buNone/>
            </a:pPr>
            <a:r>
              <a:rPr lang="en-US" sz="2200" b="1" dirty="0" smtClean="0">
                <a:solidFill>
                  <a:schemeClr val="tx1"/>
                </a:solidFill>
              </a:rPr>
              <a:t>multicollinearity?” is a question like “What should I do if I don’t have </a:t>
            </a:r>
          </a:p>
          <a:p>
            <a:pPr eaLnBrk="1" hangingPunct="1">
              <a:buFont typeface="Wingdings 2" pitchFamily="18" charset="2"/>
              <a:buNone/>
            </a:pPr>
            <a:r>
              <a:rPr lang="en-US" sz="2200" b="1" dirty="0" smtClean="0">
                <a:solidFill>
                  <a:schemeClr val="tx1"/>
                </a:solidFill>
              </a:rPr>
              <a:t>many observation many observations?”  </a:t>
            </a: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r>
              <a:rPr lang="en-US" sz="2200" b="1" dirty="0" smtClean="0">
                <a:solidFill>
                  <a:schemeClr val="tx1"/>
                </a:solidFill>
              </a:rPr>
              <a:t>Following are the consequences of multicollinearity: </a:t>
            </a:r>
          </a:p>
        </p:txBody>
      </p:sp>
      <p:sp>
        <p:nvSpPr>
          <p:cNvPr id="4" name="Title 1"/>
          <p:cNvSpPr>
            <a:spLocks noGrp="1"/>
          </p:cNvSpPr>
          <p:nvPr>
            <p:ph type="title"/>
          </p:nvPr>
        </p:nvSpPr>
        <p:spPr/>
        <p:txBody>
          <a:bodyPr>
            <a:noAutofit/>
          </a:bodyPr>
          <a:lstStyle/>
          <a:p>
            <a:pPr eaLnBrk="1" fontAlgn="auto" hangingPunct="1">
              <a:spcAft>
                <a:spcPts val="0"/>
              </a:spcAft>
              <a:defRPr/>
            </a:pPr>
            <a:r>
              <a:rPr lang="en-US" sz="2700" b="1" dirty="0" smtClean="0">
                <a:solidFill>
                  <a:schemeClr val="tx1"/>
                </a:solidFill>
                <a:latin typeface="Times New Roman" pitchFamily="18" charset="0"/>
                <a:cs typeface="Times New Roman" pitchFamily="18" charset="0"/>
              </a:rPr>
              <a:t>Consequences of multicollinearity</a:t>
            </a:r>
            <a:br>
              <a:rPr lang="en-US" sz="2700" b="1" dirty="0" smtClean="0">
                <a:solidFill>
                  <a:schemeClr val="tx1"/>
                </a:solidFill>
                <a:latin typeface="Times New Roman" pitchFamily="18" charset="0"/>
                <a:cs typeface="Times New Roman" pitchFamily="18" charset="0"/>
              </a:rPr>
            </a:br>
            <a:endParaRPr lang="en-US" sz="2700"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838200"/>
          </a:xfrm>
        </p:spPr>
        <p:txBody>
          <a:bodyPr>
            <a:noAutofit/>
          </a:bodyPr>
          <a:lstStyle/>
          <a:p>
            <a:pPr eaLnBrk="1" fontAlgn="auto" hangingPunct="1">
              <a:spcAft>
                <a:spcPts val="0"/>
              </a:spcAft>
              <a:defRPr/>
            </a:pPr>
            <a:r>
              <a:rPr lang="en-US" sz="2700" b="1" u="sng" dirty="0" smtClean="0">
                <a:solidFill>
                  <a:schemeClr val="tx1"/>
                </a:solidFill>
                <a:latin typeface="Times New Roman" pitchFamily="18" charset="0"/>
                <a:cs typeface="Times New Roman" pitchFamily="18" charset="0"/>
              </a:rPr>
              <a:t>Consequences </a:t>
            </a:r>
            <a:r>
              <a:rPr lang="en-US" sz="2700" b="1" dirty="0" smtClean="0">
                <a:solidFill>
                  <a:schemeClr val="tx1"/>
                </a:solidFill>
                <a:latin typeface="Times New Roman" pitchFamily="18" charset="0"/>
                <a:cs typeface="Times New Roman" pitchFamily="18" charset="0"/>
              </a:rPr>
              <a:t>:</a:t>
            </a:r>
            <a:br>
              <a:rPr lang="en-US" sz="2700" b="1" dirty="0" smtClean="0">
                <a:solidFill>
                  <a:schemeClr val="tx1"/>
                </a:solidFill>
                <a:latin typeface="Times New Roman" pitchFamily="18" charset="0"/>
                <a:cs typeface="Times New Roman" pitchFamily="18" charset="0"/>
              </a:rPr>
            </a:br>
            <a:endParaRPr lang="en-US" sz="2700" b="1" dirty="0">
              <a:solidFill>
                <a:schemeClr val="tx1"/>
              </a:solidFill>
              <a:latin typeface="Times New Roman" pitchFamily="18" charset="0"/>
              <a:cs typeface="Times New Roman" pitchFamily="18" charset="0"/>
            </a:endParaRPr>
          </a:p>
        </p:txBody>
      </p:sp>
      <p:sp>
        <p:nvSpPr>
          <p:cNvPr id="10" name="Flowchart: Process 9"/>
          <p:cNvSpPr/>
          <p:nvPr/>
        </p:nvSpPr>
        <p:spPr>
          <a:xfrm>
            <a:off x="304800" y="1143000"/>
            <a:ext cx="3352800" cy="5562600"/>
          </a:xfrm>
          <a:prstGeom prst="flowChartProcess">
            <a:avLst/>
          </a:prstGeom>
          <a:solidFill>
            <a:schemeClr val="accent1">
              <a:lumMod val="60000"/>
              <a:lumOff val="40000"/>
            </a:schemeClr>
          </a:solidFill>
          <a:ln w="57150">
            <a:solidFill>
              <a:srgbClr val="663300"/>
            </a:solid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sz="2200" b="1" u="sng" dirty="0">
              <a:solidFill>
                <a:schemeClr val="tx1"/>
              </a:solidFill>
              <a:latin typeface="Times New Roman" pitchFamily="18" charset="0"/>
              <a:cs typeface="Times New Roman" pitchFamily="18" charset="0"/>
            </a:endParaRPr>
          </a:p>
          <a:p>
            <a:pPr algn="ctr" fontAlgn="auto">
              <a:spcBef>
                <a:spcPts val="0"/>
              </a:spcBef>
              <a:spcAft>
                <a:spcPts val="0"/>
              </a:spcAft>
              <a:defRPr/>
            </a:pPr>
            <a:endParaRPr lang="en-US" sz="2200" b="1" u="sng" dirty="0">
              <a:solidFill>
                <a:schemeClr val="tx1"/>
              </a:solidFill>
              <a:latin typeface="Times New Roman" pitchFamily="18" charset="0"/>
              <a:cs typeface="Times New Roman" pitchFamily="18" charset="0"/>
            </a:endParaRPr>
          </a:p>
          <a:p>
            <a:pPr algn="ctr" fontAlgn="auto">
              <a:spcBef>
                <a:spcPts val="0"/>
              </a:spcBef>
              <a:spcAft>
                <a:spcPts val="0"/>
              </a:spcAft>
              <a:defRPr/>
            </a:pPr>
            <a:endParaRPr lang="en-US" sz="2200" b="1" u="sng" dirty="0">
              <a:solidFill>
                <a:schemeClr val="tx1"/>
              </a:solidFill>
              <a:latin typeface="Times New Roman" pitchFamily="18" charset="0"/>
              <a:cs typeface="Times New Roman" pitchFamily="18" charset="0"/>
            </a:endParaRPr>
          </a:p>
          <a:p>
            <a:pPr algn="ctr" fontAlgn="auto">
              <a:spcBef>
                <a:spcPts val="0"/>
              </a:spcBef>
              <a:spcAft>
                <a:spcPts val="0"/>
              </a:spcAft>
              <a:defRPr/>
            </a:pPr>
            <a:endParaRPr lang="en-US" sz="2200" b="1" u="sng" dirty="0">
              <a:solidFill>
                <a:schemeClr val="tx1"/>
              </a:solidFill>
              <a:latin typeface="Times New Roman" pitchFamily="18" charset="0"/>
              <a:cs typeface="Times New Roman" pitchFamily="18" charset="0"/>
            </a:endParaRPr>
          </a:p>
          <a:p>
            <a:pPr algn="ctr" fontAlgn="auto">
              <a:spcBef>
                <a:spcPts val="0"/>
              </a:spcBef>
              <a:spcAft>
                <a:spcPts val="0"/>
              </a:spcAft>
              <a:defRPr/>
            </a:pPr>
            <a:endParaRPr lang="en-US" sz="2200" b="1" u="sng" dirty="0">
              <a:solidFill>
                <a:schemeClr val="tx1"/>
              </a:solidFill>
              <a:latin typeface="Times New Roman" pitchFamily="18" charset="0"/>
              <a:cs typeface="Times New Roman" pitchFamily="18" charset="0"/>
            </a:endParaRPr>
          </a:p>
          <a:p>
            <a:pPr algn="ctr" fontAlgn="auto">
              <a:spcBef>
                <a:spcPts val="0"/>
              </a:spcBef>
              <a:spcAft>
                <a:spcPts val="0"/>
              </a:spcAft>
              <a:defRPr/>
            </a:pPr>
            <a:r>
              <a:rPr lang="en-US" sz="2400" b="1" u="sng" dirty="0">
                <a:solidFill>
                  <a:schemeClr val="tx1"/>
                </a:solidFill>
                <a:latin typeface="Times New Roman" pitchFamily="18" charset="0"/>
                <a:cs typeface="Times New Roman" pitchFamily="18" charset="0"/>
              </a:rPr>
              <a:t>THEORITICAL CONSEQUENCES</a:t>
            </a:r>
          </a:p>
          <a:p>
            <a:pPr fontAlgn="auto">
              <a:spcBef>
                <a:spcPts val="0"/>
              </a:spcBef>
              <a:spcAft>
                <a:spcPts val="0"/>
              </a:spcAft>
              <a:defRPr/>
            </a:pPr>
            <a:endParaRPr lang="en-US" dirty="0">
              <a:solidFill>
                <a:schemeClr val="tx1"/>
              </a:solidFill>
            </a:endParaRPr>
          </a:p>
          <a:p>
            <a:pPr fontAlgn="auto">
              <a:spcBef>
                <a:spcPts val="0"/>
              </a:spcBef>
              <a:spcAft>
                <a:spcPts val="0"/>
              </a:spcAft>
              <a:defRPr/>
            </a:pPr>
            <a:endParaRPr lang="en-US" dirty="0">
              <a:solidFill>
                <a:schemeClr val="tx1"/>
              </a:solidFill>
            </a:endParaRPr>
          </a:p>
          <a:p>
            <a:pPr fontAlgn="auto">
              <a:spcBef>
                <a:spcPts val="0"/>
              </a:spcBef>
              <a:spcAft>
                <a:spcPts val="0"/>
              </a:spcAft>
              <a:buClr>
                <a:srgbClr val="663300"/>
              </a:buClr>
              <a:buFont typeface="Arial" pitchFamily="34" charset="0"/>
              <a:buChar char="•"/>
              <a:defRPr/>
            </a:pPr>
            <a:r>
              <a:rPr lang="en-US" dirty="0">
                <a:solidFill>
                  <a:schemeClr val="tx1"/>
                </a:solidFill>
              </a:rPr>
              <a:t> </a:t>
            </a:r>
            <a:r>
              <a:rPr lang="en-US" sz="2200" b="1" dirty="0">
                <a:solidFill>
                  <a:schemeClr val="tx1"/>
                </a:solidFill>
              </a:rPr>
              <a:t>BLUE OLS Estimators</a:t>
            </a:r>
          </a:p>
          <a:p>
            <a:pPr fontAlgn="auto">
              <a:spcBef>
                <a:spcPts val="0"/>
              </a:spcBef>
              <a:spcAft>
                <a:spcPts val="0"/>
              </a:spcAft>
              <a:buClr>
                <a:srgbClr val="663300"/>
              </a:buClr>
              <a:defRPr/>
            </a:pPr>
            <a:endParaRPr lang="en-US" sz="2200" b="1" dirty="0">
              <a:solidFill>
                <a:schemeClr val="tx1"/>
              </a:solidFill>
            </a:endParaRPr>
          </a:p>
          <a:p>
            <a:pPr fontAlgn="auto">
              <a:spcBef>
                <a:spcPts val="0"/>
              </a:spcBef>
              <a:spcAft>
                <a:spcPts val="0"/>
              </a:spcAft>
              <a:buClr>
                <a:srgbClr val="663300"/>
              </a:buClr>
              <a:buFont typeface="Arial" pitchFamily="34" charset="0"/>
              <a:buChar char="•"/>
              <a:defRPr/>
            </a:pPr>
            <a:endParaRPr lang="en-US" sz="2200" b="1" dirty="0">
              <a:solidFill>
                <a:schemeClr val="tx1"/>
              </a:solidFill>
            </a:endParaRPr>
          </a:p>
          <a:p>
            <a:pPr fontAlgn="auto">
              <a:spcBef>
                <a:spcPts val="0"/>
              </a:spcBef>
              <a:spcAft>
                <a:spcPts val="0"/>
              </a:spcAft>
              <a:buClr>
                <a:srgbClr val="663300"/>
              </a:buClr>
              <a:buFont typeface="Arial" pitchFamily="34" charset="0"/>
              <a:buChar char="•"/>
              <a:defRPr/>
            </a:pPr>
            <a:r>
              <a:rPr lang="en-US" sz="2200" b="1" dirty="0">
                <a:solidFill>
                  <a:schemeClr val="tx1"/>
                </a:solidFill>
              </a:rPr>
              <a:t> Sample Phenomenon</a:t>
            </a: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ln>
                <a:solidFill>
                  <a:srgbClr val="663300"/>
                </a:solidFill>
              </a:ln>
              <a:solidFill>
                <a:srgbClr val="663300"/>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p:txBody>
      </p:sp>
      <p:sp>
        <p:nvSpPr>
          <p:cNvPr id="12" name="Content Placeholder 11"/>
          <p:cNvSpPr>
            <a:spLocks noGrp="1"/>
          </p:cNvSpPr>
          <p:nvPr>
            <p:ph idx="1"/>
          </p:nvPr>
        </p:nvSpPr>
        <p:spPr>
          <a:xfrm>
            <a:off x="5334000" y="1143000"/>
            <a:ext cx="3429000" cy="5562600"/>
          </a:xfrm>
          <a:prstGeom prst="flowChartProcess">
            <a:avLst/>
          </a:prstGeom>
          <a:solidFill>
            <a:schemeClr val="accent1">
              <a:lumMod val="60000"/>
              <a:lumOff val="40000"/>
            </a:schemeClr>
          </a:solidFill>
          <a:ln w="57150">
            <a:solidFill>
              <a:srgbClr val="663300"/>
            </a:solid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buFont typeface="Wingdings 2" pitchFamily="18" charset="2"/>
              <a:buNone/>
              <a:defRPr/>
            </a:pPr>
            <a:r>
              <a:rPr lang="en-US" sz="2400" b="1" u="sng" dirty="0" smtClean="0">
                <a:solidFill>
                  <a:schemeClr val="tx1"/>
                </a:solidFill>
                <a:latin typeface="Times New Roman" pitchFamily="18" charset="0"/>
                <a:cs typeface="Times New Roman" pitchFamily="18" charset="0"/>
              </a:rPr>
              <a:t>PRACTICAL </a:t>
            </a:r>
          </a:p>
          <a:p>
            <a:pPr algn="ctr" eaLnBrk="1" hangingPunct="1">
              <a:buFont typeface="Wingdings 2" pitchFamily="18" charset="2"/>
              <a:buNone/>
              <a:defRPr/>
            </a:pPr>
            <a:r>
              <a:rPr lang="en-US" sz="2400" b="1" u="sng" dirty="0" smtClean="0">
                <a:solidFill>
                  <a:schemeClr val="tx1"/>
                </a:solidFill>
                <a:latin typeface="Times New Roman" pitchFamily="18" charset="0"/>
                <a:cs typeface="Times New Roman" pitchFamily="18" charset="0"/>
              </a:rPr>
              <a:t>CONSEQUENCES</a:t>
            </a:r>
          </a:p>
          <a:p>
            <a:pPr algn="ctr" eaLnBrk="1" hangingPunct="1">
              <a:buFont typeface="Wingdings 2" pitchFamily="18" charset="2"/>
              <a:buNone/>
              <a:defRPr/>
            </a:pPr>
            <a:endParaRPr lang="en-US" sz="2400" b="1" u="sng" dirty="0" smtClean="0">
              <a:solidFill>
                <a:schemeClr val="tx1"/>
              </a:solidFill>
              <a:latin typeface="Times New Roman" pitchFamily="18" charset="0"/>
              <a:cs typeface="Times New Roman" pitchFamily="18" charset="0"/>
            </a:endParaRPr>
          </a:p>
          <a:p>
            <a:pPr eaLnBrk="1" hangingPunct="1">
              <a:buClr>
                <a:srgbClr val="663300"/>
              </a:buClr>
              <a:buFont typeface="Arial" charset="0"/>
              <a:buChar char="•"/>
              <a:defRPr/>
            </a:pPr>
            <a:r>
              <a:rPr lang="en-US" sz="2200" b="1" dirty="0" smtClean="0">
                <a:solidFill>
                  <a:schemeClr val="tx1"/>
                </a:solidFill>
                <a:cs typeface="Times New Roman" pitchFamily="18" charset="0"/>
              </a:rPr>
              <a:t>Large Variances and Covariance of OLS Estimators.</a:t>
            </a:r>
          </a:p>
          <a:p>
            <a:pPr eaLnBrk="1" hangingPunct="1">
              <a:buClr>
                <a:srgbClr val="663300"/>
              </a:buClr>
              <a:buFont typeface="Arial" charset="0"/>
              <a:buChar char="•"/>
              <a:defRPr/>
            </a:pPr>
            <a:r>
              <a:rPr lang="en-US" sz="2200" b="1" dirty="0" smtClean="0">
                <a:solidFill>
                  <a:schemeClr val="tx1"/>
                </a:solidFill>
                <a:cs typeface="Times New Roman" pitchFamily="18" charset="0"/>
              </a:rPr>
              <a:t>Wider Confidence Interval.</a:t>
            </a:r>
          </a:p>
          <a:p>
            <a:pPr eaLnBrk="1" hangingPunct="1">
              <a:buClr>
                <a:srgbClr val="663300"/>
              </a:buClr>
              <a:buFont typeface="Arial" charset="0"/>
              <a:buChar char="•"/>
              <a:defRPr/>
            </a:pPr>
            <a:r>
              <a:rPr lang="en-US" sz="2200" b="1" dirty="0" smtClean="0">
                <a:solidFill>
                  <a:schemeClr val="tx1"/>
                </a:solidFill>
                <a:cs typeface="Times New Roman" pitchFamily="18" charset="0"/>
              </a:rPr>
              <a:t>Insignificant t-ratios</a:t>
            </a:r>
          </a:p>
          <a:p>
            <a:pPr eaLnBrk="1" hangingPunct="1">
              <a:buClr>
                <a:srgbClr val="663300"/>
              </a:buClr>
              <a:buFont typeface="Arial" charset="0"/>
              <a:buChar char="•"/>
              <a:defRPr/>
            </a:pPr>
            <a:r>
              <a:rPr lang="en-US" sz="2200" b="1" dirty="0" smtClean="0">
                <a:solidFill>
                  <a:schemeClr val="tx1"/>
                </a:solidFill>
                <a:cs typeface="Times New Roman" pitchFamily="18" charset="0"/>
              </a:rPr>
              <a:t>High R</a:t>
            </a:r>
            <a:r>
              <a:rPr lang="en-US" sz="2200" b="1" baseline="30000" dirty="0" smtClean="0">
                <a:solidFill>
                  <a:schemeClr val="tx1"/>
                </a:solidFill>
                <a:cs typeface="Times New Roman" pitchFamily="18" charset="0"/>
              </a:rPr>
              <a:t>2</a:t>
            </a:r>
            <a:r>
              <a:rPr lang="en-US" sz="2200" b="1" dirty="0" smtClean="0">
                <a:solidFill>
                  <a:schemeClr val="tx1"/>
                </a:solidFill>
                <a:cs typeface="Times New Roman" pitchFamily="18" charset="0"/>
              </a:rPr>
              <a:t> and significant </a:t>
            </a:r>
            <a:r>
              <a:rPr lang="en-US" sz="2200" b="1" i="1" dirty="0" smtClean="0">
                <a:solidFill>
                  <a:schemeClr val="tx1"/>
                </a:solidFill>
                <a:cs typeface="Times New Roman" pitchFamily="18" charset="0"/>
              </a:rPr>
              <a:t>F</a:t>
            </a:r>
            <a:r>
              <a:rPr lang="en-US" sz="2200" b="1" dirty="0" smtClean="0">
                <a:solidFill>
                  <a:schemeClr val="tx1"/>
                </a:solidFill>
                <a:cs typeface="Times New Roman" pitchFamily="18" charset="0"/>
              </a:rPr>
              <a:t> </a:t>
            </a:r>
          </a:p>
          <a:p>
            <a:pPr eaLnBrk="1" hangingPunct="1">
              <a:buClr>
                <a:srgbClr val="663300"/>
              </a:buClr>
              <a:buFont typeface="Arial" charset="0"/>
              <a:buChar char="•"/>
              <a:defRPr/>
            </a:pPr>
            <a:r>
              <a:rPr lang="en-US" sz="2200" b="1" dirty="0" smtClean="0">
                <a:solidFill>
                  <a:schemeClr val="tx1"/>
                </a:solidFill>
                <a:cs typeface="Times New Roman" pitchFamily="18" charset="0"/>
              </a:rPr>
              <a:t>Sensitivity of OLS Estimators.</a:t>
            </a:r>
          </a:p>
          <a:p>
            <a:pPr eaLnBrk="1" hangingPunct="1">
              <a:buClr>
                <a:srgbClr val="663300"/>
              </a:buClr>
              <a:buFont typeface="Arial" charset="0"/>
              <a:buChar char="•"/>
              <a:defRPr/>
            </a:pPr>
            <a:r>
              <a:rPr lang="en-US" sz="2200" b="1" dirty="0" smtClean="0">
                <a:solidFill>
                  <a:schemeClr val="tx1"/>
                </a:solidFill>
                <a:cs typeface="Times New Roman" pitchFamily="18" charset="0"/>
              </a:rPr>
              <a:t>Effect on Forecast</a:t>
            </a:r>
          </a:p>
          <a:p>
            <a:pPr algn="ctr" eaLnBrk="1" hangingPunct="1">
              <a:buClr>
                <a:srgbClr val="663300"/>
              </a:buClr>
              <a:buFont typeface="Arial" charset="0"/>
              <a:buChar char="•"/>
              <a:defRPr/>
            </a:pPr>
            <a:endParaRPr lang="en-US" sz="2200" b="1" dirty="0" smtClean="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86800" cy="685800"/>
          </a:xfrm>
        </p:spPr>
        <p:txBody>
          <a:bodyPr/>
          <a:lstStyle/>
          <a:p>
            <a:pPr eaLnBrk="1" fontAlgn="auto" hangingPunct="1">
              <a:spcAft>
                <a:spcPts val="0"/>
              </a:spcAft>
              <a:defRPr/>
            </a:pPr>
            <a:r>
              <a:rPr lang="en-US" sz="2500" b="1" dirty="0" smtClean="0">
                <a:solidFill>
                  <a:schemeClr val="tx1"/>
                </a:solidFill>
              </a:rPr>
              <a:t>Theoretical consequences</a:t>
            </a:r>
            <a:endParaRPr lang="en-US" sz="2500" b="1" dirty="0">
              <a:solidFill>
                <a:schemeClr val="tx1"/>
              </a:solidFill>
            </a:endParaRPr>
          </a:p>
        </p:txBody>
      </p:sp>
      <p:sp>
        <p:nvSpPr>
          <p:cNvPr id="22531" name="Content Placeholder 2"/>
          <p:cNvSpPr>
            <a:spLocks noGrp="1"/>
          </p:cNvSpPr>
          <p:nvPr>
            <p:ph idx="1"/>
          </p:nvPr>
        </p:nvSpPr>
        <p:spPr>
          <a:xfrm>
            <a:off x="152400" y="1219200"/>
            <a:ext cx="8763000" cy="5486400"/>
          </a:xfrm>
        </p:spPr>
        <p:txBody>
          <a:bodyPr/>
          <a:lstStyle/>
          <a:p>
            <a:pPr eaLnBrk="1" hangingPunct="1">
              <a:buClrTx/>
              <a:buFont typeface="Wingdings" pitchFamily="2" charset="2"/>
              <a:buChar char="Ø"/>
            </a:pPr>
            <a:r>
              <a:rPr lang="en-US" sz="2400" b="1" u="sng" dirty="0" smtClean="0">
                <a:solidFill>
                  <a:schemeClr val="tx1"/>
                </a:solidFill>
                <a:latin typeface="+mj-lt"/>
              </a:rPr>
              <a:t>BLUE OLS Estimators</a:t>
            </a:r>
          </a:p>
          <a:p>
            <a:pPr eaLnBrk="1" hangingPunct="1">
              <a:buFont typeface="Wingdings 2" pitchFamily="18" charset="2"/>
              <a:buNone/>
            </a:pPr>
            <a:r>
              <a:rPr lang="en-US" sz="2200" b="1" dirty="0" smtClean="0">
                <a:solidFill>
                  <a:schemeClr val="tx1"/>
                </a:solidFill>
              </a:rPr>
              <a:t>It is true that even in the case of multicollinearity the OLS estimators   </a:t>
            </a:r>
          </a:p>
          <a:p>
            <a:pPr eaLnBrk="1" hangingPunct="1">
              <a:buFont typeface="Wingdings 2" pitchFamily="18" charset="2"/>
              <a:buNone/>
            </a:pPr>
            <a:r>
              <a:rPr lang="en-US" sz="2200" b="1" dirty="0" smtClean="0">
                <a:solidFill>
                  <a:schemeClr val="tx1"/>
                </a:solidFill>
              </a:rPr>
              <a:t>are unbiased. But unbiasedness is a multi-sample or repeated sampling </a:t>
            </a:r>
          </a:p>
          <a:p>
            <a:pPr eaLnBrk="1" hangingPunct="1">
              <a:buFont typeface="Wingdings 2" pitchFamily="18" charset="2"/>
              <a:buNone/>
            </a:pPr>
            <a:r>
              <a:rPr lang="en-US" sz="2200" b="1" dirty="0" smtClean="0">
                <a:solidFill>
                  <a:schemeClr val="tx1"/>
                </a:solidFill>
              </a:rPr>
              <a:t>property. What it mean is that, keeping the values of X variables fixed, </a:t>
            </a:r>
          </a:p>
          <a:p>
            <a:pPr eaLnBrk="1" hangingPunct="1">
              <a:buFont typeface="Wingdings 2" pitchFamily="18" charset="2"/>
              <a:buNone/>
            </a:pPr>
            <a:r>
              <a:rPr lang="en-US" sz="2200" b="1" dirty="0" smtClean="0">
                <a:solidFill>
                  <a:schemeClr val="tx1"/>
                </a:solidFill>
              </a:rPr>
              <a:t>if one obtains repeated samples and computes the OLS estimators for </a:t>
            </a:r>
          </a:p>
          <a:p>
            <a:pPr eaLnBrk="1" hangingPunct="1">
              <a:buFont typeface="Wingdings 2" pitchFamily="18" charset="2"/>
              <a:buNone/>
            </a:pPr>
            <a:r>
              <a:rPr lang="en-US" sz="2200" b="1" dirty="0" smtClean="0">
                <a:solidFill>
                  <a:schemeClr val="tx1"/>
                </a:solidFill>
              </a:rPr>
              <a:t>each of these samples, the average of the sample will converge to the </a:t>
            </a:r>
          </a:p>
          <a:p>
            <a:pPr eaLnBrk="1" hangingPunct="1">
              <a:buFont typeface="Wingdings 2" pitchFamily="18" charset="2"/>
              <a:buNone/>
            </a:pPr>
            <a:r>
              <a:rPr lang="en-US" sz="2200" b="1" dirty="0" smtClean="0">
                <a:solidFill>
                  <a:schemeClr val="tx1"/>
                </a:solidFill>
              </a:rPr>
              <a:t>true population values of the estimators as the number of samples </a:t>
            </a:r>
          </a:p>
          <a:p>
            <a:pPr eaLnBrk="1" hangingPunct="1">
              <a:buFont typeface="Wingdings 2" pitchFamily="18" charset="2"/>
              <a:buNone/>
            </a:pPr>
            <a:r>
              <a:rPr lang="en-US" sz="2200" b="1" dirty="0" smtClean="0">
                <a:solidFill>
                  <a:schemeClr val="tx1"/>
                </a:solidFill>
              </a:rPr>
              <a:t>increases. But this says nothing about the properties of estimators in </a:t>
            </a:r>
          </a:p>
          <a:p>
            <a:pPr eaLnBrk="1" hangingPunct="1">
              <a:buFont typeface="Wingdings 2" pitchFamily="18" charset="2"/>
              <a:buNone/>
            </a:pPr>
            <a:r>
              <a:rPr lang="en-US" sz="2200" b="1" dirty="0" smtClean="0">
                <a:solidFill>
                  <a:schemeClr val="tx1"/>
                </a:solidFill>
              </a:rPr>
              <a:t>any given sample.</a:t>
            </a:r>
          </a:p>
          <a:p>
            <a:pPr eaLnBrk="1" hangingPunct="1">
              <a:buFont typeface="Wingdings 2" pitchFamily="18" charset="2"/>
              <a:buNone/>
            </a:pPr>
            <a:r>
              <a:rPr lang="en-US" sz="2200" b="1" dirty="0" smtClean="0">
                <a:solidFill>
                  <a:schemeClr val="tx1"/>
                </a:solidFill>
              </a:rPr>
              <a:t>It is also true that collinearity does not destroy the property of minimum  </a:t>
            </a:r>
          </a:p>
          <a:p>
            <a:pPr eaLnBrk="1" hangingPunct="1">
              <a:buFont typeface="Wingdings 2" pitchFamily="18" charset="2"/>
              <a:buNone/>
            </a:pPr>
            <a:r>
              <a:rPr lang="en-US" sz="2200" b="1" dirty="0" smtClean="0">
                <a:solidFill>
                  <a:schemeClr val="tx1"/>
                </a:solidFill>
              </a:rPr>
              <a:t>variance: In the class of all linear unbiased estimators, the OLS </a:t>
            </a:r>
          </a:p>
          <a:p>
            <a:pPr eaLnBrk="1" hangingPunct="1">
              <a:buFont typeface="Wingdings 2" pitchFamily="18" charset="2"/>
              <a:buNone/>
            </a:pPr>
            <a:r>
              <a:rPr lang="en-US" sz="2200" b="1" dirty="0" smtClean="0">
                <a:solidFill>
                  <a:schemeClr val="tx1"/>
                </a:solidFill>
              </a:rPr>
              <a:t>estimators have minimum variance; that is they are efficient. </a:t>
            </a:r>
          </a:p>
          <a:p>
            <a:pPr eaLnBrk="1" hangingPunct="1">
              <a:buFont typeface="Wingdings 2" pitchFamily="18" charset="2"/>
              <a:buNone/>
            </a:pPr>
            <a:endParaRPr lang="en-US" sz="2200" b="1" u="sng" dirty="0" smtClean="0">
              <a:solidFill>
                <a:schemeClr val="tx1"/>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p:cNvSpPr>
            <a:spLocks noGrp="1"/>
          </p:cNvSpPr>
          <p:nvPr>
            <p:ph idx="1"/>
          </p:nvPr>
        </p:nvSpPr>
        <p:spPr>
          <a:xfrm>
            <a:off x="76200" y="1066800"/>
            <a:ext cx="8991600" cy="5715000"/>
          </a:xfrm>
        </p:spPr>
        <p:txBody>
          <a:bodyPr/>
          <a:lstStyle/>
          <a:p>
            <a:pPr eaLnBrk="1" hangingPunct="1">
              <a:buFont typeface="Wingdings 2" pitchFamily="18" charset="2"/>
              <a:buNone/>
            </a:pPr>
            <a:r>
              <a:rPr lang="en-US" sz="2200" b="1" dirty="0" smtClean="0">
                <a:solidFill>
                  <a:schemeClr val="tx1"/>
                </a:solidFill>
              </a:rPr>
              <a:t>But this does not mean that variance of OLS estimator will necessarily be </a:t>
            </a:r>
          </a:p>
          <a:p>
            <a:pPr eaLnBrk="1" hangingPunct="1">
              <a:buFont typeface="Wingdings 2" pitchFamily="18" charset="2"/>
              <a:buNone/>
            </a:pPr>
            <a:r>
              <a:rPr lang="en-US" sz="2200" b="1" dirty="0" smtClean="0">
                <a:solidFill>
                  <a:schemeClr val="tx1"/>
                </a:solidFill>
              </a:rPr>
              <a:t>small in relation to the value of estimator in any given sample.</a:t>
            </a:r>
          </a:p>
          <a:p>
            <a:pPr eaLnBrk="1" hangingPunct="1">
              <a:buFont typeface="Wingdings 2" pitchFamily="18" charset="2"/>
              <a:buNone/>
            </a:pPr>
            <a:endParaRPr lang="en-US" sz="2200" b="1" dirty="0" smtClean="0">
              <a:solidFill>
                <a:schemeClr val="tx1"/>
              </a:solidFill>
            </a:endParaRPr>
          </a:p>
          <a:p>
            <a:pPr eaLnBrk="1" hangingPunct="1">
              <a:buClrTx/>
              <a:buFont typeface="Wingdings" pitchFamily="2" charset="2"/>
              <a:buChar char="Ø"/>
            </a:pPr>
            <a:r>
              <a:rPr lang="en-US" sz="2400" b="1" u="sng" dirty="0" smtClean="0">
                <a:solidFill>
                  <a:schemeClr val="tx1"/>
                </a:solidFill>
                <a:latin typeface="+mj-lt"/>
              </a:rPr>
              <a:t>Sample Phenomenon</a:t>
            </a:r>
          </a:p>
          <a:p>
            <a:pPr eaLnBrk="1" hangingPunct="1">
              <a:buFont typeface="Wingdings 2" pitchFamily="18" charset="2"/>
              <a:buNone/>
            </a:pPr>
            <a:r>
              <a:rPr lang="en-US" sz="2200" b="1" dirty="0" smtClean="0">
                <a:solidFill>
                  <a:schemeClr val="tx1"/>
                </a:solidFill>
              </a:rPr>
              <a:t>Multicollinearity is essentially a sample phenomenon in the sense that </a:t>
            </a:r>
          </a:p>
          <a:p>
            <a:pPr eaLnBrk="1" hangingPunct="1">
              <a:buFont typeface="Wingdings 2" pitchFamily="18" charset="2"/>
              <a:buNone/>
            </a:pPr>
            <a:r>
              <a:rPr lang="en-US" sz="2200" b="1" dirty="0" smtClean="0">
                <a:solidFill>
                  <a:schemeClr val="tx1"/>
                </a:solidFill>
              </a:rPr>
              <a:t>even if the </a:t>
            </a:r>
            <a:r>
              <a:rPr lang="en-US" sz="2200" b="1" i="1" dirty="0" smtClean="0">
                <a:solidFill>
                  <a:schemeClr val="tx1"/>
                </a:solidFill>
              </a:rPr>
              <a:t>X</a:t>
            </a:r>
            <a:r>
              <a:rPr lang="en-US" sz="2200" b="1" dirty="0" smtClean="0">
                <a:solidFill>
                  <a:schemeClr val="tx1"/>
                </a:solidFill>
              </a:rPr>
              <a:t> variable are not linearly related in the population, they may be </a:t>
            </a:r>
          </a:p>
          <a:p>
            <a:pPr eaLnBrk="1" hangingPunct="1">
              <a:buFont typeface="Wingdings 2" pitchFamily="18" charset="2"/>
              <a:buNone/>
            </a:pPr>
            <a:r>
              <a:rPr lang="en-US" sz="2200" b="1" dirty="0" smtClean="0">
                <a:solidFill>
                  <a:schemeClr val="tx1"/>
                </a:solidFill>
              </a:rPr>
              <a:t>so related in the particular sample at hand: When we postulate the </a:t>
            </a:r>
          </a:p>
          <a:p>
            <a:pPr eaLnBrk="1" hangingPunct="1">
              <a:buFont typeface="Wingdings 2" pitchFamily="18" charset="2"/>
              <a:buNone/>
            </a:pPr>
            <a:r>
              <a:rPr lang="en-US" sz="2200" b="1" dirty="0" smtClean="0">
                <a:solidFill>
                  <a:schemeClr val="tx1"/>
                </a:solidFill>
              </a:rPr>
              <a:t>theoretical or population regression function, we believe that all the </a:t>
            </a:r>
            <a:r>
              <a:rPr lang="en-US" sz="2200" b="1" i="1" dirty="0" smtClean="0">
                <a:solidFill>
                  <a:schemeClr val="tx1"/>
                </a:solidFill>
              </a:rPr>
              <a:t>X</a:t>
            </a:r>
            <a:r>
              <a:rPr lang="en-US" sz="2200" b="1" dirty="0" smtClean="0">
                <a:solidFill>
                  <a:schemeClr val="tx1"/>
                </a:solidFill>
              </a:rPr>
              <a:t> </a:t>
            </a:r>
          </a:p>
          <a:p>
            <a:pPr eaLnBrk="1" hangingPunct="1">
              <a:buFont typeface="Wingdings 2" pitchFamily="18" charset="2"/>
              <a:buNone/>
            </a:pPr>
            <a:r>
              <a:rPr lang="en-US" sz="2200" b="1" dirty="0" smtClean="0">
                <a:solidFill>
                  <a:schemeClr val="tx1"/>
                </a:solidFill>
              </a:rPr>
              <a:t>variables are included in the model have a separate or independent </a:t>
            </a:r>
          </a:p>
          <a:p>
            <a:pPr eaLnBrk="1" hangingPunct="1">
              <a:buFont typeface="Wingdings 2" pitchFamily="18" charset="2"/>
              <a:buNone/>
            </a:pPr>
            <a:r>
              <a:rPr lang="en-US" sz="2200" b="1" dirty="0" smtClean="0">
                <a:solidFill>
                  <a:schemeClr val="tx1"/>
                </a:solidFill>
              </a:rPr>
              <a:t>influence on the dependent variable </a:t>
            </a:r>
            <a:r>
              <a:rPr lang="en-US" sz="2200" b="1" i="1" dirty="0" smtClean="0">
                <a:solidFill>
                  <a:schemeClr val="tx1"/>
                </a:solidFill>
              </a:rPr>
              <a:t>Y.</a:t>
            </a:r>
            <a:r>
              <a:rPr lang="en-US" sz="2200" b="1" dirty="0" smtClean="0">
                <a:solidFill>
                  <a:schemeClr val="tx1"/>
                </a:solidFill>
              </a:rPr>
              <a:t> But it may happen that in any given </a:t>
            </a:r>
          </a:p>
          <a:p>
            <a:pPr eaLnBrk="1" hangingPunct="1">
              <a:buFont typeface="Wingdings 2" pitchFamily="18" charset="2"/>
              <a:buNone/>
            </a:pPr>
            <a:r>
              <a:rPr lang="en-US" sz="2200" b="1" dirty="0" smtClean="0">
                <a:solidFill>
                  <a:schemeClr val="tx1"/>
                </a:solidFill>
              </a:rPr>
              <a:t>sample that is used to test the PRF some or all of the </a:t>
            </a:r>
            <a:r>
              <a:rPr lang="en-US" sz="2200" b="1" i="1" dirty="0" smtClean="0">
                <a:solidFill>
                  <a:schemeClr val="tx1"/>
                </a:solidFill>
              </a:rPr>
              <a:t>X</a:t>
            </a:r>
            <a:r>
              <a:rPr lang="en-US" sz="2200" b="1" dirty="0" smtClean="0">
                <a:solidFill>
                  <a:schemeClr val="tx1"/>
                </a:solidFill>
              </a:rPr>
              <a:t> variables are so </a:t>
            </a:r>
          </a:p>
          <a:p>
            <a:pPr eaLnBrk="1" hangingPunct="1">
              <a:buFont typeface="Wingdings 2" pitchFamily="18" charset="2"/>
              <a:buNone/>
            </a:pPr>
            <a:r>
              <a:rPr lang="en-US" sz="2200" b="1" dirty="0" smtClean="0">
                <a:solidFill>
                  <a:schemeClr val="tx1"/>
                </a:solidFill>
              </a:rPr>
              <a:t>highly collinear that we cannot isolate their individual influence on </a:t>
            </a:r>
            <a:r>
              <a:rPr lang="en-US" sz="2200" b="1" i="1" dirty="0" smtClean="0">
                <a:solidFill>
                  <a:schemeClr val="tx1"/>
                </a:solidFill>
              </a:rPr>
              <a:t>Y.</a:t>
            </a:r>
            <a:r>
              <a:rPr lang="en-US" sz="2200" b="1" dirty="0" smtClean="0">
                <a:solidFill>
                  <a:schemeClr val="tx1"/>
                </a:solidFill>
              </a:rPr>
              <a:t> </a:t>
            </a: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a:spLocks noGrp="1"/>
          </p:cNvSpPr>
          <p:nvPr>
            <p:ph idx="1"/>
          </p:nvPr>
        </p:nvSpPr>
        <p:spPr>
          <a:xfrm>
            <a:off x="0" y="1066800"/>
            <a:ext cx="8991600" cy="5638800"/>
          </a:xfrm>
        </p:spPr>
        <p:txBody>
          <a:bodyPr/>
          <a:lstStyle/>
          <a:p>
            <a:pPr eaLnBrk="1" hangingPunct="1">
              <a:buFont typeface="Wingdings 2" pitchFamily="18" charset="2"/>
              <a:buNone/>
            </a:pPr>
            <a:r>
              <a:rPr lang="en-US" sz="2200" b="1" dirty="0" smtClean="0">
                <a:solidFill>
                  <a:schemeClr val="tx1"/>
                </a:solidFill>
              </a:rPr>
              <a:t>So to speak our sample lets us down, although the theory says that all ht e </a:t>
            </a:r>
          </a:p>
          <a:p>
            <a:pPr eaLnBrk="1" hangingPunct="1">
              <a:buFont typeface="Wingdings 2" pitchFamily="18" charset="2"/>
              <a:buNone/>
            </a:pPr>
            <a:r>
              <a:rPr lang="en-US" sz="2200" b="1" i="1" dirty="0" smtClean="0">
                <a:solidFill>
                  <a:schemeClr val="tx1"/>
                </a:solidFill>
              </a:rPr>
              <a:t>X’s</a:t>
            </a:r>
            <a:r>
              <a:rPr lang="en-US" sz="2200" b="1" dirty="0" smtClean="0">
                <a:solidFill>
                  <a:schemeClr val="tx1"/>
                </a:solidFill>
              </a:rPr>
              <a:t> are important. In short, our sample may not be “rich” enough to </a:t>
            </a:r>
          </a:p>
          <a:p>
            <a:pPr eaLnBrk="1" hangingPunct="1">
              <a:buFont typeface="Wingdings 2" pitchFamily="18" charset="2"/>
              <a:buNone/>
            </a:pPr>
            <a:r>
              <a:rPr lang="en-US" sz="2200" b="1" dirty="0" smtClean="0">
                <a:solidFill>
                  <a:schemeClr val="tx1"/>
                </a:solidFill>
              </a:rPr>
              <a:t>accommodate all </a:t>
            </a:r>
            <a:r>
              <a:rPr lang="en-US" sz="2200" b="1" i="1" dirty="0" smtClean="0">
                <a:solidFill>
                  <a:schemeClr val="tx1"/>
                </a:solidFill>
              </a:rPr>
              <a:t>X </a:t>
            </a:r>
            <a:r>
              <a:rPr lang="en-US" sz="2200" b="1" dirty="0" smtClean="0">
                <a:solidFill>
                  <a:schemeClr val="tx1"/>
                </a:solidFill>
              </a:rPr>
              <a:t>variable in the analysis.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81000"/>
            <a:ext cx="8839200" cy="6400800"/>
          </a:xfrm>
        </p:spPr>
        <p:txBody>
          <a:bodyPr/>
          <a:lstStyle/>
          <a:p>
            <a:pPr eaLnBrk="1" hangingPunct="1">
              <a:buFont typeface="Wingdings 2" pitchFamily="18" charset="2"/>
              <a:buNone/>
              <a:defRPr/>
            </a:pPr>
            <a:r>
              <a:rPr lang="en-US" sz="2600" b="1" dirty="0" smtClean="0">
                <a:solidFill>
                  <a:schemeClr val="tx1"/>
                </a:solidFill>
                <a:latin typeface="+mj-lt"/>
              </a:rPr>
              <a:t>Estimation in the presence of PERFECT MULTICOLLINEARITY:</a:t>
            </a:r>
          </a:p>
          <a:p>
            <a:pPr eaLnBrk="1" hangingPunct="1">
              <a:buFont typeface="Wingdings 2" pitchFamily="18" charset="2"/>
              <a:buNone/>
              <a:defRPr/>
            </a:pPr>
            <a:endParaRPr lang="en-US" sz="2200" b="1" dirty="0" smtClean="0">
              <a:solidFill>
                <a:schemeClr val="tx1"/>
              </a:solidFill>
              <a:latin typeface="+mj-lt"/>
            </a:endParaRPr>
          </a:p>
          <a:p>
            <a:pPr eaLnBrk="1" hangingPunct="1">
              <a:buFont typeface="Wingdings 2" pitchFamily="18" charset="2"/>
              <a:buNone/>
              <a:defRPr/>
            </a:pPr>
            <a:r>
              <a:rPr lang="en-US" sz="2200" b="1" dirty="0" smtClean="0">
                <a:solidFill>
                  <a:schemeClr val="tx1"/>
                </a:solidFill>
              </a:rPr>
              <a:t>In the case of perfect multicollinearity the regression coefficients remain </a:t>
            </a:r>
          </a:p>
          <a:p>
            <a:pPr eaLnBrk="1" hangingPunct="1">
              <a:buFont typeface="Wingdings 2" pitchFamily="18" charset="2"/>
              <a:buNone/>
              <a:defRPr/>
            </a:pPr>
            <a:r>
              <a:rPr lang="en-US" sz="2200" b="1" dirty="0" smtClean="0">
                <a:solidFill>
                  <a:schemeClr val="tx1"/>
                </a:solidFill>
              </a:rPr>
              <a:t>indeterminate and their standard are infinite. This fact can be readily </a:t>
            </a:r>
          </a:p>
          <a:p>
            <a:pPr eaLnBrk="1" hangingPunct="1">
              <a:buFont typeface="Wingdings 2" pitchFamily="18" charset="2"/>
              <a:buNone/>
              <a:defRPr/>
            </a:pPr>
            <a:r>
              <a:rPr lang="en-US" sz="2200" b="1" dirty="0" smtClean="0">
                <a:solidFill>
                  <a:schemeClr val="tx1"/>
                </a:solidFill>
              </a:rPr>
              <a:t>demonstrated in terms of three variable regression model. Using the </a:t>
            </a:r>
          </a:p>
          <a:p>
            <a:pPr eaLnBrk="1" hangingPunct="1">
              <a:buFont typeface="Wingdings 2" pitchFamily="18" charset="2"/>
              <a:buNone/>
              <a:defRPr/>
            </a:pPr>
            <a:r>
              <a:rPr lang="en-US" sz="2200" b="1" dirty="0" smtClean="0">
                <a:solidFill>
                  <a:schemeClr val="tx1"/>
                </a:solidFill>
              </a:rPr>
              <a:t>deviation form, where all the variables are expressed as deviations from .</a:t>
            </a:r>
          </a:p>
          <a:p>
            <a:pPr eaLnBrk="1" hangingPunct="1">
              <a:buFont typeface="Wingdings 2" pitchFamily="18" charset="2"/>
              <a:buNone/>
              <a:defRPr/>
            </a:pPr>
            <a:r>
              <a:rPr lang="en-US" sz="2200" b="1" dirty="0" smtClean="0">
                <a:solidFill>
                  <a:schemeClr val="tx1"/>
                </a:solidFill>
              </a:rPr>
              <a:t>their sample means, we can write the three variable regression model as</a:t>
            </a:r>
          </a:p>
          <a:p>
            <a:pPr eaLnBrk="1" hangingPunct="1">
              <a:buFont typeface="Wingdings 2" pitchFamily="18" charset="2"/>
              <a:buNone/>
              <a:defRPr/>
            </a:pPr>
            <a:endParaRPr lang="en-US" sz="2200" b="1" dirty="0" smtClean="0">
              <a:solidFill>
                <a:schemeClr val="tx1"/>
              </a:solidFill>
            </a:endParaRPr>
          </a:p>
          <a:p>
            <a:pPr eaLnBrk="1" hangingPunct="1">
              <a:buFont typeface="Wingdings 2" pitchFamily="18" charset="2"/>
              <a:buNone/>
              <a:defRPr/>
            </a:pPr>
            <a:r>
              <a:rPr lang="en-US" sz="2200" b="1" dirty="0" smtClean="0">
                <a:solidFill>
                  <a:schemeClr val="tx1"/>
                </a:solidFill>
              </a:rPr>
              <a:t>                                                                    ……………………………………..1</a:t>
            </a:r>
          </a:p>
          <a:p>
            <a:pPr eaLnBrk="1" hangingPunct="1">
              <a:buFont typeface="Wingdings 2" pitchFamily="18" charset="2"/>
              <a:buNone/>
              <a:defRPr/>
            </a:pPr>
            <a:endParaRPr lang="en-US" sz="2200" b="1" dirty="0" smtClean="0">
              <a:solidFill>
                <a:schemeClr val="tx1"/>
              </a:solidFill>
            </a:endParaRPr>
          </a:p>
          <a:p>
            <a:pPr eaLnBrk="1" hangingPunct="1">
              <a:buFont typeface="Wingdings 2" pitchFamily="18" charset="2"/>
              <a:buNone/>
              <a:defRPr/>
            </a:pPr>
            <a:r>
              <a:rPr lang="en-US" sz="2200" b="1" dirty="0" smtClean="0">
                <a:solidFill>
                  <a:schemeClr val="tx1"/>
                </a:solidFill>
              </a:rPr>
              <a:t>Now as,</a:t>
            </a:r>
          </a:p>
          <a:p>
            <a:pPr eaLnBrk="1" hangingPunct="1">
              <a:buFont typeface="Wingdings 2" pitchFamily="18" charset="2"/>
              <a:buNone/>
              <a:defRPr/>
            </a:pPr>
            <a:endParaRPr lang="en-US" sz="2200" b="1" dirty="0" smtClean="0">
              <a:solidFill>
                <a:schemeClr val="tx1"/>
              </a:solidFill>
            </a:endParaRPr>
          </a:p>
          <a:p>
            <a:pPr eaLnBrk="1" hangingPunct="1">
              <a:buFont typeface="Wingdings 2" pitchFamily="18" charset="2"/>
              <a:buNone/>
              <a:defRPr/>
            </a:pPr>
            <a:r>
              <a:rPr lang="en-US" sz="2200" b="1" dirty="0" smtClean="0">
                <a:solidFill>
                  <a:schemeClr val="tx1"/>
                </a:solidFill>
              </a:rPr>
              <a:t>                                                                                           …………………2</a:t>
            </a:r>
          </a:p>
          <a:p>
            <a:pPr eaLnBrk="1" hangingPunct="1">
              <a:buFont typeface="Wingdings 2" pitchFamily="18" charset="2"/>
              <a:buNone/>
              <a:defRPr/>
            </a:pPr>
            <a:r>
              <a:rPr lang="en-US" sz="2200" b="1" dirty="0" smtClean="0">
                <a:solidFill>
                  <a:schemeClr val="tx1"/>
                </a:solidFill>
              </a:rPr>
              <a:t> </a:t>
            </a:r>
            <a:endParaRPr lang="en-US" sz="2200" b="1" dirty="0">
              <a:solidFill>
                <a:schemeClr val="tx1"/>
              </a:solidFill>
            </a:endParaRPr>
          </a:p>
        </p:txBody>
      </p:sp>
      <p:sp>
        <p:nvSpPr>
          <p:cNvPr id="25603"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p>
        </p:txBody>
      </p:sp>
      <p:pic>
        <p:nvPicPr>
          <p:cNvPr id="25604"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209800" y="3657600"/>
            <a:ext cx="2686050" cy="361950"/>
          </a:xfrm>
          <a:prstGeom prst="rect">
            <a:avLst/>
          </a:prstGeom>
          <a:noFill/>
          <a:ln w="9525">
            <a:noFill/>
            <a:miter lim="800000"/>
            <a:headEnd/>
            <a:tailEnd/>
          </a:ln>
        </p:spPr>
      </p:pic>
      <p:sp>
        <p:nvSpPr>
          <p:cNvPr id="25605"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p>
        </p:txBody>
      </p:sp>
      <p:pic>
        <p:nvPicPr>
          <p:cNvPr id="25606"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905000" y="5105400"/>
            <a:ext cx="4676775" cy="82867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p:cNvSpPr>
            <a:spLocks noGrp="1"/>
          </p:cNvSpPr>
          <p:nvPr>
            <p:ph idx="1"/>
          </p:nvPr>
        </p:nvSpPr>
        <p:spPr>
          <a:xfrm>
            <a:off x="152400" y="1066800"/>
            <a:ext cx="8839200" cy="5638800"/>
          </a:xfrm>
        </p:spPr>
        <p:txBody>
          <a:bodyPr/>
          <a:lstStyle/>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r>
              <a:rPr lang="en-US" sz="2200" b="1" dirty="0" smtClean="0">
                <a:solidFill>
                  <a:schemeClr val="tx1"/>
                </a:solidFill>
              </a:rPr>
              <a:t>                                                                                        ………………………..3</a:t>
            </a: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r>
              <a:rPr lang="en-US" sz="2200" b="1" dirty="0" smtClean="0">
                <a:solidFill>
                  <a:schemeClr val="tx1"/>
                </a:solidFill>
              </a:rPr>
              <a:t>Assume that                    , where    is a nonzero constant substituting this </a:t>
            </a:r>
          </a:p>
          <a:p>
            <a:pPr eaLnBrk="1" hangingPunct="1">
              <a:buFont typeface="Wingdings 2" pitchFamily="18" charset="2"/>
              <a:buNone/>
            </a:pPr>
            <a:r>
              <a:rPr lang="en-US" sz="2200" b="1" dirty="0" smtClean="0">
                <a:solidFill>
                  <a:schemeClr val="tx1"/>
                </a:solidFill>
              </a:rPr>
              <a:t>in equation 2, we obtain</a:t>
            </a: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r>
              <a:rPr lang="en-US" sz="2200" b="1" dirty="0" smtClean="0">
                <a:solidFill>
                  <a:schemeClr val="tx1"/>
                </a:solidFill>
              </a:rPr>
              <a:t>                                                                                           ……………………..4</a:t>
            </a: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r>
              <a:rPr lang="en-US" sz="2200" b="1" dirty="0" smtClean="0">
                <a:solidFill>
                  <a:schemeClr val="tx1"/>
                </a:solidFill>
              </a:rPr>
              <a:t>which is indeterminate expression. We can verify that       is also </a:t>
            </a:r>
          </a:p>
          <a:p>
            <a:pPr eaLnBrk="1" hangingPunct="1">
              <a:buFont typeface="Wingdings 2" pitchFamily="18" charset="2"/>
              <a:buNone/>
            </a:pPr>
            <a:r>
              <a:rPr lang="en-US" sz="2200" b="1" dirty="0" smtClean="0">
                <a:solidFill>
                  <a:schemeClr val="tx1"/>
                </a:solidFill>
              </a:rPr>
              <a:t>indeterminate.</a:t>
            </a: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r>
              <a:rPr lang="en-US" sz="2200" b="1" dirty="0" smtClean="0">
                <a:solidFill>
                  <a:schemeClr val="tx1"/>
                </a:solidFill>
              </a:rPr>
              <a:t>  </a:t>
            </a:r>
          </a:p>
        </p:txBody>
      </p:sp>
      <p:sp>
        <p:nvSpPr>
          <p:cNvPr id="26627"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p>
        </p:txBody>
      </p:sp>
      <p:pic>
        <p:nvPicPr>
          <p:cNvPr id="26628"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600200" y="1295400"/>
            <a:ext cx="4676775" cy="828675"/>
          </a:xfrm>
          <a:prstGeom prst="rect">
            <a:avLst/>
          </a:prstGeom>
          <a:noFill/>
          <a:ln w="9525">
            <a:noFill/>
            <a:miter lim="800000"/>
            <a:headEnd/>
            <a:tailEnd/>
          </a:ln>
        </p:spPr>
      </p:pic>
      <p:sp>
        <p:nvSpPr>
          <p:cNvPr id="26629"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p>
        </p:txBody>
      </p:sp>
      <p:pic>
        <p:nvPicPr>
          <p:cNvPr id="26630"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905000" y="2438400"/>
            <a:ext cx="1143000" cy="342900"/>
          </a:xfrm>
          <a:prstGeom prst="rect">
            <a:avLst/>
          </a:prstGeom>
          <a:noFill/>
          <a:ln w="9525">
            <a:noFill/>
            <a:miter lim="800000"/>
            <a:headEnd/>
            <a:tailEnd/>
          </a:ln>
        </p:spPr>
      </p:pic>
      <p:sp>
        <p:nvSpPr>
          <p:cNvPr id="26631"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p>
        </p:txBody>
      </p:sp>
      <p:pic>
        <p:nvPicPr>
          <p:cNvPr id="26632"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4057650" y="2438400"/>
            <a:ext cx="133350" cy="342900"/>
          </a:xfrm>
          <a:prstGeom prst="rect">
            <a:avLst/>
          </a:prstGeom>
          <a:noFill/>
          <a:ln w="9525">
            <a:noFill/>
            <a:miter lim="800000"/>
            <a:headEnd/>
            <a:tailEnd/>
          </a:ln>
        </p:spPr>
      </p:pic>
      <p:sp>
        <p:nvSpPr>
          <p:cNvPr id="2663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pic>
        <p:nvPicPr>
          <p:cNvPr id="26633" name="Picture 9"/>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1447800" y="3314700"/>
            <a:ext cx="5076825" cy="952500"/>
          </a:xfrm>
          <a:prstGeom prst="rect">
            <a:avLst/>
          </a:prstGeom>
          <a:noFill/>
        </p:spPr>
      </p:pic>
      <p:sp>
        <p:nvSpPr>
          <p:cNvPr id="2663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6638"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pic>
        <p:nvPicPr>
          <p:cNvPr id="26637" name="Picture 13"/>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1981200" y="4648200"/>
            <a:ext cx="400050" cy="619125"/>
          </a:xfrm>
          <a:prstGeom prst="rect">
            <a:avLst/>
          </a:prstGeom>
          <a:noFill/>
        </p:spPr>
      </p:pic>
      <p:sp>
        <p:nvSpPr>
          <p:cNvPr id="26640"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6642" name="Rectangle 1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6644" name="Rectangle 2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pic>
        <p:nvPicPr>
          <p:cNvPr id="21" name="Picture 3"/>
          <p:cNvPicPr>
            <a:picLocks noChangeAspect="1" noChangeArrowheads="1"/>
          </p:cNvPicPr>
          <p:nvPr/>
        </p:nvPicPr>
        <p:blipFill>
          <a:blip r:embed="rId7">
            <a:clrChange>
              <a:clrFrom>
                <a:srgbClr val="FFFFFF"/>
              </a:clrFrom>
              <a:clrTo>
                <a:srgbClr val="FFFFFF">
                  <a:alpha val="0"/>
                </a:srgbClr>
              </a:clrTo>
            </a:clrChange>
          </a:blip>
          <a:srcRect/>
          <a:stretch>
            <a:fillRect/>
          </a:stretch>
        </p:blipFill>
        <p:spPr bwMode="auto">
          <a:xfrm>
            <a:off x="6629400" y="5562600"/>
            <a:ext cx="257175" cy="36195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43000"/>
            <a:ext cx="8839200" cy="5638800"/>
          </a:xfrm>
        </p:spPr>
        <p:txBody>
          <a:bodyPr/>
          <a:lstStyle/>
          <a:p>
            <a:pPr>
              <a:buNone/>
            </a:pPr>
            <a:r>
              <a:rPr lang="en-US" sz="2200" b="1" dirty="0" smtClean="0">
                <a:solidFill>
                  <a:schemeClr val="tx1"/>
                </a:solidFill>
              </a:rPr>
              <a:t>Why do we obtain result shown in equation 4? As we know the meaning </a:t>
            </a:r>
          </a:p>
          <a:p>
            <a:pPr>
              <a:buNone/>
            </a:pPr>
            <a:r>
              <a:rPr lang="en-US" sz="2200" b="1" dirty="0" smtClean="0">
                <a:solidFill>
                  <a:schemeClr val="tx1"/>
                </a:solidFill>
              </a:rPr>
              <a:t>of      : It gives the rate of change of average value of </a:t>
            </a:r>
            <a:r>
              <a:rPr lang="en-US" sz="2200" b="1" i="1" dirty="0" smtClean="0">
                <a:solidFill>
                  <a:schemeClr val="tx1"/>
                </a:solidFill>
              </a:rPr>
              <a:t>Y</a:t>
            </a:r>
            <a:r>
              <a:rPr lang="en-US" sz="2200" b="1" dirty="0" smtClean="0">
                <a:solidFill>
                  <a:schemeClr val="tx1"/>
                </a:solidFill>
              </a:rPr>
              <a:t> as </a:t>
            </a:r>
            <a:r>
              <a:rPr lang="en-US" sz="2200" b="1" i="1" dirty="0" smtClean="0">
                <a:solidFill>
                  <a:schemeClr val="tx1"/>
                </a:solidFill>
              </a:rPr>
              <a:t>X</a:t>
            </a:r>
            <a:r>
              <a:rPr lang="en-US" sz="2200" b="1" i="1" baseline="-25000" dirty="0" smtClean="0">
                <a:solidFill>
                  <a:schemeClr val="tx1"/>
                </a:solidFill>
              </a:rPr>
              <a:t>2</a:t>
            </a:r>
            <a:r>
              <a:rPr lang="en-US" sz="2200" b="1" i="1" dirty="0" smtClean="0">
                <a:solidFill>
                  <a:schemeClr val="tx1"/>
                </a:solidFill>
              </a:rPr>
              <a:t> </a:t>
            </a:r>
            <a:r>
              <a:rPr lang="en-US" sz="2200" b="1" dirty="0" smtClean="0">
                <a:solidFill>
                  <a:schemeClr val="tx1"/>
                </a:solidFill>
              </a:rPr>
              <a:t>changes by a </a:t>
            </a:r>
          </a:p>
          <a:p>
            <a:pPr>
              <a:buNone/>
            </a:pPr>
            <a:r>
              <a:rPr lang="en-US" sz="2200" b="1" dirty="0" smtClean="0">
                <a:solidFill>
                  <a:schemeClr val="tx1"/>
                </a:solidFill>
              </a:rPr>
              <a:t>unit, holding  </a:t>
            </a:r>
            <a:r>
              <a:rPr lang="en-US" sz="2200" b="1" i="1" dirty="0" smtClean="0">
                <a:solidFill>
                  <a:schemeClr val="tx1"/>
                </a:solidFill>
              </a:rPr>
              <a:t>X</a:t>
            </a:r>
            <a:r>
              <a:rPr lang="en-US" sz="2200" b="1" i="1" baseline="-25000" dirty="0" smtClean="0">
                <a:solidFill>
                  <a:schemeClr val="tx1"/>
                </a:solidFill>
              </a:rPr>
              <a:t>3</a:t>
            </a:r>
            <a:r>
              <a:rPr lang="en-US" sz="2200" b="1" i="1" dirty="0" smtClean="0">
                <a:solidFill>
                  <a:schemeClr val="tx1"/>
                </a:solidFill>
              </a:rPr>
              <a:t>  </a:t>
            </a:r>
            <a:r>
              <a:rPr lang="en-US" sz="2200" b="1" dirty="0" smtClean="0">
                <a:solidFill>
                  <a:schemeClr val="tx1"/>
                </a:solidFill>
              </a:rPr>
              <a:t>constant. But if </a:t>
            </a:r>
            <a:r>
              <a:rPr lang="en-US" sz="2200" b="1" i="1" dirty="0" smtClean="0">
                <a:solidFill>
                  <a:schemeClr val="tx1"/>
                </a:solidFill>
              </a:rPr>
              <a:t>X</a:t>
            </a:r>
            <a:r>
              <a:rPr lang="en-US" sz="2200" b="1" i="1" baseline="-25000" dirty="0" smtClean="0">
                <a:solidFill>
                  <a:schemeClr val="tx1"/>
                </a:solidFill>
              </a:rPr>
              <a:t>2 </a:t>
            </a:r>
            <a:r>
              <a:rPr lang="en-US" sz="2200" b="1" i="1" dirty="0" smtClean="0">
                <a:solidFill>
                  <a:schemeClr val="tx1"/>
                </a:solidFill>
              </a:rPr>
              <a:t> </a:t>
            </a:r>
            <a:r>
              <a:rPr lang="en-US" sz="2200" b="1" dirty="0" smtClean="0">
                <a:solidFill>
                  <a:schemeClr val="tx1"/>
                </a:solidFill>
              </a:rPr>
              <a:t>and  </a:t>
            </a:r>
            <a:r>
              <a:rPr lang="en-US" sz="2200" b="1" i="1" dirty="0" smtClean="0">
                <a:solidFill>
                  <a:schemeClr val="tx1"/>
                </a:solidFill>
              </a:rPr>
              <a:t>X</a:t>
            </a:r>
            <a:r>
              <a:rPr lang="en-US" sz="2200" b="1" i="1" baseline="-25000" dirty="0" smtClean="0">
                <a:solidFill>
                  <a:schemeClr val="tx1"/>
                </a:solidFill>
              </a:rPr>
              <a:t>3 </a:t>
            </a:r>
            <a:r>
              <a:rPr lang="en-US" sz="2200" b="1" i="1" dirty="0" smtClean="0">
                <a:solidFill>
                  <a:schemeClr val="tx1"/>
                </a:solidFill>
              </a:rPr>
              <a:t> </a:t>
            </a:r>
            <a:r>
              <a:rPr lang="en-US" sz="2200" b="1" dirty="0" smtClean="0">
                <a:solidFill>
                  <a:schemeClr val="tx1"/>
                </a:solidFill>
              </a:rPr>
              <a:t>are perfectly collinear, there </a:t>
            </a:r>
          </a:p>
          <a:p>
            <a:pPr>
              <a:buNone/>
            </a:pPr>
            <a:r>
              <a:rPr lang="en-US" sz="2200" b="1" dirty="0" smtClean="0">
                <a:solidFill>
                  <a:schemeClr val="tx1"/>
                </a:solidFill>
              </a:rPr>
              <a:t>is no way </a:t>
            </a:r>
            <a:r>
              <a:rPr lang="en-US" sz="2200" b="1" i="1" dirty="0" smtClean="0">
                <a:solidFill>
                  <a:schemeClr val="tx1"/>
                </a:solidFill>
              </a:rPr>
              <a:t>X</a:t>
            </a:r>
            <a:r>
              <a:rPr lang="en-US" sz="2200" b="1" i="1" baseline="-25000" dirty="0" smtClean="0">
                <a:solidFill>
                  <a:schemeClr val="tx1"/>
                </a:solidFill>
              </a:rPr>
              <a:t>3 </a:t>
            </a:r>
            <a:r>
              <a:rPr lang="en-US" sz="2200" b="1" i="1" dirty="0" smtClean="0">
                <a:solidFill>
                  <a:schemeClr val="tx1"/>
                </a:solidFill>
              </a:rPr>
              <a:t> </a:t>
            </a:r>
            <a:r>
              <a:rPr lang="en-US" sz="2200" b="1" dirty="0" smtClean="0">
                <a:solidFill>
                  <a:schemeClr val="tx1"/>
                </a:solidFill>
              </a:rPr>
              <a:t>can be kept constant : As </a:t>
            </a:r>
            <a:r>
              <a:rPr lang="en-US" sz="2200" b="1" i="1" dirty="0" smtClean="0">
                <a:solidFill>
                  <a:schemeClr val="tx1"/>
                </a:solidFill>
              </a:rPr>
              <a:t>X</a:t>
            </a:r>
            <a:r>
              <a:rPr lang="en-US" sz="2200" b="1" i="1" baseline="-25000" dirty="0" smtClean="0">
                <a:solidFill>
                  <a:schemeClr val="tx1"/>
                </a:solidFill>
              </a:rPr>
              <a:t>2</a:t>
            </a:r>
            <a:r>
              <a:rPr lang="en-US" sz="2200" b="1" i="1" dirty="0" smtClean="0">
                <a:solidFill>
                  <a:schemeClr val="tx1"/>
                </a:solidFill>
              </a:rPr>
              <a:t> </a:t>
            </a:r>
            <a:r>
              <a:rPr lang="en-US" sz="2200" b="1" dirty="0" smtClean="0">
                <a:solidFill>
                  <a:schemeClr val="tx1"/>
                </a:solidFill>
              </a:rPr>
              <a:t>changes, so does </a:t>
            </a:r>
            <a:r>
              <a:rPr lang="en-US" sz="2200" b="1" i="1" dirty="0" smtClean="0">
                <a:solidFill>
                  <a:schemeClr val="tx1"/>
                </a:solidFill>
              </a:rPr>
              <a:t>X</a:t>
            </a:r>
            <a:r>
              <a:rPr lang="en-US" sz="2200" b="1" i="1" baseline="-25000" dirty="0" smtClean="0">
                <a:solidFill>
                  <a:schemeClr val="tx1"/>
                </a:solidFill>
              </a:rPr>
              <a:t>3</a:t>
            </a:r>
            <a:r>
              <a:rPr lang="en-US" sz="2200" b="1" i="1" dirty="0" smtClean="0">
                <a:solidFill>
                  <a:schemeClr val="tx1"/>
                </a:solidFill>
              </a:rPr>
              <a:t> </a:t>
            </a:r>
            <a:r>
              <a:rPr lang="en-US" sz="2200" b="1" dirty="0" smtClean="0">
                <a:solidFill>
                  <a:schemeClr val="tx1"/>
                </a:solidFill>
              </a:rPr>
              <a:t>by factor   .</a:t>
            </a:r>
          </a:p>
          <a:p>
            <a:pPr>
              <a:buNone/>
            </a:pPr>
            <a:r>
              <a:rPr lang="en-US" sz="2200" b="1" dirty="0" smtClean="0">
                <a:solidFill>
                  <a:schemeClr val="tx1"/>
                </a:solidFill>
              </a:rPr>
              <a:t>What it means, then, is that there is no way of entangling the separate </a:t>
            </a:r>
          </a:p>
          <a:p>
            <a:pPr>
              <a:buNone/>
            </a:pPr>
            <a:r>
              <a:rPr lang="en-US" sz="2200" b="1" dirty="0" smtClean="0">
                <a:solidFill>
                  <a:schemeClr val="tx1"/>
                </a:solidFill>
              </a:rPr>
              <a:t>influences of </a:t>
            </a:r>
            <a:r>
              <a:rPr lang="en-US" sz="2200" b="1" i="1" dirty="0" smtClean="0">
                <a:solidFill>
                  <a:schemeClr val="tx1"/>
                </a:solidFill>
              </a:rPr>
              <a:t>X</a:t>
            </a:r>
            <a:r>
              <a:rPr lang="en-US" sz="2200" b="1" i="1" baseline="-25000" dirty="0" smtClean="0">
                <a:solidFill>
                  <a:schemeClr val="tx1"/>
                </a:solidFill>
              </a:rPr>
              <a:t>2 </a:t>
            </a:r>
            <a:r>
              <a:rPr lang="en-US" sz="2200" b="1" i="1" dirty="0" smtClean="0">
                <a:solidFill>
                  <a:schemeClr val="tx1"/>
                </a:solidFill>
              </a:rPr>
              <a:t> </a:t>
            </a:r>
            <a:r>
              <a:rPr lang="en-US" sz="2200" b="1" dirty="0" smtClean="0">
                <a:solidFill>
                  <a:schemeClr val="tx1"/>
                </a:solidFill>
              </a:rPr>
              <a:t>and  </a:t>
            </a:r>
            <a:r>
              <a:rPr lang="en-US" sz="2200" b="1" i="1" dirty="0" smtClean="0">
                <a:solidFill>
                  <a:schemeClr val="tx1"/>
                </a:solidFill>
              </a:rPr>
              <a:t>X</a:t>
            </a:r>
            <a:r>
              <a:rPr lang="en-US" sz="2200" b="1" i="1" baseline="-25000" dirty="0" smtClean="0">
                <a:solidFill>
                  <a:schemeClr val="tx1"/>
                </a:solidFill>
              </a:rPr>
              <a:t>3</a:t>
            </a:r>
            <a:r>
              <a:rPr lang="en-US" sz="2200" b="1" i="1" dirty="0" smtClean="0">
                <a:solidFill>
                  <a:schemeClr val="tx1"/>
                </a:solidFill>
              </a:rPr>
              <a:t> </a:t>
            </a:r>
            <a:r>
              <a:rPr lang="en-US" sz="2200" b="1" dirty="0" smtClean="0">
                <a:solidFill>
                  <a:schemeClr val="tx1"/>
                </a:solidFill>
              </a:rPr>
              <a:t>from the given sample : For practical purposes </a:t>
            </a:r>
          </a:p>
          <a:p>
            <a:pPr>
              <a:buNone/>
            </a:pPr>
            <a:r>
              <a:rPr lang="en-US" sz="2200" b="1" i="1" dirty="0" smtClean="0">
                <a:solidFill>
                  <a:schemeClr val="tx1"/>
                </a:solidFill>
              </a:rPr>
              <a:t>X</a:t>
            </a:r>
            <a:r>
              <a:rPr lang="en-US" sz="2200" b="1" i="1" baseline="-25000" dirty="0" smtClean="0">
                <a:solidFill>
                  <a:schemeClr val="tx1"/>
                </a:solidFill>
              </a:rPr>
              <a:t>2 </a:t>
            </a:r>
            <a:r>
              <a:rPr lang="en-US" sz="2200" b="1" i="1" dirty="0" smtClean="0">
                <a:solidFill>
                  <a:schemeClr val="tx1"/>
                </a:solidFill>
              </a:rPr>
              <a:t> </a:t>
            </a:r>
            <a:r>
              <a:rPr lang="en-US" sz="2200" b="1" dirty="0" smtClean="0">
                <a:solidFill>
                  <a:schemeClr val="tx1"/>
                </a:solidFill>
              </a:rPr>
              <a:t>and  </a:t>
            </a:r>
            <a:r>
              <a:rPr lang="en-US" sz="2200" b="1" i="1" dirty="0" smtClean="0">
                <a:solidFill>
                  <a:schemeClr val="tx1"/>
                </a:solidFill>
              </a:rPr>
              <a:t>X</a:t>
            </a:r>
            <a:r>
              <a:rPr lang="en-US" sz="2200" b="1" i="1" baseline="-25000" dirty="0" smtClean="0">
                <a:solidFill>
                  <a:schemeClr val="tx1"/>
                </a:solidFill>
              </a:rPr>
              <a:t>3</a:t>
            </a:r>
            <a:r>
              <a:rPr lang="en-US" sz="2200" b="1" i="1" dirty="0" smtClean="0">
                <a:solidFill>
                  <a:schemeClr val="tx1"/>
                </a:solidFill>
              </a:rPr>
              <a:t> </a:t>
            </a:r>
            <a:r>
              <a:rPr lang="en-US" sz="2200" b="1" dirty="0" smtClean="0">
                <a:solidFill>
                  <a:schemeClr val="tx1"/>
                </a:solidFill>
              </a:rPr>
              <a:t>are indistinguishable. In applied econometrics this problem is </a:t>
            </a:r>
          </a:p>
          <a:p>
            <a:pPr>
              <a:buNone/>
            </a:pPr>
            <a:r>
              <a:rPr lang="en-US" sz="2200" b="1" dirty="0" smtClean="0">
                <a:solidFill>
                  <a:schemeClr val="tx1"/>
                </a:solidFill>
              </a:rPr>
              <a:t>most damaging since the entire intent is to separate the partial effects of </a:t>
            </a:r>
          </a:p>
          <a:p>
            <a:pPr>
              <a:buNone/>
            </a:pPr>
            <a:r>
              <a:rPr lang="en-US" sz="2200" b="1" dirty="0" smtClean="0">
                <a:solidFill>
                  <a:schemeClr val="tx1"/>
                </a:solidFill>
              </a:rPr>
              <a:t>each </a:t>
            </a:r>
            <a:r>
              <a:rPr lang="en-US" sz="2200" b="1" i="1" dirty="0" smtClean="0">
                <a:solidFill>
                  <a:schemeClr val="tx1"/>
                </a:solidFill>
              </a:rPr>
              <a:t>X</a:t>
            </a:r>
            <a:r>
              <a:rPr lang="en-US" sz="2200" b="1" dirty="0" smtClean="0">
                <a:solidFill>
                  <a:schemeClr val="tx1"/>
                </a:solidFill>
              </a:rPr>
              <a:t> upon the dependent variable. </a:t>
            </a:r>
            <a:r>
              <a:rPr lang="en-US" sz="2200" b="1" i="1" baseline="-25000" dirty="0" smtClean="0">
                <a:solidFill>
                  <a:schemeClr val="tx1"/>
                </a:solidFill>
              </a:rPr>
              <a:t> </a:t>
            </a:r>
            <a:r>
              <a:rPr lang="en-US" sz="2200" b="1" i="1" dirty="0" smtClean="0">
                <a:solidFill>
                  <a:schemeClr val="tx1"/>
                </a:solidFill>
              </a:rPr>
              <a:t>  </a:t>
            </a:r>
            <a:r>
              <a:rPr lang="en-US" sz="2200" b="1" i="1" baseline="-25000" dirty="0" smtClean="0">
                <a:solidFill>
                  <a:schemeClr val="tx1"/>
                </a:solidFill>
              </a:rPr>
              <a:t> </a:t>
            </a:r>
            <a:r>
              <a:rPr lang="en-US" sz="2200" b="1" i="1" dirty="0" smtClean="0">
                <a:solidFill>
                  <a:schemeClr val="tx1"/>
                </a:solidFill>
              </a:rPr>
              <a:t> </a:t>
            </a:r>
          </a:p>
          <a:p>
            <a:pPr>
              <a:buNone/>
            </a:pPr>
            <a:r>
              <a:rPr lang="en-US" sz="2200" b="1" dirty="0" smtClean="0">
                <a:solidFill>
                  <a:schemeClr val="tx1"/>
                </a:solidFill>
              </a:rPr>
              <a:t>Therefore in case of perfect multicollinearity one cannot get a unique </a:t>
            </a:r>
          </a:p>
          <a:p>
            <a:pPr>
              <a:buNone/>
            </a:pPr>
            <a:r>
              <a:rPr lang="en-US" sz="2200" b="1" dirty="0" smtClean="0">
                <a:solidFill>
                  <a:schemeClr val="tx1"/>
                </a:solidFill>
              </a:rPr>
              <a:t>solution for the individual regression coefficients. But notice that one can </a:t>
            </a:r>
          </a:p>
          <a:p>
            <a:pPr>
              <a:buNone/>
            </a:pPr>
            <a:r>
              <a:rPr lang="en-US" sz="2200" b="1" dirty="0" smtClean="0">
                <a:solidFill>
                  <a:schemeClr val="tx1"/>
                </a:solidFill>
              </a:rPr>
              <a:t>get a unique solution for linear combinations of these coefficients.</a:t>
            </a:r>
            <a:endParaRPr lang="en-US" sz="2200" b="1" dirty="0">
              <a:solidFill>
                <a:schemeClr val="tx1"/>
              </a:solidFill>
            </a:endParaRPr>
          </a:p>
        </p:txBody>
      </p:sp>
      <p:sp>
        <p:nvSpPr>
          <p:cNvPr id="921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pic>
        <p:nvPicPr>
          <p:cNvPr id="92161"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609600" y="1600200"/>
            <a:ext cx="257175" cy="361950"/>
          </a:xfrm>
          <a:prstGeom prst="rect">
            <a:avLst/>
          </a:prstGeom>
          <a:noFill/>
        </p:spPr>
      </p:pic>
      <p:sp>
        <p:nvSpPr>
          <p:cNvPr id="9216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pic>
        <p:nvPicPr>
          <p:cNvPr id="92163" name="Picture 3"/>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8686800" y="2438400"/>
            <a:ext cx="133350" cy="34290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19200"/>
            <a:ext cx="8839200" cy="5486400"/>
          </a:xfrm>
        </p:spPr>
        <p:txBody>
          <a:bodyPr/>
          <a:lstStyle/>
          <a:p>
            <a:pPr>
              <a:buNone/>
            </a:pPr>
            <a:r>
              <a:rPr lang="en-US" sz="2200" b="1" i="1" dirty="0" smtClean="0">
                <a:solidFill>
                  <a:schemeClr val="tx1"/>
                </a:solidFill>
              </a:rPr>
              <a:t>Therefore, in case of perfect multicollinearity the variances and standard </a:t>
            </a:r>
          </a:p>
          <a:p>
            <a:pPr>
              <a:buNone/>
            </a:pPr>
            <a:r>
              <a:rPr lang="en-US" sz="2200" b="1" i="1" dirty="0" smtClean="0">
                <a:solidFill>
                  <a:schemeClr val="tx1"/>
                </a:solidFill>
              </a:rPr>
              <a:t>errors of      and      individually are infinite.</a:t>
            </a:r>
            <a:endParaRPr lang="en-US" sz="2200" b="1" i="1" dirty="0">
              <a:solidFill>
                <a:schemeClr val="tx1"/>
              </a:solidFill>
            </a:endParaRPr>
          </a:p>
        </p:txBody>
      </p:sp>
      <p:pic>
        <p:nvPicPr>
          <p:cNvPr id="4"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371600" y="1676400"/>
            <a:ext cx="257175" cy="361950"/>
          </a:xfrm>
          <a:prstGeom prst="rect">
            <a:avLst/>
          </a:prstGeom>
          <a:noFill/>
          <a:ln w="9525">
            <a:noFill/>
            <a:miter lim="800000"/>
            <a:headEnd/>
            <a:tailEnd/>
          </a:ln>
        </p:spPr>
      </p:pic>
      <p:pic>
        <p:nvPicPr>
          <p:cNvPr id="5"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286000" y="1676400"/>
            <a:ext cx="257175" cy="36195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8686800" cy="838200"/>
          </a:xfrm>
        </p:spPr>
        <p:txBody>
          <a:bodyPr/>
          <a:lstStyle/>
          <a:p>
            <a:pPr eaLnBrk="1" fontAlgn="auto" hangingPunct="1">
              <a:spcAft>
                <a:spcPts val="0"/>
              </a:spcAft>
              <a:defRPr/>
            </a:pPr>
            <a:r>
              <a:rPr lang="en-US" sz="2500" b="1" dirty="0" smtClean="0">
                <a:solidFill>
                  <a:schemeClr val="tx1"/>
                </a:solidFill>
              </a:rPr>
              <a:t>PRACTICAL CONSEQUENCES</a:t>
            </a:r>
            <a:endParaRPr lang="en-US" sz="2500" b="1" dirty="0">
              <a:solidFill>
                <a:schemeClr val="tx1"/>
              </a:solidFill>
            </a:endParaRPr>
          </a:p>
        </p:txBody>
      </p:sp>
      <p:sp>
        <p:nvSpPr>
          <p:cNvPr id="3" name="Content Placeholder 2"/>
          <p:cNvSpPr>
            <a:spLocks noGrp="1"/>
          </p:cNvSpPr>
          <p:nvPr>
            <p:ph idx="1"/>
          </p:nvPr>
        </p:nvSpPr>
        <p:spPr>
          <a:xfrm>
            <a:off x="152400" y="1143000"/>
            <a:ext cx="8839200" cy="5562600"/>
          </a:xfrm>
        </p:spPr>
        <p:txBody>
          <a:bodyPr>
            <a:normAutofit/>
          </a:bodyPr>
          <a:lstStyle/>
          <a:p>
            <a:pPr eaLnBrk="1" fontAlgn="auto" hangingPunct="1">
              <a:spcAft>
                <a:spcPts val="0"/>
              </a:spcAft>
              <a:buFont typeface="Wingdings 2"/>
              <a:buNone/>
              <a:defRPr/>
            </a:pPr>
            <a:r>
              <a:rPr lang="en-US" sz="2200" b="1" dirty="0" smtClean="0">
                <a:solidFill>
                  <a:schemeClr val="tx1"/>
                </a:solidFill>
              </a:rPr>
              <a:t>In cases of near or high multicollinearity, one is likely to encounter the </a:t>
            </a:r>
          </a:p>
          <a:p>
            <a:pPr eaLnBrk="1" fontAlgn="auto" hangingPunct="1">
              <a:spcAft>
                <a:spcPts val="0"/>
              </a:spcAft>
              <a:buFont typeface="Wingdings 2"/>
              <a:buNone/>
              <a:defRPr/>
            </a:pPr>
            <a:r>
              <a:rPr lang="en-US" sz="2200" b="1" dirty="0" smtClean="0">
                <a:solidFill>
                  <a:schemeClr val="tx1"/>
                </a:solidFill>
              </a:rPr>
              <a:t>following consequences: </a:t>
            </a: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ClrTx/>
              <a:buFont typeface="Wingdings" pitchFamily="2" charset="2"/>
              <a:buChar char="Ø"/>
              <a:defRPr/>
            </a:pPr>
            <a:r>
              <a:rPr lang="en-US" sz="2400" b="1" u="sng" dirty="0" smtClean="0">
                <a:solidFill>
                  <a:schemeClr val="tx1"/>
                </a:solidFill>
                <a:latin typeface="+mj-lt"/>
              </a:rPr>
              <a:t>Large Variances and Covariances of OLS estimators.</a:t>
            </a:r>
          </a:p>
          <a:p>
            <a:pPr eaLnBrk="1" fontAlgn="auto" hangingPunct="1">
              <a:spcAft>
                <a:spcPts val="0"/>
              </a:spcAft>
              <a:buFont typeface="Wingdings 2"/>
              <a:buNone/>
              <a:defRPr/>
            </a:pPr>
            <a:r>
              <a:rPr lang="en-US" sz="2200" b="1" dirty="0" smtClean="0">
                <a:solidFill>
                  <a:schemeClr val="tx1"/>
                </a:solidFill>
              </a:rPr>
              <a:t>To see large variance and covariances, let us consider the following </a:t>
            </a:r>
          </a:p>
          <a:p>
            <a:pPr eaLnBrk="1" fontAlgn="auto" hangingPunct="1">
              <a:spcAft>
                <a:spcPts val="0"/>
              </a:spcAft>
              <a:buFont typeface="Wingdings 2"/>
              <a:buNone/>
              <a:defRPr/>
            </a:pPr>
            <a:r>
              <a:rPr lang="en-US" sz="2200" b="1" dirty="0" smtClean="0">
                <a:solidFill>
                  <a:schemeClr val="tx1"/>
                </a:solidFill>
              </a:rPr>
              <a:t>deviation form of the model:</a:t>
            </a:r>
          </a:p>
          <a:p>
            <a:pPr eaLnBrk="1" fontAlgn="auto" hangingPunct="1">
              <a:spcAft>
                <a:spcPts val="0"/>
              </a:spcAft>
              <a:buFont typeface="Wingdings 2"/>
              <a:buNone/>
              <a:defRPr/>
            </a:pPr>
            <a:r>
              <a:rPr lang="en-US" sz="2200" b="1" baseline="-25000" dirty="0" smtClean="0">
                <a:solidFill>
                  <a:schemeClr val="tx1"/>
                </a:solidFill>
              </a:rPr>
              <a:t>  </a:t>
            </a:r>
            <a:r>
              <a:rPr lang="en-US" sz="2200" b="1" dirty="0" smtClean="0">
                <a:solidFill>
                  <a:schemeClr val="tx1"/>
                </a:solidFill>
              </a:rPr>
              <a:t>                                                                   </a:t>
            </a: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r>
              <a:rPr lang="en-US" sz="2200" b="1" dirty="0" smtClean="0">
                <a:solidFill>
                  <a:schemeClr val="tx1"/>
                </a:solidFill>
              </a:rPr>
              <a:t>for above equation we have, </a:t>
            </a: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r>
              <a:rPr lang="en-US" sz="2200" b="1" dirty="0" smtClean="0">
                <a:solidFill>
                  <a:schemeClr val="tx1"/>
                </a:solidFill>
              </a:rPr>
              <a:t>                                                                        ………………..1</a:t>
            </a:r>
            <a:endParaRPr lang="en-US" sz="2200" b="1" dirty="0">
              <a:solidFill>
                <a:schemeClr val="tx1"/>
              </a:solidFill>
            </a:endParaRPr>
          </a:p>
        </p:txBody>
      </p:sp>
      <p:sp>
        <p:nvSpPr>
          <p:cNvPr id="27652"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pic>
        <p:nvPicPr>
          <p:cNvPr id="27653"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362200" y="3657600"/>
            <a:ext cx="2686050" cy="361950"/>
          </a:xfrm>
          <a:prstGeom prst="rect">
            <a:avLst/>
          </a:prstGeom>
          <a:noFill/>
          <a:ln w="9525">
            <a:noFill/>
            <a:miter lim="800000"/>
            <a:headEnd/>
            <a:tailEnd/>
          </a:ln>
        </p:spPr>
      </p:pic>
      <p:sp>
        <p:nvSpPr>
          <p:cNvPr id="27654" name="Rectangle 3"/>
          <p:cNvSpPr>
            <a:spLocks noChangeArrowheads="1"/>
          </p:cNvSpPr>
          <p:nvPr/>
        </p:nvSpPr>
        <p:spPr bwMode="auto">
          <a:xfrm>
            <a:off x="0" y="819150"/>
            <a:ext cx="9144000" cy="0"/>
          </a:xfrm>
          <a:prstGeom prst="rect">
            <a:avLst/>
          </a:prstGeom>
          <a:noFill/>
          <a:ln w="9525">
            <a:noFill/>
            <a:miter lim="800000"/>
            <a:headEnd/>
            <a:tailEnd/>
          </a:ln>
        </p:spPr>
        <p:txBody>
          <a:bodyPr wrap="none" anchor="ctr">
            <a:spAutoFit/>
          </a:bodyPr>
          <a:lstStyle/>
          <a:p>
            <a:endParaRPr lang="en-US" dirty="0"/>
          </a:p>
        </p:txBody>
      </p:sp>
      <p:sp>
        <p:nvSpPr>
          <p:cNvPr id="27655"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sp>
        <p:nvSpPr>
          <p:cNvPr id="27656"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sp>
        <p:nvSpPr>
          <p:cNvPr id="2765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pic>
        <p:nvPicPr>
          <p:cNvPr id="27658"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209800" y="5133975"/>
            <a:ext cx="2886075" cy="733425"/>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p:cNvSpPr>
            <a:spLocks noGrp="1"/>
          </p:cNvSpPr>
          <p:nvPr>
            <p:ph idx="1"/>
          </p:nvPr>
        </p:nvSpPr>
        <p:spPr>
          <a:xfrm>
            <a:off x="76200" y="1066800"/>
            <a:ext cx="9067800" cy="5715000"/>
          </a:xfrm>
        </p:spPr>
        <p:txBody>
          <a:bodyPr/>
          <a:lstStyle/>
          <a:p>
            <a:pPr eaLnBrk="1" hangingPunct="1">
              <a:buFont typeface="Wingdings 2" pitchFamily="18" charset="2"/>
              <a:buNone/>
            </a:pPr>
            <a:r>
              <a:rPr lang="en-US" sz="2200" b="1" dirty="0" smtClean="0">
                <a:solidFill>
                  <a:schemeClr val="tx1"/>
                </a:solidFill>
              </a:rPr>
              <a:t>                 </a:t>
            </a:r>
          </a:p>
          <a:p>
            <a:pPr eaLnBrk="1" hangingPunct="1">
              <a:buFont typeface="Wingdings 2" pitchFamily="18" charset="2"/>
              <a:buNone/>
            </a:pPr>
            <a:r>
              <a:rPr lang="en-US" sz="2200" b="1" dirty="0" smtClean="0">
                <a:solidFill>
                  <a:schemeClr val="tx1"/>
                </a:solidFill>
              </a:rPr>
              <a:t>                                                                                 ……………………2</a:t>
            </a: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r>
              <a:rPr lang="en-US" sz="2200" b="1" dirty="0" smtClean="0">
                <a:solidFill>
                  <a:schemeClr val="tx1"/>
                </a:solidFill>
              </a:rPr>
              <a:t>                                                                                    …………………3</a:t>
            </a: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r>
              <a:rPr lang="en-US" sz="2200" b="1" dirty="0" smtClean="0">
                <a:solidFill>
                  <a:schemeClr val="tx1"/>
                </a:solidFill>
              </a:rPr>
              <a:t>Where r</a:t>
            </a:r>
            <a:r>
              <a:rPr lang="en-US" sz="2200" b="1" baseline="-25000" dirty="0" smtClean="0">
                <a:solidFill>
                  <a:schemeClr val="tx1"/>
                </a:solidFill>
              </a:rPr>
              <a:t>23 </a:t>
            </a:r>
            <a:r>
              <a:rPr lang="en-US" sz="2200" b="1" dirty="0" smtClean="0">
                <a:solidFill>
                  <a:schemeClr val="tx1"/>
                </a:solidFill>
              </a:rPr>
              <a:t> is the coefficient of correlation between X</a:t>
            </a:r>
            <a:r>
              <a:rPr lang="en-US" sz="2200" b="1" baseline="-25000" dirty="0" smtClean="0">
                <a:solidFill>
                  <a:schemeClr val="tx1"/>
                </a:solidFill>
              </a:rPr>
              <a:t>2</a:t>
            </a:r>
            <a:r>
              <a:rPr lang="en-US" sz="2200" b="1" dirty="0" smtClean="0">
                <a:solidFill>
                  <a:schemeClr val="tx1"/>
                </a:solidFill>
              </a:rPr>
              <a:t> and X</a:t>
            </a:r>
            <a:r>
              <a:rPr lang="en-US" sz="2200" b="1" baseline="-25000" dirty="0" smtClean="0">
                <a:solidFill>
                  <a:schemeClr val="tx1"/>
                </a:solidFill>
              </a:rPr>
              <a:t>3</a:t>
            </a:r>
            <a:r>
              <a:rPr lang="en-US" sz="2200" b="1" dirty="0" smtClean="0">
                <a:solidFill>
                  <a:schemeClr val="tx1"/>
                </a:solidFill>
              </a:rPr>
              <a:t> .</a:t>
            </a:r>
          </a:p>
          <a:p>
            <a:pPr eaLnBrk="1" hangingPunct="1">
              <a:buFont typeface="Wingdings 2" pitchFamily="18" charset="2"/>
              <a:buNone/>
            </a:pPr>
            <a:r>
              <a:rPr lang="en-US" sz="2200" b="1" dirty="0" smtClean="0">
                <a:solidFill>
                  <a:schemeClr val="tx1"/>
                </a:solidFill>
              </a:rPr>
              <a:t>It is apparent from equation 1 and 2 that as r</a:t>
            </a:r>
            <a:r>
              <a:rPr lang="en-US" sz="2200" b="1" baseline="-25000" dirty="0" smtClean="0">
                <a:solidFill>
                  <a:schemeClr val="tx1"/>
                </a:solidFill>
              </a:rPr>
              <a:t>23</a:t>
            </a:r>
            <a:r>
              <a:rPr lang="en-US" sz="2200" b="1" dirty="0" smtClean="0">
                <a:solidFill>
                  <a:schemeClr val="tx1"/>
                </a:solidFill>
              </a:rPr>
              <a:t> tends toward 1. that is as </a:t>
            </a:r>
          </a:p>
          <a:p>
            <a:pPr eaLnBrk="1" hangingPunct="1">
              <a:buFont typeface="Wingdings 2" pitchFamily="18" charset="2"/>
              <a:buNone/>
            </a:pPr>
            <a:r>
              <a:rPr lang="en-US" sz="2200" b="1" dirty="0" smtClean="0">
                <a:solidFill>
                  <a:schemeClr val="tx1"/>
                </a:solidFill>
              </a:rPr>
              <a:t>collinearity increases, the variances of the two estimators increase and in </a:t>
            </a:r>
          </a:p>
          <a:p>
            <a:pPr eaLnBrk="1" hangingPunct="1">
              <a:buFont typeface="Wingdings 2" pitchFamily="18" charset="2"/>
              <a:buNone/>
            </a:pPr>
            <a:r>
              <a:rPr lang="en-US" sz="2200" b="1" dirty="0" smtClean="0">
                <a:solidFill>
                  <a:schemeClr val="tx1"/>
                </a:solidFill>
              </a:rPr>
              <a:t>the limit when r</a:t>
            </a:r>
            <a:r>
              <a:rPr lang="en-US" sz="2200" b="1" baseline="-25000" dirty="0" smtClean="0">
                <a:solidFill>
                  <a:schemeClr val="tx1"/>
                </a:solidFill>
              </a:rPr>
              <a:t>23 </a:t>
            </a:r>
            <a:r>
              <a:rPr lang="en-US" sz="2200" b="1" dirty="0" smtClean="0">
                <a:solidFill>
                  <a:schemeClr val="tx1"/>
                </a:solidFill>
              </a:rPr>
              <a:t> = 1, they are infinite. It is equally clear from equation 3 </a:t>
            </a:r>
          </a:p>
          <a:p>
            <a:pPr eaLnBrk="1" hangingPunct="1">
              <a:buFont typeface="Wingdings 2" pitchFamily="18" charset="2"/>
              <a:buNone/>
            </a:pPr>
            <a:r>
              <a:rPr lang="en-US" sz="2200" b="1" dirty="0" smtClean="0">
                <a:solidFill>
                  <a:schemeClr val="tx1"/>
                </a:solidFill>
              </a:rPr>
              <a:t>that as r</a:t>
            </a:r>
            <a:r>
              <a:rPr lang="en-US" sz="2200" b="1" baseline="-25000" dirty="0" smtClean="0">
                <a:solidFill>
                  <a:schemeClr val="tx1"/>
                </a:solidFill>
              </a:rPr>
              <a:t>23</a:t>
            </a:r>
            <a:r>
              <a:rPr lang="en-US" sz="2200" b="1" dirty="0" smtClean="0">
                <a:solidFill>
                  <a:schemeClr val="tx1"/>
                </a:solidFill>
              </a:rPr>
              <a:t> increases toward 1, the covariance of the two estimators also </a:t>
            </a:r>
          </a:p>
          <a:p>
            <a:pPr eaLnBrk="1" hangingPunct="1">
              <a:buFont typeface="Wingdings 2" pitchFamily="18" charset="2"/>
              <a:buNone/>
            </a:pPr>
            <a:r>
              <a:rPr lang="en-US" sz="2200" b="1" dirty="0" smtClean="0">
                <a:solidFill>
                  <a:schemeClr val="tx1"/>
                </a:solidFill>
              </a:rPr>
              <a:t>increases in absolute value. </a:t>
            </a:r>
          </a:p>
        </p:txBody>
      </p:sp>
      <p:sp>
        <p:nvSpPr>
          <p:cNvPr id="28675"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sp>
        <p:nvSpPr>
          <p:cNvPr id="28676"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pic>
        <p:nvPicPr>
          <p:cNvPr id="28677"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076450" y="2619375"/>
            <a:ext cx="3867150" cy="1038225"/>
          </a:xfrm>
          <a:prstGeom prst="rect">
            <a:avLst/>
          </a:prstGeom>
          <a:noFill/>
          <a:ln w="9525">
            <a:noFill/>
            <a:miter lim="800000"/>
            <a:headEnd/>
            <a:tailEnd/>
          </a:ln>
        </p:spPr>
      </p:pic>
      <p:sp>
        <p:nvSpPr>
          <p:cNvPr id="28678"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pic>
        <p:nvPicPr>
          <p:cNvPr id="28679" name="Picture 5"/>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438400" y="1447800"/>
            <a:ext cx="2971800" cy="7334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8991600" cy="5638800"/>
          </a:xfrm>
        </p:spPr>
        <p:txBody>
          <a:bodyPr>
            <a:normAutofit/>
          </a:bodyPr>
          <a:lstStyle/>
          <a:p>
            <a:pPr eaLnBrk="1" fontAlgn="auto" hangingPunct="1">
              <a:spcAft>
                <a:spcPts val="0"/>
              </a:spcAft>
              <a:buFont typeface="Wingdings 2"/>
              <a:buNone/>
              <a:defRPr/>
            </a:pPr>
            <a:r>
              <a:rPr lang="en-US" sz="2200" b="1" dirty="0" smtClean="0">
                <a:solidFill>
                  <a:schemeClr val="tx1"/>
                </a:solidFill>
              </a:rPr>
              <a:t>The speed with which variances and covariances increase can be seen </a:t>
            </a:r>
          </a:p>
          <a:p>
            <a:pPr eaLnBrk="1" fontAlgn="auto" hangingPunct="1">
              <a:spcAft>
                <a:spcPts val="0"/>
              </a:spcAft>
              <a:buFont typeface="Wingdings 2"/>
              <a:buNone/>
              <a:defRPr/>
            </a:pPr>
            <a:r>
              <a:rPr lang="en-US" sz="2200" b="1" dirty="0" smtClean="0">
                <a:solidFill>
                  <a:schemeClr val="tx1"/>
                </a:solidFill>
              </a:rPr>
              <a:t>with the </a:t>
            </a:r>
            <a:r>
              <a:rPr lang="en-US" sz="2200" b="1" dirty="0" smtClean="0">
                <a:solidFill>
                  <a:schemeClr val="tx1"/>
                </a:solidFill>
                <a:latin typeface="+mj-lt"/>
              </a:rPr>
              <a:t>VARIANCE INFLATING FACTOR (VIF), </a:t>
            </a:r>
            <a:r>
              <a:rPr lang="en-US" sz="2200" b="1" dirty="0" smtClean="0">
                <a:solidFill>
                  <a:schemeClr val="tx1"/>
                </a:solidFill>
              </a:rPr>
              <a:t>which is defined as,</a:t>
            </a: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r>
              <a:rPr lang="en-US" sz="2200" b="1" dirty="0" smtClean="0">
                <a:solidFill>
                  <a:schemeClr val="tx1"/>
                </a:solidFill>
              </a:rPr>
              <a:t>VIF shows how the variance of an estimator is inflated by the presence of </a:t>
            </a:r>
          </a:p>
          <a:p>
            <a:pPr eaLnBrk="1" fontAlgn="auto" hangingPunct="1">
              <a:spcAft>
                <a:spcPts val="0"/>
              </a:spcAft>
              <a:buFont typeface="Wingdings 2"/>
              <a:buNone/>
              <a:defRPr/>
            </a:pPr>
            <a:r>
              <a:rPr lang="en-US" sz="2200" b="1" dirty="0" smtClean="0">
                <a:solidFill>
                  <a:schemeClr val="tx1"/>
                </a:solidFill>
              </a:rPr>
              <a:t>multicollinearity. As	approaches 1, the VIF approaches infinity. That is </a:t>
            </a:r>
          </a:p>
          <a:p>
            <a:pPr eaLnBrk="1" fontAlgn="auto" hangingPunct="1">
              <a:spcAft>
                <a:spcPts val="0"/>
              </a:spcAft>
              <a:buFont typeface="Wingdings 2"/>
              <a:buNone/>
              <a:defRPr/>
            </a:pPr>
            <a:r>
              <a:rPr lang="en-US" sz="2200" b="1" dirty="0" smtClean="0">
                <a:solidFill>
                  <a:schemeClr val="tx1"/>
                </a:solidFill>
              </a:rPr>
              <a:t>as the extent of collinearity increases the variances of an estimator </a:t>
            </a:r>
          </a:p>
          <a:p>
            <a:pPr eaLnBrk="1" fontAlgn="auto" hangingPunct="1">
              <a:spcAft>
                <a:spcPts val="0"/>
              </a:spcAft>
              <a:buFont typeface="Wingdings 2"/>
              <a:buNone/>
              <a:defRPr/>
            </a:pPr>
            <a:r>
              <a:rPr lang="en-US" sz="2200" b="1" dirty="0" smtClean="0">
                <a:solidFill>
                  <a:schemeClr val="tx1"/>
                </a:solidFill>
              </a:rPr>
              <a:t>increases, and in the limit it can become infinite. As can be readily seen, if </a:t>
            </a:r>
          </a:p>
          <a:p>
            <a:pPr eaLnBrk="1" fontAlgn="auto" hangingPunct="1">
              <a:spcAft>
                <a:spcPts val="0"/>
              </a:spcAft>
              <a:buFont typeface="Wingdings 2"/>
              <a:buNone/>
              <a:defRPr/>
            </a:pPr>
            <a:r>
              <a:rPr lang="en-US" sz="2200" b="1" dirty="0" smtClean="0">
                <a:solidFill>
                  <a:schemeClr val="tx1"/>
                </a:solidFill>
              </a:rPr>
              <a:t>there is no collinearity between X</a:t>
            </a:r>
            <a:r>
              <a:rPr lang="en-US" sz="2200" b="1" baseline="-25000" dirty="0" smtClean="0">
                <a:solidFill>
                  <a:schemeClr val="tx1"/>
                </a:solidFill>
              </a:rPr>
              <a:t>2</a:t>
            </a:r>
            <a:r>
              <a:rPr lang="en-US" sz="2200" b="1" dirty="0" smtClean="0">
                <a:solidFill>
                  <a:schemeClr val="tx1"/>
                </a:solidFill>
              </a:rPr>
              <a:t> and X</a:t>
            </a:r>
            <a:r>
              <a:rPr lang="en-US" sz="2200" b="1" baseline="-25000" dirty="0" smtClean="0">
                <a:solidFill>
                  <a:schemeClr val="tx1"/>
                </a:solidFill>
              </a:rPr>
              <a:t>3</a:t>
            </a:r>
            <a:r>
              <a:rPr lang="en-US" sz="2200" b="1" dirty="0" smtClean="0">
                <a:solidFill>
                  <a:schemeClr val="tx1"/>
                </a:solidFill>
              </a:rPr>
              <a:t> , VIF will be 1. </a:t>
            </a:r>
          </a:p>
          <a:p>
            <a:pPr eaLnBrk="1" fontAlgn="auto" hangingPunct="1">
              <a:spcAft>
                <a:spcPts val="0"/>
              </a:spcAft>
              <a:buFont typeface="Wingdings 2"/>
              <a:buNone/>
              <a:defRPr/>
            </a:pPr>
            <a:r>
              <a:rPr lang="en-US" sz="2200" b="1" dirty="0" smtClean="0">
                <a:solidFill>
                  <a:schemeClr val="tx1"/>
                </a:solidFill>
              </a:rPr>
              <a:t>Using this definition, we can express equation 1 and 2 as: </a:t>
            </a:r>
            <a:endParaRPr lang="en-US" sz="2200" b="1" dirty="0">
              <a:solidFill>
                <a:schemeClr val="tx1"/>
              </a:solidFill>
            </a:endParaRPr>
          </a:p>
        </p:txBody>
      </p:sp>
      <p:sp>
        <p:nvSpPr>
          <p:cNvPr id="2969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pic>
        <p:nvPicPr>
          <p:cNvPr id="29700"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895600" y="2133600"/>
            <a:ext cx="1685925" cy="695325"/>
          </a:xfrm>
          <a:prstGeom prst="rect">
            <a:avLst/>
          </a:prstGeom>
          <a:noFill/>
          <a:ln w="9525">
            <a:noFill/>
            <a:miter lim="800000"/>
            <a:headEnd/>
            <a:tailEnd/>
          </a:ln>
        </p:spPr>
      </p:pic>
      <p:sp>
        <p:nvSpPr>
          <p:cNvPr id="29701"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pic>
        <p:nvPicPr>
          <p:cNvPr id="29702"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438400" y="3200400"/>
            <a:ext cx="333375" cy="352425"/>
          </a:xfrm>
          <a:prstGeom prst="rect">
            <a:avLst/>
          </a:prstGeom>
          <a:noFill/>
          <a:ln w="9525">
            <a:noFill/>
            <a:miter lim="800000"/>
            <a:headEnd/>
            <a:tailEnd/>
          </a:ln>
        </p:spPr>
      </p:pic>
      <p:sp>
        <p:nvSpPr>
          <p:cNvPr id="29703"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sp>
        <p:nvSpPr>
          <p:cNvPr id="29704"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pic>
        <p:nvPicPr>
          <p:cNvPr id="29705" name="Picture 7"/>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2705100" y="5410200"/>
            <a:ext cx="2400300" cy="7334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2"/>
          <p:cNvSpPr>
            <a:spLocks noGrp="1"/>
          </p:cNvSpPr>
          <p:nvPr>
            <p:ph idx="1"/>
          </p:nvPr>
        </p:nvSpPr>
        <p:spPr>
          <a:xfrm>
            <a:off x="76200" y="1143000"/>
            <a:ext cx="8991600" cy="5638800"/>
          </a:xfrm>
        </p:spPr>
        <p:txBody>
          <a:bodyPr/>
          <a:lstStyle/>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r>
              <a:rPr lang="en-US" sz="2200" b="1" dirty="0" smtClean="0">
                <a:solidFill>
                  <a:schemeClr val="tx1"/>
                </a:solidFill>
              </a:rPr>
              <a:t>Which shows that the variances of      and      are directly proportional to </a:t>
            </a:r>
          </a:p>
          <a:p>
            <a:pPr eaLnBrk="1" hangingPunct="1">
              <a:buFont typeface="Wingdings 2" pitchFamily="18" charset="2"/>
              <a:buNone/>
            </a:pPr>
            <a:r>
              <a:rPr lang="en-US" sz="2200" b="1" dirty="0" smtClean="0">
                <a:solidFill>
                  <a:schemeClr val="tx1"/>
                </a:solidFill>
              </a:rPr>
              <a:t>VIF.</a:t>
            </a:r>
          </a:p>
          <a:p>
            <a:pPr eaLnBrk="1" hangingPunct="1">
              <a:buFont typeface="Wingdings 2" pitchFamily="18" charset="2"/>
              <a:buNone/>
            </a:pPr>
            <a:r>
              <a:rPr lang="en-US" sz="2200" b="1" dirty="0" smtClean="0">
                <a:solidFill>
                  <a:schemeClr val="tx1"/>
                </a:solidFill>
              </a:rPr>
              <a:t>Thus,       is large or small will depend on the three ingredients:</a:t>
            </a:r>
          </a:p>
          <a:p>
            <a:pPr eaLnBrk="1" hangingPunct="1">
              <a:buFont typeface="Wingdings 2" pitchFamily="18" charset="2"/>
              <a:buNone/>
            </a:pPr>
            <a:r>
              <a:rPr lang="en-US" sz="2200" b="1" dirty="0" smtClean="0">
                <a:solidFill>
                  <a:schemeClr val="tx1"/>
                </a:solidFill>
              </a:rPr>
              <a:t>1.     </a:t>
            </a:r>
          </a:p>
          <a:p>
            <a:pPr eaLnBrk="1" hangingPunct="1">
              <a:buFont typeface="Wingdings 2" pitchFamily="18" charset="2"/>
              <a:buNone/>
            </a:pPr>
            <a:r>
              <a:rPr lang="en-US" sz="2200" b="1" dirty="0" smtClean="0">
                <a:solidFill>
                  <a:schemeClr val="tx1"/>
                </a:solidFill>
              </a:rPr>
              <a:t>2. VIF</a:t>
            </a:r>
          </a:p>
          <a:p>
            <a:pPr eaLnBrk="1" hangingPunct="1">
              <a:buFont typeface="Wingdings 2" pitchFamily="18" charset="2"/>
              <a:buNone/>
            </a:pPr>
            <a:r>
              <a:rPr lang="en-US" sz="2200" b="1" dirty="0" smtClean="0">
                <a:solidFill>
                  <a:schemeClr val="tx1"/>
                </a:solidFill>
              </a:rPr>
              <a:t>3.         </a:t>
            </a:r>
          </a:p>
          <a:p>
            <a:pPr eaLnBrk="1" hangingPunct="1">
              <a:buFont typeface="Wingdings 2" pitchFamily="18" charset="2"/>
              <a:buNone/>
            </a:pPr>
            <a:r>
              <a:rPr lang="en-US" sz="2200" b="1" dirty="0" smtClean="0">
                <a:solidFill>
                  <a:schemeClr val="tx1"/>
                </a:solidFill>
              </a:rPr>
              <a:t>Larger the variability in a regressor, the smaller  the variance of the </a:t>
            </a:r>
          </a:p>
          <a:p>
            <a:pPr eaLnBrk="1" hangingPunct="1">
              <a:buFont typeface="Wingdings 2" pitchFamily="18" charset="2"/>
              <a:buNone/>
            </a:pPr>
            <a:r>
              <a:rPr lang="en-US" sz="2200" b="1" dirty="0" smtClean="0">
                <a:solidFill>
                  <a:schemeClr val="tx1"/>
                </a:solidFill>
              </a:rPr>
              <a:t>coefficient of that greater the precision with which that coefficient can be </a:t>
            </a:r>
          </a:p>
          <a:p>
            <a:pPr eaLnBrk="1" hangingPunct="1">
              <a:buFont typeface="Wingdings 2" pitchFamily="18" charset="2"/>
              <a:buNone/>
            </a:pPr>
            <a:r>
              <a:rPr lang="en-US" sz="2200" b="1" dirty="0" smtClean="0">
                <a:solidFill>
                  <a:schemeClr val="tx1"/>
                </a:solidFill>
              </a:rPr>
              <a:t>estimated.</a:t>
            </a:r>
          </a:p>
        </p:txBody>
      </p:sp>
      <p:pic>
        <p:nvPicPr>
          <p:cNvPr id="30723" name="Picture 5"/>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048000" y="1371600"/>
            <a:ext cx="2400300" cy="733425"/>
          </a:xfrm>
          <a:prstGeom prst="rect">
            <a:avLst/>
          </a:prstGeom>
          <a:noFill/>
          <a:ln w="9525">
            <a:noFill/>
            <a:miter lim="800000"/>
            <a:headEnd/>
            <a:tailEnd/>
          </a:ln>
        </p:spPr>
      </p:pic>
      <p:sp>
        <p:nvSpPr>
          <p:cNvPr id="30724"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pic>
        <p:nvPicPr>
          <p:cNvPr id="30725"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4267200" y="2362200"/>
            <a:ext cx="257175" cy="361950"/>
          </a:xfrm>
          <a:prstGeom prst="rect">
            <a:avLst/>
          </a:prstGeom>
          <a:noFill/>
          <a:ln w="9525">
            <a:noFill/>
            <a:miter lim="800000"/>
            <a:headEnd/>
            <a:tailEnd/>
          </a:ln>
        </p:spPr>
      </p:pic>
      <p:sp>
        <p:nvSpPr>
          <p:cNvPr id="30726"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pic>
        <p:nvPicPr>
          <p:cNvPr id="30727" name="Picture 3"/>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5153025" y="2362200"/>
            <a:ext cx="257175" cy="361950"/>
          </a:xfrm>
          <a:prstGeom prst="rect">
            <a:avLst/>
          </a:prstGeom>
          <a:noFill/>
          <a:ln w="9525">
            <a:noFill/>
            <a:miter lim="800000"/>
            <a:headEnd/>
            <a:tailEnd/>
          </a:ln>
        </p:spPr>
      </p:pic>
      <p:sp>
        <p:nvSpPr>
          <p:cNvPr id="30728"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pic>
        <p:nvPicPr>
          <p:cNvPr id="30729" name="Picture 5"/>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838200" y="3238500"/>
            <a:ext cx="409575" cy="342900"/>
          </a:xfrm>
          <a:prstGeom prst="rect">
            <a:avLst/>
          </a:prstGeom>
          <a:noFill/>
          <a:ln w="9525">
            <a:noFill/>
            <a:miter lim="800000"/>
            <a:headEnd/>
            <a:tailEnd/>
          </a:ln>
        </p:spPr>
      </p:pic>
      <p:sp>
        <p:nvSpPr>
          <p:cNvPr id="30730"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pic>
        <p:nvPicPr>
          <p:cNvPr id="30731" name="Picture 7"/>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457200" y="3609975"/>
            <a:ext cx="266700" cy="352425"/>
          </a:xfrm>
          <a:prstGeom prst="rect">
            <a:avLst/>
          </a:prstGeom>
          <a:noFill/>
          <a:ln w="9525">
            <a:noFill/>
            <a:miter lim="800000"/>
            <a:headEnd/>
            <a:tailEnd/>
          </a:ln>
        </p:spPr>
      </p:pic>
      <p:sp>
        <p:nvSpPr>
          <p:cNvPr id="30732"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latin typeface="Franklin Gothic Book" pitchFamily="34" charset="0"/>
            </a:endParaRPr>
          </a:p>
        </p:txBody>
      </p:sp>
      <p:pic>
        <p:nvPicPr>
          <p:cNvPr id="30733" name="Picture 9"/>
          <p:cNvPicPr>
            <a:picLocks noChangeAspect="1" noChangeArrowheads="1"/>
          </p:cNvPicPr>
          <p:nvPr/>
        </p:nvPicPr>
        <p:blipFill>
          <a:blip r:embed="rId7">
            <a:clrChange>
              <a:clrFrom>
                <a:srgbClr val="FFFFFF"/>
              </a:clrFrom>
              <a:clrTo>
                <a:srgbClr val="FFFFFF">
                  <a:alpha val="0"/>
                </a:srgbClr>
              </a:clrTo>
            </a:clrChange>
          </a:blip>
          <a:srcRect/>
          <a:stretch>
            <a:fillRect/>
          </a:stretch>
        </p:blipFill>
        <p:spPr bwMode="auto">
          <a:xfrm>
            <a:off x="457200" y="4457700"/>
            <a:ext cx="609600" cy="342900"/>
          </a:xfrm>
          <a:prstGeom prst="rect">
            <a:avLst/>
          </a:prstGeom>
          <a:noFill/>
          <a:ln w="9525">
            <a:noFill/>
            <a:miter lim="800000"/>
            <a:headEnd/>
            <a:tailEnd/>
          </a:ln>
        </p:spPr>
      </p:pic>
      <p:sp>
        <p:nvSpPr>
          <p:cNvPr id="30735"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19200"/>
            <a:ext cx="8839200" cy="5410200"/>
          </a:xfrm>
        </p:spPr>
        <p:txBody>
          <a:bodyPr/>
          <a:lstStyle/>
          <a:p>
            <a:pPr>
              <a:buNone/>
            </a:pPr>
            <a:r>
              <a:rPr lang="en-US" sz="2200" b="1" dirty="0" smtClean="0">
                <a:solidFill>
                  <a:schemeClr val="tx1"/>
                </a:solidFill>
              </a:rPr>
              <a:t>To give some ideas about how fast variances and covariances increase </a:t>
            </a:r>
          </a:p>
          <a:p>
            <a:pPr>
              <a:buNone/>
            </a:pPr>
            <a:r>
              <a:rPr lang="en-US" sz="2200" b="1" dirty="0" smtClean="0">
                <a:solidFill>
                  <a:schemeClr val="tx1"/>
                </a:solidFill>
              </a:rPr>
              <a:t>as </a:t>
            </a:r>
            <a:r>
              <a:rPr lang="en-US" sz="2200" b="1" i="1" dirty="0" smtClean="0">
                <a:solidFill>
                  <a:schemeClr val="tx1"/>
                </a:solidFill>
              </a:rPr>
              <a:t>r</a:t>
            </a:r>
            <a:r>
              <a:rPr lang="en-US" sz="2200" b="1" i="1" baseline="-25000" dirty="0" smtClean="0">
                <a:solidFill>
                  <a:schemeClr val="tx1"/>
                </a:solidFill>
              </a:rPr>
              <a:t>23</a:t>
            </a:r>
            <a:r>
              <a:rPr lang="en-US" sz="2200" b="1" i="1" dirty="0" smtClean="0">
                <a:solidFill>
                  <a:schemeClr val="tx1"/>
                </a:solidFill>
              </a:rPr>
              <a:t> increases, </a:t>
            </a:r>
            <a:r>
              <a:rPr lang="en-US" sz="2200" b="1" dirty="0" smtClean="0">
                <a:solidFill>
                  <a:schemeClr val="tx1"/>
                </a:solidFill>
              </a:rPr>
              <a:t>consider the following example which gives these </a:t>
            </a:r>
          </a:p>
          <a:p>
            <a:pPr>
              <a:buNone/>
            </a:pPr>
            <a:r>
              <a:rPr lang="en-US" sz="2200" b="1" dirty="0" smtClean="0">
                <a:solidFill>
                  <a:schemeClr val="tx1"/>
                </a:solidFill>
              </a:rPr>
              <a:t>variances and covariances for selected value or </a:t>
            </a:r>
            <a:r>
              <a:rPr lang="en-US" sz="2200" b="1" i="1" dirty="0" smtClean="0">
                <a:solidFill>
                  <a:schemeClr val="tx1"/>
                </a:solidFill>
              </a:rPr>
              <a:t>r</a:t>
            </a:r>
            <a:r>
              <a:rPr lang="en-US" sz="2200" b="1" i="1" baseline="-25000" dirty="0" smtClean="0">
                <a:solidFill>
                  <a:schemeClr val="tx1"/>
                </a:solidFill>
              </a:rPr>
              <a:t>23</a:t>
            </a:r>
            <a:r>
              <a:rPr lang="en-US" sz="2200" b="1" i="1" dirty="0" smtClean="0">
                <a:solidFill>
                  <a:schemeClr val="tx1"/>
                </a:solidFill>
              </a:rPr>
              <a:t> .</a:t>
            </a:r>
          </a:p>
          <a:p>
            <a:pPr>
              <a:buNone/>
            </a:pPr>
            <a:endParaRPr lang="en-US" sz="2200" b="1" dirty="0">
              <a:solidFill>
                <a:schemeClr val="tx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eaLnBrk="1" fontAlgn="t" hangingPunct="1"/>
            <a:endParaRPr lang="en-US" b="1" dirty="0" smtClean="0"/>
          </a:p>
          <a:p>
            <a:pPr eaLnBrk="1" fontAlgn="t" hangingPunct="1"/>
            <a:endParaRPr lang="en-US" b="1" dirty="0" smtClean="0"/>
          </a:p>
          <a:p>
            <a:pPr eaLnBrk="1" fontAlgn="t" hangingPunct="1"/>
            <a:endParaRPr lang="en-US" b="1" dirty="0" smtClean="0"/>
          </a:p>
          <a:p>
            <a:pPr eaLnBrk="1" fontAlgn="t" hangingPunct="1"/>
            <a:endParaRPr lang="en-US" b="1" dirty="0" smtClean="0"/>
          </a:p>
          <a:p>
            <a:pPr eaLnBrk="1" fontAlgn="t" hangingPunct="1"/>
            <a:endParaRPr lang="en-US" b="1"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pPr eaLnBrk="1" fontAlgn="t" hangingPunct="1"/>
            <a:endParaRPr lang="en-US" dirty="0" smtClean="0"/>
          </a:p>
          <a:p>
            <a:endParaRPr lang="en-US" dirty="0"/>
          </a:p>
        </p:txBody>
      </p:sp>
      <p:graphicFrame>
        <p:nvGraphicFramePr>
          <p:cNvPr id="4" name="Table 3"/>
          <p:cNvGraphicFramePr>
            <a:graphicFrameLocks noGrp="1"/>
          </p:cNvGraphicFramePr>
          <p:nvPr/>
        </p:nvGraphicFramePr>
        <p:xfrm>
          <a:off x="152400" y="228600"/>
          <a:ext cx="8686800" cy="6128910"/>
        </p:xfrm>
        <a:graphic>
          <a:graphicData uri="http://schemas.openxmlformats.org/drawingml/2006/table">
            <a:tbl>
              <a:tblPr firstRow="1" bandRow="1">
                <a:tableStyleId>{5C22544A-7EE6-4342-B048-85BDC9FD1C3A}</a:tableStyleId>
              </a:tblPr>
              <a:tblGrid>
                <a:gridCol w="1737360"/>
                <a:gridCol w="1737360"/>
                <a:gridCol w="1737360"/>
                <a:gridCol w="1737360"/>
                <a:gridCol w="1737360"/>
              </a:tblGrid>
              <a:tr h="1066800">
                <a:tc>
                  <a:txBody>
                    <a:bodyPr/>
                    <a:lstStyle/>
                    <a:p>
                      <a:pPr marL="0" marR="0" algn="ctr">
                        <a:lnSpc>
                          <a:spcPct val="115000"/>
                        </a:lnSpc>
                        <a:spcBef>
                          <a:spcPts val="0"/>
                        </a:spcBef>
                        <a:spcAft>
                          <a:spcPts val="0"/>
                        </a:spcAft>
                      </a:pPr>
                      <a:endParaRPr lang="en-US" sz="1000" b="0" i="0" dirty="0">
                        <a:solidFill>
                          <a:schemeClr val="tx1"/>
                        </a:solidFill>
                        <a:latin typeface="Times New Roman" pitchFamily="18" charset="0"/>
                        <a:ea typeface="Arial Unicode MS" pitchFamily="34" charset="-128"/>
                        <a:cs typeface="Times New Roman" pitchFamily="18" charset="0"/>
                      </a:endParaRPr>
                    </a:p>
                  </a:txBody>
                  <a:tcPr marL="68580" marR="68580" marT="0" marB="0" anchor="ctr"/>
                </a:tc>
                <a:tc>
                  <a:txBody>
                    <a:bodyPr/>
                    <a:lstStyle/>
                    <a:p>
                      <a:pPr marL="0" marR="0" algn="ctr">
                        <a:lnSpc>
                          <a:spcPct val="115000"/>
                        </a:lnSpc>
                        <a:spcBef>
                          <a:spcPts val="0"/>
                        </a:spcBef>
                        <a:spcAft>
                          <a:spcPts val="0"/>
                        </a:spcAft>
                      </a:pPr>
                      <a:endParaRPr lang="en-US" sz="1000" b="0" i="0" dirty="0">
                        <a:solidFill>
                          <a:schemeClr val="tx1"/>
                        </a:solidFill>
                        <a:latin typeface="Times New Roman" pitchFamily="18" charset="0"/>
                        <a:ea typeface="Arial Unicode MS" pitchFamily="34" charset="-128"/>
                        <a:cs typeface="Times New Roman" pitchFamily="18" charset="0"/>
                      </a:endParaRPr>
                    </a:p>
                  </a:txBody>
                  <a:tcPr marL="68580" marR="68580" marT="0" marB="0" anchor="ctr"/>
                </a:tc>
                <a:tc>
                  <a:txBody>
                    <a:bodyPr/>
                    <a:lstStyle/>
                    <a:p>
                      <a:pPr marL="0" marR="0" algn="ctr">
                        <a:lnSpc>
                          <a:spcPct val="115000"/>
                        </a:lnSpc>
                        <a:spcBef>
                          <a:spcPts val="0"/>
                        </a:spcBef>
                        <a:spcAft>
                          <a:spcPts val="0"/>
                        </a:spcAft>
                      </a:pPr>
                      <a:endParaRPr lang="en-US" sz="1000" b="0" i="0" dirty="0">
                        <a:solidFill>
                          <a:schemeClr val="tx1"/>
                        </a:solidFill>
                        <a:latin typeface="Times New Roman" pitchFamily="18" charset="0"/>
                        <a:ea typeface="Arial Unicode MS" pitchFamily="34" charset="-128"/>
                        <a:cs typeface="Times New Roman" pitchFamily="18" charset="0"/>
                      </a:endParaRPr>
                    </a:p>
                  </a:txBody>
                  <a:tcPr marL="68580" marR="68580" marT="0" marB="0" anchor="ctr"/>
                </a:tc>
                <a:tc>
                  <a:txBody>
                    <a:bodyPr/>
                    <a:lstStyle/>
                    <a:p>
                      <a:pPr marL="0" marR="0" algn="ctr">
                        <a:lnSpc>
                          <a:spcPct val="115000"/>
                        </a:lnSpc>
                        <a:spcBef>
                          <a:spcPts val="0"/>
                        </a:spcBef>
                        <a:spcAft>
                          <a:spcPts val="0"/>
                        </a:spcAft>
                      </a:pPr>
                      <a:endParaRPr lang="en-US" sz="1000" b="0" i="0" dirty="0">
                        <a:solidFill>
                          <a:schemeClr val="tx1"/>
                        </a:solidFill>
                        <a:latin typeface="Times New Roman" pitchFamily="18" charset="0"/>
                        <a:ea typeface="Arial Unicode MS" pitchFamily="34" charset="-128"/>
                        <a:cs typeface="Times New Roman" pitchFamily="18" charset="0"/>
                      </a:endParaRPr>
                    </a:p>
                  </a:txBody>
                  <a:tcPr marL="68580" marR="68580" marT="0" marB="0" anchor="ctr"/>
                </a:tc>
                <a:tc>
                  <a:txBody>
                    <a:bodyPr/>
                    <a:lstStyle/>
                    <a:p>
                      <a:pPr marL="0" marR="0" algn="ctr">
                        <a:lnSpc>
                          <a:spcPct val="115000"/>
                        </a:lnSpc>
                        <a:spcBef>
                          <a:spcPts val="0"/>
                        </a:spcBef>
                        <a:spcAft>
                          <a:spcPts val="0"/>
                        </a:spcAft>
                      </a:pPr>
                      <a:endParaRPr lang="en-US" sz="1000" b="0" i="0" dirty="0">
                        <a:solidFill>
                          <a:schemeClr val="tx1"/>
                        </a:solidFill>
                        <a:latin typeface="Times New Roman" pitchFamily="18" charset="0"/>
                        <a:ea typeface="Arial Unicode MS" pitchFamily="34" charset="-128"/>
                        <a:cs typeface="Times New Roman" pitchFamily="18" charset="0"/>
                      </a:endParaRPr>
                    </a:p>
                  </a:txBody>
                  <a:tcPr marL="68580" marR="68580" marT="0" marB="0" anchor="ctr"/>
                </a:tc>
              </a:tr>
              <a:tr h="990600">
                <a:tc>
                  <a:txBody>
                    <a:bodyPr/>
                    <a:lstStyle/>
                    <a:p>
                      <a:pPr marL="0" marR="0" algn="r">
                        <a:lnSpc>
                          <a:spcPct val="115000"/>
                        </a:lnSpc>
                        <a:spcBef>
                          <a:spcPts val="0"/>
                        </a:spcBef>
                        <a:spcAft>
                          <a:spcPts val="0"/>
                        </a:spcAft>
                      </a:pPr>
                      <a:r>
                        <a:rPr lang="en-US" sz="1600" dirty="0">
                          <a:latin typeface="Calibri"/>
                          <a:ea typeface="Times New Roman"/>
                          <a:cs typeface="Times New Roman"/>
                        </a:rPr>
                        <a:t>0.00</a:t>
                      </a:r>
                      <a:endParaRPr lang="en-US" sz="1000" dirty="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dirty="0">
                          <a:latin typeface="Calibri"/>
                          <a:ea typeface="Times New Roman"/>
                          <a:cs typeface="Times New Roman"/>
                        </a:rPr>
                        <a:t>1.00</a:t>
                      </a:r>
                      <a:endParaRPr lang="en-US" sz="1000" dirty="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endParaRPr lang="en-US" sz="1600" dirty="0">
                        <a:latin typeface="Calibri"/>
                        <a:ea typeface="Times New Roman"/>
                        <a:cs typeface="Times New Roman"/>
                      </a:endParaRPr>
                    </a:p>
                  </a:txBody>
                  <a:tcPr marL="68580" marR="68580" marT="0" marB="0" anchor="ctr"/>
                </a:tc>
                <a:tc>
                  <a:txBody>
                    <a:bodyPr/>
                    <a:lstStyle/>
                    <a:p>
                      <a:pPr marL="0" marR="0" algn="ctr">
                        <a:lnSpc>
                          <a:spcPct val="115000"/>
                        </a:lnSpc>
                        <a:spcBef>
                          <a:spcPts val="0"/>
                        </a:spcBef>
                        <a:spcAft>
                          <a:spcPts val="0"/>
                        </a:spcAft>
                      </a:pPr>
                      <a:r>
                        <a:rPr lang="en-US" sz="1600">
                          <a:latin typeface="Calibri"/>
                          <a:ea typeface="Times New Roman"/>
                          <a:cs typeface="Times New Roman"/>
                        </a:rPr>
                        <a:t>-</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0</a:t>
                      </a:r>
                      <a:endParaRPr lang="en-US" sz="1000">
                        <a:latin typeface="Calibri"/>
                        <a:ea typeface="Times New Roman"/>
                        <a:cs typeface="Times New Roman"/>
                      </a:endParaRPr>
                    </a:p>
                  </a:txBody>
                  <a:tcPr marL="68580" marR="68580" marT="0" marB="0" anchor="ctr"/>
                </a:tc>
              </a:tr>
              <a:tr h="452390">
                <a:tc>
                  <a:txBody>
                    <a:bodyPr/>
                    <a:lstStyle/>
                    <a:p>
                      <a:pPr marL="0" marR="0" algn="r">
                        <a:lnSpc>
                          <a:spcPct val="115000"/>
                        </a:lnSpc>
                        <a:spcBef>
                          <a:spcPts val="0"/>
                        </a:spcBef>
                        <a:spcAft>
                          <a:spcPts val="0"/>
                        </a:spcAft>
                      </a:pPr>
                      <a:r>
                        <a:rPr lang="en-US" sz="1600">
                          <a:latin typeface="Calibri"/>
                          <a:ea typeface="Times New Roman"/>
                          <a:cs typeface="Times New Roman"/>
                        </a:rPr>
                        <a:t>0.50</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1.33</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1.33 x A</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1.33</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0.67 x B</a:t>
                      </a:r>
                      <a:endParaRPr lang="en-US" sz="1000">
                        <a:latin typeface="Calibri"/>
                        <a:ea typeface="Times New Roman"/>
                        <a:cs typeface="Times New Roman"/>
                      </a:endParaRPr>
                    </a:p>
                  </a:txBody>
                  <a:tcPr marL="68580" marR="68580" marT="0" marB="0" anchor="ctr"/>
                </a:tc>
              </a:tr>
              <a:tr h="452390">
                <a:tc>
                  <a:txBody>
                    <a:bodyPr/>
                    <a:lstStyle/>
                    <a:p>
                      <a:pPr marL="0" marR="0" algn="r">
                        <a:lnSpc>
                          <a:spcPct val="115000"/>
                        </a:lnSpc>
                        <a:spcBef>
                          <a:spcPts val="0"/>
                        </a:spcBef>
                        <a:spcAft>
                          <a:spcPts val="0"/>
                        </a:spcAft>
                      </a:pPr>
                      <a:r>
                        <a:rPr lang="en-US" sz="1600">
                          <a:latin typeface="Calibri"/>
                          <a:ea typeface="Times New Roman"/>
                          <a:cs typeface="Times New Roman"/>
                        </a:rPr>
                        <a:t>0.70</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1.96</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1.96 x A</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1.96</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1.37 x B</a:t>
                      </a:r>
                      <a:endParaRPr lang="en-US" sz="1000">
                        <a:latin typeface="Calibri"/>
                        <a:ea typeface="Times New Roman"/>
                        <a:cs typeface="Times New Roman"/>
                      </a:endParaRPr>
                    </a:p>
                  </a:txBody>
                  <a:tcPr marL="68580" marR="68580" marT="0" marB="0" anchor="ctr"/>
                </a:tc>
              </a:tr>
              <a:tr h="452390">
                <a:tc>
                  <a:txBody>
                    <a:bodyPr/>
                    <a:lstStyle/>
                    <a:p>
                      <a:pPr marL="0" marR="0" algn="r">
                        <a:lnSpc>
                          <a:spcPct val="115000"/>
                        </a:lnSpc>
                        <a:spcBef>
                          <a:spcPts val="0"/>
                        </a:spcBef>
                        <a:spcAft>
                          <a:spcPts val="0"/>
                        </a:spcAft>
                      </a:pPr>
                      <a:r>
                        <a:rPr lang="en-US" sz="1600">
                          <a:latin typeface="Calibri"/>
                          <a:ea typeface="Times New Roman"/>
                          <a:cs typeface="Times New Roman"/>
                        </a:rPr>
                        <a:t>0.80</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2.78</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2.78 x A</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dirty="0" smtClean="0">
                          <a:latin typeface="Calibri"/>
                          <a:ea typeface="Times New Roman"/>
                          <a:cs typeface="Times New Roman"/>
                        </a:rPr>
                        <a:t>2.78</a:t>
                      </a:r>
                      <a:endParaRPr lang="en-US" sz="1000" dirty="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2.22 x B</a:t>
                      </a:r>
                      <a:endParaRPr lang="en-US" sz="1000">
                        <a:latin typeface="Calibri"/>
                        <a:ea typeface="Times New Roman"/>
                        <a:cs typeface="Times New Roman"/>
                      </a:endParaRPr>
                    </a:p>
                  </a:txBody>
                  <a:tcPr marL="68580" marR="68580" marT="0" marB="0" anchor="ctr"/>
                </a:tc>
              </a:tr>
              <a:tr h="452390">
                <a:tc>
                  <a:txBody>
                    <a:bodyPr/>
                    <a:lstStyle/>
                    <a:p>
                      <a:pPr marL="0" marR="0" algn="r">
                        <a:lnSpc>
                          <a:spcPct val="115000"/>
                        </a:lnSpc>
                        <a:spcBef>
                          <a:spcPts val="0"/>
                        </a:spcBef>
                        <a:spcAft>
                          <a:spcPts val="0"/>
                        </a:spcAft>
                      </a:pPr>
                      <a:r>
                        <a:rPr lang="en-US" sz="1600">
                          <a:latin typeface="Calibri"/>
                          <a:ea typeface="Times New Roman"/>
                          <a:cs typeface="Times New Roman"/>
                        </a:rPr>
                        <a:t>0.90</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5.76</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5.76 x A</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5.76</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4.73 x B</a:t>
                      </a:r>
                      <a:endParaRPr lang="en-US" sz="1000">
                        <a:latin typeface="Calibri"/>
                        <a:ea typeface="Times New Roman"/>
                        <a:cs typeface="Times New Roman"/>
                      </a:endParaRPr>
                    </a:p>
                  </a:txBody>
                  <a:tcPr marL="68580" marR="68580" marT="0" marB="0" anchor="ctr"/>
                </a:tc>
              </a:tr>
              <a:tr h="452390">
                <a:tc>
                  <a:txBody>
                    <a:bodyPr/>
                    <a:lstStyle/>
                    <a:p>
                      <a:pPr marL="0" marR="0" algn="r">
                        <a:lnSpc>
                          <a:spcPct val="115000"/>
                        </a:lnSpc>
                        <a:spcBef>
                          <a:spcPts val="0"/>
                        </a:spcBef>
                        <a:spcAft>
                          <a:spcPts val="0"/>
                        </a:spcAft>
                      </a:pPr>
                      <a:r>
                        <a:rPr lang="en-US" sz="1600">
                          <a:latin typeface="Calibri"/>
                          <a:ea typeface="Times New Roman"/>
                          <a:cs typeface="Times New Roman"/>
                        </a:rPr>
                        <a:t>0.95</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10.26</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10.26 x A</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10.26</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9.74 x B</a:t>
                      </a:r>
                      <a:endParaRPr lang="en-US" sz="1000">
                        <a:latin typeface="Calibri"/>
                        <a:ea typeface="Times New Roman"/>
                        <a:cs typeface="Times New Roman"/>
                      </a:endParaRPr>
                    </a:p>
                  </a:txBody>
                  <a:tcPr marL="68580" marR="68580" marT="0" marB="0" anchor="ctr"/>
                </a:tc>
              </a:tr>
              <a:tr h="452390">
                <a:tc>
                  <a:txBody>
                    <a:bodyPr/>
                    <a:lstStyle/>
                    <a:p>
                      <a:pPr marL="0" marR="0" algn="r">
                        <a:lnSpc>
                          <a:spcPct val="115000"/>
                        </a:lnSpc>
                        <a:spcBef>
                          <a:spcPts val="0"/>
                        </a:spcBef>
                        <a:spcAft>
                          <a:spcPts val="0"/>
                        </a:spcAft>
                      </a:pPr>
                      <a:r>
                        <a:rPr lang="en-US" sz="1600">
                          <a:latin typeface="Calibri"/>
                          <a:ea typeface="Times New Roman"/>
                          <a:cs typeface="Times New Roman"/>
                        </a:rPr>
                        <a:t>0.97</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16.92</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16.92 x A</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16.92</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16.41 x B</a:t>
                      </a:r>
                      <a:endParaRPr lang="en-US" sz="1000">
                        <a:latin typeface="Calibri"/>
                        <a:ea typeface="Times New Roman"/>
                        <a:cs typeface="Times New Roman"/>
                      </a:endParaRPr>
                    </a:p>
                  </a:txBody>
                  <a:tcPr marL="68580" marR="68580" marT="0" marB="0" anchor="ctr"/>
                </a:tc>
              </a:tr>
              <a:tr h="452390">
                <a:tc>
                  <a:txBody>
                    <a:bodyPr/>
                    <a:lstStyle/>
                    <a:p>
                      <a:pPr marL="0" marR="0" algn="r">
                        <a:lnSpc>
                          <a:spcPct val="115000"/>
                        </a:lnSpc>
                        <a:spcBef>
                          <a:spcPts val="0"/>
                        </a:spcBef>
                        <a:spcAft>
                          <a:spcPts val="0"/>
                        </a:spcAft>
                      </a:pPr>
                      <a:r>
                        <a:rPr lang="en-US" sz="1600">
                          <a:latin typeface="Calibri"/>
                          <a:ea typeface="Times New Roman"/>
                          <a:cs typeface="Times New Roman"/>
                        </a:rPr>
                        <a:t>0.99</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50.25</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50.25 x A</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50.25</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49.75 x B</a:t>
                      </a:r>
                      <a:endParaRPr lang="en-US" sz="1000">
                        <a:latin typeface="Calibri"/>
                        <a:ea typeface="Times New Roman"/>
                        <a:cs typeface="Times New Roman"/>
                      </a:endParaRPr>
                    </a:p>
                  </a:txBody>
                  <a:tcPr marL="68580" marR="68580" marT="0" marB="0" anchor="ctr"/>
                </a:tc>
              </a:tr>
              <a:tr h="452390">
                <a:tc>
                  <a:txBody>
                    <a:bodyPr/>
                    <a:lstStyle/>
                    <a:p>
                      <a:pPr marL="0" marR="0" algn="r">
                        <a:lnSpc>
                          <a:spcPct val="115000"/>
                        </a:lnSpc>
                        <a:spcBef>
                          <a:spcPts val="0"/>
                        </a:spcBef>
                        <a:spcAft>
                          <a:spcPts val="0"/>
                        </a:spcAft>
                      </a:pPr>
                      <a:r>
                        <a:rPr lang="en-US" sz="1600" dirty="0">
                          <a:latin typeface="Calibri"/>
                          <a:ea typeface="Times New Roman"/>
                          <a:cs typeface="Times New Roman"/>
                        </a:rPr>
                        <a:t>0.995</a:t>
                      </a:r>
                      <a:endParaRPr lang="en-US" sz="1000" dirty="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dirty="0">
                          <a:latin typeface="Calibri"/>
                          <a:ea typeface="Times New Roman"/>
                          <a:cs typeface="Times New Roman"/>
                        </a:rPr>
                        <a:t>100.00</a:t>
                      </a:r>
                      <a:endParaRPr lang="en-US" sz="1000" dirty="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100.00 x A</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100.00</a:t>
                      </a:r>
                      <a:endParaRPr lang="en-US" sz="100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r>
                        <a:rPr lang="en-US" sz="1600">
                          <a:latin typeface="Calibri"/>
                          <a:ea typeface="Times New Roman"/>
                          <a:cs typeface="Times New Roman"/>
                        </a:rPr>
                        <a:t>99.50 x B</a:t>
                      </a:r>
                      <a:endParaRPr lang="en-US" sz="1000">
                        <a:latin typeface="Calibri"/>
                        <a:ea typeface="Times New Roman"/>
                        <a:cs typeface="Times New Roman"/>
                      </a:endParaRPr>
                    </a:p>
                  </a:txBody>
                  <a:tcPr marL="68580" marR="68580" marT="0" marB="0" anchor="ctr"/>
                </a:tc>
              </a:tr>
              <a:tr h="452390">
                <a:tc>
                  <a:txBody>
                    <a:bodyPr/>
                    <a:lstStyle/>
                    <a:p>
                      <a:pPr marL="0" marR="0" algn="r">
                        <a:lnSpc>
                          <a:spcPct val="115000"/>
                        </a:lnSpc>
                        <a:spcBef>
                          <a:spcPts val="0"/>
                        </a:spcBef>
                        <a:spcAft>
                          <a:spcPts val="0"/>
                        </a:spcAft>
                      </a:pPr>
                      <a:endParaRPr lang="en-US" sz="1000" dirty="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endParaRPr lang="en-US" sz="1000" dirty="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endParaRPr lang="en-US" sz="1000" dirty="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endParaRPr lang="en-US" sz="1000" dirty="0">
                        <a:latin typeface="Calibri"/>
                        <a:ea typeface="Times New Roman"/>
                        <a:cs typeface="Times New Roman"/>
                      </a:endParaRPr>
                    </a:p>
                  </a:txBody>
                  <a:tcPr marL="68580" marR="68580" marT="0" marB="0" anchor="ctr"/>
                </a:tc>
                <a:tc>
                  <a:txBody>
                    <a:bodyPr/>
                    <a:lstStyle/>
                    <a:p>
                      <a:pPr marL="0" marR="0" algn="r">
                        <a:lnSpc>
                          <a:spcPct val="115000"/>
                        </a:lnSpc>
                        <a:spcBef>
                          <a:spcPts val="0"/>
                        </a:spcBef>
                        <a:spcAft>
                          <a:spcPts val="0"/>
                        </a:spcAft>
                      </a:pPr>
                      <a:endParaRPr lang="en-US" sz="1000" dirty="0">
                        <a:latin typeface="Calibri"/>
                        <a:ea typeface="Times New Roman"/>
                        <a:cs typeface="Times New Roman"/>
                      </a:endParaRPr>
                    </a:p>
                  </a:txBody>
                  <a:tcPr marL="68580" marR="68580" marT="0" marB="0" anchor="ctr"/>
                </a:tc>
              </a:tr>
            </a:tbl>
          </a:graphicData>
        </a:graphic>
      </p:graphicFrame>
      <p:sp>
        <p:nvSpPr>
          <p:cNvPr id="378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7889"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5486400" y="381000"/>
            <a:ext cx="1600200" cy="685800"/>
          </a:xfrm>
          <a:prstGeom prst="rect">
            <a:avLst/>
          </a:prstGeom>
          <a:noFill/>
        </p:spPr>
      </p:pic>
      <p:sp>
        <p:nvSpPr>
          <p:cNvPr id="389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8913" name="Picture 1"/>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381000" y="495300"/>
            <a:ext cx="1371600" cy="342900"/>
          </a:xfrm>
          <a:prstGeom prst="rect">
            <a:avLst/>
          </a:prstGeom>
          <a:noFill/>
        </p:spPr>
      </p:pic>
      <p:sp>
        <p:nvSpPr>
          <p:cNvPr id="3891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8915" name="Picture 3"/>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2590800" y="495300"/>
            <a:ext cx="419100" cy="342900"/>
          </a:xfrm>
          <a:prstGeom prst="rect">
            <a:avLst/>
          </a:prstGeom>
          <a:noFill/>
        </p:spPr>
      </p:pic>
      <p:sp>
        <p:nvSpPr>
          <p:cNvPr id="3891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8920"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8919" name="Picture 7"/>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7391400" y="457200"/>
            <a:ext cx="1343025" cy="390525"/>
          </a:xfrm>
          <a:prstGeom prst="rect">
            <a:avLst/>
          </a:prstGeom>
          <a:noFill/>
        </p:spPr>
      </p:pic>
      <p:sp>
        <p:nvSpPr>
          <p:cNvPr id="3892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8921" name="Picture 9"/>
          <p:cNvPicPr>
            <a:picLocks noChangeAspect="1" noChangeArrowheads="1"/>
          </p:cNvPicPr>
          <p:nvPr/>
        </p:nvPicPr>
        <p:blipFill>
          <a:blip r:embed="rId7">
            <a:clrChange>
              <a:clrFrom>
                <a:srgbClr val="FFFFFF"/>
              </a:clrFrom>
              <a:clrTo>
                <a:srgbClr val="FFFFFF">
                  <a:alpha val="0"/>
                </a:srgbClr>
              </a:clrTo>
            </a:clrChange>
          </a:blip>
          <a:srcRect/>
          <a:stretch>
            <a:fillRect/>
          </a:stretch>
        </p:blipFill>
        <p:spPr bwMode="auto">
          <a:xfrm>
            <a:off x="4038600" y="447675"/>
            <a:ext cx="885825" cy="390525"/>
          </a:xfrm>
          <a:prstGeom prst="rect">
            <a:avLst/>
          </a:prstGeom>
          <a:noFill/>
        </p:spPr>
      </p:pic>
      <p:sp>
        <p:nvSpPr>
          <p:cNvPr id="38924"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8923" name="Picture 11"/>
          <p:cNvPicPr>
            <a:picLocks noChangeAspect="1" noChangeArrowheads="1"/>
          </p:cNvPicPr>
          <p:nvPr/>
        </p:nvPicPr>
        <p:blipFill>
          <a:blip r:embed="rId8">
            <a:clrChange>
              <a:clrFrom>
                <a:srgbClr val="FFFFFF"/>
              </a:clrFrom>
              <a:clrTo>
                <a:srgbClr val="FFFFFF">
                  <a:alpha val="0"/>
                </a:srgbClr>
              </a:clrTo>
            </a:clrChange>
          </a:blip>
          <a:srcRect/>
          <a:stretch>
            <a:fillRect/>
          </a:stretch>
        </p:blipFill>
        <p:spPr bwMode="auto">
          <a:xfrm>
            <a:off x="4124325" y="1476375"/>
            <a:ext cx="904875" cy="581025"/>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43000"/>
            <a:ext cx="8839200" cy="5410200"/>
          </a:xfrm>
        </p:spPr>
        <p:txBody>
          <a:bodyPr/>
          <a:lstStyle/>
          <a:p>
            <a:pPr>
              <a:buNone/>
            </a:pPr>
            <a:r>
              <a:rPr lang="en-US" sz="2200" b="1" dirty="0" smtClean="0">
                <a:solidFill>
                  <a:schemeClr val="tx1"/>
                </a:solidFill>
              </a:rPr>
              <a:t>As this table shows, increases in </a:t>
            </a:r>
            <a:r>
              <a:rPr lang="en-US" sz="2200" b="1" i="1" dirty="0" smtClean="0">
                <a:solidFill>
                  <a:schemeClr val="tx1"/>
                </a:solidFill>
              </a:rPr>
              <a:t>r</a:t>
            </a:r>
            <a:r>
              <a:rPr lang="en-US" sz="2200" b="1" i="1" baseline="-25000" dirty="0" smtClean="0">
                <a:solidFill>
                  <a:schemeClr val="tx1"/>
                </a:solidFill>
              </a:rPr>
              <a:t>23</a:t>
            </a:r>
            <a:r>
              <a:rPr lang="en-US" sz="2200" b="1" dirty="0" smtClean="0">
                <a:solidFill>
                  <a:schemeClr val="tx1"/>
                </a:solidFill>
              </a:rPr>
              <a:t> have a dramatic effect on the </a:t>
            </a:r>
          </a:p>
          <a:p>
            <a:pPr>
              <a:buNone/>
            </a:pPr>
            <a:r>
              <a:rPr lang="en-US" sz="2200" b="1" dirty="0" smtClean="0">
                <a:solidFill>
                  <a:schemeClr val="tx1"/>
                </a:solidFill>
              </a:rPr>
              <a:t>estimated variances and covariances of the OLS estimators. When         </a:t>
            </a:r>
          </a:p>
          <a:p>
            <a:pPr>
              <a:buNone/>
            </a:pPr>
            <a:r>
              <a:rPr lang="en-US" sz="2200" b="1" i="1" dirty="0" smtClean="0">
                <a:solidFill>
                  <a:schemeClr val="tx1"/>
                </a:solidFill>
              </a:rPr>
              <a:t>r</a:t>
            </a:r>
            <a:r>
              <a:rPr lang="en-US" sz="2200" b="1" i="1" baseline="-25000" dirty="0" smtClean="0">
                <a:solidFill>
                  <a:schemeClr val="tx1"/>
                </a:solidFill>
              </a:rPr>
              <a:t>23</a:t>
            </a:r>
            <a:r>
              <a:rPr lang="en-US" sz="2200" b="1" i="1" dirty="0" smtClean="0">
                <a:solidFill>
                  <a:schemeClr val="tx1"/>
                </a:solidFill>
              </a:rPr>
              <a:t> </a:t>
            </a:r>
            <a:r>
              <a:rPr lang="en-US" sz="2200" b="1" dirty="0" smtClean="0">
                <a:solidFill>
                  <a:schemeClr val="tx1"/>
                </a:solidFill>
              </a:rPr>
              <a:t>= 0.50, the </a:t>
            </a:r>
            <a:r>
              <a:rPr lang="en-US" sz="2200" b="1" i="1" dirty="0" smtClean="0">
                <a:solidFill>
                  <a:schemeClr val="tx1"/>
                </a:solidFill>
              </a:rPr>
              <a:t>var (    ) is 1.33 </a:t>
            </a:r>
            <a:r>
              <a:rPr lang="en-US" sz="2200" b="1" dirty="0" smtClean="0">
                <a:solidFill>
                  <a:schemeClr val="tx1"/>
                </a:solidFill>
              </a:rPr>
              <a:t>time the variance when</a:t>
            </a:r>
            <a:r>
              <a:rPr lang="en-US" sz="2200" b="1" i="1" dirty="0" smtClean="0">
                <a:solidFill>
                  <a:schemeClr val="tx1"/>
                </a:solidFill>
              </a:rPr>
              <a:t>r</a:t>
            </a:r>
            <a:r>
              <a:rPr lang="en-US" sz="2200" b="1" i="1" baseline="-25000" dirty="0" smtClean="0">
                <a:solidFill>
                  <a:schemeClr val="tx1"/>
                </a:solidFill>
              </a:rPr>
              <a:t>23</a:t>
            </a:r>
            <a:r>
              <a:rPr lang="en-US" sz="2200" b="1" i="1" dirty="0" smtClean="0">
                <a:solidFill>
                  <a:schemeClr val="tx1"/>
                </a:solidFill>
              </a:rPr>
              <a:t> </a:t>
            </a:r>
            <a:r>
              <a:rPr lang="en-US" sz="2200" b="1" dirty="0" smtClean="0">
                <a:solidFill>
                  <a:schemeClr val="tx1"/>
                </a:solidFill>
              </a:rPr>
              <a:t>is zero., but by </a:t>
            </a:r>
          </a:p>
          <a:p>
            <a:pPr>
              <a:buNone/>
            </a:pPr>
            <a:r>
              <a:rPr lang="en-US" sz="2200" b="1" dirty="0" smtClean="0">
                <a:solidFill>
                  <a:schemeClr val="tx1"/>
                </a:solidFill>
              </a:rPr>
              <a:t>the time </a:t>
            </a:r>
            <a:r>
              <a:rPr lang="en-US" sz="2200" b="1" i="1" dirty="0" smtClean="0">
                <a:solidFill>
                  <a:schemeClr val="tx1"/>
                </a:solidFill>
              </a:rPr>
              <a:t>r</a:t>
            </a:r>
            <a:r>
              <a:rPr lang="en-US" sz="2200" b="1" i="1" baseline="-25000" dirty="0" smtClean="0">
                <a:solidFill>
                  <a:schemeClr val="tx1"/>
                </a:solidFill>
              </a:rPr>
              <a:t>23</a:t>
            </a:r>
            <a:r>
              <a:rPr lang="en-US" sz="2200" b="1" i="1" dirty="0" smtClean="0">
                <a:solidFill>
                  <a:schemeClr val="tx1"/>
                </a:solidFill>
              </a:rPr>
              <a:t> </a:t>
            </a:r>
            <a:r>
              <a:rPr lang="en-US" sz="2200" b="1" dirty="0" smtClean="0">
                <a:solidFill>
                  <a:schemeClr val="tx1"/>
                </a:solidFill>
              </a:rPr>
              <a:t>reaches 0.95 it is about 10 times as high as when there is no </a:t>
            </a:r>
          </a:p>
          <a:p>
            <a:pPr>
              <a:buNone/>
            </a:pPr>
            <a:r>
              <a:rPr lang="en-US" sz="2200" b="1" dirty="0" smtClean="0">
                <a:solidFill>
                  <a:schemeClr val="tx1"/>
                </a:solidFill>
              </a:rPr>
              <a:t>collinearity. And lo and behold, an increase of </a:t>
            </a:r>
            <a:r>
              <a:rPr lang="en-US" sz="2200" b="1" i="1" dirty="0" smtClean="0">
                <a:solidFill>
                  <a:schemeClr val="tx1"/>
                </a:solidFill>
              </a:rPr>
              <a:t>r</a:t>
            </a:r>
            <a:r>
              <a:rPr lang="en-US" sz="2200" b="1" i="1" baseline="-25000" dirty="0" smtClean="0">
                <a:solidFill>
                  <a:schemeClr val="tx1"/>
                </a:solidFill>
              </a:rPr>
              <a:t>23</a:t>
            </a:r>
            <a:r>
              <a:rPr lang="en-US" sz="2200" b="1" dirty="0" smtClean="0">
                <a:solidFill>
                  <a:schemeClr val="tx1"/>
                </a:solidFill>
              </a:rPr>
              <a:t> from 0.95 to 0.995 </a:t>
            </a:r>
          </a:p>
          <a:p>
            <a:pPr>
              <a:buNone/>
            </a:pPr>
            <a:r>
              <a:rPr lang="en-US" sz="2200" b="1" dirty="0" smtClean="0">
                <a:solidFill>
                  <a:schemeClr val="tx1"/>
                </a:solidFill>
              </a:rPr>
              <a:t>makes the estimated variance 100 times that when collinearity is zero. </a:t>
            </a:r>
          </a:p>
          <a:p>
            <a:pPr>
              <a:buNone/>
            </a:pPr>
            <a:r>
              <a:rPr lang="en-US" sz="2200" b="1" dirty="0" smtClean="0">
                <a:solidFill>
                  <a:schemeClr val="tx1"/>
                </a:solidFill>
              </a:rPr>
              <a:t>The same dramatic effect is seen on the estimated covariance. </a:t>
            </a:r>
            <a:endParaRPr lang="en-US" sz="2200" b="1" dirty="0">
              <a:solidFill>
                <a:schemeClr val="tx1"/>
              </a:solidFill>
            </a:endParaRPr>
          </a:p>
        </p:txBody>
      </p:sp>
      <p:pic>
        <p:nvPicPr>
          <p:cNvPr id="4"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590800" y="1981200"/>
            <a:ext cx="257175" cy="36195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19200"/>
            <a:ext cx="8839200" cy="5486400"/>
          </a:xfrm>
        </p:spPr>
        <p:txBody>
          <a:bodyPr>
            <a:normAutofit fontScale="85000" lnSpcReduction="10000"/>
          </a:bodyPr>
          <a:lstStyle/>
          <a:p>
            <a:pPr eaLnBrk="1" fontAlgn="auto" hangingPunct="1">
              <a:spcAft>
                <a:spcPts val="0"/>
              </a:spcAft>
              <a:buFont typeface="Wingdings 2"/>
              <a:buNone/>
              <a:defRPr/>
            </a:pPr>
            <a:r>
              <a:rPr lang="en-US" sz="2600" b="1" dirty="0" smtClean="0">
                <a:solidFill>
                  <a:schemeClr val="tx1"/>
                </a:solidFill>
              </a:rPr>
              <a:t>It should be noted that inverse of the VIF is called </a:t>
            </a:r>
            <a:r>
              <a:rPr lang="en-US" sz="2600" b="1" dirty="0" smtClean="0">
                <a:solidFill>
                  <a:schemeClr val="tx1"/>
                </a:solidFill>
                <a:latin typeface="+mj-lt"/>
              </a:rPr>
              <a:t>TOLERANCE (TOL).</a:t>
            </a:r>
          </a:p>
          <a:p>
            <a:pPr eaLnBrk="1" fontAlgn="auto" hangingPunct="1">
              <a:spcAft>
                <a:spcPts val="0"/>
              </a:spcAft>
              <a:buFont typeface="Wingdings 2"/>
              <a:buNone/>
              <a:defRPr/>
            </a:pPr>
            <a:r>
              <a:rPr lang="en-US" sz="2600" b="1" dirty="0" smtClean="0">
                <a:solidFill>
                  <a:schemeClr val="tx1"/>
                </a:solidFill>
              </a:rPr>
              <a:t> That is,</a:t>
            </a:r>
          </a:p>
          <a:p>
            <a:pPr eaLnBrk="1" fontAlgn="auto" hangingPunct="1">
              <a:spcAft>
                <a:spcPts val="0"/>
              </a:spcAft>
              <a:buFont typeface="Wingdings 2"/>
              <a:buNone/>
              <a:defRPr/>
            </a:pPr>
            <a:endParaRPr lang="en-US" sz="2600" b="1" dirty="0" smtClean="0">
              <a:solidFill>
                <a:schemeClr val="tx1"/>
              </a:solidFill>
            </a:endParaRPr>
          </a:p>
          <a:p>
            <a:pPr eaLnBrk="1" fontAlgn="auto" hangingPunct="1">
              <a:spcAft>
                <a:spcPts val="0"/>
              </a:spcAft>
              <a:buFont typeface="Wingdings 2"/>
              <a:buNone/>
              <a:defRPr/>
            </a:pPr>
            <a:endParaRPr lang="en-US" sz="2600" b="1" dirty="0" smtClean="0">
              <a:solidFill>
                <a:schemeClr val="tx1"/>
              </a:solidFill>
            </a:endParaRPr>
          </a:p>
          <a:p>
            <a:pPr eaLnBrk="1" fontAlgn="auto" hangingPunct="1">
              <a:spcAft>
                <a:spcPts val="0"/>
              </a:spcAft>
              <a:buFont typeface="Wingdings 2"/>
              <a:buNone/>
              <a:defRPr/>
            </a:pPr>
            <a:r>
              <a:rPr lang="en-US" sz="2600" b="1" dirty="0" smtClean="0">
                <a:solidFill>
                  <a:schemeClr val="tx1"/>
                </a:solidFill>
              </a:rPr>
              <a:t>When      = 1 (i.e., perfect collinearity), </a:t>
            </a:r>
            <a:r>
              <a:rPr lang="en-US" sz="2600" b="1" dirty="0" err="1" smtClean="0">
                <a:solidFill>
                  <a:schemeClr val="tx1"/>
                </a:solidFill>
              </a:rPr>
              <a:t>TOL</a:t>
            </a:r>
            <a:r>
              <a:rPr lang="en-US" sz="2600" b="1" i="1" baseline="-25000" dirty="0" err="1" smtClean="0">
                <a:solidFill>
                  <a:schemeClr val="tx1"/>
                </a:solidFill>
              </a:rPr>
              <a:t>j</a:t>
            </a:r>
            <a:r>
              <a:rPr lang="en-US" sz="2600" b="1" i="1" dirty="0" smtClean="0">
                <a:solidFill>
                  <a:schemeClr val="tx1"/>
                </a:solidFill>
              </a:rPr>
              <a:t> = </a:t>
            </a:r>
            <a:r>
              <a:rPr lang="en-US" sz="2600" b="1" dirty="0" smtClean="0">
                <a:solidFill>
                  <a:schemeClr val="tx1"/>
                </a:solidFill>
              </a:rPr>
              <a:t>0 (i.e., no collinearity ), </a:t>
            </a:r>
            <a:r>
              <a:rPr lang="en-US" sz="2600" b="1" dirty="0" err="1" smtClean="0">
                <a:solidFill>
                  <a:schemeClr val="tx1"/>
                </a:solidFill>
              </a:rPr>
              <a:t>TOL</a:t>
            </a:r>
            <a:r>
              <a:rPr lang="en-US" sz="2600" b="1" baseline="-25000" dirty="0" err="1" smtClean="0">
                <a:solidFill>
                  <a:schemeClr val="tx1"/>
                </a:solidFill>
              </a:rPr>
              <a:t>j</a:t>
            </a:r>
            <a:endParaRPr lang="en-US" sz="2600" b="1" dirty="0" smtClean="0">
              <a:solidFill>
                <a:schemeClr val="tx1"/>
              </a:solidFill>
            </a:endParaRPr>
          </a:p>
          <a:p>
            <a:pPr eaLnBrk="1" fontAlgn="auto" hangingPunct="1">
              <a:spcAft>
                <a:spcPts val="0"/>
              </a:spcAft>
              <a:buFont typeface="Wingdings 2"/>
              <a:buNone/>
              <a:defRPr/>
            </a:pPr>
            <a:r>
              <a:rPr lang="en-US" sz="2600" b="1" dirty="0" smtClean="0">
                <a:solidFill>
                  <a:schemeClr val="tx1"/>
                </a:solidFill>
              </a:rPr>
              <a:t>is 1. Because of the intimate connection between VIF and TOL, one can </a:t>
            </a:r>
          </a:p>
          <a:p>
            <a:pPr eaLnBrk="1" fontAlgn="auto" hangingPunct="1">
              <a:spcAft>
                <a:spcPts val="0"/>
              </a:spcAft>
              <a:buFont typeface="Wingdings 2"/>
              <a:buNone/>
              <a:defRPr/>
            </a:pPr>
            <a:r>
              <a:rPr lang="en-US" sz="2600" b="1" dirty="0" smtClean="0">
                <a:solidFill>
                  <a:schemeClr val="tx1"/>
                </a:solidFill>
              </a:rPr>
              <a:t>use them interchangeably.</a:t>
            </a:r>
          </a:p>
          <a:p>
            <a:pPr eaLnBrk="1" fontAlgn="auto" hangingPunct="1">
              <a:spcAft>
                <a:spcPts val="0"/>
              </a:spcAft>
              <a:buFont typeface="Wingdings 2"/>
              <a:buNone/>
              <a:defRPr/>
            </a:pPr>
            <a:endParaRPr lang="en-US" sz="2600" b="1" u="sng" dirty="0" smtClean="0">
              <a:solidFill>
                <a:schemeClr val="tx1"/>
              </a:solidFill>
            </a:endParaRPr>
          </a:p>
          <a:p>
            <a:pPr eaLnBrk="1" fontAlgn="auto" hangingPunct="1">
              <a:spcAft>
                <a:spcPts val="0"/>
              </a:spcAft>
              <a:buFont typeface="Wingdings 2"/>
              <a:buNone/>
              <a:defRPr/>
            </a:pPr>
            <a:endParaRPr lang="en-US" sz="2200" b="1" u="sng" dirty="0" smtClean="0">
              <a:solidFill>
                <a:schemeClr val="tx1"/>
              </a:solidFill>
            </a:endParaRP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r>
              <a:rPr lang="en-US" sz="2200" b="1" dirty="0" smtClean="0">
                <a:solidFill>
                  <a:schemeClr val="tx1"/>
                </a:solidFill>
              </a:rPr>
              <a:t> </a:t>
            </a:r>
            <a:endParaRPr lang="en-US" sz="2200" b="1" dirty="0">
              <a:solidFill>
                <a:schemeClr val="tx1"/>
              </a:solidFill>
            </a:endParaRPr>
          </a:p>
        </p:txBody>
      </p:sp>
      <p:sp>
        <p:nvSpPr>
          <p:cNvPr id="31747"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sp>
        <p:nvSpPr>
          <p:cNvPr id="31748"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31749"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619375" y="1828800"/>
            <a:ext cx="2562225" cy="704850"/>
          </a:xfrm>
          <a:prstGeom prst="rect">
            <a:avLst/>
          </a:prstGeom>
          <a:noFill/>
          <a:ln w="9525">
            <a:noFill/>
            <a:miter lim="800000"/>
            <a:headEnd/>
            <a:tailEnd/>
          </a:ln>
        </p:spPr>
      </p:pic>
      <p:sp>
        <p:nvSpPr>
          <p:cNvPr id="31750"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31751" name="Picture 5"/>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066800" y="2724150"/>
            <a:ext cx="276225" cy="4000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p:cNvSpPr>
            <a:spLocks noGrp="1"/>
          </p:cNvSpPr>
          <p:nvPr>
            <p:ph idx="1"/>
          </p:nvPr>
        </p:nvSpPr>
        <p:spPr>
          <a:xfrm>
            <a:off x="152400" y="1219200"/>
            <a:ext cx="8839200" cy="5486400"/>
          </a:xfrm>
        </p:spPr>
        <p:txBody>
          <a:bodyPr/>
          <a:lstStyle/>
          <a:p>
            <a:pPr eaLnBrk="1" hangingPunct="1">
              <a:buClrTx/>
              <a:buFont typeface="Wingdings" pitchFamily="2" charset="2"/>
              <a:buChar char="Ø"/>
            </a:pPr>
            <a:r>
              <a:rPr lang="en-US" sz="2400" b="1" u="sng" dirty="0" smtClean="0">
                <a:solidFill>
                  <a:schemeClr val="tx1"/>
                </a:solidFill>
                <a:latin typeface="+mj-lt"/>
              </a:rPr>
              <a:t>Wider Confidence Interval</a:t>
            </a:r>
          </a:p>
          <a:p>
            <a:pPr eaLnBrk="1" hangingPunct="1">
              <a:buFont typeface="Wingdings 2" pitchFamily="18" charset="2"/>
              <a:buNone/>
            </a:pPr>
            <a:r>
              <a:rPr lang="en-US" sz="2200" b="1" dirty="0" smtClean="0">
                <a:solidFill>
                  <a:schemeClr val="tx1"/>
                </a:solidFill>
              </a:rPr>
              <a:t>Confidence Interval means the interval or range in which the value of true</a:t>
            </a:r>
          </a:p>
          <a:p>
            <a:pPr eaLnBrk="1" hangingPunct="1">
              <a:buFont typeface="Wingdings 2" pitchFamily="18" charset="2"/>
              <a:buNone/>
            </a:pPr>
            <a:r>
              <a:rPr lang="en-US" sz="2200" b="1" dirty="0" smtClean="0">
                <a:solidFill>
                  <a:schemeClr val="tx1"/>
                </a:solidFill>
              </a:rPr>
              <a:t>   will lie. The confidence interval is constructed from following formula:</a:t>
            </a: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r>
              <a:rPr lang="en-US" sz="2200" b="1" dirty="0" smtClean="0">
                <a:solidFill>
                  <a:schemeClr val="tx1"/>
                </a:solidFill>
              </a:rPr>
              <a:t>This formula suggest that, above confidence interval has 95% probability </a:t>
            </a:r>
          </a:p>
          <a:p>
            <a:pPr eaLnBrk="1" hangingPunct="1">
              <a:buFont typeface="Wingdings 2" pitchFamily="18" charset="2"/>
              <a:buNone/>
            </a:pPr>
            <a:r>
              <a:rPr lang="en-US" sz="2200" b="1" dirty="0" smtClean="0">
                <a:solidFill>
                  <a:schemeClr val="tx1"/>
                </a:solidFill>
              </a:rPr>
              <a:t>of including the value of true   . From the above formula it is evident that </a:t>
            </a:r>
          </a:p>
          <a:p>
            <a:pPr eaLnBrk="1" hangingPunct="1">
              <a:buFont typeface="Wingdings 2" pitchFamily="18" charset="2"/>
              <a:buNone/>
            </a:pPr>
            <a:r>
              <a:rPr lang="en-US" sz="2200" b="1" dirty="0" smtClean="0">
                <a:solidFill>
                  <a:schemeClr val="tx1"/>
                </a:solidFill>
              </a:rPr>
              <a:t>as, if </a:t>
            </a:r>
            <a:r>
              <a:rPr lang="en-US" sz="2200" b="1" dirty="0" err="1" smtClean="0">
                <a:solidFill>
                  <a:schemeClr val="tx1"/>
                </a:solidFill>
              </a:rPr>
              <a:t>s.e</a:t>
            </a:r>
            <a:r>
              <a:rPr lang="en-US" sz="2200" b="1" dirty="0" smtClean="0">
                <a:solidFill>
                  <a:schemeClr val="tx1"/>
                </a:solidFill>
              </a:rPr>
              <a:t>. and therefore        of an estimator increases the confidence </a:t>
            </a:r>
          </a:p>
          <a:p>
            <a:pPr eaLnBrk="1" hangingPunct="1">
              <a:buFont typeface="Wingdings 2" pitchFamily="18" charset="2"/>
              <a:buNone/>
            </a:pPr>
            <a:r>
              <a:rPr lang="en-US" sz="2200" b="1" dirty="0" smtClean="0">
                <a:solidFill>
                  <a:schemeClr val="tx1"/>
                </a:solidFill>
              </a:rPr>
              <a:t>interval become wider in which the value of true     will lie. </a:t>
            </a:r>
          </a:p>
          <a:p>
            <a:pPr eaLnBrk="1" hangingPunct="1">
              <a:buFont typeface="Wingdings 2" pitchFamily="18" charset="2"/>
              <a:buNone/>
            </a:pPr>
            <a:r>
              <a:rPr lang="en-US" sz="2200" b="1" dirty="0" smtClean="0">
                <a:solidFill>
                  <a:schemeClr val="tx1"/>
                </a:solidFill>
              </a:rPr>
              <a:t>Therefore, because of the large standard errors, the confidence intervals </a:t>
            </a:r>
          </a:p>
          <a:p>
            <a:pPr eaLnBrk="1" hangingPunct="1">
              <a:buFont typeface="Wingdings 2" pitchFamily="18" charset="2"/>
              <a:buNone/>
            </a:pPr>
            <a:r>
              <a:rPr lang="en-US" sz="2200" b="1" dirty="0" smtClean="0">
                <a:solidFill>
                  <a:schemeClr val="tx1"/>
                </a:solidFill>
              </a:rPr>
              <a:t>for the relevant population parameters tent to be larger and subsequently </a:t>
            </a:r>
          </a:p>
          <a:p>
            <a:pPr eaLnBrk="1" hangingPunct="1">
              <a:buFont typeface="Wingdings 2" pitchFamily="18" charset="2"/>
              <a:buNone/>
            </a:pPr>
            <a:r>
              <a:rPr lang="en-US" sz="2200" b="1" dirty="0" smtClean="0">
                <a:solidFill>
                  <a:schemeClr val="tx1"/>
                </a:solidFill>
              </a:rPr>
              <a:t>it indicates less reliability of estimate. </a:t>
            </a:r>
            <a:endParaRPr lang="en-US" dirty="0" smtClean="0"/>
          </a:p>
        </p:txBody>
      </p:sp>
      <p:pic>
        <p:nvPicPr>
          <p:cNvPr id="32772"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28600" y="2095500"/>
            <a:ext cx="161925" cy="342900"/>
          </a:xfrm>
          <a:prstGeom prst="rect">
            <a:avLst/>
          </a:prstGeom>
          <a:noFill/>
          <a:ln w="9525">
            <a:noFill/>
            <a:miter lim="800000"/>
            <a:headEnd/>
            <a:tailEnd/>
          </a:ln>
        </p:spPr>
      </p:pic>
      <p:sp>
        <p:nvSpPr>
          <p:cNvPr id="32773" name="Rectangle 3"/>
          <p:cNvSpPr>
            <a:spLocks noChangeArrowheads="1"/>
          </p:cNvSpPr>
          <p:nvPr/>
        </p:nvSpPr>
        <p:spPr bwMode="auto">
          <a:xfrm>
            <a:off x="0" y="800100"/>
            <a:ext cx="9144000" cy="0"/>
          </a:xfrm>
          <a:prstGeom prst="rect">
            <a:avLst/>
          </a:prstGeom>
          <a:noFill/>
          <a:ln w="9525">
            <a:noFill/>
            <a:miter lim="800000"/>
            <a:headEnd/>
            <a:tailEnd/>
          </a:ln>
        </p:spPr>
        <p:txBody>
          <a:bodyPr wrap="none" anchor="ctr">
            <a:spAutoFit/>
          </a:bodyPr>
          <a:lstStyle/>
          <a:p>
            <a:endParaRPr lang="en-US"/>
          </a:p>
        </p:txBody>
      </p:sp>
      <p:sp>
        <p:nvSpPr>
          <p:cNvPr id="32774"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32775" name="Picture 4"/>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809750" y="2657475"/>
            <a:ext cx="4286250" cy="390525"/>
          </a:xfrm>
          <a:prstGeom prst="rect">
            <a:avLst/>
          </a:prstGeom>
          <a:noFill/>
          <a:ln w="9525">
            <a:noFill/>
            <a:miter lim="800000"/>
            <a:headEnd/>
            <a:tailEnd/>
          </a:ln>
        </p:spPr>
      </p:pic>
      <p:pic>
        <p:nvPicPr>
          <p:cNvPr id="32776"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733800" y="3657600"/>
            <a:ext cx="161925" cy="342900"/>
          </a:xfrm>
          <a:prstGeom prst="rect">
            <a:avLst/>
          </a:prstGeom>
          <a:noFill/>
          <a:ln w="9525">
            <a:noFill/>
            <a:miter lim="800000"/>
            <a:headEnd/>
            <a:tailEnd/>
          </a:ln>
        </p:spPr>
      </p:pic>
      <p:pic>
        <p:nvPicPr>
          <p:cNvPr id="32777"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3048000" y="4114800"/>
            <a:ext cx="409575" cy="342900"/>
          </a:xfrm>
          <a:prstGeom prst="rect">
            <a:avLst/>
          </a:prstGeom>
          <a:noFill/>
          <a:ln w="9525">
            <a:noFill/>
            <a:miter lim="800000"/>
            <a:headEnd/>
            <a:tailEnd/>
          </a:ln>
        </p:spPr>
      </p:pic>
      <p:pic>
        <p:nvPicPr>
          <p:cNvPr id="32778"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6010275" y="4495800"/>
            <a:ext cx="161925" cy="3429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58875"/>
            <a:ext cx="8839200" cy="5546725"/>
          </a:xfrm>
        </p:spPr>
        <p:txBody>
          <a:bodyPr>
            <a:normAutofit/>
          </a:bodyPr>
          <a:lstStyle/>
          <a:p>
            <a:pPr eaLnBrk="1" fontAlgn="auto" hangingPunct="1">
              <a:spcAft>
                <a:spcPts val="0"/>
              </a:spcAft>
              <a:buClrTx/>
              <a:buFont typeface="Wingdings" pitchFamily="2" charset="2"/>
              <a:buChar char="Ø"/>
              <a:defRPr/>
            </a:pPr>
            <a:r>
              <a:rPr lang="en-US" sz="2400" b="1" dirty="0" smtClean="0">
                <a:solidFill>
                  <a:schemeClr val="tx1"/>
                </a:solidFill>
                <a:latin typeface="+mj-lt"/>
              </a:rPr>
              <a:t>“</a:t>
            </a:r>
            <a:r>
              <a:rPr lang="en-US" sz="2400" b="1" u="sng" dirty="0" smtClean="0">
                <a:solidFill>
                  <a:schemeClr val="tx1"/>
                </a:solidFill>
                <a:latin typeface="+mj-lt"/>
              </a:rPr>
              <a:t>Insignificant” t-ratios</a:t>
            </a:r>
          </a:p>
          <a:p>
            <a:pPr eaLnBrk="1" fontAlgn="auto" hangingPunct="1">
              <a:spcAft>
                <a:spcPts val="0"/>
              </a:spcAft>
              <a:buClrTx/>
              <a:buFont typeface="Wingdings 2"/>
              <a:buNone/>
              <a:defRPr/>
            </a:pPr>
            <a:endParaRPr lang="en-US" sz="2200" b="1" u="sng" dirty="0" smtClean="0">
              <a:solidFill>
                <a:schemeClr val="tx1"/>
              </a:solidFill>
              <a:latin typeface="+mj-lt"/>
            </a:endParaRPr>
          </a:p>
          <a:p>
            <a:pPr eaLnBrk="1" fontAlgn="auto" hangingPunct="1">
              <a:spcAft>
                <a:spcPts val="0"/>
              </a:spcAft>
              <a:buFont typeface="Wingdings 2"/>
              <a:buNone/>
              <a:defRPr/>
            </a:pPr>
            <a:r>
              <a:rPr lang="en-US" sz="2200" b="1" dirty="0" smtClean="0">
                <a:solidFill>
                  <a:schemeClr val="tx1"/>
                </a:solidFill>
              </a:rPr>
              <a:t>To test the null hypothesis that, say,     = 0, we use the </a:t>
            </a:r>
            <a:r>
              <a:rPr lang="en-US" sz="2200" b="1" i="1" dirty="0" smtClean="0">
                <a:solidFill>
                  <a:schemeClr val="tx1"/>
                </a:solidFill>
              </a:rPr>
              <a:t>t</a:t>
            </a:r>
            <a:r>
              <a:rPr lang="en-US" sz="2200" b="1" dirty="0" smtClean="0">
                <a:solidFill>
                  <a:schemeClr val="tx1"/>
                </a:solidFill>
              </a:rPr>
              <a:t> ratio, that is </a:t>
            </a:r>
          </a:p>
          <a:p>
            <a:pPr eaLnBrk="1" fontAlgn="auto" hangingPunct="1">
              <a:spcAft>
                <a:spcPts val="0"/>
              </a:spcAft>
              <a:buFont typeface="Wingdings 2"/>
              <a:buNone/>
              <a:defRPr/>
            </a:pPr>
            <a:r>
              <a:rPr lang="en-US" sz="2200" b="1" dirty="0" smtClean="0">
                <a:solidFill>
                  <a:schemeClr val="tx1"/>
                </a:solidFill>
              </a:rPr>
              <a:t>          , and compare the estimated </a:t>
            </a:r>
            <a:r>
              <a:rPr lang="en-US" sz="2200" b="1" i="1" dirty="0" smtClean="0">
                <a:solidFill>
                  <a:schemeClr val="tx1"/>
                </a:solidFill>
              </a:rPr>
              <a:t>t</a:t>
            </a:r>
            <a:r>
              <a:rPr lang="en-US" sz="2200" b="1" dirty="0" smtClean="0">
                <a:solidFill>
                  <a:schemeClr val="tx1"/>
                </a:solidFill>
              </a:rPr>
              <a:t>-value with critical t-value from the </a:t>
            </a:r>
            <a:r>
              <a:rPr lang="en-US" sz="2200" b="1" i="1" dirty="0" smtClean="0">
                <a:solidFill>
                  <a:schemeClr val="tx1"/>
                </a:solidFill>
              </a:rPr>
              <a:t>t</a:t>
            </a:r>
            <a:r>
              <a:rPr lang="en-US" sz="2200" b="1" dirty="0" smtClean="0">
                <a:solidFill>
                  <a:schemeClr val="tx1"/>
                </a:solidFill>
              </a:rPr>
              <a:t> </a:t>
            </a: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r>
              <a:rPr lang="en-US" sz="2200" b="1" dirty="0" smtClean="0">
                <a:solidFill>
                  <a:schemeClr val="tx1"/>
                </a:solidFill>
              </a:rPr>
              <a:t>table. But in cases of high collinearity the estimated standard errors </a:t>
            </a:r>
          </a:p>
          <a:p>
            <a:pPr eaLnBrk="1" fontAlgn="auto" hangingPunct="1">
              <a:spcAft>
                <a:spcPts val="0"/>
              </a:spcAft>
              <a:buFont typeface="Wingdings 2"/>
              <a:buNone/>
              <a:defRPr/>
            </a:pPr>
            <a:r>
              <a:rPr lang="en-US" sz="2200" b="1" dirty="0" smtClean="0">
                <a:solidFill>
                  <a:schemeClr val="tx1"/>
                </a:solidFill>
              </a:rPr>
              <a:t>increases dramatically, thereby making the </a:t>
            </a:r>
            <a:r>
              <a:rPr lang="en-US" sz="2200" b="1" i="1" dirty="0" smtClean="0">
                <a:solidFill>
                  <a:schemeClr val="tx1"/>
                </a:solidFill>
              </a:rPr>
              <a:t>t</a:t>
            </a:r>
            <a:r>
              <a:rPr lang="en-US" sz="2200" b="1" dirty="0" smtClean="0">
                <a:solidFill>
                  <a:schemeClr val="tx1"/>
                </a:solidFill>
              </a:rPr>
              <a:t> values smaller. Therefore, in </a:t>
            </a:r>
          </a:p>
          <a:p>
            <a:pPr eaLnBrk="1" fontAlgn="auto" hangingPunct="1">
              <a:spcAft>
                <a:spcPts val="0"/>
              </a:spcAft>
              <a:buFont typeface="Wingdings 2"/>
              <a:buNone/>
              <a:defRPr/>
            </a:pPr>
            <a:r>
              <a:rPr lang="en-US" sz="2200" b="1" dirty="0" smtClean="0">
                <a:solidFill>
                  <a:schemeClr val="tx1"/>
                </a:solidFill>
              </a:rPr>
              <a:t>such cases, one will increasingly accept the null hypothesis that the </a:t>
            </a:r>
          </a:p>
          <a:p>
            <a:pPr eaLnBrk="1" fontAlgn="auto" hangingPunct="1">
              <a:spcAft>
                <a:spcPts val="0"/>
              </a:spcAft>
              <a:buFont typeface="Wingdings 2"/>
              <a:buNone/>
              <a:defRPr/>
            </a:pPr>
            <a:r>
              <a:rPr lang="en-US" sz="2200" b="1" dirty="0" smtClean="0">
                <a:solidFill>
                  <a:schemeClr val="tx1"/>
                </a:solidFill>
              </a:rPr>
              <a:t>relevant true population value is zero.</a:t>
            </a: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endParaRPr lang="en-US" sz="2200" b="1" dirty="0">
              <a:solidFill>
                <a:schemeClr val="tx1"/>
              </a:solidFill>
            </a:endParaRPr>
          </a:p>
        </p:txBody>
      </p:sp>
      <p:sp>
        <p:nvSpPr>
          <p:cNvPr id="33795"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33796"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4572000" y="2019300"/>
            <a:ext cx="257175" cy="342900"/>
          </a:xfrm>
          <a:prstGeom prst="rect">
            <a:avLst/>
          </a:prstGeom>
          <a:noFill/>
          <a:ln w="9525">
            <a:noFill/>
            <a:miter lim="800000"/>
            <a:headEnd/>
            <a:tailEnd/>
          </a:ln>
        </p:spPr>
      </p:pic>
      <p:sp>
        <p:nvSpPr>
          <p:cNvPr id="33797"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33798"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28600" y="2362200"/>
            <a:ext cx="695325" cy="752475"/>
          </a:xfrm>
          <a:prstGeom prst="rect">
            <a:avLst/>
          </a:prstGeom>
          <a:noFill/>
          <a:ln w="9525">
            <a:noFill/>
            <a:miter lim="800000"/>
            <a:headEnd/>
            <a:tailEnd/>
          </a:ln>
        </p:spPr>
      </p:pic>
      <p:sp>
        <p:nvSpPr>
          <p:cNvPr id="33799"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sp>
        <p:nvSpPr>
          <p:cNvPr id="33800"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158875"/>
            <a:ext cx="8991600" cy="5394325"/>
          </a:xfrm>
        </p:spPr>
        <p:txBody>
          <a:bodyPr>
            <a:normAutofit/>
          </a:bodyPr>
          <a:lstStyle/>
          <a:p>
            <a:pPr eaLnBrk="1" fontAlgn="auto" hangingPunct="1">
              <a:spcAft>
                <a:spcPts val="0"/>
              </a:spcAft>
              <a:buClrTx/>
              <a:buFont typeface="Wingdings" pitchFamily="2" charset="2"/>
              <a:buChar char="Ø"/>
              <a:defRPr/>
            </a:pPr>
            <a:r>
              <a:rPr lang="en-US" sz="2400" b="1" u="sng" dirty="0" smtClean="0">
                <a:solidFill>
                  <a:schemeClr val="tx1"/>
                </a:solidFill>
                <a:latin typeface="+mj-lt"/>
              </a:rPr>
              <a:t>A high R</a:t>
            </a:r>
            <a:r>
              <a:rPr lang="en-US" sz="2400" b="1" u="sng" baseline="30000" dirty="0" smtClean="0">
                <a:solidFill>
                  <a:schemeClr val="tx1"/>
                </a:solidFill>
                <a:latin typeface="+mj-lt"/>
              </a:rPr>
              <a:t>2 </a:t>
            </a:r>
            <a:r>
              <a:rPr lang="en-US" sz="2400" b="1" u="sng" dirty="0" smtClean="0">
                <a:solidFill>
                  <a:schemeClr val="tx1"/>
                </a:solidFill>
                <a:latin typeface="+mj-lt"/>
              </a:rPr>
              <a:t> but Few Significant </a:t>
            </a:r>
            <a:r>
              <a:rPr lang="en-US" sz="2400" b="1" i="1" u="sng" dirty="0" smtClean="0">
                <a:solidFill>
                  <a:schemeClr val="tx1"/>
                </a:solidFill>
                <a:latin typeface="+mj-lt"/>
              </a:rPr>
              <a:t>t</a:t>
            </a:r>
            <a:r>
              <a:rPr lang="en-US" sz="2400" b="1" u="sng" dirty="0" smtClean="0">
                <a:solidFill>
                  <a:schemeClr val="tx1"/>
                </a:solidFill>
                <a:latin typeface="+mj-lt"/>
              </a:rPr>
              <a:t> Ratios</a:t>
            </a:r>
          </a:p>
          <a:p>
            <a:pPr eaLnBrk="1" fontAlgn="auto" hangingPunct="1">
              <a:spcAft>
                <a:spcPts val="0"/>
              </a:spcAft>
              <a:buFont typeface="Wingdings 2"/>
              <a:buNone/>
              <a:defRPr/>
            </a:pPr>
            <a:r>
              <a:rPr lang="en-US" sz="2200" b="1" dirty="0" smtClean="0">
                <a:solidFill>
                  <a:schemeClr val="tx1"/>
                </a:solidFill>
              </a:rPr>
              <a:t>Consider the </a:t>
            </a:r>
            <a:r>
              <a:rPr lang="en-US" sz="2200" b="1" i="1" dirty="0" smtClean="0">
                <a:solidFill>
                  <a:schemeClr val="tx1"/>
                </a:solidFill>
              </a:rPr>
              <a:t>k</a:t>
            </a:r>
            <a:r>
              <a:rPr lang="en-US" sz="2200" b="1" dirty="0" smtClean="0">
                <a:solidFill>
                  <a:schemeClr val="tx1"/>
                </a:solidFill>
              </a:rPr>
              <a:t>-variable linear regression model:</a:t>
            </a:r>
          </a:p>
          <a:p>
            <a:pPr eaLnBrk="1" fontAlgn="auto" hangingPunct="1">
              <a:spcAft>
                <a:spcPts val="0"/>
              </a:spcAft>
              <a:buFont typeface="Wingdings 2"/>
              <a:buNone/>
              <a:defRPr/>
            </a:pPr>
            <a:endParaRPr lang="en-US" sz="2200" b="1" dirty="0">
              <a:solidFill>
                <a:schemeClr val="tx1"/>
              </a:solidFill>
            </a:endParaRPr>
          </a:p>
        </p:txBody>
      </p:sp>
      <p:pic>
        <p:nvPicPr>
          <p:cNvPr id="34819" name="Picture 7"/>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371600" y="2133600"/>
            <a:ext cx="5410200" cy="381000"/>
          </a:xfrm>
          <a:prstGeom prst="rect">
            <a:avLst/>
          </a:prstGeom>
          <a:noFill/>
          <a:ln w="9525">
            <a:noFill/>
            <a:miter lim="800000"/>
            <a:headEnd/>
            <a:tailEnd/>
          </a:ln>
        </p:spPr>
      </p:pic>
      <p:sp>
        <p:nvSpPr>
          <p:cNvPr id="34820" name="Rectangle 4"/>
          <p:cNvSpPr>
            <a:spLocks noChangeArrowheads="1"/>
          </p:cNvSpPr>
          <p:nvPr/>
        </p:nvSpPr>
        <p:spPr bwMode="auto">
          <a:xfrm>
            <a:off x="152400" y="2667000"/>
            <a:ext cx="8763000" cy="3441700"/>
          </a:xfrm>
          <a:prstGeom prst="rect">
            <a:avLst/>
          </a:prstGeom>
          <a:noFill/>
          <a:ln w="9525">
            <a:noFill/>
            <a:miter lim="800000"/>
            <a:headEnd/>
            <a:tailEnd/>
          </a:ln>
        </p:spPr>
        <p:txBody>
          <a:bodyPr>
            <a:spAutoFit/>
          </a:bodyPr>
          <a:lstStyle/>
          <a:p>
            <a:r>
              <a:rPr lang="en-US" sz="2200" b="1">
                <a:latin typeface="Franklin Gothic Book" pitchFamily="34" charset="0"/>
              </a:rPr>
              <a:t>In cases of high collinearity, it is possible to find, as we have just noted, </a:t>
            </a:r>
          </a:p>
          <a:p>
            <a:r>
              <a:rPr lang="en-US" sz="2200" b="1">
                <a:latin typeface="Franklin Gothic Book" pitchFamily="34" charset="0"/>
              </a:rPr>
              <a:t>that one or more of the partial slope coefficients are individually </a:t>
            </a:r>
          </a:p>
          <a:p>
            <a:r>
              <a:rPr lang="en-US" sz="2200" b="1">
                <a:latin typeface="Franklin Gothic Book" pitchFamily="34" charset="0"/>
              </a:rPr>
              <a:t>statistically insignificant on he basis of the </a:t>
            </a:r>
            <a:r>
              <a:rPr lang="en-US" sz="2200" b="1" i="1">
                <a:latin typeface="Franklin Gothic Book" pitchFamily="34" charset="0"/>
              </a:rPr>
              <a:t>t</a:t>
            </a:r>
            <a:r>
              <a:rPr lang="en-US" sz="2200" b="1">
                <a:latin typeface="Franklin Gothic Book" pitchFamily="34" charset="0"/>
              </a:rPr>
              <a:t> test. Yet the R</a:t>
            </a:r>
            <a:r>
              <a:rPr lang="en-US" sz="2200" b="1" baseline="30000">
                <a:latin typeface="Franklin Gothic Book" pitchFamily="34" charset="0"/>
              </a:rPr>
              <a:t>2</a:t>
            </a:r>
            <a:r>
              <a:rPr lang="en-US" sz="2200" b="1">
                <a:latin typeface="Franklin Gothic Book" pitchFamily="34" charset="0"/>
              </a:rPr>
              <a:t> in such </a:t>
            </a:r>
          </a:p>
          <a:p>
            <a:r>
              <a:rPr lang="en-US" sz="2200" b="1">
                <a:latin typeface="Franklin Gothic Book" pitchFamily="34" charset="0"/>
              </a:rPr>
              <a:t>situations may be so high, say, in excess of 0.9, that on the basis of the </a:t>
            </a:r>
            <a:r>
              <a:rPr lang="en-US" sz="2200" b="1" i="1">
                <a:latin typeface="Franklin Gothic Book" pitchFamily="34" charset="0"/>
              </a:rPr>
              <a:t>F</a:t>
            </a:r>
            <a:r>
              <a:rPr lang="en-US" sz="2200" b="1">
                <a:latin typeface="Franklin Gothic Book" pitchFamily="34" charset="0"/>
              </a:rPr>
              <a:t> </a:t>
            </a:r>
          </a:p>
          <a:p>
            <a:endParaRPr lang="en-US" sz="2200" b="1">
              <a:latin typeface="Franklin Gothic Book" pitchFamily="34" charset="0"/>
            </a:endParaRPr>
          </a:p>
          <a:p>
            <a:endParaRPr lang="en-US" sz="2200" b="1">
              <a:latin typeface="Franklin Gothic Book" pitchFamily="34" charset="0"/>
            </a:endParaRPr>
          </a:p>
          <a:p>
            <a:r>
              <a:rPr lang="en-US" sz="2200" b="1">
                <a:latin typeface="Franklin Gothic Book" pitchFamily="34" charset="0"/>
              </a:rPr>
              <a:t>test one can convincingly reject the hypothesis that indeed, this is one of the signals of multicollinearity – significant </a:t>
            </a:r>
            <a:r>
              <a:rPr lang="en-US" sz="2200" b="1" i="1">
                <a:latin typeface="Franklin Gothic Book" pitchFamily="34" charset="0"/>
              </a:rPr>
              <a:t>t</a:t>
            </a:r>
            <a:r>
              <a:rPr lang="en-US" sz="2200" b="1">
                <a:latin typeface="Franklin Gothic Book" pitchFamily="34" charset="0"/>
              </a:rPr>
              <a:t> values </a:t>
            </a:r>
          </a:p>
          <a:p>
            <a:r>
              <a:rPr lang="en-US" sz="2200" b="1">
                <a:latin typeface="Franklin Gothic Book" pitchFamily="34" charset="0"/>
              </a:rPr>
              <a:t>but a high overall R</a:t>
            </a:r>
            <a:r>
              <a:rPr lang="en-US" sz="2200" b="1" baseline="30000">
                <a:latin typeface="Franklin Gothic Book" pitchFamily="34" charset="0"/>
              </a:rPr>
              <a:t>2</a:t>
            </a:r>
            <a:r>
              <a:rPr lang="en-US" sz="2200" b="1">
                <a:latin typeface="Franklin Gothic Book" pitchFamily="34" charset="0"/>
              </a:rPr>
              <a:t> .</a:t>
            </a:r>
          </a:p>
        </p:txBody>
      </p:sp>
      <p:pic>
        <p:nvPicPr>
          <p:cNvPr id="34821"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895600" y="4267200"/>
            <a:ext cx="2514600" cy="3429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p:cNvSpPr>
            <a:spLocks noGrp="1"/>
          </p:cNvSpPr>
          <p:nvPr>
            <p:ph idx="1"/>
          </p:nvPr>
        </p:nvSpPr>
        <p:spPr>
          <a:xfrm>
            <a:off x="76200" y="1235075"/>
            <a:ext cx="8915400" cy="5394325"/>
          </a:xfrm>
        </p:spPr>
        <p:txBody>
          <a:bodyPr/>
          <a:lstStyle/>
          <a:p>
            <a:pPr eaLnBrk="1" hangingPunct="1">
              <a:buFont typeface="Wingdings 2" pitchFamily="18" charset="2"/>
              <a:buNone/>
            </a:pPr>
            <a:endParaRPr lang="en-US" sz="2200" b="1" u="sng" dirty="0" smtClean="0">
              <a:solidFill>
                <a:schemeClr val="tx1"/>
              </a:solidFill>
            </a:endParaRPr>
          </a:p>
          <a:p>
            <a:pPr eaLnBrk="1" hangingPunct="1">
              <a:buFont typeface="Wingdings 2" pitchFamily="18" charset="2"/>
              <a:buNone/>
            </a:pPr>
            <a:endParaRPr lang="en-US" sz="2200" b="1" u="sng" dirty="0" smtClean="0">
              <a:solidFill>
                <a:schemeClr val="tx1"/>
              </a:solidFill>
            </a:endParaRPr>
          </a:p>
          <a:p>
            <a:pPr eaLnBrk="1" hangingPunct="1">
              <a:buFont typeface="Wingdings 2" pitchFamily="18" charset="2"/>
              <a:buNone/>
            </a:pPr>
            <a:endParaRPr lang="en-US" sz="2200" b="1" u="sng" dirty="0" smtClean="0">
              <a:solidFill>
                <a:schemeClr val="tx1"/>
              </a:solidFill>
            </a:endParaRPr>
          </a:p>
          <a:p>
            <a:pPr eaLnBrk="1" hangingPunct="1">
              <a:buFont typeface="Wingdings 2" pitchFamily="18" charset="2"/>
              <a:buNone/>
            </a:pPr>
            <a:endParaRPr lang="en-US" sz="2200" b="1" u="sng" dirty="0" smtClean="0">
              <a:solidFill>
                <a:schemeClr val="tx1"/>
              </a:solidFill>
            </a:endParaRPr>
          </a:p>
          <a:p>
            <a:pPr eaLnBrk="1" hangingPunct="1">
              <a:buFont typeface="Wingdings 2" pitchFamily="18" charset="2"/>
              <a:buNone/>
            </a:pPr>
            <a:endParaRPr lang="en-US" sz="2200" b="1" u="sng" dirty="0" smtClean="0">
              <a:solidFill>
                <a:schemeClr val="tx1"/>
              </a:solidFill>
            </a:endParaRPr>
          </a:p>
          <a:p>
            <a:pPr eaLnBrk="1" hangingPunct="1">
              <a:buClrTx/>
              <a:buFont typeface="Wingdings" pitchFamily="2" charset="2"/>
              <a:buChar char="Ø"/>
            </a:pPr>
            <a:r>
              <a:rPr lang="en-US" sz="2400" b="1" u="sng" dirty="0" smtClean="0">
                <a:solidFill>
                  <a:schemeClr val="tx1"/>
                </a:solidFill>
                <a:latin typeface="Franklin Gothic Medium" pitchFamily="34" charset="0"/>
              </a:rPr>
              <a:t>Effect on Forecast</a:t>
            </a:r>
          </a:p>
          <a:p>
            <a:pPr eaLnBrk="1" hangingPunct="1">
              <a:buFont typeface="Wingdings 2" pitchFamily="18" charset="2"/>
              <a:buNone/>
            </a:pPr>
            <a:r>
              <a:rPr lang="en-US" sz="2200" b="1" dirty="0" smtClean="0">
                <a:solidFill>
                  <a:schemeClr val="tx1"/>
                </a:solidFill>
              </a:rPr>
              <a:t>Although multicollinearity affects individual regression coefficients, its </a:t>
            </a:r>
          </a:p>
          <a:p>
            <a:pPr eaLnBrk="1" hangingPunct="1">
              <a:buFont typeface="Wingdings 2" pitchFamily="18" charset="2"/>
              <a:buNone/>
            </a:pPr>
            <a:r>
              <a:rPr lang="en-US" sz="2200" b="1" dirty="0" smtClean="0">
                <a:solidFill>
                  <a:schemeClr val="tx1"/>
                </a:solidFill>
              </a:rPr>
              <a:t>effect on forecast are even </a:t>
            </a:r>
            <a:r>
              <a:rPr lang="en-US" sz="2200" b="1" dirty="0" smtClean="0">
                <a:solidFill>
                  <a:schemeClr val="tx1"/>
                </a:solidFill>
                <a:latin typeface="Franklin Gothic Medium" pitchFamily="34" charset="0"/>
              </a:rPr>
              <a:t>less drastic</a:t>
            </a:r>
            <a:r>
              <a:rPr lang="en-US" sz="2200" b="1" dirty="0" smtClean="0">
                <a:solidFill>
                  <a:schemeClr val="tx1"/>
                </a:solidFill>
              </a:rPr>
              <a:t> and may even be </a:t>
            </a:r>
            <a:r>
              <a:rPr lang="en-US" sz="2200" b="1" dirty="0" smtClean="0">
                <a:solidFill>
                  <a:schemeClr val="tx1"/>
                </a:solidFill>
                <a:latin typeface="Franklin Gothic Medium" pitchFamily="34" charset="0"/>
              </a:rPr>
              <a:t>beneficial. </a:t>
            </a:r>
            <a:r>
              <a:rPr lang="en-US" sz="2200" b="1" dirty="0" smtClean="0">
                <a:solidFill>
                  <a:schemeClr val="tx1"/>
                </a:solidFill>
              </a:rPr>
              <a:t>It is </a:t>
            </a:r>
          </a:p>
          <a:p>
            <a:pPr eaLnBrk="1" hangingPunct="1">
              <a:buFont typeface="Wingdings 2" pitchFamily="18" charset="2"/>
              <a:buNone/>
            </a:pPr>
            <a:r>
              <a:rPr lang="en-US" sz="2200" b="1" dirty="0" smtClean="0">
                <a:solidFill>
                  <a:schemeClr val="tx1"/>
                </a:solidFill>
              </a:rPr>
              <a:t>due to fact that one gets very high r</a:t>
            </a:r>
            <a:r>
              <a:rPr lang="en-US" sz="2200" b="1" baseline="30000" dirty="0" smtClean="0">
                <a:solidFill>
                  <a:schemeClr val="tx1"/>
                </a:solidFill>
              </a:rPr>
              <a:t>2 </a:t>
            </a:r>
            <a:r>
              <a:rPr lang="en-US" sz="2200" b="1" dirty="0" smtClean="0">
                <a:solidFill>
                  <a:schemeClr val="tx1"/>
                </a:solidFill>
              </a:rPr>
              <a:t>and significant </a:t>
            </a:r>
            <a:r>
              <a:rPr lang="en-US" sz="2200" b="1" i="1" dirty="0" smtClean="0">
                <a:solidFill>
                  <a:schemeClr val="tx1"/>
                </a:solidFill>
              </a:rPr>
              <a:t>f</a:t>
            </a:r>
            <a:r>
              <a:rPr lang="en-US" sz="2200" b="1" dirty="0" smtClean="0">
                <a:solidFill>
                  <a:schemeClr val="tx1"/>
                </a:solidFill>
              </a:rPr>
              <a:t> ratio. </a:t>
            </a:r>
          </a:p>
        </p:txBody>
      </p:sp>
      <p:sp>
        <p:nvSpPr>
          <p:cNvPr id="35843" name="Rectangle 3"/>
          <p:cNvSpPr>
            <a:spLocks noChangeArrowheads="1"/>
          </p:cNvSpPr>
          <p:nvPr/>
        </p:nvSpPr>
        <p:spPr bwMode="auto">
          <a:xfrm>
            <a:off x="152400" y="1219200"/>
            <a:ext cx="8839200" cy="1477328"/>
          </a:xfrm>
          <a:prstGeom prst="rect">
            <a:avLst/>
          </a:prstGeom>
          <a:noFill/>
          <a:ln w="9525">
            <a:noFill/>
            <a:miter lim="800000"/>
            <a:headEnd/>
            <a:tailEnd/>
          </a:ln>
        </p:spPr>
        <p:txBody>
          <a:bodyPr>
            <a:spAutoFit/>
          </a:bodyPr>
          <a:lstStyle/>
          <a:p>
            <a:pPr>
              <a:buFont typeface="Wingdings" pitchFamily="2" charset="2"/>
              <a:buChar char="Ø"/>
            </a:pPr>
            <a:r>
              <a:rPr lang="en-US" sz="2400" b="1" u="sng" dirty="0">
                <a:latin typeface="Franklin Gothic Medium" pitchFamily="34" charset="0"/>
              </a:rPr>
              <a:t>Sensitivity of OLS estimators and of their </a:t>
            </a:r>
            <a:r>
              <a:rPr lang="en-US" sz="2400" b="1" u="sng" dirty="0" err="1">
                <a:latin typeface="Franklin Gothic Medium" pitchFamily="34" charset="0"/>
              </a:rPr>
              <a:t>s.e</a:t>
            </a:r>
            <a:r>
              <a:rPr lang="en-US" sz="2400" b="1" u="sng" dirty="0">
                <a:latin typeface="Franklin Gothic Medium" pitchFamily="34" charset="0"/>
              </a:rPr>
              <a:t>.</a:t>
            </a:r>
          </a:p>
          <a:p>
            <a:r>
              <a:rPr lang="en-US" sz="2200" b="1" dirty="0">
                <a:latin typeface="Franklin Gothic Book" pitchFamily="34" charset="0"/>
              </a:rPr>
              <a:t>As long as multicollinearity is nor perfect, estimation of the regression </a:t>
            </a:r>
          </a:p>
          <a:p>
            <a:r>
              <a:rPr lang="en-US" sz="2200" b="1" dirty="0">
                <a:latin typeface="Franklin Gothic Book" pitchFamily="34" charset="0"/>
              </a:rPr>
              <a:t>coefficients is possible but that estimate and the </a:t>
            </a:r>
            <a:r>
              <a:rPr lang="en-US" sz="2200" b="1" dirty="0" err="1">
                <a:latin typeface="Franklin Gothic Book" pitchFamily="34" charset="0"/>
              </a:rPr>
              <a:t>s.e</a:t>
            </a:r>
            <a:r>
              <a:rPr lang="en-US" sz="2200" b="1" dirty="0">
                <a:latin typeface="Franklin Gothic Book" pitchFamily="34" charset="0"/>
              </a:rPr>
              <a:t>. become very </a:t>
            </a:r>
          </a:p>
          <a:p>
            <a:r>
              <a:rPr lang="en-US" sz="2200" b="1" dirty="0">
                <a:latin typeface="Franklin Gothic Book" pitchFamily="34" charset="0"/>
              </a:rPr>
              <a:t>sensitive to even the slightest change in the data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067800" cy="838200"/>
          </a:xfrm>
        </p:spPr>
        <p:txBody>
          <a:bodyPr/>
          <a:lstStyle/>
          <a:p>
            <a:pPr eaLnBrk="1" fontAlgn="auto" hangingPunct="1">
              <a:spcAft>
                <a:spcPts val="0"/>
              </a:spcAft>
              <a:defRPr/>
            </a:pPr>
            <a:r>
              <a:rPr lang="en-US" sz="3500" b="1" dirty="0" smtClean="0">
                <a:solidFill>
                  <a:schemeClr val="tx1"/>
                </a:solidFill>
                <a:latin typeface="Times New Roman" pitchFamily="18" charset="0"/>
                <a:cs typeface="Times New Roman" pitchFamily="18" charset="0"/>
              </a:rPr>
              <a:t>DETECTION OF MULTICOLLINEARITY</a:t>
            </a:r>
            <a:endParaRPr lang="en-US" sz="3500" b="1"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152400" y="1219200"/>
            <a:ext cx="8839200" cy="5562600"/>
          </a:xfrm>
        </p:spPr>
        <p:txBody>
          <a:bodyPr>
            <a:normAutofit lnSpcReduction="10000"/>
          </a:bodyPr>
          <a:lstStyle/>
          <a:p>
            <a:pPr eaLnBrk="1" hangingPunct="1">
              <a:buFont typeface="Wingdings 2" pitchFamily="18" charset="2"/>
              <a:buNone/>
              <a:defRPr/>
            </a:pPr>
            <a:r>
              <a:rPr lang="en-US" sz="2200" b="1" smtClean="0">
                <a:solidFill>
                  <a:schemeClr val="tx1"/>
                </a:solidFill>
              </a:rPr>
              <a:t>Now the question is, how does one know that the collinearity is present in </a:t>
            </a:r>
          </a:p>
          <a:p>
            <a:pPr eaLnBrk="1" hangingPunct="1">
              <a:buFont typeface="Wingdings 2" pitchFamily="18" charset="2"/>
              <a:buNone/>
              <a:defRPr/>
            </a:pPr>
            <a:r>
              <a:rPr lang="en-US" sz="2200" b="1" smtClean="0">
                <a:solidFill>
                  <a:schemeClr val="tx1"/>
                </a:solidFill>
              </a:rPr>
              <a:t>any given situation, especially in models involving more than two </a:t>
            </a:r>
          </a:p>
          <a:p>
            <a:pPr eaLnBrk="1" hangingPunct="1">
              <a:buFont typeface="Wingdings 2" pitchFamily="18" charset="2"/>
              <a:buNone/>
              <a:defRPr/>
            </a:pPr>
            <a:r>
              <a:rPr lang="en-US" sz="2200" b="1" smtClean="0">
                <a:solidFill>
                  <a:schemeClr val="tx1"/>
                </a:solidFill>
              </a:rPr>
              <a:t>explanatory variables? Here it is useful to bear in mind </a:t>
            </a:r>
            <a:r>
              <a:rPr lang="en-US" sz="2200" b="1" smtClean="0">
                <a:solidFill>
                  <a:schemeClr val="tx1"/>
                </a:solidFill>
                <a:latin typeface="Franklin Gothic Medium" pitchFamily="34" charset="0"/>
              </a:rPr>
              <a:t>Kmenta’s</a:t>
            </a:r>
            <a:r>
              <a:rPr lang="en-US" sz="2200" b="1" smtClean="0">
                <a:solidFill>
                  <a:schemeClr val="tx1"/>
                </a:solidFill>
              </a:rPr>
              <a:t> </a:t>
            </a:r>
          </a:p>
          <a:p>
            <a:pPr eaLnBrk="1" hangingPunct="1">
              <a:buFont typeface="Wingdings 2" pitchFamily="18" charset="2"/>
              <a:buNone/>
              <a:defRPr/>
            </a:pPr>
            <a:r>
              <a:rPr lang="en-US" sz="2200" b="1" smtClean="0">
                <a:solidFill>
                  <a:schemeClr val="tx1"/>
                </a:solidFill>
              </a:rPr>
              <a:t>Warning :</a:t>
            </a:r>
          </a:p>
          <a:p>
            <a:pPr eaLnBrk="1" hangingPunct="1">
              <a:buFont typeface="Wingdings 2" pitchFamily="18" charset="2"/>
              <a:buNone/>
              <a:defRPr/>
            </a:pPr>
            <a:r>
              <a:rPr lang="en-US" sz="2200" b="1" smtClean="0">
                <a:solidFill>
                  <a:schemeClr val="tx1"/>
                </a:solidFill>
              </a:rPr>
              <a:t>1. Multicollinearity is question of degree and not of kind. The meaning </a:t>
            </a:r>
          </a:p>
          <a:p>
            <a:pPr eaLnBrk="1" hangingPunct="1">
              <a:buFont typeface="Wingdings 2" pitchFamily="18" charset="2"/>
              <a:buNone/>
              <a:defRPr/>
            </a:pPr>
            <a:r>
              <a:rPr lang="en-US" sz="2200" b="1" smtClean="0">
                <a:solidFill>
                  <a:schemeClr val="tx1"/>
                </a:solidFill>
              </a:rPr>
              <a:t>     full distinction is not between the presence and the absence of </a:t>
            </a:r>
          </a:p>
          <a:p>
            <a:pPr eaLnBrk="1" hangingPunct="1">
              <a:buFont typeface="Wingdings 2" pitchFamily="18" charset="2"/>
              <a:buNone/>
              <a:defRPr/>
            </a:pPr>
            <a:r>
              <a:rPr lang="en-US" sz="2200" b="1" smtClean="0">
                <a:solidFill>
                  <a:schemeClr val="tx1"/>
                </a:solidFill>
              </a:rPr>
              <a:t>     multicollinearity, but between its various degrees.</a:t>
            </a:r>
          </a:p>
          <a:p>
            <a:pPr eaLnBrk="1" hangingPunct="1">
              <a:buFont typeface="Wingdings 2" pitchFamily="18" charset="2"/>
              <a:buNone/>
              <a:defRPr/>
            </a:pPr>
            <a:r>
              <a:rPr lang="en-US" sz="2200" b="1" smtClean="0">
                <a:solidFill>
                  <a:schemeClr val="tx1"/>
                </a:solidFill>
              </a:rPr>
              <a:t>2. Since multicollinearity refers to the condition of explanatory variables </a:t>
            </a:r>
          </a:p>
          <a:p>
            <a:pPr eaLnBrk="1" hangingPunct="1">
              <a:buFont typeface="Wingdings 2" pitchFamily="18" charset="2"/>
              <a:buNone/>
              <a:defRPr/>
            </a:pPr>
            <a:r>
              <a:rPr lang="en-US" sz="2200" b="1" smtClean="0">
                <a:solidFill>
                  <a:schemeClr val="tx1"/>
                </a:solidFill>
              </a:rPr>
              <a:t>    that are assumed to be nonstochastic, it is a feature of the sample and </a:t>
            </a:r>
          </a:p>
          <a:p>
            <a:pPr eaLnBrk="1" hangingPunct="1">
              <a:buFont typeface="Wingdings 2" pitchFamily="18" charset="2"/>
              <a:buNone/>
              <a:defRPr/>
            </a:pPr>
            <a:r>
              <a:rPr lang="en-US" sz="2200" b="1" smtClean="0">
                <a:solidFill>
                  <a:schemeClr val="tx1"/>
                </a:solidFill>
              </a:rPr>
              <a:t>    not of the population ( Small sample case).</a:t>
            </a:r>
          </a:p>
          <a:p>
            <a:pPr eaLnBrk="1" hangingPunct="1">
              <a:buFont typeface="Wingdings 2" pitchFamily="18" charset="2"/>
              <a:buNone/>
              <a:defRPr/>
            </a:pPr>
            <a:r>
              <a:rPr lang="en-US" sz="2200" b="1" smtClean="0">
                <a:solidFill>
                  <a:schemeClr val="tx1"/>
                </a:solidFill>
              </a:rPr>
              <a:t>Since multicollinearity is essentially a sample phenomenon, arising out of </a:t>
            </a:r>
          </a:p>
          <a:p>
            <a:pPr eaLnBrk="1" hangingPunct="1">
              <a:buFont typeface="Wingdings 2" pitchFamily="18" charset="2"/>
              <a:buNone/>
              <a:defRPr/>
            </a:pPr>
            <a:r>
              <a:rPr lang="en-US" sz="2200" b="1" smtClean="0">
                <a:solidFill>
                  <a:schemeClr val="tx1"/>
                </a:solidFill>
              </a:rPr>
              <a:t>the largely nonexperimental data collected in most social sciences, we do </a:t>
            </a:r>
          </a:p>
          <a:p>
            <a:pPr eaLnBrk="1" hangingPunct="1">
              <a:buFont typeface="Wingdings 2" pitchFamily="18" charset="2"/>
              <a:buNone/>
              <a:defRPr/>
            </a:pPr>
            <a:r>
              <a:rPr lang="en-US" sz="2200" b="1" smtClean="0">
                <a:solidFill>
                  <a:schemeClr val="tx1"/>
                </a:solidFill>
              </a:rPr>
              <a:t>not have one unique method of detecting it or measuring its strength. </a:t>
            </a:r>
          </a:p>
          <a:p>
            <a:pPr eaLnBrk="1" hangingPunct="1">
              <a:buFont typeface="Wingdings 2" pitchFamily="18" charset="2"/>
              <a:buNone/>
              <a:defRPr/>
            </a:pPr>
            <a:r>
              <a:rPr lang="en-US" sz="2200" b="1" smtClean="0">
                <a:solidFill>
                  <a:schemeClr val="tx1"/>
                </a:solidFill>
              </a:rPr>
              <a:t>What we have are some rules of thumb, some informal and some formal,</a:t>
            </a:r>
          </a:p>
          <a:p>
            <a:pPr eaLnBrk="1" hangingPunct="1">
              <a:buFont typeface="Wingdings 2" pitchFamily="18" charset="2"/>
              <a:buAutoNum type="arabicPeriod"/>
              <a:defRPr/>
            </a:pPr>
            <a:endParaRPr lang="en-US" sz="2200" b="1" smtClean="0">
              <a:solidFill>
                <a:schemeClr val="tx1"/>
              </a:solidFill>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p:cNvSpPr>
            <a:spLocks noGrp="1"/>
          </p:cNvSpPr>
          <p:nvPr>
            <p:ph idx="1"/>
          </p:nvPr>
        </p:nvSpPr>
        <p:spPr>
          <a:xfrm>
            <a:off x="228600" y="685800"/>
            <a:ext cx="8763000" cy="5486400"/>
          </a:xfrm>
        </p:spPr>
        <p:txBody>
          <a:bodyPr/>
          <a:lstStyle/>
          <a:p>
            <a:pPr eaLnBrk="1" hangingPunct="1">
              <a:buFont typeface="Wingdings 2" pitchFamily="18" charset="2"/>
              <a:buNone/>
            </a:pPr>
            <a:r>
              <a:rPr lang="en-US" sz="2400" b="1" dirty="0" smtClean="0">
                <a:solidFill>
                  <a:schemeClr val="tx1"/>
                </a:solidFill>
                <a:latin typeface="Franklin Gothic Medium" pitchFamily="34" charset="0"/>
              </a:rPr>
              <a:t>DETECTING MULTICOLLINEARITY</a:t>
            </a:r>
          </a:p>
          <a:p>
            <a:pPr eaLnBrk="1" hangingPunct="1">
              <a:buFont typeface="Wingdings 2" pitchFamily="18" charset="2"/>
              <a:buNone/>
            </a:pPr>
            <a:endParaRPr lang="en-US" sz="2200" b="1" dirty="0" smtClean="0">
              <a:solidFill>
                <a:schemeClr val="tx1"/>
              </a:solidFill>
              <a:latin typeface="Franklin Gothic Medium" pitchFamily="34" charset="0"/>
            </a:endParaRPr>
          </a:p>
          <a:p>
            <a:pPr eaLnBrk="1" hangingPunct="1">
              <a:buFont typeface="Wingdings 2" pitchFamily="18" charset="2"/>
              <a:buNone/>
            </a:pPr>
            <a:endParaRPr lang="en-US" sz="2200" b="1" dirty="0" smtClean="0">
              <a:solidFill>
                <a:schemeClr val="tx1"/>
              </a:solidFill>
              <a:latin typeface="Franklin Gothic Medium" pitchFamily="34" charset="0"/>
            </a:endParaRPr>
          </a:p>
          <a:p>
            <a:pPr eaLnBrk="1" hangingPunct="1">
              <a:buClrTx/>
              <a:buFont typeface="Wingdings" pitchFamily="2" charset="2"/>
              <a:buChar char="Ø"/>
            </a:pPr>
            <a:r>
              <a:rPr lang="en-US" sz="2200" b="1" dirty="0" smtClean="0">
                <a:solidFill>
                  <a:schemeClr val="tx1"/>
                </a:solidFill>
              </a:rPr>
              <a:t>Significant </a:t>
            </a:r>
            <a:r>
              <a:rPr lang="en-US" sz="2200" b="1" i="1" dirty="0" smtClean="0">
                <a:solidFill>
                  <a:schemeClr val="tx1"/>
                </a:solidFill>
              </a:rPr>
              <a:t>F</a:t>
            </a:r>
            <a:r>
              <a:rPr lang="en-US" sz="2200" b="1" dirty="0" smtClean="0">
                <a:solidFill>
                  <a:schemeClr val="tx1"/>
                </a:solidFill>
              </a:rPr>
              <a:t>-test or Auxiliary regression.</a:t>
            </a:r>
          </a:p>
          <a:p>
            <a:pPr eaLnBrk="1" hangingPunct="1">
              <a:buClrTx/>
              <a:buFont typeface="Wingdings" pitchFamily="2" charset="2"/>
              <a:buChar char="Ø"/>
            </a:pPr>
            <a:r>
              <a:rPr lang="en-US" sz="2200" b="1" dirty="0" smtClean="0">
                <a:solidFill>
                  <a:schemeClr val="tx1"/>
                </a:solidFill>
              </a:rPr>
              <a:t>High </a:t>
            </a:r>
            <a:r>
              <a:rPr lang="en-US" sz="2200" b="1" i="1" dirty="0" smtClean="0">
                <a:solidFill>
                  <a:schemeClr val="tx1"/>
                </a:solidFill>
              </a:rPr>
              <a:t>R</a:t>
            </a:r>
            <a:r>
              <a:rPr lang="en-US" sz="2200" b="1" i="1" baseline="30000" dirty="0" smtClean="0">
                <a:solidFill>
                  <a:schemeClr val="tx1"/>
                </a:solidFill>
              </a:rPr>
              <a:t>2</a:t>
            </a:r>
            <a:r>
              <a:rPr lang="en-US" sz="2200" b="1" i="1" dirty="0" smtClean="0">
                <a:solidFill>
                  <a:schemeClr val="tx1"/>
                </a:solidFill>
              </a:rPr>
              <a:t> </a:t>
            </a:r>
            <a:r>
              <a:rPr lang="en-US" sz="2200" b="1" dirty="0" smtClean="0">
                <a:solidFill>
                  <a:schemeClr val="tx1"/>
                </a:solidFill>
              </a:rPr>
              <a:t>but few significant t-ratios.</a:t>
            </a:r>
          </a:p>
          <a:p>
            <a:pPr eaLnBrk="1" hangingPunct="1">
              <a:buClrTx/>
              <a:buFont typeface="Wingdings" pitchFamily="2" charset="2"/>
              <a:buChar char="Ø"/>
            </a:pPr>
            <a:r>
              <a:rPr lang="en-US" sz="2200" b="1" dirty="0" smtClean="0">
                <a:solidFill>
                  <a:schemeClr val="tx1"/>
                </a:solidFill>
              </a:rPr>
              <a:t>High pair wise correlation among regressors.</a:t>
            </a:r>
          </a:p>
          <a:p>
            <a:pPr eaLnBrk="1" hangingPunct="1">
              <a:buClrTx/>
              <a:buFont typeface="Wingdings" pitchFamily="2" charset="2"/>
              <a:buChar char="Ø"/>
            </a:pPr>
            <a:r>
              <a:rPr lang="en-US" sz="2200" b="1" dirty="0" smtClean="0">
                <a:solidFill>
                  <a:schemeClr val="tx1"/>
                </a:solidFill>
              </a:rPr>
              <a:t>Tolerance and Variance Inflating factor.</a:t>
            </a:r>
          </a:p>
          <a:p>
            <a:pPr eaLnBrk="1" hangingPunct="1">
              <a:buClrTx/>
              <a:buFont typeface="Wingdings" pitchFamily="2" charset="2"/>
              <a:buChar char="Ø"/>
            </a:pPr>
            <a:r>
              <a:rPr lang="en-US" sz="2200" b="1" dirty="0" smtClean="0">
                <a:solidFill>
                  <a:schemeClr val="tx1"/>
                </a:solidFill>
              </a:rPr>
              <a:t>Variable Matrix</a:t>
            </a:r>
          </a:p>
          <a:p>
            <a:pPr eaLnBrk="1" hangingPunct="1">
              <a:buClrTx/>
              <a:buFont typeface="Wingdings" pitchFamily="2" charset="2"/>
              <a:buChar char="Ø"/>
            </a:pPr>
            <a:r>
              <a:rPr lang="en-US" sz="2200" b="1" dirty="0" smtClean="0">
                <a:solidFill>
                  <a:schemeClr val="tx1"/>
                </a:solidFill>
              </a:rPr>
              <a:t>Examination of Partial Correlations</a:t>
            </a:r>
          </a:p>
          <a:p>
            <a:pPr eaLnBrk="1" hangingPunct="1">
              <a:buClrTx/>
              <a:buFont typeface="Wingdings" pitchFamily="2" charset="2"/>
              <a:buChar char="Ø"/>
            </a:pPr>
            <a:r>
              <a:rPr lang="en-US" sz="2200" b="1" dirty="0" smtClean="0">
                <a:solidFill>
                  <a:schemeClr val="tx1"/>
                </a:solidFill>
              </a:rPr>
              <a:t>Eigenvalues and condition index. </a:t>
            </a:r>
          </a:p>
          <a:p>
            <a:pPr eaLnBrk="1" hangingPunct="1">
              <a:buFont typeface="Wingdings 2" pitchFamily="18" charset="2"/>
              <a:buNone/>
            </a:pPr>
            <a:endParaRPr lang="en-US" sz="2200" b="1" dirty="0" smtClean="0">
              <a:solidFill>
                <a:schemeClr val="tx1"/>
              </a:solidFill>
              <a:latin typeface="Franklin Gothic Medium" pitchFamily="34" charset="0"/>
            </a:endParaRPr>
          </a:p>
          <a:p>
            <a:pPr eaLnBrk="1" hangingPunct="1">
              <a:buFont typeface="Wingdings 2" pitchFamily="18" charset="2"/>
              <a:buNone/>
            </a:pPr>
            <a:endParaRPr lang="en-US" sz="2200" b="1" dirty="0" smtClean="0">
              <a:solidFill>
                <a:schemeClr val="tx1"/>
              </a:solidFill>
              <a:latin typeface="Franklin Gothic Medium" pitchFamily="34" charset="0"/>
            </a:endParaRPr>
          </a:p>
          <a:p>
            <a:pPr eaLnBrk="1" hangingPunct="1">
              <a:buFont typeface="Wingdings 2" pitchFamily="18" charset="2"/>
              <a:buNone/>
            </a:pPr>
            <a:endParaRPr lang="en-US" sz="2200" b="1" dirty="0" smtClean="0">
              <a:solidFill>
                <a:schemeClr val="tx1"/>
              </a:solidFill>
              <a:latin typeface="Franklin Gothic Medium"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2"/>
          <p:cNvSpPr>
            <a:spLocks noGrp="1"/>
          </p:cNvSpPr>
          <p:nvPr>
            <p:ph idx="1"/>
          </p:nvPr>
        </p:nvSpPr>
        <p:spPr>
          <a:xfrm>
            <a:off x="152400" y="1143000"/>
            <a:ext cx="8839200" cy="5562600"/>
          </a:xfrm>
        </p:spPr>
        <p:txBody>
          <a:bodyPr/>
          <a:lstStyle/>
          <a:p>
            <a:pPr marL="457200" indent="-457200" eaLnBrk="1" hangingPunct="1">
              <a:buClrTx/>
              <a:buFont typeface="Wingdings" pitchFamily="2" charset="2"/>
              <a:buChar char="Ø"/>
            </a:pPr>
            <a:r>
              <a:rPr lang="en-US" sz="2400" b="1" u="sng" dirty="0" smtClean="0">
                <a:solidFill>
                  <a:schemeClr val="tx1"/>
                </a:solidFill>
                <a:latin typeface="Franklin Gothic Medium" pitchFamily="34" charset="0"/>
              </a:rPr>
              <a:t>Significant</a:t>
            </a:r>
            <a:r>
              <a:rPr lang="en-US" sz="2400" b="1" i="1" u="sng" dirty="0" smtClean="0">
                <a:solidFill>
                  <a:schemeClr val="tx1"/>
                </a:solidFill>
                <a:latin typeface="Franklin Gothic Medium" pitchFamily="34" charset="0"/>
              </a:rPr>
              <a:t> F</a:t>
            </a:r>
            <a:r>
              <a:rPr lang="en-US" sz="2400" b="1" u="sng" dirty="0" smtClean="0">
                <a:solidFill>
                  <a:schemeClr val="tx1"/>
                </a:solidFill>
                <a:latin typeface="Franklin Gothic Medium" pitchFamily="34" charset="0"/>
              </a:rPr>
              <a:t>- test and  Auxiliary Regressions</a:t>
            </a:r>
          </a:p>
          <a:p>
            <a:pPr marL="457200" indent="-457200" eaLnBrk="1" hangingPunct="1">
              <a:buFont typeface="Wingdings 2" pitchFamily="18" charset="2"/>
              <a:buNone/>
            </a:pPr>
            <a:r>
              <a:rPr lang="en-US" sz="2200" b="1" dirty="0" smtClean="0">
                <a:solidFill>
                  <a:schemeClr val="tx1"/>
                </a:solidFill>
              </a:rPr>
              <a:t>Since multicollinearity arises because one or more of the regressors are </a:t>
            </a:r>
          </a:p>
          <a:p>
            <a:pPr marL="457200" indent="-457200" eaLnBrk="1" hangingPunct="1">
              <a:buFont typeface="Wingdings 2" pitchFamily="18" charset="2"/>
              <a:buNone/>
            </a:pPr>
            <a:r>
              <a:rPr lang="en-US" sz="2200" b="1" dirty="0" smtClean="0">
                <a:solidFill>
                  <a:schemeClr val="tx1"/>
                </a:solidFill>
              </a:rPr>
              <a:t>exact or approximately linear combinations of the other regressors, one </a:t>
            </a:r>
          </a:p>
          <a:p>
            <a:pPr marL="457200" indent="-457200" eaLnBrk="1" hangingPunct="1">
              <a:buFont typeface="Wingdings 2" pitchFamily="18" charset="2"/>
              <a:buNone/>
            </a:pPr>
            <a:r>
              <a:rPr lang="en-US" sz="2200" b="1" dirty="0" smtClean="0">
                <a:solidFill>
                  <a:schemeClr val="tx1"/>
                </a:solidFill>
              </a:rPr>
              <a:t>way of finding out which </a:t>
            </a:r>
            <a:r>
              <a:rPr lang="en-US" sz="2200" b="1" i="1" dirty="0" smtClean="0">
                <a:solidFill>
                  <a:schemeClr val="tx1"/>
                </a:solidFill>
              </a:rPr>
              <a:t>X</a:t>
            </a:r>
            <a:r>
              <a:rPr lang="en-US" sz="2200" b="1" dirty="0" smtClean="0">
                <a:solidFill>
                  <a:schemeClr val="tx1"/>
                </a:solidFill>
              </a:rPr>
              <a:t> variable is related to other </a:t>
            </a:r>
            <a:r>
              <a:rPr lang="en-US" sz="2200" b="1" i="1" dirty="0" smtClean="0">
                <a:solidFill>
                  <a:schemeClr val="tx1"/>
                </a:solidFill>
              </a:rPr>
              <a:t>X</a:t>
            </a:r>
            <a:r>
              <a:rPr lang="en-US" sz="2200" b="1" dirty="0" smtClean="0">
                <a:solidFill>
                  <a:schemeClr val="tx1"/>
                </a:solidFill>
              </a:rPr>
              <a:t> variables is to </a:t>
            </a:r>
          </a:p>
          <a:p>
            <a:pPr marL="457200" indent="-457200" eaLnBrk="1" hangingPunct="1">
              <a:buFont typeface="Wingdings 2" pitchFamily="18" charset="2"/>
              <a:buNone/>
            </a:pPr>
            <a:r>
              <a:rPr lang="en-US" sz="2200" b="1" dirty="0" smtClean="0">
                <a:solidFill>
                  <a:schemeClr val="tx1"/>
                </a:solidFill>
              </a:rPr>
              <a:t>regress each </a:t>
            </a:r>
            <a:r>
              <a:rPr lang="en-US" sz="2200" b="1" i="1" dirty="0" smtClean="0">
                <a:solidFill>
                  <a:schemeClr val="tx1"/>
                </a:solidFill>
              </a:rPr>
              <a:t>X</a:t>
            </a:r>
            <a:r>
              <a:rPr lang="en-US" sz="2200" b="1" i="1" baseline="-25000" dirty="0" smtClean="0">
                <a:solidFill>
                  <a:schemeClr val="tx1"/>
                </a:solidFill>
              </a:rPr>
              <a:t>i</a:t>
            </a:r>
            <a:r>
              <a:rPr lang="en-US" sz="2200" b="1" i="1" dirty="0" smtClean="0">
                <a:solidFill>
                  <a:schemeClr val="tx1"/>
                </a:solidFill>
              </a:rPr>
              <a:t> </a:t>
            </a:r>
            <a:r>
              <a:rPr lang="en-US" sz="2200" b="1" dirty="0" smtClean="0">
                <a:solidFill>
                  <a:schemeClr val="tx1"/>
                </a:solidFill>
              </a:rPr>
              <a:t>on the remaining </a:t>
            </a:r>
            <a:r>
              <a:rPr lang="en-US" sz="2200" b="1" i="1" dirty="0" smtClean="0">
                <a:solidFill>
                  <a:schemeClr val="tx1"/>
                </a:solidFill>
              </a:rPr>
              <a:t>X</a:t>
            </a:r>
            <a:r>
              <a:rPr lang="en-US" sz="2200" b="1" dirty="0" smtClean="0">
                <a:solidFill>
                  <a:schemeClr val="tx1"/>
                </a:solidFill>
              </a:rPr>
              <a:t> variables and compute the </a:t>
            </a:r>
          </a:p>
          <a:p>
            <a:pPr marL="457200" indent="-457200" eaLnBrk="1" hangingPunct="1">
              <a:buFont typeface="Wingdings 2" pitchFamily="18" charset="2"/>
              <a:buNone/>
            </a:pPr>
            <a:r>
              <a:rPr lang="en-US" sz="2200" b="1" dirty="0" smtClean="0">
                <a:solidFill>
                  <a:schemeClr val="tx1"/>
                </a:solidFill>
              </a:rPr>
              <a:t>corresponding </a:t>
            </a:r>
            <a:r>
              <a:rPr lang="en-US" sz="2200" b="1" i="1" dirty="0" smtClean="0">
                <a:solidFill>
                  <a:schemeClr val="tx1"/>
                </a:solidFill>
              </a:rPr>
              <a:t>R</a:t>
            </a:r>
            <a:r>
              <a:rPr lang="en-US" sz="2200" b="1" i="1" baseline="30000" dirty="0" smtClean="0">
                <a:solidFill>
                  <a:schemeClr val="tx1"/>
                </a:solidFill>
              </a:rPr>
              <a:t>2</a:t>
            </a:r>
            <a:r>
              <a:rPr lang="en-US" sz="2200" b="1" i="1" dirty="0" smtClean="0">
                <a:solidFill>
                  <a:schemeClr val="tx1"/>
                </a:solidFill>
              </a:rPr>
              <a:t> </a:t>
            </a:r>
            <a:r>
              <a:rPr lang="en-US" sz="2200" b="1" dirty="0" smtClean="0">
                <a:solidFill>
                  <a:schemeClr val="tx1"/>
                </a:solidFill>
              </a:rPr>
              <a:t>which designated as      ; each one of these </a:t>
            </a:r>
          </a:p>
          <a:p>
            <a:pPr marL="457200" indent="-457200" eaLnBrk="1" hangingPunct="1">
              <a:buFont typeface="Wingdings 2" pitchFamily="18" charset="2"/>
              <a:buNone/>
            </a:pPr>
            <a:r>
              <a:rPr lang="en-US" sz="2200" b="1" dirty="0" smtClean="0">
                <a:solidFill>
                  <a:schemeClr val="tx1"/>
                </a:solidFill>
              </a:rPr>
              <a:t>regressions is called an </a:t>
            </a:r>
            <a:r>
              <a:rPr lang="en-US" sz="2200" b="1" dirty="0" smtClean="0">
                <a:solidFill>
                  <a:schemeClr val="tx1"/>
                </a:solidFill>
                <a:latin typeface="Franklin Gothic Medium" pitchFamily="34" charset="0"/>
              </a:rPr>
              <a:t>auxiliary regression</a:t>
            </a:r>
            <a:r>
              <a:rPr lang="en-US" sz="2200" b="1" dirty="0" smtClean="0">
                <a:solidFill>
                  <a:schemeClr val="tx1"/>
                </a:solidFill>
              </a:rPr>
              <a:t>, auxiliary to the main </a:t>
            </a:r>
          </a:p>
          <a:p>
            <a:pPr marL="457200" indent="-457200" eaLnBrk="1" hangingPunct="1">
              <a:buFont typeface="Wingdings 2" pitchFamily="18" charset="2"/>
              <a:buNone/>
            </a:pPr>
            <a:r>
              <a:rPr lang="en-US" sz="2200" b="1" dirty="0" smtClean="0">
                <a:solidFill>
                  <a:schemeClr val="tx1"/>
                </a:solidFill>
              </a:rPr>
              <a:t>regression of </a:t>
            </a:r>
            <a:r>
              <a:rPr lang="en-US" sz="2200" b="1" i="1" dirty="0" smtClean="0">
                <a:solidFill>
                  <a:schemeClr val="tx1"/>
                </a:solidFill>
              </a:rPr>
              <a:t>Y</a:t>
            </a:r>
            <a:r>
              <a:rPr lang="en-US" sz="2200" b="1" dirty="0" smtClean="0">
                <a:solidFill>
                  <a:schemeClr val="tx1"/>
                </a:solidFill>
              </a:rPr>
              <a:t> on the </a:t>
            </a:r>
            <a:r>
              <a:rPr lang="en-US" sz="2200" b="1" i="1" dirty="0" smtClean="0">
                <a:solidFill>
                  <a:schemeClr val="tx1"/>
                </a:solidFill>
              </a:rPr>
              <a:t>X</a:t>
            </a:r>
            <a:r>
              <a:rPr lang="en-US" sz="2200" b="1" dirty="0" smtClean="0">
                <a:solidFill>
                  <a:schemeClr val="tx1"/>
                </a:solidFill>
              </a:rPr>
              <a:t>’</a:t>
            </a:r>
            <a:r>
              <a:rPr lang="en-US" sz="2200" b="1" i="1" dirty="0" smtClean="0">
                <a:solidFill>
                  <a:schemeClr val="tx1"/>
                </a:solidFill>
              </a:rPr>
              <a:t>s. </a:t>
            </a:r>
            <a:r>
              <a:rPr lang="en-US" sz="2200" b="1" dirty="0" smtClean="0">
                <a:solidFill>
                  <a:schemeClr val="tx1"/>
                </a:solidFill>
              </a:rPr>
              <a:t>Then, following the relationship between </a:t>
            </a:r>
            <a:r>
              <a:rPr lang="en-US" sz="2200" b="1" i="1" dirty="0" smtClean="0">
                <a:solidFill>
                  <a:schemeClr val="tx1"/>
                </a:solidFill>
              </a:rPr>
              <a:t>F</a:t>
            </a:r>
            <a:r>
              <a:rPr lang="en-US" sz="2200" b="1" dirty="0" smtClean="0">
                <a:solidFill>
                  <a:schemeClr val="tx1"/>
                </a:solidFill>
              </a:rPr>
              <a:t> and </a:t>
            </a:r>
          </a:p>
          <a:p>
            <a:pPr marL="457200" indent="-457200" eaLnBrk="1" hangingPunct="1">
              <a:buFont typeface="Wingdings 2" pitchFamily="18" charset="2"/>
              <a:buNone/>
            </a:pPr>
            <a:r>
              <a:rPr lang="en-US" sz="2200" b="1" i="1" dirty="0" smtClean="0">
                <a:solidFill>
                  <a:schemeClr val="tx1"/>
                </a:solidFill>
              </a:rPr>
              <a:t>R</a:t>
            </a:r>
            <a:r>
              <a:rPr lang="en-US" sz="2200" b="1" i="1" baseline="30000" dirty="0" smtClean="0">
                <a:solidFill>
                  <a:schemeClr val="tx1"/>
                </a:solidFill>
              </a:rPr>
              <a:t>2</a:t>
            </a:r>
            <a:r>
              <a:rPr lang="en-US" sz="2200" b="1" i="1" dirty="0" smtClean="0">
                <a:solidFill>
                  <a:schemeClr val="tx1"/>
                </a:solidFill>
              </a:rPr>
              <a:t> </a:t>
            </a:r>
            <a:r>
              <a:rPr lang="en-US" sz="2200" b="1" dirty="0" smtClean="0">
                <a:solidFill>
                  <a:schemeClr val="tx1"/>
                </a:solidFill>
              </a:rPr>
              <a:t>established below:</a:t>
            </a:r>
          </a:p>
          <a:p>
            <a:pPr marL="457200" indent="-457200" eaLnBrk="1" hangingPunct="1">
              <a:buFont typeface="Wingdings 2" pitchFamily="18" charset="2"/>
              <a:buNone/>
            </a:pPr>
            <a:endParaRPr lang="en-US" sz="2200" b="1" dirty="0" smtClean="0">
              <a:solidFill>
                <a:schemeClr val="tx1"/>
              </a:solidFill>
            </a:endParaRPr>
          </a:p>
        </p:txBody>
      </p:sp>
      <p:sp>
        <p:nvSpPr>
          <p:cNvPr id="38915"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38916"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4876800" y="3219450"/>
            <a:ext cx="285750" cy="361950"/>
          </a:xfrm>
          <a:prstGeom prst="rect">
            <a:avLst/>
          </a:prstGeom>
          <a:noFill/>
          <a:ln w="9525">
            <a:noFill/>
            <a:miter lim="800000"/>
            <a:headEnd/>
            <a:tailEnd/>
          </a:ln>
        </p:spPr>
      </p:pic>
      <p:sp>
        <p:nvSpPr>
          <p:cNvPr id="38917"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38918"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438400" y="5029200"/>
            <a:ext cx="3295650" cy="866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2"/>
          <p:cNvSpPr>
            <a:spLocks noGrp="1"/>
          </p:cNvSpPr>
          <p:nvPr>
            <p:ph idx="1"/>
          </p:nvPr>
        </p:nvSpPr>
        <p:spPr>
          <a:xfrm>
            <a:off x="0" y="1143000"/>
            <a:ext cx="8991600" cy="5562600"/>
          </a:xfrm>
        </p:spPr>
        <p:txBody>
          <a:bodyPr/>
          <a:lstStyle/>
          <a:p>
            <a:pPr eaLnBrk="1" hangingPunct="1">
              <a:lnSpc>
                <a:spcPct val="90000"/>
              </a:lnSpc>
              <a:buFont typeface="Wingdings 2" pitchFamily="18" charset="2"/>
              <a:buNone/>
            </a:pPr>
            <a:r>
              <a:rPr lang="en-US" sz="2200" b="1" smtClean="0">
                <a:solidFill>
                  <a:schemeClr val="tx1"/>
                </a:solidFill>
              </a:rPr>
              <a:t>The variable follows the </a:t>
            </a:r>
            <a:r>
              <a:rPr lang="en-US" sz="2200" b="1" i="1" smtClean="0">
                <a:solidFill>
                  <a:schemeClr val="tx1"/>
                </a:solidFill>
              </a:rPr>
              <a:t>F</a:t>
            </a:r>
            <a:r>
              <a:rPr lang="en-US" sz="2200" b="1" smtClean="0">
                <a:solidFill>
                  <a:schemeClr val="tx1"/>
                </a:solidFill>
              </a:rPr>
              <a:t>-distribution with </a:t>
            </a:r>
            <a:r>
              <a:rPr lang="en-US" sz="2200" b="1" i="1" smtClean="0">
                <a:solidFill>
                  <a:schemeClr val="tx1"/>
                </a:solidFill>
              </a:rPr>
              <a:t>K-2</a:t>
            </a:r>
            <a:r>
              <a:rPr lang="en-US" sz="2200" b="1" smtClean="0">
                <a:solidFill>
                  <a:schemeClr val="tx1"/>
                </a:solidFill>
              </a:rPr>
              <a:t> and </a:t>
            </a:r>
            <a:r>
              <a:rPr lang="en-US" sz="2200" b="1" i="1" smtClean="0">
                <a:solidFill>
                  <a:schemeClr val="tx1"/>
                </a:solidFill>
              </a:rPr>
              <a:t>n-K+1</a:t>
            </a:r>
            <a:r>
              <a:rPr lang="en-US" sz="2200" b="1" smtClean="0">
                <a:solidFill>
                  <a:schemeClr val="tx1"/>
                </a:solidFill>
              </a:rPr>
              <a:t>df. In above </a:t>
            </a:r>
          </a:p>
          <a:p>
            <a:pPr eaLnBrk="1" hangingPunct="1">
              <a:lnSpc>
                <a:spcPct val="90000"/>
              </a:lnSpc>
              <a:buFont typeface="Wingdings 2" pitchFamily="18" charset="2"/>
              <a:buNone/>
            </a:pPr>
            <a:r>
              <a:rPr lang="en-US" sz="2200" b="1" smtClean="0">
                <a:solidFill>
                  <a:schemeClr val="tx1"/>
                </a:solidFill>
              </a:rPr>
              <a:t>equation </a:t>
            </a:r>
            <a:r>
              <a:rPr lang="en-US" sz="2200" b="1" i="1" smtClean="0">
                <a:solidFill>
                  <a:schemeClr val="tx1"/>
                </a:solidFill>
              </a:rPr>
              <a:t>n</a:t>
            </a:r>
            <a:r>
              <a:rPr lang="en-US" sz="2200" b="1" smtClean="0">
                <a:solidFill>
                  <a:schemeClr val="tx1"/>
                </a:solidFill>
              </a:rPr>
              <a:t> stands for the sample size , </a:t>
            </a:r>
            <a:r>
              <a:rPr lang="en-US" sz="2200" b="1" i="1" smtClean="0">
                <a:solidFill>
                  <a:schemeClr val="tx1"/>
                </a:solidFill>
              </a:rPr>
              <a:t>K</a:t>
            </a:r>
            <a:r>
              <a:rPr lang="en-US" sz="2200" b="1" smtClean="0">
                <a:solidFill>
                  <a:schemeClr val="tx1"/>
                </a:solidFill>
              </a:rPr>
              <a:t> stands for number of explanatory </a:t>
            </a:r>
          </a:p>
          <a:p>
            <a:pPr eaLnBrk="1" hangingPunct="1">
              <a:lnSpc>
                <a:spcPct val="90000"/>
              </a:lnSpc>
              <a:buFont typeface="Wingdings 2" pitchFamily="18" charset="2"/>
              <a:buNone/>
            </a:pPr>
            <a:r>
              <a:rPr lang="en-US" sz="2200" b="1" smtClean="0">
                <a:solidFill>
                  <a:schemeClr val="tx1"/>
                </a:solidFill>
              </a:rPr>
              <a:t>variables including intercept term, and               is the coefficient of </a:t>
            </a:r>
          </a:p>
          <a:p>
            <a:pPr eaLnBrk="1" hangingPunct="1">
              <a:lnSpc>
                <a:spcPct val="90000"/>
              </a:lnSpc>
              <a:buFont typeface="Wingdings 2" pitchFamily="18" charset="2"/>
              <a:buNone/>
            </a:pPr>
            <a:r>
              <a:rPr lang="en-US" sz="2200" b="1" smtClean="0">
                <a:solidFill>
                  <a:schemeClr val="tx1"/>
                </a:solidFill>
              </a:rPr>
              <a:t>determination in the regression of variable </a:t>
            </a:r>
            <a:r>
              <a:rPr lang="en-US" sz="2200" b="1" i="1" smtClean="0">
                <a:solidFill>
                  <a:schemeClr val="tx1"/>
                </a:solidFill>
              </a:rPr>
              <a:t>X</a:t>
            </a:r>
            <a:r>
              <a:rPr lang="en-US" sz="2200" b="1" i="1" baseline="-25000" smtClean="0">
                <a:solidFill>
                  <a:schemeClr val="tx1"/>
                </a:solidFill>
              </a:rPr>
              <a:t>i </a:t>
            </a:r>
            <a:r>
              <a:rPr lang="en-US" sz="2200" b="1" i="1" smtClean="0">
                <a:solidFill>
                  <a:schemeClr val="tx1"/>
                </a:solidFill>
              </a:rPr>
              <a:t> </a:t>
            </a:r>
            <a:r>
              <a:rPr lang="en-US" sz="2200" b="1" smtClean="0">
                <a:solidFill>
                  <a:schemeClr val="tx1"/>
                </a:solidFill>
              </a:rPr>
              <a:t>on the remaining </a:t>
            </a:r>
            <a:r>
              <a:rPr lang="en-US" sz="2200" b="1" i="1" smtClean="0">
                <a:solidFill>
                  <a:schemeClr val="tx1"/>
                </a:solidFill>
              </a:rPr>
              <a:t>X </a:t>
            </a:r>
            <a:r>
              <a:rPr lang="en-US" sz="2200" b="1" smtClean="0">
                <a:solidFill>
                  <a:schemeClr val="tx1"/>
                </a:solidFill>
              </a:rPr>
              <a:t>variable.</a:t>
            </a:r>
          </a:p>
          <a:p>
            <a:pPr eaLnBrk="1" hangingPunct="1">
              <a:lnSpc>
                <a:spcPct val="90000"/>
              </a:lnSpc>
              <a:buFont typeface="Wingdings 2" pitchFamily="18" charset="2"/>
              <a:buNone/>
            </a:pPr>
            <a:r>
              <a:rPr lang="en-US" sz="2200" b="1" smtClean="0">
                <a:solidFill>
                  <a:schemeClr val="tx1"/>
                </a:solidFill>
              </a:rPr>
              <a:t>If the computed </a:t>
            </a:r>
            <a:r>
              <a:rPr lang="en-US" sz="2200" b="1" i="1" smtClean="0">
                <a:solidFill>
                  <a:schemeClr val="tx1"/>
                </a:solidFill>
              </a:rPr>
              <a:t>F</a:t>
            </a:r>
            <a:r>
              <a:rPr lang="en-US" sz="2200" b="1" smtClean="0">
                <a:solidFill>
                  <a:schemeClr val="tx1"/>
                </a:solidFill>
              </a:rPr>
              <a:t> exceeds the critical </a:t>
            </a:r>
            <a:r>
              <a:rPr lang="en-US" sz="2200" b="1" i="1" smtClean="0">
                <a:solidFill>
                  <a:schemeClr val="tx1"/>
                </a:solidFill>
              </a:rPr>
              <a:t>F</a:t>
            </a:r>
            <a:r>
              <a:rPr lang="en-US" sz="2200" b="1" i="1" baseline="-25000" smtClean="0">
                <a:solidFill>
                  <a:schemeClr val="tx1"/>
                </a:solidFill>
              </a:rPr>
              <a:t>i</a:t>
            </a:r>
            <a:r>
              <a:rPr lang="en-US" sz="2200" b="1" i="1" smtClean="0">
                <a:solidFill>
                  <a:schemeClr val="tx1"/>
                </a:solidFill>
              </a:rPr>
              <a:t> </a:t>
            </a:r>
            <a:r>
              <a:rPr lang="en-US" sz="2200" b="1" i="1" baseline="-25000" smtClean="0">
                <a:solidFill>
                  <a:schemeClr val="tx1"/>
                </a:solidFill>
              </a:rPr>
              <a:t> </a:t>
            </a:r>
            <a:r>
              <a:rPr lang="en-US" sz="2200" b="1" i="1" smtClean="0">
                <a:solidFill>
                  <a:schemeClr val="tx1"/>
                </a:solidFill>
              </a:rPr>
              <a:t> </a:t>
            </a:r>
            <a:r>
              <a:rPr lang="en-US" sz="2200" b="1" smtClean="0">
                <a:solidFill>
                  <a:schemeClr val="tx1"/>
                </a:solidFill>
              </a:rPr>
              <a:t>at the chosen level significance, </a:t>
            </a:r>
          </a:p>
          <a:p>
            <a:pPr eaLnBrk="1" hangingPunct="1">
              <a:lnSpc>
                <a:spcPct val="90000"/>
              </a:lnSpc>
              <a:buFont typeface="Wingdings 2" pitchFamily="18" charset="2"/>
              <a:buNone/>
            </a:pPr>
            <a:r>
              <a:rPr lang="en-US" sz="2200" b="1" smtClean="0">
                <a:solidFill>
                  <a:schemeClr val="tx1"/>
                </a:solidFill>
              </a:rPr>
              <a:t>it is taken to mean that particular </a:t>
            </a:r>
            <a:r>
              <a:rPr lang="en-US" sz="2200" b="1" i="1" smtClean="0">
                <a:solidFill>
                  <a:schemeClr val="tx1"/>
                </a:solidFill>
              </a:rPr>
              <a:t>X</a:t>
            </a:r>
            <a:r>
              <a:rPr lang="en-US" sz="2200" b="1" i="1" baseline="-25000" smtClean="0">
                <a:solidFill>
                  <a:schemeClr val="tx1"/>
                </a:solidFill>
              </a:rPr>
              <a:t>i</a:t>
            </a:r>
            <a:r>
              <a:rPr lang="en-US" sz="2200" b="1" smtClean="0">
                <a:solidFill>
                  <a:schemeClr val="tx1"/>
                </a:solidFill>
              </a:rPr>
              <a:t> is collinear with other X’s</a:t>
            </a:r>
            <a:r>
              <a:rPr lang="en-US" sz="2200" b="1" i="1" smtClean="0">
                <a:solidFill>
                  <a:schemeClr val="tx1"/>
                </a:solidFill>
              </a:rPr>
              <a:t>, </a:t>
            </a:r>
            <a:r>
              <a:rPr lang="en-US" sz="2200" b="1" smtClean="0">
                <a:solidFill>
                  <a:schemeClr val="tx1"/>
                </a:solidFill>
              </a:rPr>
              <a:t>in which </a:t>
            </a:r>
          </a:p>
          <a:p>
            <a:pPr eaLnBrk="1" hangingPunct="1">
              <a:lnSpc>
                <a:spcPct val="90000"/>
              </a:lnSpc>
              <a:buFont typeface="Wingdings 2" pitchFamily="18" charset="2"/>
              <a:buNone/>
            </a:pPr>
            <a:r>
              <a:rPr lang="en-US" sz="2200" b="1" smtClean="0">
                <a:solidFill>
                  <a:schemeClr val="tx1"/>
                </a:solidFill>
              </a:rPr>
              <a:t>case we may retain that variable in the model. </a:t>
            </a:r>
          </a:p>
          <a:p>
            <a:pPr eaLnBrk="1" hangingPunct="1">
              <a:lnSpc>
                <a:spcPct val="90000"/>
              </a:lnSpc>
              <a:buFont typeface="Wingdings 2" pitchFamily="18" charset="2"/>
              <a:buNone/>
            </a:pPr>
            <a:r>
              <a:rPr lang="en-US" sz="2200" b="1" smtClean="0">
                <a:solidFill>
                  <a:schemeClr val="tx1"/>
                </a:solidFill>
              </a:rPr>
              <a:t>But this method is not without its drawbacks for </a:t>
            </a:r>
          </a:p>
          <a:p>
            <a:pPr eaLnBrk="1" hangingPunct="1">
              <a:lnSpc>
                <a:spcPct val="90000"/>
              </a:lnSpc>
              <a:buFont typeface="Wingdings 2" pitchFamily="18" charset="2"/>
              <a:buNone/>
            </a:pPr>
            <a:r>
              <a:rPr lang="en-US" sz="2200" b="1" smtClean="0">
                <a:solidFill>
                  <a:schemeClr val="tx1"/>
                </a:solidFill>
              </a:rPr>
              <a:t>“</a:t>
            </a:r>
            <a:r>
              <a:rPr lang="en-US" sz="2200" b="1" i="1" smtClean="0">
                <a:solidFill>
                  <a:schemeClr val="tx1"/>
                </a:solidFill>
              </a:rPr>
              <a:t>if the multicollinearity involves only a few variables so that the auxiliary </a:t>
            </a:r>
          </a:p>
          <a:p>
            <a:pPr eaLnBrk="1" hangingPunct="1">
              <a:lnSpc>
                <a:spcPct val="90000"/>
              </a:lnSpc>
              <a:buFont typeface="Wingdings 2" pitchFamily="18" charset="2"/>
              <a:buNone/>
            </a:pPr>
            <a:r>
              <a:rPr lang="en-US" sz="2200" b="1" i="1" smtClean="0">
                <a:solidFill>
                  <a:schemeClr val="tx1"/>
                </a:solidFill>
              </a:rPr>
              <a:t>regression do not suffer from extensive multicollinearity, the estimated </a:t>
            </a:r>
          </a:p>
          <a:p>
            <a:pPr eaLnBrk="1" hangingPunct="1">
              <a:lnSpc>
                <a:spcPct val="90000"/>
              </a:lnSpc>
              <a:buFont typeface="Wingdings 2" pitchFamily="18" charset="2"/>
              <a:buNone/>
            </a:pPr>
            <a:r>
              <a:rPr lang="en-US" sz="2200" b="1" i="1" smtClean="0">
                <a:solidFill>
                  <a:schemeClr val="tx1"/>
                </a:solidFill>
              </a:rPr>
              <a:t>coefficients may reveal the nature of the linear dependence among the </a:t>
            </a:r>
          </a:p>
          <a:p>
            <a:pPr eaLnBrk="1" hangingPunct="1">
              <a:lnSpc>
                <a:spcPct val="90000"/>
              </a:lnSpc>
              <a:buFont typeface="Wingdings 2" pitchFamily="18" charset="2"/>
              <a:buNone/>
            </a:pPr>
            <a:r>
              <a:rPr lang="en-US" sz="2200" b="1" i="1" smtClean="0">
                <a:solidFill>
                  <a:schemeClr val="tx1"/>
                </a:solidFill>
              </a:rPr>
              <a:t>regressors. Unfortunately, if there are several complex linear associations, </a:t>
            </a:r>
          </a:p>
          <a:p>
            <a:pPr eaLnBrk="1" hangingPunct="1">
              <a:lnSpc>
                <a:spcPct val="90000"/>
              </a:lnSpc>
              <a:buFont typeface="Wingdings 2" pitchFamily="18" charset="2"/>
              <a:buNone/>
            </a:pPr>
            <a:r>
              <a:rPr lang="en-US" sz="2200" b="1" i="1" smtClean="0">
                <a:solidFill>
                  <a:schemeClr val="tx1"/>
                </a:solidFill>
              </a:rPr>
              <a:t>this curve fitting exercise may not prove to be much value as it will be </a:t>
            </a:r>
          </a:p>
          <a:p>
            <a:pPr eaLnBrk="1" hangingPunct="1">
              <a:lnSpc>
                <a:spcPct val="90000"/>
              </a:lnSpc>
              <a:buFont typeface="Wingdings 2" pitchFamily="18" charset="2"/>
              <a:buNone/>
            </a:pPr>
            <a:r>
              <a:rPr lang="en-US" sz="2200" b="1" i="1" smtClean="0">
                <a:solidFill>
                  <a:schemeClr val="tx1"/>
                </a:solidFill>
              </a:rPr>
              <a:t>difficult to identify the separate interrelationships.”</a:t>
            </a:r>
          </a:p>
          <a:p>
            <a:pPr eaLnBrk="1" hangingPunct="1">
              <a:lnSpc>
                <a:spcPct val="90000"/>
              </a:lnSpc>
              <a:buFont typeface="Wingdings 2" pitchFamily="18" charset="2"/>
              <a:buNone/>
            </a:pPr>
            <a:endParaRPr lang="en-US" sz="2200" b="1" smtClean="0">
              <a:solidFill>
                <a:schemeClr val="tx1"/>
              </a:solidFill>
            </a:endParaRPr>
          </a:p>
        </p:txBody>
      </p:sp>
      <p:sp>
        <p:nvSpPr>
          <p:cNvPr id="3993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39940"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4810125" y="1905000"/>
            <a:ext cx="828675" cy="4381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43000"/>
            <a:ext cx="8839200" cy="5562600"/>
          </a:xfrm>
        </p:spPr>
        <p:txBody>
          <a:bodyPr>
            <a:normAutofit/>
          </a:bodyPr>
          <a:lstStyle/>
          <a:p>
            <a:pPr eaLnBrk="1" fontAlgn="auto" hangingPunct="1">
              <a:spcAft>
                <a:spcPts val="0"/>
              </a:spcAft>
              <a:buFont typeface="Wingdings 2"/>
              <a:buNone/>
              <a:defRPr/>
            </a:pPr>
            <a:r>
              <a:rPr lang="en-US" sz="2200" b="1" dirty="0" smtClean="0">
                <a:solidFill>
                  <a:schemeClr val="tx1"/>
                </a:solidFill>
              </a:rPr>
              <a:t>Instead of formally testing auxiliary </a:t>
            </a:r>
            <a:r>
              <a:rPr lang="en-US" sz="2200" b="1" i="1" dirty="0" smtClean="0">
                <a:solidFill>
                  <a:schemeClr val="tx1"/>
                </a:solidFill>
              </a:rPr>
              <a:t>R</a:t>
            </a:r>
            <a:r>
              <a:rPr lang="en-US" sz="2200" b="1" i="1" baseline="30000" dirty="0" smtClean="0">
                <a:solidFill>
                  <a:schemeClr val="tx1"/>
                </a:solidFill>
              </a:rPr>
              <a:t>2</a:t>
            </a:r>
            <a:r>
              <a:rPr lang="en-US" sz="2200" b="1" i="1" dirty="0" smtClean="0">
                <a:solidFill>
                  <a:schemeClr val="tx1"/>
                </a:solidFill>
              </a:rPr>
              <a:t> </a:t>
            </a:r>
            <a:r>
              <a:rPr lang="en-US" sz="2200" b="1" dirty="0" smtClean="0">
                <a:solidFill>
                  <a:schemeClr val="tx1"/>
                </a:solidFill>
              </a:rPr>
              <a:t>values, one may adopt </a:t>
            </a:r>
            <a:r>
              <a:rPr lang="en-US" sz="2200" b="1" dirty="0" err="1" smtClean="0">
                <a:solidFill>
                  <a:schemeClr val="tx1"/>
                </a:solidFill>
                <a:latin typeface="+mj-lt"/>
              </a:rPr>
              <a:t>Klien’s</a:t>
            </a:r>
            <a:r>
              <a:rPr lang="en-US" sz="2200" b="1" dirty="0" smtClean="0">
                <a:solidFill>
                  <a:schemeClr val="tx1"/>
                </a:solidFill>
                <a:latin typeface="+mj-lt"/>
              </a:rPr>
              <a:t> rule </a:t>
            </a:r>
          </a:p>
          <a:p>
            <a:pPr eaLnBrk="1" fontAlgn="auto" hangingPunct="1">
              <a:spcAft>
                <a:spcPts val="0"/>
              </a:spcAft>
              <a:buFont typeface="Wingdings 2"/>
              <a:buNone/>
              <a:defRPr/>
            </a:pPr>
            <a:r>
              <a:rPr lang="en-US" sz="2200" b="1" dirty="0" smtClean="0">
                <a:solidFill>
                  <a:schemeClr val="tx1"/>
                </a:solidFill>
                <a:latin typeface="+mj-lt"/>
              </a:rPr>
              <a:t>of thumb,</a:t>
            </a:r>
            <a:r>
              <a:rPr lang="en-US" sz="2200" b="1" dirty="0" smtClean="0">
                <a:solidFill>
                  <a:schemeClr val="tx1"/>
                </a:solidFill>
              </a:rPr>
              <a:t> which suggest that multicollinearity may be troublesome </a:t>
            </a:r>
          </a:p>
          <a:p>
            <a:pPr eaLnBrk="1" fontAlgn="auto" hangingPunct="1">
              <a:spcAft>
                <a:spcPts val="0"/>
              </a:spcAft>
              <a:buFont typeface="Wingdings 2"/>
              <a:buNone/>
              <a:defRPr/>
            </a:pPr>
            <a:r>
              <a:rPr lang="en-US" sz="2200" b="1" dirty="0" smtClean="0">
                <a:solidFill>
                  <a:schemeClr val="tx1"/>
                </a:solidFill>
              </a:rPr>
              <a:t>problem if the </a:t>
            </a:r>
            <a:r>
              <a:rPr lang="en-US" sz="2200" b="1" i="1" dirty="0" smtClean="0">
                <a:solidFill>
                  <a:schemeClr val="tx1"/>
                </a:solidFill>
              </a:rPr>
              <a:t>R</a:t>
            </a:r>
            <a:r>
              <a:rPr lang="en-US" sz="2200" b="1" i="1" baseline="30000" dirty="0" smtClean="0">
                <a:solidFill>
                  <a:schemeClr val="tx1"/>
                </a:solidFill>
              </a:rPr>
              <a:t>2</a:t>
            </a:r>
            <a:r>
              <a:rPr lang="en-US" sz="2200" b="1" i="1" dirty="0" smtClean="0">
                <a:solidFill>
                  <a:schemeClr val="tx1"/>
                </a:solidFill>
              </a:rPr>
              <a:t> </a:t>
            </a:r>
            <a:r>
              <a:rPr lang="en-US" sz="2200" b="1" dirty="0" smtClean="0">
                <a:solidFill>
                  <a:schemeClr val="tx1"/>
                </a:solidFill>
              </a:rPr>
              <a:t>obtained from a auxiliary regression is greater than the </a:t>
            </a:r>
          </a:p>
          <a:p>
            <a:pPr eaLnBrk="1" fontAlgn="auto" hangingPunct="1">
              <a:spcAft>
                <a:spcPts val="0"/>
              </a:spcAft>
              <a:buFont typeface="Wingdings 2"/>
              <a:buNone/>
              <a:defRPr/>
            </a:pPr>
            <a:r>
              <a:rPr lang="en-US" sz="2200" b="1" dirty="0" smtClean="0">
                <a:solidFill>
                  <a:schemeClr val="tx1"/>
                </a:solidFill>
              </a:rPr>
              <a:t>overall </a:t>
            </a:r>
            <a:r>
              <a:rPr lang="en-US" sz="2200" b="1" i="1" dirty="0" smtClean="0">
                <a:solidFill>
                  <a:schemeClr val="tx1"/>
                </a:solidFill>
              </a:rPr>
              <a:t>R</a:t>
            </a:r>
            <a:r>
              <a:rPr lang="en-US" sz="2200" b="1" i="1" baseline="30000" dirty="0" smtClean="0">
                <a:solidFill>
                  <a:schemeClr val="tx1"/>
                </a:solidFill>
              </a:rPr>
              <a:t>2 </a:t>
            </a:r>
            <a:r>
              <a:rPr lang="en-US" sz="2200" b="1" i="1" dirty="0" smtClean="0">
                <a:solidFill>
                  <a:schemeClr val="tx1"/>
                </a:solidFill>
              </a:rPr>
              <a:t> , </a:t>
            </a:r>
            <a:r>
              <a:rPr lang="en-US" sz="2200" b="1" dirty="0" smtClean="0">
                <a:solidFill>
                  <a:schemeClr val="tx1"/>
                </a:solidFill>
              </a:rPr>
              <a:t>that is, that obtained from the regression of </a:t>
            </a:r>
            <a:r>
              <a:rPr lang="en-US" sz="2200" b="1" i="1" dirty="0" smtClean="0">
                <a:solidFill>
                  <a:schemeClr val="tx1"/>
                </a:solidFill>
              </a:rPr>
              <a:t>Y</a:t>
            </a:r>
            <a:r>
              <a:rPr lang="en-US" sz="2200" b="1" dirty="0" smtClean="0">
                <a:solidFill>
                  <a:schemeClr val="tx1"/>
                </a:solidFill>
              </a:rPr>
              <a:t> on all </a:t>
            </a:r>
          </a:p>
          <a:p>
            <a:pPr eaLnBrk="1" fontAlgn="auto" hangingPunct="1">
              <a:spcAft>
                <a:spcPts val="0"/>
              </a:spcAft>
              <a:buFont typeface="Wingdings 2"/>
              <a:buNone/>
              <a:defRPr/>
            </a:pPr>
            <a:r>
              <a:rPr lang="en-US" sz="2200" b="1" dirty="0" smtClean="0">
                <a:solidFill>
                  <a:schemeClr val="tx1"/>
                </a:solidFill>
              </a:rPr>
              <a:t>regressors. Of course, like all other rules of thumb, this one should be </a:t>
            </a:r>
          </a:p>
          <a:p>
            <a:pPr eaLnBrk="1" fontAlgn="auto" hangingPunct="1">
              <a:spcAft>
                <a:spcPts val="0"/>
              </a:spcAft>
              <a:buFont typeface="Wingdings 2"/>
              <a:buNone/>
              <a:defRPr/>
            </a:pPr>
            <a:r>
              <a:rPr lang="en-US" sz="2200" b="1" dirty="0" smtClean="0">
                <a:solidFill>
                  <a:schemeClr val="tx1"/>
                </a:solidFill>
              </a:rPr>
              <a:t>used judiciously.  </a:t>
            </a:r>
            <a:r>
              <a:rPr lang="en-US" sz="2200" b="1" i="1" dirty="0" smtClean="0">
                <a:solidFill>
                  <a:schemeClr val="tx1"/>
                </a:solidFill>
              </a:rPr>
              <a:t> </a:t>
            </a:r>
            <a:endParaRPr lang="en-US" sz="2200" b="1" dirty="0">
              <a:solidFill>
                <a:schemeClr val="tx1"/>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43000"/>
            <a:ext cx="8839200" cy="5486400"/>
          </a:xfrm>
        </p:spPr>
        <p:txBody>
          <a:bodyPr>
            <a:normAutofit/>
          </a:bodyPr>
          <a:lstStyle/>
          <a:p>
            <a:pPr marL="457200" indent="-457200" eaLnBrk="1" fontAlgn="auto" hangingPunct="1">
              <a:spcAft>
                <a:spcPts val="0"/>
              </a:spcAft>
              <a:buClrTx/>
              <a:buFont typeface="Wingdings" pitchFamily="2" charset="2"/>
              <a:buChar char="Ø"/>
              <a:defRPr/>
            </a:pPr>
            <a:r>
              <a:rPr lang="en-US" sz="2400" b="1" u="sng" dirty="0" smtClean="0">
                <a:solidFill>
                  <a:schemeClr val="tx1"/>
                </a:solidFill>
                <a:latin typeface="+mj-lt"/>
              </a:rPr>
              <a:t>High R</a:t>
            </a:r>
            <a:r>
              <a:rPr lang="en-US" sz="2400" b="1" u="sng" baseline="30000" dirty="0" smtClean="0">
                <a:solidFill>
                  <a:schemeClr val="tx1"/>
                </a:solidFill>
                <a:latin typeface="+mj-lt"/>
              </a:rPr>
              <a:t>2</a:t>
            </a:r>
            <a:r>
              <a:rPr lang="en-US" sz="2400" b="1" u="sng" dirty="0" smtClean="0">
                <a:solidFill>
                  <a:schemeClr val="tx1"/>
                </a:solidFill>
                <a:latin typeface="+mj-lt"/>
              </a:rPr>
              <a:t> but Few Significant </a:t>
            </a:r>
            <a:r>
              <a:rPr lang="en-US" sz="2400" b="1" i="1" u="sng" dirty="0" smtClean="0">
                <a:solidFill>
                  <a:schemeClr val="tx1"/>
                </a:solidFill>
                <a:latin typeface="+mj-lt"/>
              </a:rPr>
              <a:t>t</a:t>
            </a:r>
            <a:r>
              <a:rPr lang="en-US" sz="2400" b="1" u="sng" dirty="0" smtClean="0">
                <a:solidFill>
                  <a:schemeClr val="tx1"/>
                </a:solidFill>
                <a:latin typeface="+mj-lt"/>
              </a:rPr>
              <a:t>-ratios.</a:t>
            </a:r>
          </a:p>
          <a:p>
            <a:pPr marL="457200" indent="-457200" eaLnBrk="1" fontAlgn="auto" hangingPunct="1">
              <a:spcAft>
                <a:spcPts val="0"/>
              </a:spcAft>
              <a:buFont typeface="Wingdings 2"/>
              <a:buNone/>
              <a:defRPr/>
            </a:pPr>
            <a:r>
              <a:rPr lang="en-US" sz="2200" b="1" dirty="0" smtClean="0">
                <a:solidFill>
                  <a:schemeClr val="tx1"/>
                </a:solidFill>
              </a:rPr>
              <a:t>This is the classic symptom of multicollinearity. If R</a:t>
            </a:r>
            <a:r>
              <a:rPr lang="en-US" sz="2200" b="1" baseline="30000" dirty="0" smtClean="0">
                <a:solidFill>
                  <a:schemeClr val="tx1"/>
                </a:solidFill>
              </a:rPr>
              <a:t>2</a:t>
            </a:r>
            <a:r>
              <a:rPr lang="en-US" sz="2200" b="1" dirty="0" smtClean="0">
                <a:solidFill>
                  <a:schemeClr val="tx1"/>
                </a:solidFill>
              </a:rPr>
              <a:t> s high, say, in excess </a:t>
            </a:r>
          </a:p>
          <a:p>
            <a:pPr marL="457200" indent="-457200" eaLnBrk="1" fontAlgn="auto" hangingPunct="1">
              <a:spcAft>
                <a:spcPts val="0"/>
              </a:spcAft>
              <a:buFont typeface="Wingdings 2"/>
              <a:buNone/>
              <a:defRPr/>
            </a:pPr>
            <a:r>
              <a:rPr lang="en-US" sz="2200" b="1" dirty="0" smtClean="0">
                <a:solidFill>
                  <a:schemeClr val="tx1"/>
                </a:solidFill>
              </a:rPr>
              <a:t>0.8, the F test in most cases will reject the hypotheses that the partial </a:t>
            </a:r>
          </a:p>
          <a:p>
            <a:pPr marL="457200" indent="-457200" eaLnBrk="1" fontAlgn="auto" hangingPunct="1">
              <a:spcAft>
                <a:spcPts val="0"/>
              </a:spcAft>
              <a:buFont typeface="Wingdings 2"/>
              <a:buNone/>
              <a:defRPr/>
            </a:pPr>
            <a:r>
              <a:rPr lang="en-US" sz="2200" b="1" dirty="0" smtClean="0">
                <a:solidFill>
                  <a:schemeClr val="tx1"/>
                </a:solidFill>
              </a:rPr>
              <a:t>slope coefficients are simultaneously equal to zero, but the individual </a:t>
            </a:r>
            <a:r>
              <a:rPr lang="en-US" sz="2200" b="1" i="1" dirty="0" smtClean="0">
                <a:solidFill>
                  <a:schemeClr val="tx1"/>
                </a:solidFill>
              </a:rPr>
              <a:t>t</a:t>
            </a:r>
            <a:r>
              <a:rPr lang="en-US" sz="2200" b="1" dirty="0" smtClean="0">
                <a:solidFill>
                  <a:schemeClr val="tx1"/>
                </a:solidFill>
              </a:rPr>
              <a:t> </a:t>
            </a:r>
          </a:p>
          <a:p>
            <a:pPr marL="457200" indent="-457200" eaLnBrk="1" fontAlgn="auto" hangingPunct="1">
              <a:spcAft>
                <a:spcPts val="0"/>
              </a:spcAft>
              <a:buFont typeface="Wingdings 2"/>
              <a:buNone/>
              <a:defRPr/>
            </a:pPr>
            <a:r>
              <a:rPr lang="en-US" sz="2200" b="1" dirty="0" smtClean="0">
                <a:solidFill>
                  <a:schemeClr val="tx1"/>
                </a:solidFill>
              </a:rPr>
              <a:t>tests will show that none or very few of the partial coefficients are </a:t>
            </a:r>
          </a:p>
          <a:p>
            <a:pPr marL="457200" indent="-457200" eaLnBrk="1" fontAlgn="auto" hangingPunct="1">
              <a:spcAft>
                <a:spcPts val="0"/>
              </a:spcAft>
              <a:buFont typeface="Wingdings 2"/>
              <a:buNone/>
              <a:defRPr/>
            </a:pPr>
            <a:r>
              <a:rPr lang="en-US" sz="2200" b="1" dirty="0" smtClean="0">
                <a:solidFill>
                  <a:schemeClr val="tx1"/>
                </a:solidFill>
              </a:rPr>
              <a:t>statistically different from zero.</a:t>
            </a:r>
          </a:p>
          <a:p>
            <a:pPr marL="457200" indent="-457200" eaLnBrk="1" fontAlgn="auto" hangingPunct="1">
              <a:spcAft>
                <a:spcPts val="0"/>
              </a:spcAft>
              <a:buFont typeface="Wingdings 2"/>
              <a:buNone/>
              <a:defRPr/>
            </a:pPr>
            <a:r>
              <a:rPr lang="en-US" sz="2200" b="1" dirty="0" smtClean="0">
                <a:solidFill>
                  <a:schemeClr val="tx1"/>
                </a:solidFill>
              </a:rPr>
              <a:t>Although this diagnostic is sensible, its disadvantage is that “it is too </a:t>
            </a:r>
          </a:p>
          <a:p>
            <a:pPr marL="457200" indent="-457200" eaLnBrk="1" fontAlgn="auto" hangingPunct="1">
              <a:spcAft>
                <a:spcPts val="0"/>
              </a:spcAft>
              <a:buFont typeface="Wingdings 2"/>
              <a:buNone/>
              <a:defRPr/>
            </a:pPr>
            <a:r>
              <a:rPr lang="en-US" sz="2200" b="1" dirty="0" smtClean="0">
                <a:solidFill>
                  <a:schemeClr val="tx1"/>
                </a:solidFill>
              </a:rPr>
              <a:t>strong in the since that multicollinearity is considered as harmful only </a:t>
            </a:r>
          </a:p>
          <a:p>
            <a:pPr marL="457200" indent="-457200" eaLnBrk="1" fontAlgn="auto" hangingPunct="1">
              <a:spcAft>
                <a:spcPts val="0"/>
              </a:spcAft>
              <a:buFont typeface="Wingdings 2"/>
              <a:buNone/>
              <a:defRPr/>
            </a:pPr>
            <a:r>
              <a:rPr lang="en-US" sz="2200" b="1" dirty="0" smtClean="0">
                <a:solidFill>
                  <a:schemeClr val="tx1"/>
                </a:solidFill>
              </a:rPr>
              <a:t>when all of the influences of the explanatory variables on Y cannot be </a:t>
            </a:r>
          </a:p>
          <a:p>
            <a:pPr marL="457200" indent="-457200" eaLnBrk="1" fontAlgn="auto" hangingPunct="1">
              <a:spcAft>
                <a:spcPts val="0"/>
              </a:spcAft>
              <a:buFont typeface="Wingdings 2"/>
              <a:buNone/>
              <a:defRPr/>
            </a:pPr>
            <a:r>
              <a:rPr lang="en-US" sz="2200" b="1" dirty="0" smtClean="0">
                <a:solidFill>
                  <a:schemeClr val="tx1"/>
                </a:solidFill>
              </a:rPr>
              <a:t>disentangled.”</a:t>
            </a:r>
          </a:p>
          <a:p>
            <a:pPr marL="457200" indent="-457200" eaLnBrk="1" fontAlgn="auto" hangingPunct="1">
              <a:spcAft>
                <a:spcPts val="0"/>
              </a:spcAft>
              <a:buFont typeface="Wingdings 2"/>
              <a:buNone/>
              <a:defRPr/>
            </a:pPr>
            <a:r>
              <a:rPr lang="en-US" sz="2200" b="1" dirty="0" smtClean="0">
                <a:solidFill>
                  <a:schemeClr val="tx1"/>
                </a:solidFill>
              </a:rPr>
              <a:t>  </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43000"/>
            <a:ext cx="8839200" cy="5562600"/>
          </a:xfrm>
        </p:spPr>
        <p:txBody>
          <a:bodyPr>
            <a:normAutofit/>
          </a:bodyPr>
          <a:lstStyle/>
          <a:p>
            <a:pPr eaLnBrk="1" fontAlgn="auto" hangingPunct="1">
              <a:spcAft>
                <a:spcPts val="0"/>
              </a:spcAft>
              <a:buClrTx/>
              <a:buFont typeface="Wingdings" pitchFamily="2" charset="2"/>
              <a:buChar char="Ø"/>
              <a:defRPr/>
            </a:pPr>
            <a:r>
              <a:rPr lang="en-US" sz="2400" b="1" u="sng" dirty="0" smtClean="0">
                <a:solidFill>
                  <a:schemeClr val="tx1"/>
                </a:solidFill>
                <a:latin typeface="+mj-lt"/>
              </a:rPr>
              <a:t>Insignificant </a:t>
            </a:r>
            <a:r>
              <a:rPr lang="en-US" sz="2400" b="1" i="1" u="sng" dirty="0" smtClean="0">
                <a:solidFill>
                  <a:schemeClr val="tx1"/>
                </a:solidFill>
                <a:latin typeface="+mj-lt"/>
              </a:rPr>
              <a:t>t-</a:t>
            </a:r>
            <a:r>
              <a:rPr lang="en-US" sz="2400" b="1" u="sng" dirty="0" smtClean="0">
                <a:solidFill>
                  <a:schemeClr val="tx1"/>
                </a:solidFill>
                <a:latin typeface="+mj-lt"/>
              </a:rPr>
              <a:t>value</a:t>
            </a:r>
          </a:p>
          <a:p>
            <a:pPr eaLnBrk="1" fontAlgn="auto" hangingPunct="1">
              <a:spcAft>
                <a:spcPts val="0"/>
              </a:spcAft>
              <a:buClrTx/>
              <a:buNone/>
              <a:defRPr/>
            </a:pPr>
            <a:r>
              <a:rPr lang="en-US" sz="2200" b="1" dirty="0" smtClean="0">
                <a:solidFill>
                  <a:schemeClr val="tx1"/>
                </a:solidFill>
              </a:rPr>
              <a:t>The </a:t>
            </a:r>
            <a:r>
              <a:rPr lang="en-US" sz="2200" b="1" i="1" dirty="0" smtClean="0">
                <a:solidFill>
                  <a:schemeClr val="tx1"/>
                </a:solidFill>
              </a:rPr>
              <a:t>t</a:t>
            </a:r>
            <a:r>
              <a:rPr lang="en-US" sz="2200" b="1" dirty="0" smtClean="0">
                <a:solidFill>
                  <a:schemeClr val="tx1"/>
                </a:solidFill>
              </a:rPr>
              <a:t> value is obtained from </a:t>
            </a:r>
            <a:r>
              <a:rPr lang="en-US" sz="2200" b="1" i="1" dirty="0" smtClean="0">
                <a:solidFill>
                  <a:schemeClr val="tx1"/>
                </a:solidFill>
              </a:rPr>
              <a:t>t</a:t>
            </a:r>
            <a:r>
              <a:rPr lang="en-US" sz="2200" b="1" dirty="0" smtClean="0">
                <a:solidFill>
                  <a:schemeClr val="tx1"/>
                </a:solidFill>
              </a:rPr>
              <a:t> test. </a:t>
            </a:r>
            <a:r>
              <a:rPr lang="en-US" sz="2200" b="1" i="1" dirty="0" smtClean="0">
                <a:solidFill>
                  <a:schemeClr val="tx1"/>
                </a:solidFill>
              </a:rPr>
              <a:t>t </a:t>
            </a:r>
            <a:r>
              <a:rPr lang="en-US" sz="2200" b="1" dirty="0" smtClean="0">
                <a:solidFill>
                  <a:schemeClr val="tx1"/>
                </a:solidFill>
              </a:rPr>
              <a:t>test is the test of significance for     .</a:t>
            </a:r>
          </a:p>
          <a:p>
            <a:pPr eaLnBrk="1" fontAlgn="auto" hangingPunct="1">
              <a:spcAft>
                <a:spcPts val="0"/>
              </a:spcAft>
              <a:buClrTx/>
              <a:buNone/>
              <a:defRPr/>
            </a:pPr>
            <a:r>
              <a:rPr lang="en-US" sz="2200" b="1" dirty="0" smtClean="0">
                <a:solidFill>
                  <a:schemeClr val="tx1"/>
                </a:solidFill>
              </a:rPr>
              <a:t>It is counted to find out that the value of estimated    , i.e.     Is significant </a:t>
            </a:r>
          </a:p>
          <a:p>
            <a:pPr eaLnBrk="1" fontAlgn="auto" hangingPunct="1">
              <a:spcAft>
                <a:spcPts val="0"/>
              </a:spcAft>
              <a:buClrTx/>
              <a:buNone/>
              <a:defRPr/>
            </a:pPr>
            <a:r>
              <a:rPr lang="en-US" sz="2200" b="1" dirty="0" smtClean="0">
                <a:solidFill>
                  <a:schemeClr val="tx1"/>
                </a:solidFill>
              </a:rPr>
              <a:t>or not? In </a:t>
            </a:r>
            <a:r>
              <a:rPr lang="en-US" sz="2200" b="1" i="1" dirty="0" smtClean="0">
                <a:solidFill>
                  <a:schemeClr val="tx1"/>
                </a:solidFill>
              </a:rPr>
              <a:t>t</a:t>
            </a:r>
            <a:r>
              <a:rPr lang="en-US" sz="2200" b="1" dirty="0" smtClean="0">
                <a:solidFill>
                  <a:schemeClr val="tx1"/>
                </a:solidFill>
              </a:rPr>
              <a:t>-test first the </a:t>
            </a:r>
            <a:r>
              <a:rPr lang="en-US" sz="2200" b="1" i="1" dirty="0" smtClean="0">
                <a:solidFill>
                  <a:schemeClr val="tx1"/>
                </a:solidFill>
              </a:rPr>
              <a:t>t</a:t>
            </a:r>
            <a:r>
              <a:rPr lang="en-US" sz="2200" b="1" dirty="0" smtClean="0">
                <a:solidFill>
                  <a:schemeClr val="tx1"/>
                </a:solidFill>
              </a:rPr>
              <a:t> ratio is calculated as:</a:t>
            </a:r>
          </a:p>
          <a:p>
            <a:pPr eaLnBrk="1" fontAlgn="auto" hangingPunct="1">
              <a:spcAft>
                <a:spcPts val="0"/>
              </a:spcAft>
              <a:buClrTx/>
              <a:buNone/>
              <a:defRPr/>
            </a:pPr>
            <a:endParaRPr lang="en-US" sz="2200" b="1" dirty="0" smtClean="0">
              <a:solidFill>
                <a:schemeClr val="tx1"/>
              </a:solidFill>
            </a:endParaRPr>
          </a:p>
          <a:p>
            <a:pPr eaLnBrk="1" fontAlgn="auto" hangingPunct="1">
              <a:spcAft>
                <a:spcPts val="0"/>
              </a:spcAft>
              <a:buClrTx/>
              <a:buNone/>
              <a:defRPr/>
            </a:pPr>
            <a:endParaRPr lang="en-US" sz="2200" b="1" dirty="0" smtClean="0">
              <a:solidFill>
                <a:schemeClr val="tx1"/>
              </a:solidFill>
            </a:endParaRPr>
          </a:p>
          <a:p>
            <a:pPr eaLnBrk="1" fontAlgn="auto" hangingPunct="1">
              <a:spcAft>
                <a:spcPts val="0"/>
              </a:spcAft>
              <a:buClrTx/>
              <a:buNone/>
              <a:defRPr/>
            </a:pPr>
            <a:endParaRPr lang="en-US" sz="2200" b="1" dirty="0" smtClean="0">
              <a:solidFill>
                <a:schemeClr val="tx1"/>
              </a:solidFill>
            </a:endParaRPr>
          </a:p>
          <a:p>
            <a:pPr eaLnBrk="1" fontAlgn="auto" hangingPunct="1">
              <a:spcAft>
                <a:spcPts val="0"/>
              </a:spcAft>
              <a:buClrTx/>
              <a:buNone/>
              <a:defRPr/>
            </a:pPr>
            <a:r>
              <a:rPr lang="en-US" sz="2200" b="1" dirty="0" smtClean="0">
                <a:solidFill>
                  <a:schemeClr val="tx1"/>
                </a:solidFill>
              </a:rPr>
              <a:t>“</a:t>
            </a:r>
            <a:r>
              <a:rPr lang="en-US" sz="2200" b="1" i="1" dirty="0" smtClean="0">
                <a:solidFill>
                  <a:schemeClr val="tx1"/>
                </a:solidFill>
              </a:rPr>
              <a:t>df “ </a:t>
            </a:r>
            <a:r>
              <a:rPr lang="en-US" sz="2200" b="1" dirty="0" smtClean="0">
                <a:solidFill>
                  <a:schemeClr val="tx1"/>
                </a:solidFill>
              </a:rPr>
              <a:t>i.e. degrees of freedom is find out as:</a:t>
            </a:r>
          </a:p>
          <a:p>
            <a:pPr eaLnBrk="1" fontAlgn="auto" hangingPunct="1">
              <a:spcAft>
                <a:spcPts val="0"/>
              </a:spcAft>
              <a:buClrTx/>
              <a:buNone/>
              <a:defRPr/>
            </a:pPr>
            <a:endParaRPr lang="en-US" sz="2200" b="1" dirty="0" smtClean="0">
              <a:solidFill>
                <a:schemeClr val="tx1"/>
              </a:solidFill>
            </a:endParaRPr>
          </a:p>
          <a:p>
            <a:pPr eaLnBrk="1" fontAlgn="auto" hangingPunct="1">
              <a:spcAft>
                <a:spcPts val="0"/>
              </a:spcAft>
              <a:buClrTx/>
              <a:buNone/>
              <a:defRPr/>
            </a:pPr>
            <a:endParaRPr lang="en-US" sz="2200" b="1" dirty="0" smtClean="0">
              <a:solidFill>
                <a:schemeClr val="tx1"/>
              </a:solidFill>
            </a:endParaRPr>
          </a:p>
          <a:p>
            <a:pPr eaLnBrk="1" fontAlgn="auto" hangingPunct="1">
              <a:spcAft>
                <a:spcPts val="0"/>
              </a:spcAft>
              <a:buClrTx/>
              <a:buNone/>
              <a:defRPr/>
            </a:pPr>
            <a:r>
              <a:rPr lang="en-US" sz="2200" b="1" dirty="0" smtClean="0">
                <a:solidFill>
                  <a:schemeClr val="tx1"/>
                </a:solidFill>
              </a:rPr>
              <a:t>Where, </a:t>
            </a:r>
            <a:r>
              <a:rPr lang="en-US" sz="2200" b="1" i="1" dirty="0" smtClean="0">
                <a:solidFill>
                  <a:schemeClr val="tx1"/>
                </a:solidFill>
              </a:rPr>
              <a:t>N</a:t>
            </a:r>
            <a:r>
              <a:rPr lang="en-US" sz="2200" b="1" dirty="0" smtClean="0">
                <a:solidFill>
                  <a:schemeClr val="tx1"/>
                </a:solidFill>
              </a:rPr>
              <a:t> = number of observations</a:t>
            </a:r>
          </a:p>
          <a:p>
            <a:pPr eaLnBrk="1" fontAlgn="auto" hangingPunct="1">
              <a:spcAft>
                <a:spcPts val="0"/>
              </a:spcAft>
              <a:buClrTx/>
              <a:buNone/>
              <a:defRPr/>
            </a:pPr>
            <a:r>
              <a:rPr lang="en-US" sz="2200" b="1" dirty="0" smtClean="0">
                <a:solidFill>
                  <a:schemeClr val="tx1"/>
                </a:solidFill>
              </a:rPr>
              <a:t>             </a:t>
            </a:r>
            <a:r>
              <a:rPr lang="en-US" sz="2200" b="1" i="1" dirty="0" smtClean="0">
                <a:solidFill>
                  <a:schemeClr val="tx1"/>
                </a:solidFill>
              </a:rPr>
              <a:t>K </a:t>
            </a:r>
            <a:r>
              <a:rPr lang="en-US" sz="2200" b="1" dirty="0" smtClean="0">
                <a:solidFill>
                  <a:schemeClr val="tx1"/>
                </a:solidFill>
              </a:rPr>
              <a:t>= parameters.</a:t>
            </a:r>
            <a:endParaRPr lang="en-US" sz="2200" b="1" i="1" dirty="0" smtClean="0">
              <a:solidFill>
                <a:schemeClr val="tx1"/>
              </a:solidFill>
            </a:endParaRPr>
          </a:p>
          <a:p>
            <a:pPr eaLnBrk="1" fontAlgn="auto" hangingPunct="1">
              <a:spcAft>
                <a:spcPts val="0"/>
              </a:spcAft>
              <a:buClrTx/>
              <a:buNone/>
              <a:defRPr/>
            </a:pPr>
            <a:endParaRPr lang="en-US" sz="2200" b="1" dirty="0" smtClean="0">
              <a:solidFill>
                <a:schemeClr val="tx1"/>
              </a:solidFill>
            </a:endParaRPr>
          </a:p>
          <a:p>
            <a:pPr eaLnBrk="1" fontAlgn="auto" hangingPunct="1">
              <a:spcAft>
                <a:spcPts val="0"/>
              </a:spcAft>
              <a:buClrTx/>
              <a:buNone/>
              <a:defRPr/>
            </a:pPr>
            <a:endParaRPr lang="en-US" sz="2200" b="1" u="sng" dirty="0" smtClean="0">
              <a:solidFill>
                <a:schemeClr val="tx1"/>
              </a:solidFill>
              <a:latin typeface="+mj-lt"/>
            </a:endParaRPr>
          </a:p>
          <a:p>
            <a:pPr eaLnBrk="1" fontAlgn="auto" hangingPunct="1">
              <a:spcAft>
                <a:spcPts val="0"/>
              </a:spcAft>
              <a:buClrTx/>
              <a:buNone/>
              <a:defRPr/>
            </a:pPr>
            <a:endParaRPr lang="en-US" sz="2200" b="1" dirty="0" smtClean="0">
              <a:solidFill>
                <a:schemeClr val="tx1"/>
              </a:solidFill>
              <a:latin typeface="+mj-lt"/>
            </a:endParaRPr>
          </a:p>
          <a:p>
            <a:pPr eaLnBrk="1" fontAlgn="auto" hangingPunct="1">
              <a:spcAft>
                <a:spcPts val="0"/>
              </a:spcAft>
              <a:buClrTx/>
              <a:buFont typeface="Wingdings 2"/>
              <a:buNone/>
              <a:defRPr/>
            </a:pPr>
            <a:endParaRPr lang="en-US" sz="2200" b="1" u="sng" dirty="0">
              <a:solidFill>
                <a:schemeClr val="tx1"/>
              </a:solidFill>
              <a:latin typeface="+mj-lt"/>
            </a:endParaRPr>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3011"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8458200" y="1600200"/>
            <a:ext cx="161925" cy="342900"/>
          </a:xfrm>
          <a:prstGeom prst="rect">
            <a:avLst/>
          </a:prstGeom>
          <a:noFill/>
        </p:spPr>
      </p:pic>
      <p:sp>
        <p:nvSpPr>
          <p:cNvPr id="4301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3013" name="Picture 5"/>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6324600" y="2019300"/>
            <a:ext cx="161925" cy="342900"/>
          </a:xfrm>
          <a:prstGeom prst="rect">
            <a:avLst/>
          </a:prstGeom>
          <a:noFill/>
        </p:spPr>
      </p:pic>
      <p:sp>
        <p:nvSpPr>
          <p:cNvPr id="4301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3017" name="Picture 9"/>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7086600" y="2000250"/>
            <a:ext cx="161925" cy="361950"/>
          </a:xfrm>
          <a:prstGeom prst="rect">
            <a:avLst/>
          </a:prstGeom>
          <a:noFill/>
        </p:spPr>
      </p:pic>
      <p:sp>
        <p:nvSpPr>
          <p:cNvPr id="43020"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3019" name="Picture 11"/>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3581400" y="2971800"/>
            <a:ext cx="1257300" cy="762000"/>
          </a:xfrm>
          <a:prstGeom prst="rect">
            <a:avLst/>
          </a:prstGeom>
          <a:noFill/>
        </p:spPr>
      </p:pic>
      <p:sp>
        <p:nvSpPr>
          <p:cNvPr id="43022"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3021" name="Picture 13"/>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3505200" y="4572000"/>
            <a:ext cx="1304925" cy="34290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43000"/>
            <a:ext cx="8839200" cy="5486400"/>
          </a:xfrm>
        </p:spPr>
        <p:txBody>
          <a:bodyPr/>
          <a:lstStyle/>
          <a:p>
            <a:pPr>
              <a:buNone/>
            </a:pPr>
            <a:r>
              <a:rPr lang="en-US" sz="2200" b="1" dirty="0" smtClean="0">
                <a:solidFill>
                  <a:schemeClr val="tx1"/>
                </a:solidFill>
              </a:rPr>
              <a:t>Then find out table value of </a:t>
            </a:r>
            <a:r>
              <a:rPr lang="en-US" sz="2200" b="1" i="1" dirty="0" smtClean="0">
                <a:solidFill>
                  <a:schemeClr val="tx1"/>
                </a:solidFill>
              </a:rPr>
              <a:t>t</a:t>
            </a:r>
            <a:r>
              <a:rPr lang="en-US" sz="2200" b="1" dirty="0" smtClean="0">
                <a:solidFill>
                  <a:schemeClr val="tx1"/>
                </a:solidFill>
              </a:rPr>
              <a:t> at 5% probability on the basis of “</a:t>
            </a:r>
            <a:r>
              <a:rPr lang="en-US" sz="2200" b="1" i="1" dirty="0" smtClean="0">
                <a:solidFill>
                  <a:schemeClr val="tx1"/>
                </a:solidFill>
              </a:rPr>
              <a:t>df</a:t>
            </a:r>
            <a:r>
              <a:rPr lang="en-US" sz="2200" b="1" i="1" baseline="-25000" dirty="0" smtClean="0">
                <a:solidFill>
                  <a:schemeClr val="tx1"/>
                </a:solidFill>
              </a:rPr>
              <a:t> </a:t>
            </a:r>
            <a:r>
              <a:rPr lang="en-US" sz="2200" b="1" i="1" dirty="0" smtClean="0">
                <a:solidFill>
                  <a:schemeClr val="tx1"/>
                </a:solidFill>
              </a:rPr>
              <a:t> “ </a:t>
            </a:r>
            <a:r>
              <a:rPr lang="en-US" sz="2200" b="1" dirty="0" smtClean="0">
                <a:solidFill>
                  <a:schemeClr val="tx1"/>
                </a:solidFill>
              </a:rPr>
              <a:t>i.e. </a:t>
            </a:r>
          </a:p>
          <a:p>
            <a:pPr>
              <a:buNone/>
            </a:pPr>
            <a:r>
              <a:rPr lang="en-US" sz="2200" b="1" dirty="0" smtClean="0">
                <a:solidFill>
                  <a:schemeClr val="tx1"/>
                </a:solidFill>
              </a:rPr>
              <a:t>find table value for “</a:t>
            </a:r>
            <a:r>
              <a:rPr lang="en-US" sz="2200" b="1" i="1" dirty="0" smtClean="0">
                <a:solidFill>
                  <a:schemeClr val="tx1"/>
                </a:solidFill>
              </a:rPr>
              <a:t>df “.</a:t>
            </a:r>
          </a:p>
          <a:p>
            <a:pPr>
              <a:buNone/>
            </a:pPr>
            <a:r>
              <a:rPr lang="en-US" sz="2200" b="1" dirty="0" smtClean="0">
                <a:solidFill>
                  <a:schemeClr val="tx1"/>
                </a:solidFill>
              </a:rPr>
              <a:t>If, </a:t>
            </a:r>
          </a:p>
          <a:p>
            <a:pPr>
              <a:buNone/>
            </a:pPr>
            <a:endParaRPr lang="en-US" sz="2200" b="1" dirty="0" smtClean="0">
              <a:solidFill>
                <a:schemeClr val="tx1"/>
              </a:solidFill>
            </a:endParaRPr>
          </a:p>
          <a:p>
            <a:pPr>
              <a:buNone/>
            </a:pPr>
            <a:endParaRPr lang="en-US" sz="2200" b="1" dirty="0" smtClean="0">
              <a:solidFill>
                <a:schemeClr val="tx1"/>
              </a:solidFill>
            </a:endParaRPr>
          </a:p>
          <a:p>
            <a:pPr>
              <a:buNone/>
            </a:pPr>
            <a:r>
              <a:rPr lang="en-US" sz="2200" b="1" dirty="0" smtClean="0">
                <a:solidFill>
                  <a:schemeClr val="tx1"/>
                </a:solidFill>
              </a:rPr>
              <a:t>It indicates that if the </a:t>
            </a:r>
            <a:r>
              <a:rPr lang="en-US" sz="2200" b="1" i="1" dirty="0" smtClean="0">
                <a:solidFill>
                  <a:schemeClr val="tx1"/>
                </a:solidFill>
              </a:rPr>
              <a:t>t</a:t>
            </a:r>
            <a:r>
              <a:rPr lang="en-US" sz="2200" b="1" dirty="0" smtClean="0">
                <a:solidFill>
                  <a:schemeClr val="tx1"/>
                </a:solidFill>
              </a:rPr>
              <a:t> statistical value is greater than the tabular value </a:t>
            </a:r>
          </a:p>
          <a:p>
            <a:pPr>
              <a:buNone/>
            </a:pPr>
            <a:r>
              <a:rPr lang="en-US" sz="2200" b="1" dirty="0" smtClean="0">
                <a:solidFill>
                  <a:schemeClr val="tx1"/>
                </a:solidFill>
              </a:rPr>
              <a:t>than </a:t>
            </a:r>
            <a:r>
              <a:rPr lang="en-US" sz="2200" b="1" i="1" dirty="0" smtClean="0">
                <a:solidFill>
                  <a:schemeClr val="tx1"/>
                </a:solidFill>
              </a:rPr>
              <a:t>t-</a:t>
            </a:r>
            <a:r>
              <a:rPr lang="en-US" sz="2200" b="1" dirty="0" smtClean="0">
                <a:solidFill>
                  <a:schemeClr val="tx1"/>
                </a:solidFill>
              </a:rPr>
              <a:t>test is significant. And if </a:t>
            </a:r>
            <a:r>
              <a:rPr lang="en-US" sz="2200" b="1" i="1" dirty="0" smtClean="0">
                <a:solidFill>
                  <a:schemeClr val="tx1"/>
                </a:solidFill>
              </a:rPr>
              <a:t>t </a:t>
            </a:r>
            <a:r>
              <a:rPr lang="en-US" sz="2200" b="1" dirty="0" smtClean="0">
                <a:solidFill>
                  <a:schemeClr val="tx1"/>
                </a:solidFill>
              </a:rPr>
              <a:t>statistical value is less than tabular value </a:t>
            </a:r>
          </a:p>
          <a:p>
            <a:pPr>
              <a:buNone/>
            </a:pPr>
            <a:r>
              <a:rPr lang="en-US" sz="2200" b="1" dirty="0" smtClean="0">
                <a:solidFill>
                  <a:schemeClr val="tx1"/>
                </a:solidFill>
              </a:rPr>
              <a:t>than </a:t>
            </a:r>
            <a:r>
              <a:rPr lang="en-US" sz="2200" b="1" i="1" dirty="0" smtClean="0">
                <a:solidFill>
                  <a:schemeClr val="tx1"/>
                </a:solidFill>
              </a:rPr>
              <a:t>t-</a:t>
            </a:r>
            <a:r>
              <a:rPr lang="en-US" sz="2200" b="1" dirty="0" smtClean="0">
                <a:solidFill>
                  <a:schemeClr val="tx1"/>
                </a:solidFill>
              </a:rPr>
              <a:t>test is insignificant.</a:t>
            </a:r>
          </a:p>
          <a:p>
            <a:pPr>
              <a:buNone/>
            </a:pPr>
            <a:r>
              <a:rPr lang="en-US" sz="2200" b="1" dirty="0" smtClean="0">
                <a:solidFill>
                  <a:schemeClr val="tx1"/>
                </a:solidFill>
              </a:rPr>
              <a:t>Also, when </a:t>
            </a:r>
            <a:r>
              <a:rPr lang="en-US" sz="2200" b="1" i="1" dirty="0" smtClean="0">
                <a:solidFill>
                  <a:schemeClr val="tx1"/>
                </a:solidFill>
              </a:rPr>
              <a:t>t</a:t>
            </a:r>
            <a:r>
              <a:rPr lang="en-US" sz="2200" b="1" dirty="0" smtClean="0">
                <a:solidFill>
                  <a:schemeClr val="tx1"/>
                </a:solidFill>
              </a:rPr>
              <a:t>-test is significant we accept the Null hypothesis and when    </a:t>
            </a:r>
          </a:p>
          <a:p>
            <a:pPr>
              <a:buNone/>
            </a:pPr>
            <a:r>
              <a:rPr lang="en-US" sz="2200" b="1" i="1" dirty="0" smtClean="0">
                <a:solidFill>
                  <a:schemeClr val="tx1"/>
                </a:solidFill>
              </a:rPr>
              <a:t>t</a:t>
            </a:r>
            <a:r>
              <a:rPr lang="en-US" sz="2200" b="1" dirty="0" smtClean="0">
                <a:solidFill>
                  <a:schemeClr val="tx1"/>
                </a:solidFill>
              </a:rPr>
              <a:t>-test is insignificant than we reject he Null and accept the alternative </a:t>
            </a:r>
          </a:p>
          <a:p>
            <a:pPr>
              <a:buNone/>
            </a:pPr>
            <a:r>
              <a:rPr lang="en-US" sz="2200" b="1" dirty="0" smtClean="0">
                <a:solidFill>
                  <a:schemeClr val="tx1"/>
                </a:solidFill>
              </a:rPr>
              <a:t>hypothesis.</a:t>
            </a:r>
          </a:p>
          <a:p>
            <a:pPr>
              <a:buNone/>
            </a:pPr>
            <a:r>
              <a:rPr lang="en-US" sz="2200" b="1" dirty="0" smtClean="0">
                <a:solidFill>
                  <a:schemeClr val="tx1"/>
                </a:solidFill>
              </a:rPr>
              <a:t>Insignificant </a:t>
            </a:r>
            <a:r>
              <a:rPr lang="en-US" sz="2200" b="1" i="1" dirty="0" smtClean="0">
                <a:solidFill>
                  <a:schemeClr val="tx1"/>
                </a:solidFill>
              </a:rPr>
              <a:t>t-test </a:t>
            </a:r>
            <a:r>
              <a:rPr lang="en-US" sz="2200" b="1" dirty="0" smtClean="0">
                <a:solidFill>
                  <a:schemeClr val="tx1"/>
                </a:solidFill>
              </a:rPr>
              <a:t>indicates presence of multicollinearity between the </a:t>
            </a:r>
          </a:p>
          <a:p>
            <a:pPr>
              <a:buNone/>
            </a:pPr>
            <a:r>
              <a:rPr lang="en-US" sz="2200" b="1" dirty="0" smtClean="0">
                <a:solidFill>
                  <a:schemeClr val="tx1"/>
                </a:solidFill>
              </a:rPr>
              <a:t>explanatory variables.</a:t>
            </a:r>
          </a:p>
          <a:p>
            <a:pPr>
              <a:buNone/>
            </a:pPr>
            <a:r>
              <a:rPr lang="en-US" sz="2200" b="1" dirty="0" smtClean="0">
                <a:solidFill>
                  <a:schemeClr val="tx1"/>
                </a:solidFill>
              </a:rPr>
              <a:t> </a:t>
            </a:r>
          </a:p>
          <a:p>
            <a:pPr>
              <a:buNone/>
            </a:pPr>
            <a:endParaRPr lang="en-US" sz="2200" b="1" dirty="0">
              <a:solidFill>
                <a:schemeClr val="tx1"/>
              </a:solidFill>
            </a:endParaRPr>
          </a:p>
        </p:txBody>
      </p:sp>
      <p:sp>
        <p:nvSpPr>
          <p:cNvPr id="9523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5235" name="Rectangle 3"/>
          <p:cNvSpPr>
            <a:spLocks noChangeArrowheads="1"/>
          </p:cNvSpPr>
          <p:nvPr/>
        </p:nvSpPr>
        <p:spPr bwMode="auto">
          <a:xfrm>
            <a:off x="0" y="847725"/>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9523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95236" name="Picture 4"/>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838200" y="2057400"/>
            <a:ext cx="2724150" cy="390525"/>
          </a:xfrm>
          <a:prstGeom prst="rect">
            <a:avLst/>
          </a:prstGeom>
          <a:noFill/>
        </p:spPr>
      </p:pic>
      <p:sp>
        <p:nvSpPr>
          <p:cNvPr id="95238" name="Rectangle 6"/>
          <p:cNvSpPr>
            <a:spLocks noChangeArrowheads="1"/>
          </p:cNvSpPr>
          <p:nvPr/>
        </p:nvSpPr>
        <p:spPr bwMode="auto">
          <a:xfrm>
            <a:off x="0" y="847725"/>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95240"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95241" name="Rectangle 9"/>
          <p:cNvSpPr>
            <a:spLocks noChangeArrowheads="1"/>
          </p:cNvSpPr>
          <p:nvPr/>
        </p:nvSpPr>
        <p:spPr bwMode="auto">
          <a:xfrm>
            <a:off x="0" y="847725"/>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95243"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95242"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838200" y="2514600"/>
            <a:ext cx="2943225" cy="390525"/>
          </a:xfrm>
          <a:prstGeom prst="rect">
            <a:avLst/>
          </a:prstGeom>
          <a:noFill/>
        </p:spPr>
      </p:pic>
      <p:sp>
        <p:nvSpPr>
          <p:cNvPr id="95244" name="Rectangle 12"/>
          <p:cNvSpPr>
            <a:spLocks noChangeArrowheads="1"/>
          </p:cNvSpPr>
          <p:nvPr/>
        </p:nvSpPr>
        <p:spPr bwMode="auto">
          <a:xfrm>
            <a:off x="0" y="847725"/>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6800"/>
            <a:ext cx="9067800" cy="5727700"/>
          </a:xfrm>
        </p:spPr>
        <p:txBody>
          <a:bodyPr>
            <a:normAutofit/>
          </a:bodyPr>
          <a:lstStyle/>
          <a:p>
            <a:pPr eaLnBrk="1" fontAlgn="auto" hangingPunct="1">
              <a:spcAft>
                <a:spcPts val="0"/>
              </a:spcAft>
              <a:buClrTx/>
              <a:buFont typeface="Wingdings" pitchFamily="2" charset="2"/>
              <a:buChar char="Ø"/>
              <a:defRPr/>
            </a:pPr>
            <a:r>
              <a:rPr lang="en-US" sz="2400" b="1" u="sng" dirty="0" smtClean="0">
                <a:solidFill>
                  <a:schemeClr val="tx1"/>
                </a:solidFill>
                <a:latin typeface="+mj-lt"/>
              </a:rPr>
              <a:t>High pair wise Correlations among Regressors </a:t>
            </a:r>
          </a:p>
          <a:p>
            <a:pPr eaLnBrk="1" fontAlgn="auto" hangingPunct="1">
              <a:spcAft>
                <a:spcPts val="0"/>
              </a:spcAft>
              <a:buFont typeface="Wingdings 2"/>
              <a:buNone/>
              <a:defRPr/>
            </a:pPr>
            <a:r>
              <a:rPr lang="en-US" sz="2200" b="1" dirty="0" smtClean="0">
                <a:solidFill>
                  <a:schemeClr val="tx1"/>
                </a:solidFill>
              </a:rPr>
              <a:t>Another suggested rule of thumb is that if the pair wise or zero order</a:t>
            </a:r>
            <a:r>
              <a:rPr lang="en-US" sz="2200" b="1" i="1" dirty="0" smtClean="0">
                <a:solidFill>
                  <a:schemeClr val="tx1"/>
                </a:solidFill>
              </a:rPr>
              <a:t> </a:t>
            </a:r>
          </a:p>
          <a:p>
            <a:pPr eaLnBrk="1" fontAlgn="auto" hangingPunct="1">
              <a:spcAft>
                <a:spcPts val="0"/>
              </a:spcAft>
              <a:buFont typeface="Wingdings 2"/>
              <a:buNone/>
              <a:defRPr/>
            </a:pPr>
            <a:r>
              <a:rPr lang="en-US" sz="2200" b="1" dirty="0" smtClean="0">
                <a:solidFill>
                  <a:schemeClr val="tx1"/>
                </a:solidFill>
              </a:rPr>
              <a:t>correlation coefficient between two regressors high, say, in excess of </a:t>
            </a:r>
          </a:p>
          <a:p>
            <a:pPr eaLnBrk="1" fontAlgn="auto" hangingPunct="1">
              <a:spcAft>
                <a:spcPts val="0"/>
              </a:spcAft>
              <a:buFont typeface="Wingdings 2"/>
              <a:buNone/>
              <a:defRPr/>
            </a:pPr>
            <a:r>
              <a:rPr lang="en-US" sz="2200" b="1" dirty="0" smtClean="0">
                <a:solidFill>
                  <a:schemeClr val="tx1"/>
                </a:solidFill>
              </a:rPr>
              <a:t>0.8, then multicollinearity is serious problem. The problem with this </a:t>
            </a:r>
          </a:p>
          <a:p>
            <a:pPr eaLnBrk="1" fontAlgn="auto" hangingPunct="1">
              <a:spcAft>
                <a:spcPts val="0"/>
              </a:spcAft>
              <a:buFont typeface="Wingdings 2"/>
              <a:buNone/>
              <a:defRPr/>
            </a:pPr>
            <a:r>
              <a:rPr lang="en-US" sz="2200" b="1" dirty="0" smtClean="0">
                <a:solidFill>
                  <a:schemeClr val="tx1"/>
                </a:solidFill>
              </a:rPr>
              <a:t>criterion is that, although high zero-order correlations may suggest </a:t>
            </a:r>
          </a:p>
          <a:p>
            <a:pPr eaLnBrk="1" fontAlgn="auto" hangingPunct="1">
              <a:spcAft>
                <a:spcPts val="0"/>
              </a:spcAft>
              <a:buFont typeface="Wingdings 2"/>
              <a:buNone/>
              <a:defRPr/>
            </a:pPr>
            <a:r>
              <a:rPr lang="en-US" sz="2200" b="1" dirty="0" smtClean="0">
                <a:solidFill>
                  <a:schemeClr val="tx1"/>
                </a:solidFill>
              </a:rPr>
              <a:t>collinearity, it is not necessary that they be high to have collinearity in </a:t>
            </a:r>
          </a:p>
          <a:p>
            <a:pPr eaLnBrk="1" fontAlgn="auto" hangingPunct="1">
              <a:spcAft>
                <a:spcPts val="0"/>
              </a:spcAft>
              <a:buFont typeface="Wingdings 2"/>
              <a:buNone/>
              <a:defRPr/>
            </a:pPr>
            <a:r>
              <a:rPr lang="en-US" sz="2200" b="1" dirty="0" smtClean="0">
                <a:solidFill>
                  <a:schemeClr val="tx1"/>
                </a:solidFill>
              </a:rPr>
              <a:t>any specific case. To put the matter somewhat technically, high zero-</a:t>
            </a:r>
          </a:p>
          <a:p>
            <a:pPr eaLnBrk="1" fontAlgn="auto" hangingPunct="1">
              <a:spcAft>
                <a:spcPts val="0"/>
              </a:spcAft>
              <a:buFont typeface="Wingdings 2"/>
              <a:buNone/>
              <a:defRPr/>
            </a:pPr>
            <a:r>
              <a:rPr lang="en-US" sz="2200" b="1" dirty="0" smtClean="0">
                <a:solidFill>
                  <a:schemeClr val="tx1"/>
                </a:solidFill>
              </a:rPr>
              <a:t>order correlations are a sufficient but not a necessary condition for the </a:t>
            </a:r>
          </a:p>
          <a:p>
            <a:pPr eaLnBrk="1" fontAlgn="auto" hangingPunct="1">
              <a:spcAft>
                <a:spcPts val="0"/>
              </a:spcAft>
              <a:buFont typeface="Wingdings 2"/>
              <a:buNone/>
              <a:defRPr/>
            </a:pPr>
            <a:r>
              <a:rPr lang="en-US" sz="2200" b="1" dirty="0" smtClean="0">
                <a:solidFill>
                  <a:schemeClr val="tx1"/>
                </a:solidFill>
              </a:rPr>
              <a:t>existence of multicollinearity because it can exist even though the zero </a:t>
            </a:r>
          </a:p>
          <a:p>
            <a:pPr eaLnBrk="1" fontAlgn="auto" hangingPunct="1">
              <a:spcAft>
                <a:spcPts val="0"/>
              </a:spcAft>
              <a:buFont typeface="Wingdings 2"/>
              <a:buNone/>
              <a:defRPr/>
            </a:pPr>
            <a:r>
              <a:rPr lang="en-US" sz="2200" b="1" dirty="0" smtClean="0">
                <a:solidFill>
                  <a:schemeClr val="tx1"/>
                </a:solidFill>
              </a:rPr>
              <a:t>order or simple correlations are comparatively low. Therefore, in models </a:t>
            </a:r>
          </a:p>
          <a:p>
            <a:pPr eaLnBrk="1" fontAlgn="auto" hangingPunct="1">
              <a:spcAft>
                <a:spcPts val="0"/>
              </a:spcAft>
              <a:buFont typeface="Wingdings 2"/>
              <a:buNone/>
              <a:defRPr/>
            </a:pPr>
            <a:r>
              <a:rPr lang="en-US" sz="2200" b="1" dirty="0" smtClean="0">
                <a:solidFill>
                  <a:schemeClr val="tx1"/>
                </a:solidFill>
              </a:rPr>
              <a:t>involving more than two explanatory variables, the simple or zero-order </a:t>
            </a:r>
          </a:p>
          <a:p>
            <a:pPr eaLnBrk="1" fontAlgn="auto" hangingPunct="1">
              <a:spcAft>
                <a:spcPts val="0"/>
              </a:spcAft>
              <a:buFont typeface="Wingdings 2"/>
              <a:buNone/>
              <a:defRPr/>
            </a:pPr>
            <a:r>
              <a:rPr lang="en-US" sz="2200" b="1" dirty="0" smtClean="0">
                <a:solidFill>
                  <a:schemeClr val="tx1"/>
                </a:solidFill>
              </a:rPr>
              <a:t>correlation will not provide an infallible guide to the presence of </a:t>
            </a:r>
          </a:p>
          <a:p>
            <a:pPr eaLnBrk="1" fontAlgn="auto" hangingPunct="1">
              <a:spcAft>
                <a:spcPts val="0"/>
              </a:spcAft>
              <a:buFont typeface="Wingdings 2"/>
              <a:buNone/>
              <a:defRPr/>
            </a:pPr>
            <a:r>
              <a:rPr lang="en-US" sz="2200" b="1" dirty="0" smtClean="0">
                <a:solidFill>
                  <a:schemeClr val="tx1"/>
                </a:solidFill>
              </a:rPr>
              <a:t>multicollinearity. Of course. If there are only two variables, the zero order </a:t>
            </a:r>
          </a:p>
          <a:p>
            <a:pPr eaLnBrk="1" fontAlgn="auto" hangingPunct="1">
              <a:spcAft>
                <a:spcPts val="0"/>
              </a:spcAft>
              <a:buFont typeface="Wingdings 2"/>
              <a:buNone/>
              <a:defRPr/>
            </a:pPr>
            <a:r>
              <a:rPr lang="en-US" sz="2200" b="1" dirty="0" smtClean="0">
                <a:solidFill>
                  <a:schemeClr val="tx1"/>
                </a:solidFill>
              </a:rPr>
              <a:t>correlation will suffice. </a:t>
            </a:r>
          </a:p>
          <a:p>
            <a:pPr eaLnBrk="1" fontAlgn="auto" hangingPunct="1">
              <a:spcAft>
                <a:spcPts val="0"/>
              </a:spcAft>
              <a:buFont typeface="Wingdings 2"/>
              <a:buNone/>
              <a:defRPr/>
            </a:pPr>
            <a:endParaRPr lang="en-US" sz="2200" b="1" u="sng" dirty="0">
              <a:solidFill>
                <a:schemeClr val="tx1"/>
              </a:solidFil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66800"/>
            <a:ext cx="8839200" cy="5791200"/>
          </a:xfrm>
        </p:spPr>
        <p:txBody>
          <a:bodyPr>
            <a:normAutofit lnSpcReduction="10000"/>
          </a:bodyPr>
          <a:lstStyle/>
          <a:p>
            <a:pPr eaLnBrk="1" fontAlgn="auto" hangingPunct="1">
              <a:spcAft>
                <a:spcPts val="0"/>
              </a:spcAft>
              <a:buClrTx/>
              <a:buFont typeface="Wingdings" pitchFamily="2" charset="2"/>
              <a:buChar char="Ø"/>
              <a:defRPr/>
            </a:pPr>
            <a:r>
              <a:rPr lang="en-US" sz="2200" b="1" u="sng" dirty="0" smtClean="0">
                <a:solidFill>
                  <a:schemeClr val="tx1"/>
                </a:solidFill>
              </a:rPr>
              <a:t> </a:t>
            </a:r>
            <a:r>
              <a:rPr lang="en-US" sz="2400" b="1" u="sng" dirty="0" smtClean="0">
                <a:solidFill>
                  <a:schemeClr val="tx1"/>
                </a:solidFill>
                <a:latin typeface="+mj-lt"/>
              </a:rPr>
              <a:t>Tolerance and Variance Inflating Factor</a:t>
            </a:r>
          </a:p>
          <a:p>
            <a:pPr eaLnBrk="1" fontAlgn="auto" hangingPunct="1">
              <a:spcAft>
                <a:spcPts val="0"/>
              </a:spcAft>
              <a:buFont typeface="Wingdings 2"/>
              <a:buNone/>
              <a:defRPr/>
            </a:pPr>
            <a:r>
              <a:rPr lang="en-US" sz="2200" b="1" dirty="0" smtClean="0">
                <a:solidFill>
                  <a:schemeClr val="tx1"/>
                </a:solidFill>
              </a:rPr>
              <a:t> We have already introduced TOL and VIF. As      , the coefficient of </a:t>
            </a:r>
          </a:p>
          <a:p>
            <a:pPr eaLnBrk="1" fontAlgn="auto" hangingPunct="1">
              <a:spcAft>
                <a:spcPts val="0"/>
              </a:spcAft>
              <a:buFont typeface="Wingdings 2"/>
              <a:buNone/>
              <a:defRPr/>
            </a:pPr>
            <a:r>
              <a:rPr lang="en-US" sz="2200" b="1" dirty="0" smtClean="0">
                <a:solidFill>
                  <a:schemeClr val="tx1"/>
                </a:solidFill>
              </a:rPr>
              <a:t>determination of regressor      on the remaining regressors in the model, </a:t>
            </a:r>
          </a:p>
          <a:p>
            <a:pPr eaLnBrk="1" fontAlgn="auto" hangingPunct="1">
              <a:spcAft>
                <a:spcPts val="0"/>
              </a:spcAft>
              <a:buFont typeface="Wingdings 2"/>
              <a:buNone/>
              <a:defRPr/>
            </a:pPr>
            <a:r>
              <a:rPr lang="en-US" sz="2200" b="1" dirty="0" smtClean="0">
                <a:solidFill>
                  <a:schemeClr val="tx1"/>
                </a:solidFill>
              </a:rPr>
              <a:t>increases toward unity, that is as the collinearity of     with other </a:t>
            </a:r>
          </a:p>
          <a:p>
            <a:pPr eaLnBrk="1" fontAlgn="auto" hangingPunct="1">
              <a:spcAft>
                <a:spcPts val="0"/>
              </a:spcAft>
              <a:buFont typeface="Wingdings 2"/>
              <a:buNone/>
              <a:defRPr/>
            </a:pPr>
            <a:r>
              <a:rPr lang="en-US" sz="2200" b="1" dirty="0" smtClean="0">
                <a:solidFill>
                  <a:schemeClr val="tx1"/>
                </a:solidFill>
              </a:rPr>
              <a:t>regressors increases, VIF also increases and in the limit it can be infinite.</a:t>
            </a:r>
          </a:p>
          <a:p>
            <a:pPr eaLnBrk="1" fontAlgn="auto" hangingPunct="1">
              <a:spcAft>
                <a:spcPts val="0"/>
              </a:spcAft>
              <a:buFont typeface="Wingdings 2"/>
              <a:buNone/>
              <a:defRPr/>
            </a:pPr>
            <a:r>
              <a:rPr lang="en-US" sz="2200" b="1" dirty="0" smtClean="0">
                <a:solidFill>
                  <a:schemeClr val="tx1"/>
                </a:solidFill>
              </a:rPr>
              <a:t>Some authors therefore use the VIF as an indicator of multicollinearity. </a:t>
            </a:r>
          </a:p>
          <a:p>
            <a:pPr eaLnBrk="1" fontAlgn="auto" hangingPunct="1">
              <a:spcAft>
                <a:spcPts val="0"/>
              </a:spcAft>
              <a:buFont typeface="Wingdings 2"/>
              <a:buNone/>
              <a:defRPr/>
            </a:pPr>
            <a:r>
              <a:rPr lang="en-US" sz="2200" b="1" dirty="0" smtClean="0">
                <a:solidFill>
                  <a:schemeClr val="tx1"/>
                </a:solidFill>
              </a:rPr>
              <a:t>The larger the value of        , the more “troublesome” or collinear the </a:t>
            </a:r>
          </a:p>
          <a:p>
            <a:pPr eaLnBrk="1" fontAlgn="auto" hangingPunct="1">
              <a:spcAft>
                <a:spcPts val="0"/>
              </a:spcAft>
              <a:buFont typeface="Wingdings 2"/>
              <a:buNone/>
              <a:defRPr/>
            </a:pPr>
            <a:r>
              <a:rPr lang="en-US" sz="2200" b="1" dirty="0" smtClean="0">
                <a:solidFill>
                  <a:schemeClr val="tx1"/>
                </a:solidFill>
              </a:rPr>
              <a:t>variable     . As a rule of thumb, if the VIF of a variable exceeds 10, </a:t>
            </a:r>
          </a:p>
          <a:p>
            <a:pPr eaLnBrk="1" fontAlgn="auto" hangingPunct="1">
              <a:spcAft>
                <a:spcPts val="0"/>
              </a:spcAft>
              <a:buFont typeface="Wingdings 2"/>
              <a:buNone/>
              <a:defRPr/>
            </a:pPr>
            <a:r>
              <a:rPr lang="en-US" sz="2200" b="1" dirty="0" smtClean="0">
                <a:solidFill>
                  <a:schemeClr val="tx1"/>
                </a:solidFill>
              </a:rPr>
              <a:t>which will happen if       exceeds 0.90, that variable is said to be highly </a:t>
            </a:r>
          </a:p>
          <a:p>
            <a:pPr eaLnBrk="1" fontAlgn="auto" hangingPunct="1">
              <a:spcAft>
                <a:spcPts val="0"/>
              </a:spcAft>
              <a:buFont typeface="Wingdings 2"/>
              <a:buNone/>
              <a:defRPr/>
            </a:pPr>
            <a:r>
              <a:rPr lang="en-US" sz="2200" b="1" dirty="0" smtClean="0">
                <a:solidFill>
                  <a:schemeClr val="tx1"/>
                </a:solidFill>
              </a:rPr>
              <a:t>collinear.</a:t>
            </a:r>
          </a:p>
          <a:p>
            <a:pPr eaLnBrk="1" fontAlgn="auto" hangingPunct="1">
              <a:spcAft>
                <a:spcPts val="0"/>
              </a:spcAft>
              <a:buFont typeface="Wingdings 2"/>
              <a:buNone/>
              <a:defRPr/>
            </a:pPr>
            <a:r>
              <a:rPr lang="en-US" sz="2200" b="1" dirty="0" smtClean="0">
                <a:solidFill>
                  <a:schemeClr val="tx1"/>
                </a:solidFill>
              </a:rPr>
              <a:t>Also, one could use          as a measure of multicollinearity in view of its </a:t>
            </a:r>
          </a:p>
          <a:p>
            <a:pPr eaLnBrk="1" fontAlgn="auto" hangingPunct="1">
              <a:spcAft>
                <a:spcPts val="0"/>
              </a:spcAft>
              <a:buFont typeface="Wingdings 2"/>
              <a:buNone/>
              <a:defRPr/>
            </a:pPr>
            <a:r>
              <a:rPr lang="en-US" sz="2200" b="1" dirty="0" smtClean="0">
                <a:solidFill>
                  <a:schemeClr val="tx1"/>
                </a:solidFill>
              </a:rPr>
              <a:t>intimate connection with        . The closer is          to zero the greater the  </a:t>
            </a:r>
          </a:p>
          <a:p>
            <a:pPr eaLnBrk="1" fontAlgn="auto" hangingPunct="1">
              <a:spcAft>
                <a:spcPts val="0"/>
              </a:spcAft>
              <a:buFont typeface="Wingdings 2"/>
              <a:buNone/>
              <a:defRPr/>
            </a:pPr>
            <a:r>
              <a:rPr lang="en-US" sz="2200" b="1" dirty="0" smtClean="0">
                <a:solidFill>
                  <a:schemeClr val="tx1"/>
                </a:solidFill>
              </a:rPr>
              <a:t>greater the degree of collinearity of that variable with the other </a:t>
            </a:r>
          </a:p>
          <a:p>
            <a:pPr eaLnBrk="1" fontAlgn="auto" hangingPunct="1">
              <a:spcAft>
                <a:spcPts val="0"/>
              </a:spcAft>
              <a:buFont typeface="Wingdings 2"/>
              <a:buNone/>
              <a:defRPr/>
            </a:pPr>
            <a:r>
              <a:rPr lang="en-US" sz="2200" b="1" dirty="0" smtClean="0">
                <a:solidFill>
                  <a:schemeClr val="tx1"/>
                </a:solidFill>
              </a:rPr>
              <a:t>regressors.    </a:t>
            </a:r>
          </a:p>
          <a:p>
            <a:pPr eaLnBrk="1" fontAlgn="auto" hangingPunct="1">
              <a:spcAft>
                <a:spcPts val="0"/>
              </a:spcAft>
              <a:buFont typeface="Wingdings 2"/>
              <a:buNone/>
              <a:defRPr/>
            </a:pPr>
            <a:r>
              <a:rPr lang="en-US" sz="2200" b="1" dirty="0" smtClean="0">
                <a:solidFill>
                  <a:schemeClr val="tx1"/>
                </a:solidFill>
              </a:rPr>
              <a:t>              </a:t>
            </a:r>
          </a:p>
          <a:p>
            <a:pPr eaLnBrk="1" fontAlgn="auto" hangingPunct="1">
              <a:spcAft>
                <a:spcPts val="0"/>
              </a:spcAft>
              <a:buFont typeface="Wingdings 2"/>
              <a:buNone/>
              <a:defRPr/>
            </a:pPr>
            <a:endParaRPr lang="en-US" sz="2200" b="1" dirty="0">
              <a:solidFill>
                <a:schemeClr val="tx1"/>
              </a:solidFill>
            </a:endParaRPr>
          </a:p>
        </p:txBody>
      </p:sp>
      <p:pic>
        <p:nvPicPr>
          <p:cNvPr id="45059" name="Picture 5"/>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5562600" y="1524000"/>
            <a:ext cx="276225" cy="400050"/>
          </a:xfrm>
          <a:prstGeom prst="rect">
            <a:avLst/>
          </a:prstGeom>
          <a:noFill/>
          <a:ln w="9525">
            <a:noFill/>
            <a:miter lim="800000"/>
            <a:headEnd/>
            <a:tailEnd/>
          </a:ln>
        </p:spPr>
      </p:pic>
      <p:sp>
        <p:nvSpPr>
          <p:cNvPr id="45060"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45061"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3505200" y="1905000"/>
            <a:ext cx="238125" cy="371475"/>
          </a:xfrm>
          <a:prstGeom prst="rect">
            <a:avLst/>
          </a:prstGeom>
          <a:noFill/>
          <a:ln w="9525">
            <a:noFill/>
            <a:miter lim="800000"/>
            <a:headEnd/>
            <a:tailEnd/>
          </a:ln>
        </p:spPr>
      </p:pic>
      <p:sp>
        <p:nvSpPr>
          <p:cNvPr id="45062"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45063"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6248400" y="2286000"/>
            <a:ext cx="238125" cy="371475"/>
          </a:xfrm>
          <a:prstGeom prst="rect">
            <a:avLst/>
          </a:prstGeom>
          <a:noFill/>
          <a:ln w="9525">
            <a:noFill/>
            <a:miter lim="800000"/>
            <a:headEnd/>
            <a:tailEnd/>
          </a:ln>
        </p:spPr>
      </p:pic>
      <p:sp>
        <p:nvSpPr>
          <p:cNvPr id="45064"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45065"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2971800" y="3429000"/>
            <a:ext cx="438150" cy="381000"/>
          </a:xfrm>
          <a:prstGeom prst="rect">
            <a:avLst/>
          </a:prstGeom>
          <a:noFill/>
          <a:ln w="9525">
            <a:noFill/>
            <a:miter lim="800000"/>
            <a:headEnd/>
            <a:tailEnd/>
          </a:ln>
        </p:spPr>
      </p:pic>
      <p:pic>
        <p:nvPicPr>
          <p:cNvPr id="45066"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295400" y="3733800"/>
            <a:ext cx="238125" cy="371475"/>
          </a:xfrm>
          <a:prstGeom prst="rect">
            <a:avLst/>
          </a:prstGeom>
          <a:noFill/>
          <a:ln w="9525">
            <a:noFill/>
            <a:miter lim="800000"/>
            <a:headEnd/>
            <a:tailEnd/>
          </a:ln>
        </p:spPr>
      </p:pic>
      <p:pic>
        <p:nvPicPr>
          <p:cNvPr id="45067" name="Picture 5"/>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667000" y="4114800"/>
            <a:ext cx="276225" cy="400050"/>
          </a:xfrm>
          <a:prstGeom prst="rect">
            <a:avLst/>
          </a:prstGeom>
          <a:noFill/>
          <a:ln w="9525">
            <a:noFill/>
            <a:miter lim="800000"/>
            <a:headEnd/>
            <a:tailEnd/>
          </a:ln>
        </p:spPr>
      </p:pic>
      <p:sp>
        <p:nvSpPr>
          <p:cNvPr id="45068"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45069" name="Picture 7"/>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2590800" y="4876800"/>
            <a:ext cx="533400" cy="371475"/>
          </a:xfrm>
          <a:prstGeom prst="rect">
            <a:avLst/>
          </a:prstGeom>
          <a:noFill/>
          <a:ln w="9525">
            <a:noFill/>
            <a:miter lim="800000"/>
            <a:headEnd/>
            <a:tailEnd/>
          </a:ln>
        </p:spPr>
      </p:pic>
      <p:pic>
        <p:nvPicPr>
          <p:cNvPr id="45070"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3276600" y="5257800"/>
            <a:ext cx="438150" cy="381000"/>
          </a:xfrm>
          <a:prstGeom prst="rect">
            <a:avLst/>
          </a:prstGeom>
          <a:noFill/>
          <a:ln w="9525">
            <a:noFill/>
            <a:miter lim="800000"/>
            <a:headEnd/>
            <a:tailEnd/>
          </a:ln>
        </p:spPr>
      </p:pic>
      <p:pic>
        <p:nvPicPr>
          <p:cNvPr id="45071" name="Picture 7"/>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5410200" y="5257800"/>
            <a:ext cx="533400" cy="371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p:cNvSpPr>
            <a:spLocks noGrp="1"/>
          </p:cNvSpPr>
          <p:nvPr>
            <p:ph idx="1"/>
          </p:nvPr>
        </p:nvSpPr>
        <p:spPr>
          <a:xfrm>
            <a:off x="152400" y="1219200"/>
            <a:ext cx="8763000" cy="5486400"/>
          </a:xfrm>
        </p:spPr>
        <p:txBody>
          <a:bodyPr/>
          <a:lstStyle/>
          <a:p>
            <a:pPr eaLnBrk="1" hangingPunct="1">
              <a:buFont typeface="Wingdings 2" pitchFamily="18" charset="2"/>
              <a:buNone/>
            </a:pPr>
            <a:r>
              <a:rPr lang="en-US" sz="2200" b="1" smtClean="0">
                <a:solidFill>
                  <a:schemeClr val="tx1"/>
                </a:solidFill>
              </a:rPr>
              <a:t>On the other hand, the closer           is to 1., the greater evidence that      </a:t>
            </a:r>
          </a:p>
          <a:p>
            <a:pPr eaLnBrk="1" hangingPunct="1">
              <a:buFont typeface="Wingdings 2" pitchFamily="18" charset="2"/>
              <a:buNone/>
            </a:pPr>
            <a:r>
              <a:rPr lang="en-US" sz="2200" b="1" smtClean="0">
                <a:solidFill>
                  <a:schemeClr val="tx1"/>
                </a:solidFill>
              </a:rPr>
              <a:t>is not collinear with the other regressors.</a:t>
            </a:r>
          </a:p>
          <a:p>
            <a:pPr eaLnBrk="1" hangingPunct="1">
              <a:buFont typeface="Wingdings 2" pitchFamily="18" charset="2"/>
              <a:buNone/>
            </a:pPr>
            <a:r>
              <a:rPr lang="en-US" sz="2200" b="1" smtClean="0">
                <a:solidFill>
                  <a:schemeClr val="tx1"/>
                </a:solidFill>
              </a:rPr>
              <a:t>VIF as a measure of collinearity is not free of criticism. A VIF neither be </a:t>
            </a:r>
          </a:p>
          <a:p>
            <a:pPr eaLnBrk="1" hangingPunct="1">
              <a:buFont typeface="Wingdings 2" pitchFamily="18" charset="2"/>
              <a:buNone/>
            </a:pPr>
            <a:r>
              <a:rPr lang="en-US" sz="2200" b="1" smtClean="0">
                <a:solidFill>
                  <a:schemeClr val="tx1"/>
                </a:solidFill>
              </a:rPr>
              <a:t>sufficient to get high variances and high standard errors. Therefore, high </a:t>
            </a:r>
          </a:p>
          <a:p>
            <a:pPr eaLnBrk="1" hangingPunct="1">
              <a:buFont typeface="Wingdings 2" pitchFamily="18" charset="2"/>
              <a:buNone/>
            </a:pPr>
            <a:r>
              <a:rPr lang="en-US" sz="2200" b="1" smtClean="0">
                <a:solidFill>
                  <a:schemeClr val="tx1"/>
                </a:solidFill>
              </a:rPr>
              <a:t>multicollinearity, as measured by a high VIF, may not necessarily </a:t>
            </a:r>
          </a:p>
          <a:p>
            <a:pPr eaLnBrk="1" hangingPunct="1">
              <a:buFont typeface="Wingdings 2" pitchFamily="18" charset="2"/>
              <a:buNone/>
            </a:pPr>
            <a:r>
              <a:rPr lang="en-US" sz="2200" b="1" smtClean="0">
                <a:solidFill>
                  <a:schemeClr val="tx1"/>
                </a:solidFill>
              </a:rPr>
              <a:t>cause high standard errors.    </a:t>
            </a:r>
          </a:p>
        </p:txBody>
      </p:sp>
      <p:pic>
        <p:nvPicPr>
          <p:cNvPr id="46083" name="Picture 7"/>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810000" y="1295400"/>
            <a:ext cx="533400" cy="371475"/>
          </a:xfrm>
          <a:prstGeom prst="rect">
            <a:avLst/>
          </a:prstGeom>
          <a:noFill/>
          <a:ln w="9525">
            <a:noFill/>
            <a:miter lim="800000"/>
            <a:headEnd/>
            <a:tailEnd/>
          </a:ln>
        </p:spPr>
      </p:pic>
      <p:pic>
        <p:nvPicPr>
          <p:cNvPr id="46084"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8458200" y="1295400"/>
            <a:ext cx="238125" cy="371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43000"/>
            <a:ext cx="8839200" cy="5562600"/>
          </a:xfrm>
        </p:spPr>
        <p:txBody>
          <a:bodyPr>
            <a:normAutofit/>
          </a:bodyPr>
          <a:lstStyle/>
          <a:p>
            <a:pPr eaLnBrk="1" fontAlgn="auto" hangingPunct="1">
              <a:spcAft>
                <a:spcPts val="0"/>
              </a:spcAft>
              <a:buClrTx/>
              <a:buFont typeface="Wingdings" pitchFamily="2" charset="2"/>
              <a:buChar char="Ø"/>
              <a:defRPr/>
            </a:pPr>
            <a:r>
              <a:rPr lang="en-US" sz="2200" b="1" dirty="0" smtClean="0">
                <a:solidFill>
                  <a:schemeClr val="tx1"/>
                </a:solidFill>
              </a:rPr>
              <a:t> </a:t>
            </a:r>
            <a:r>
              <a:rPr lang="en-US" sz="2400" b="1" u="sng" dirty="0" smtClean="0">
                <a:solidFill>
                  <a:schemeClr val="tx1"/>
                </a:solidFill>
                <a:latin typeface="+mj-lt"/>
              </a:rPr>
              <a:t>Variable Matrix</a:t>
            </a:r>
          </a:p>
          <a:p>
            <a:pPr eaLnBrk="1" fontAlgn="auto" hangingPunct="1">
              <a:spcAft>
                <a:spcPts val="0"/>
              </a:spcAft>
              <a:buClrTx/>
              <a:buFont typeface="Wingdings 2"/>
              <a:buNone/>
              <a:defRPr/>
            </a:pPr>
            <a:r>
              <a:rPr lang="en-US" sz="2200" b="1" dirty="0" smtClean="0">
                <a:solidFill>
                  <a:schemeClr val="tx1"/>
                </a:solidFill>
              </a:rPr>
              <a:t>Standard form of Matrix:</a:t>
            </a:r>
          </a:p>
          <a:p>
            <a:pPr eaLnBrk="1" fontAlgn="auto" hangingPunct="1">
              <a:spcAft>
                <a:spcPts val="0"/>
              </a:spcAft>
              <a:buClrTx/>
              <a:buFont typeface="Wingdings 2"/>
              <a:buNone/>
              <a:defRPr/>
            </a:pPr>
            <a:endParaRPr lang="en-US" sz="2200" b="1" dirty="0" smtClean="0">
              <a:solidFill>
                <a:schemeClr val="tx1"/>
              </a:solidFill>
            </a:endParaRPr>
          </a:p>
          <a:p>
            <a:pPr eaLnBrk="1" fontAlgn="auto" hangingPunct="1">
              <a:spcAft>
                <a:spcPts val="0"/>
              </a:spcAft>
              <a:buClrTx/>
              <a:buFont typeface="Wingdings 2"/>
              <a:buNone/>
              <a:defRPr/>
            </a:pPr>
            <a:endParaRPr lang="en-US" sz="2200" b="1" dirty="0" smtClean="0">
              <a:solidFill>
                <a:schemeClr val="tx1"/>
              </a:solidFill>
            </a:endParaRPr>
          </a:p>
          <a:p>
            <a:pPr eaLnBrk="1" fontAlgn="auto" hangingPunct="1">
              <a:spcAft>
                <a:spcPts val="0"/>
              </a:spcAft>
              <a:buClrTx/>
              <a:buFont typeface="Wingdings 2"/>
              <a:buNone/>
              <a:defRPr/>
            </a:pPr>
            <a:endParaRPr lang="en-US" sz="2200" b="1" dirty="0" smtClean="0">
              <a:solidFill>
                <a:schemeClr val="tx1"/>
              </a:solidFill>
            </a:endParaRPr>
          </a:p>
          <a:p>
            <a:pPr eaLnBrk="1" fontAlgn="auto" hangingPunct="1">
              <a:spcAft>
                <a:spcPts val="0"/>
              </a:spcAft>
              <a:buClrTx/>
              <a:buFont typeface="Wingdings 2"/>
              <a:buNone/>
              <a:defRPr/>
            </a:pPr>
            <a:r>
              <a:rPr lang="en-US" sz="2200" b="1" dirty="0" smtClean="0">
                <a:solidFill>
                  <a:schemeClr val="tx1"/>
                </a:solidFill>
              </a:rPr>
              <a:t>The standardized determinants of denominators of the least squares </a:t>
            </a:r>
          </a:p>
          <a:p>
            <a:pPr eaLnBrk="1" fontAlgn="auto" hangingPunct="1">
              <a:spcAft>
                <a:spcPts val="0"/>
              </a:spcAft>
              <a:buClrTx/>
              <a:buFont typeface="Wingdings 2"/>
              <a:buNone/>
              <a:defRPr/>
            </a:pPr>
            <a:r>
              <a:rPr lang="en-US" sz="2200" b="1" dirty="0" smtClean="0">
                <a:solidFill>
                  <a:schemeClr val="tx1"/>
                </a:solidFill>
              </a:rPr>
              <a:t>estimates may be written in a slightly different form bearing in mind that </a:t>
            </a:r>
          </a:p>
          <a:p>
            <a:pPr eaLnBrk="1" fontAlgn="auto" hangingPunct="1">
              <a:spcAft>
                <a:spcPts val="0"/>
              </a:spcAft>
              <a:buClrTx/>
              <a:buFont typeface="Wingdings 2"/>
              <a:buNone/>
              <a:defRPr/>
            </a:pPr>
            <a:r>
              <a:rPr lang="en-US" sz="2200" b="1" dirty="0" smtClean="0">
                <a:solidFill>
                  <a:schemeClr val="tx1"/>
                </a:solidFill>
              </a:rPr>
              <a:t>the main diagonal elements are equal to unity and the off-diagonal </a:t>
            </a:r>
          </a:p>
          <a:p>
            <a:pPr eaLnBrk="1" fontAlgn="auto" hangingPunct="1">
              <a:spcAft>
                <a:spcPts val="0"/>
              </a:spcAft>
              <a:buClrTx/>
              <a:buFont typeface="Wingdings 2"/>
              <a:buNone/>
              <a:defRPr/>
            </a:pPr>
            <a:r>
              <a:rPr lang="en-US" sz="2200" b="1" dirty="0" smtClean="0">
                <a:solidFill>
                  <a:schemeClr val="tx1"/>
                </a:solidFill>
              </a:rPr>
              <a:t>elements are the simple correlation coefficients among the explanatory </a:t>
            </a:r>
          </a:p>
          <a:p>
            <a:pPr eaLnBrk="1" fontAlgn="auto" hangingPunct="1">
              <a:spcAft>
                <a:spcPts val="0"/>
              </a:spcAft>
              <a:buClrTx/>
              <a:buFont typeface="Wingdings 2"/>
              <a:buNone/>
              <a:defRPr/>
            </a:pPr>
            <a:r>
              <a:rPr lang="en-US" sz="2200" b="1" dirty="0" smtClean="0">
                <a:solidFill>
                  <a:schemeClr val="tx1"/>
                </a:solidFill>
              </a:rPr>
              <a:t>variables. Thus the standardized determinants are called </a:t>
            </a:r>
            <a:r>
              <a:rPr lang="en-US" sz="2200" b="1" dirty="0" smtClean="0">
                <a:solidFill>
                  <a:schemeClr val="tx1"/>
                </a:solidFill>
                <a:latin typeface="+mj-lt"/>
              </a:rPr>
              <a:t>correlation </a:t>
            </a:r>
          </a:p>
          <a:p>
            <a:pPr eaLnBrk="1" fontAlgn="auto" hangingPunct="1">
              <a:spcAft>
                <a:spcPts val="0"/>
              </a:spcAft>
              <a:buClrTx/>
              <a:buFont typeface="Wingdings 2"/>
              <a:buNone/>
              <a:defRPr/>
            </a:pPr>
            <a:r>
              <a:rPr lang="en-US" sz="2200" b="1" dirty="0" smtClean="0">
                <a:solidFill>
                  <a:schemeClr val="tx1"/>
                </a:solidFill>
                <a:latin typeface="+mj-lt"/>
              </a:rPr>
              <a:t>determinants.</a:t>
            </a:r>
            <a:r>
              <a:rPr lang="en-US" sz="2200" b="1" dirty="0" smtClean="0">
                <a:solidFill>
                  <a:schemeClr val="tx1"/>
                </a:solidFill>
              </a:rPr>
              <a:t> In tree variable case the standardized determinants is</a:t>
            </a:r>
          </a:p>
          <a:p>
            <a:pPr eaLnBrk="1" fontAlgn="auto" hangingPunct="1">
              <a:spcAft>
                <a:spcPts val="0"/>
              </a:spcAft>
              <a:buClrTx/>
              <a:buFont typeface="Wingdings 2"/>
              <a:buNone/>
              <a:defRPr/>
            </a:pPr>
            <a:endParaRPr lang="en-US" sz="2200" b="1" dirty="0" smtClean="0">
              <a:solidFill>
                <a:schemeClr val="tx1"/>
              </a:solidFill>
            </a:endParaRPr>
          </a:p>
          <a:p>
            <a:pPr eaLnBrk="1" fontAlgn="auto" hangingPunct="1">
              <a:spcAft>
                <a:spcPts val="0"/>
              </a:spcAft>
              <a:buClrTx/>
              <a:buFont typeface="Wingdings 2"/>
              <a:buNone/>
              <a:defRPr/>
            </a:pPr>
            <a:endParaRPr lang="en-US" sz="2200" b="1" dirty="0" smtClean="0">
              <a:solidFill>
                <a:schemeClr val="tx1"/>
              </a:solidFill>
            </a:endParaRPr>
          </a:p>
          <a:p>
            <a:pPr eaLnBrk="1" fontAlgn="auto" hangingPunct="1">
              <a:spcAft>
                <a:spcPts val="0"/>
              </a:spcAft>
              <a:buClrTx/>
              <a:buFont typeface="Wingdings 2"/>
              <a:buNone/>
              <a:defRPr/>
            </a:pPr>
            <a:endParaRPr lang="en-US" sz="2200" b="1" dirty="0" smtClean="0">
              <a:solidFill>
                <a:schemeClr val="tx1"/>
              </a:solidFill>
            </a:endParaRPr>
          </a:p>
          <a:p>
            <a:pPr eaLnBrk="1" fontAlgn="auto" hangingPunct="1">
              <a:spcAft>
                <a:spcPts val="0"/>
              </a:spcAft>
              <a:buClrTx/>
              <a:buFont typeface="Wingdings 2"/>
              <a:buNone/>
              <a:defRPr/>
            </a:pPr>
            <a:endParaRPr lang="en-US" sz="2200" b="1" dirty="0" smtClean="0">
              <a:solidFill>
                <a:schemeClr val="tx1"/>
              </a:solidFill>
            </a:endParaRPr>
          </a:p>
        </p:txBody>
      </p:sp>
      <p:sp>
        <p:nvSpPr>
          <p:cNvPr id="47108" name="Rectangle 3"/>
          <p:cNvSpPr>
            <a:spLocks noChangeArrowheads="1"/>
          </p:cNvSpPr>
          <p:nvPr/>
        </p:nvSpPr>
        <p:spPr bwMode="auto">
          <a:xfrm>
            <a:off x="0" y="1371600"/>
            <a:ext cx="9144000" cy="0"/>
          </a:xfrm>
          <a:prstGeom prst="rect">
            <a:avLst/>
          </a:prstGeom>
          <a:noFill/>
          <a:ln w="9525">
            <a:noFill/>
            <a:miter lim="800000"/>
            <a:headEnd/>
            <a:tailEnd/>
          </a:ln>
        </p:spPr>
        <p:txBody>
          <a:bodyPr wrap="none" anchor="ctr">
            <a:spAutoFit/>
          </a:bodyPr>
          <a:lstStyle/>
          <a:p>
            <a:endParaRPr lang="en-US"/>
          </a:p>
        </p:txBody>
      </p:sp>
      <p:sp>
        <p:nvSpPr>
          <p:cNvPr id="47109"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sp>
        <p:nvSpPr>
          <p:cNvPr id="47111" name="Rectangle 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sp>
        <p:nvSpPr>
          <p:cNvPr id="47112" name="Rectangle 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sp>
        <p:nvSpPr>
          <p:cNvPr id="4711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17"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19"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7118" name="Picture 14"/>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514600" y="2057400"/>
            <a:ext cx="2514600" cy="914400"/>
          </a:xfrm>
          <a:prstGeom prst="rect">
            <a:avLst/>
          </a:prstGeom>
          <a:noFill/>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2"/>
          <p:cNvSpPr>
            <a:spLocks noGrp="1"/>
          </p:cNvSpPr>
          <p:nvPr>
            <p:ph idx="1"/>
          </p:nvPr>
        </p:nvSpPr>
        <p:spPr>
          <a:xfrm>
            <a:off x="76200" y="1143000"/>
            <a:ext cx="8915400" cy="5638800"/>
          </a:xfrm>
        </p:spPr>
        <p:txBody>
          <a:bodyPr/>
          <a:lstStyle/>
          <a:p>
            <a:pPr eaLnBrk="1" hangingPunct="1">
              <a:buFont typeface="Wingdings 2" pitchFamily="18" charset="2"/>
              <a:buNone/>
            </a:pPr>
            <a:r>
              <a:rPr lang="en-US" sz="2200" b="1" dirty="0" smtClean="0">
                <a:solidFill>
                  <a:schemeClr val="tx1"/>
                </a:solidFill>
              </a:rPr>
              <a:t>From these forms we can easily examine the two extreme cases of </a:t>
            </a:r>
          </a:p>
          <a:p>
            <a:pPr eaLnBrk="1" hangingPunct="1">
              <a:buFont typeface="Wingdings 2" pitchFamily="18" charset="2"/>
              <a:buNone/>
            </a:pPr>
            <a:r>
              <a:rPr lang="en-US" sz="2200" b="1" dirty="0" smtClean="0">
                <a:solidFill>
                  <a:schemeClr val="tx1"/>
                </a:solidFill>
              </a:rPr>
              <a:t>orthogonality and of perfect multicollinearity.</a:t>
            </a:r>
          </a:p>
          <a:p>
            <a:pPr eaLnBrk="1" hangingPunct="1">
              <a:buFont typeface="Wingdings 2" pitchFamily="18" charset="2"/>
              <a:buNone/>
            </a:pPr>
            <a:r>
              <a:rPr lang="en-US" sz="2200" b="1" dirty="0" smtClean="0">
                <a:solidFill>
                  <a:schemeClr val="tx1"/>
                </a:solidFill>
              </a:rPr>
              <a:t>In case of perfect multicollinearity the simple correlation coefficients are </a:t>
            </a:r>
          </a:p>
          <a:p>
            <a:pPr eaLnBrk="1" hangingPunct="1">
              <a:buFont typeface="Wingdings 2" pitchFamily="18" charset="2"/>
              <a:buNone/>
            </a:pPr>
            <a:r>
              <a:rPr lang="en-US" sz="2200" b="1" dirty="0" smtClean="0">
                <a:solidFill>
                  <a:schemeClr val="tx1"/>
                </a:solidFill>
              </a:rPr>
              <a:t>equal to unity and hence the value of the standardized determinant is </a:t>
            </a:r>
          </a:p>
          <a:p>
            <a:pPr eaLnBrk="1" hangingPunct="1">
              <a:buFont typeface="Wingdings 2" pitchFamily="18" charset="2"/>
              <a:buNone/>
            </a:pPr>
            <a:r>
              <a:rPr lang="en-US" sz="2200" b="1" dirty="0" smtClean="0">
                <a:solidFill>
                  <a:schemeClr val="tx1"/>
                </a:solidFill>
              </a:rPr>
              <a:t>equal to zero.</a:t>
            </a: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a:p>
            <a:pPr eaLnBrk="1" hangingPunct="1">
              <a:buFont typeface="Wingdings 2" pitchFamily="18" charset="2"/>
              <a:buNone/>
            </a:pPr>
            <a:endParaRPr lang="en-US" sz="2200" b="1" dirty="0" smtClean="0">
              <a:solidFill>
                <a:schemeClr val="tx1"/>
              </a:solidFill>
            </a:endParaRPr>
          </a:p>
        </p:txBody>
      </p:sp>
      <p:sp>
        <p:nvSpPr>
          <p:cNvPr id="48131"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48132"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057400" y="3124200"/>
            <a:ext cx="3524250" cy="914400"/>
          </a:xfrm>
          <a:prstGeom prst="rect">
            <a:avLst/>
          </a:prstGeom>
          <a:noFill/>
          <a:ln w="9525">
            <a:noFill/>
            <a:miter lim="800000"/>
            <a:headEnd/>
            <a:tailEnd/>
          </a:ln>
        </p:spPr>
      </p:pic>
      <p:sp>
        <p:nvSpPr>
          <p:cNvPr id="48133" name="Rectangle 3"/>
          <p:cNvSpPr>
            <a:spLocks noChangeArrowheads="1"/>
          </p:cNvSpPr>
          <p:nvPr/>
        </p:nvSpPr>
        <p:spPr bwMode="auto">
          <a:xfrm>
            <a:off x="0" y="1371600"/>
            <a:ext cx="9144000" cy="0"/>
          </a:xfrm>
          <a:prstGeom prst="rect">
            <a:avLst/>
          </a:prstGeom>
          <a:noFill/>
          <a:ln w="9525">
            <a:noFill/>
            <a:miter lim="800000"/>
            <a:headEnd/>
            <a:tailEnd/>
          </a:ln>
        </p:spPr>
        <p:txBody>
          <a:bodyPr wrap="none" anchor="ctr">
            <a:spAutoFit/>
          </a:bodyPr>
          <a:lstStyle/>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143000"/>
            <a:ext cx="8915400" cy="5562600"/>
          </a:xfrm>
        </p:spPr>
        <p:txBody>
          <a:bodyPr>
            <a:normAutofit/>
          </a:bodyPr>
          <a:lstStyle/>
          <a:p>
            <a:pPr eaLnBrk="1" fontAlgn="auto" hangingPunct="1">
              <a:spcAft>
                <a:spcPts val="0"/>
              </a:spcAft>
              <a:buClrTx/>
              <a:buFont typeface="Wingdings" pitchFamily="2" charset="2"/>
              <a:buChar char="Ø"/>
              <a:defRPr/>
            </a:pPr>
            <a:r>
              <a:rPr lang="en-US" sz="2400" b="1" u="sng" dirty="0" smtClean="0">
                <a:solidFill>
                  <a:schemeClr val="tx1"/>
                </a:solidFill>
                <a:latin typeface="+mj-lt"/>
              </a:rPr>
              <a:t>Examination of partial correlations</a:t>
            </a:r>
            <a:endParaRPr lang="en-US" sz="2400" b="1" u="sng" dirty="0">
              <a:solidFill>
                <a:schemeClr val="tx1"/>
              </a:solidFill>
              <a:latin typeface="+mj-lt"/>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143000"/>
            <a:ext cx="8915400" cy="5562600"/>
          </a:xfrm>
        </p:spPr>
        <p:txBody>
          <a:bodyPr>
            <a:normAutofit/>
          </a:bodyPr>
          <a:lstStyle/>
          <a:p>
            <a:pPr eaLnBrk="1" fontAlgn="auto" hangingPunct="1">
              <a:spcAft>
                <a:spcPts val="0"/>
              </a:spcAft>
              <a:buClrTx/>
              <a:buFont typeface="Wingdings" pitchFamily="2" charset="2"/>
              <a:buChar char="Ø"/>
              <a:defRPr/>
            </a:pPr>
            <a:r>
              <a:rPr lang="en-US" sz="2400" b="1" u="sng" dirty="0" smtClean="0">
                <a:solidFill>
                  <a:schemeClr val="tx1"/>
                </a:solidFill>
                <a:latin typeface="+mj-lt"/>
              </a:rPr>
              <a:t>Eigenvalues and Condition Index</a:t>
            </a:r>
          </a:p>
          <a:p>
            <a:pPr eaLnBrk="1" fontAlgn="auto" hangingPunct="1">
              <a:spcAft>
                <a:spcPts val="0"/>
              </a:spcAft>
              <a:buClrTx/>
              <a:buFont typeface="Wingdings 2"/>
              <a:buNone/>
              <a:defRPr/>
            </a:pPr>
            <a:r>
              <a:rPr lang="en-US" sz="2200" b="1" dirty="0" smtClean="0">
                <a:solidFill>
                  <a:schemeClr val="tx1"/>
                </a:solidFill>
              </a:rPr>
              <a:t>We can derive what is known as the </a:t>
            </a:r>
            <a:r>
              <a:rPr lang="en-US" sz="2200" b="1" dirty="0" smtClean="0">
                <a:solidFill>
                  <a:schemeClr val="tx1"/>
                </a:solidFill>
                <a:latin typeface="+mj-lt"/>
              </a:rPr>
              <a:t>condition number </a:t>
            </a:r>
            <a:r>
              <a:rPr lang="en-US" sz="2200" b="1" i="1" dirty="0" smtClean="0">
                <a:solidFill>
                  <a:schemeClr val="tx1"/>
                </a:solidFill>
                <a:latin typeface="+mj-lt"/>
              </a:rPr>
              <a:t>k </a:t>
            </a:r>
            <a:r>
              <a:rPr lang="en-US" sz="2200" b="1" dirty="0" smtClean="0">
                <a:solidFill>
                  <a:schemeClr val="tx1"/>
                </a:solidFill>
                <a:latin typeface="+mj-lt"/>
              </a:rPr>
              <a:t> </a:t>
            </a:r>
            <a:r>
              <a:rPr lang="en-US" sz="2200" b="1" dirty="0" smtClean="0">
                <a:solidFill>
                  <a:schemeClr val="tx1"/>
                </a:solidFill>
              </a:rPr>
              <a:t>defined as :</a:t>
            </a:r>
          </a:p>
          <a:p>
            <a:pPr eaLnBrk="1" fontAlgn="auto" hangingPunct="1">
              <a:spcAft>
                <a:spcPts val="0"/>
              </a:spcAft>
              <a:buClrTx/>
              <a:buFont typeface="Wingdings 2"/>
              <a:buNone/>
              <a:defRPr/>
            </a:pPr>
            <a:endParaRPr lang="en-US" sz="2200" b="1" dirty="0" smtClean="0">
              <a:solidFill>
                <a:schemeClr val="tx1"/>
              </a:solidFill>
            </a:endParaRPr>
          </a:p>
          <a:p>
            <a:pPr eaLnBrk="1" fontAlgn="auto" hangingPunct="1">
              <a:spcAft>
                <a:spcPts val="0"/>
              </a:spcAft>
              <a:buClrTx/>
              <a:buFont typeface="Wingdings 2"/>
              <a:buNone/>
              <a:defRPr/>
            </a:pPr>
            <a:endParaRPr lang="en-US" sz="2200" b="1" dirty="0" smtClean="0">
              <a:solidFill>
                <a:schemeClr val="tx1"/>
              </a:solidFill>
            </a:endParaRPr>
          </a:p>
          <a:p>
            <a:pPr eaLnBrk="1" fontAlgn="auto" hangingPunct="1">
              <a:spcAft>
                <a:spcPts val="0"/>
              </a:spcAft>
              <a:buClrTx/>
              <a:buFont typeface="Wingdings 2"/>
              <a:buNone/>
              <a:defRPr/>
            </a:pPr>
            <a:endParaRPr lang="en-US" sz="2200" b="1" dirty="0" smtClean="0">
              <a:solidFill>
                <a:schemeClr val="tx1"/>
              </a:solidFill>
            </a:endParaRPr>
          </a:p>
          <a:p>
            <a:pPr eaLnBrk="1" fontAlgn="auto" hangingPunct="1">
              <a:spcAft>
                <a:spcPts val="0"/>
              </a:spcAft>
              <a:buClrTx/>
              <a:buFont typeface="Wingdings 2"/>
              <a:buNone/>
              <a:defRPr/>
            </a:pPr>
            <a:r>
              <a:rPr lang="en-US" sz="2200" b="1" dirty="0" smtClean="0">
                <a:solidFill>
                  <a:schemeClr val="tx1"/>
                </a:solidFill>
              </a:rPr>
              <a:t>And the condition index (CI) defined as </a:t>
            </a:r>
          </a:p>
          <a:p>
            <a:pPr eaLnBrk="1" fontAlgn="auto" hangingPunct="1">
              <a:spcAft>
                <a:spcPts val="0"/>
              </a:spcAft>
              <a:buClrTx/>
              <a:buFont typeface="Wingdings 2"/>
              <a:buNone/>
              <a:defRPr/>
            </a:pPr>
            <a:endParaRPr lang="en-US" sz="2200" b="1" dirty="0" smtClean="0">
              <a:solidFill>
                <a:schemeClr val="tx1"/>
              </a:solidFill>
            </a:endParaRPr>
          </a:p>
          <a:p>
            <a:pPr eaLnBrk="1" fontAlgn="auto" hangingPunct="1">
              <a:spcAft>
                <a:spcPts val="0"/>
              </a:spcAft>
              <a:buClrTx/>
              <a:buFont typeface="Wingdings 2"/>
              <a:buNone/>
              <a:defRPr/>
            </a:pPr>
            <a:endParaRPr lang="en-US" sz="2200" b="1" dirty="0" smtClean="0">
              <a:solidFill>
                <a:schemeClr val="tx1"/>
              </a:solidFill>
            </a:endParaRPr>
          </a:p>
          <a:p>
            <a:pPr eaLnBrk="1" fontAlgn="auto" hangingPunct="1">
              <a:spcAft>
                <a:spcPts val="0"/>
              </a:spcAft>
              <a:buClrTx/>
              <a:buFont typeface="Wingdings 2"/>
              <a:buNone/>
              <a:defRPr/>
            </a:pPr>
            <a:endParaRPr lang="en-US" sz="2200" b="1" dirty="0" smtClean="0">
              <a:solidFill>
                <a:schemeClr val="tx1"/>
              </a:solidFill>
            </a:endParaRPr>
          </a:p>
          <a:p>
            <a:pPr eaLnBrk="1" fontAlgn="auto" hangingPunct="1">
              <a:spcAft>
                <a:spcPts val="0"/>
              </a:spcAft>
              <a:buClrTx/>
              <a:buFont typeface="Wingdings 2"/>
              <a:buNone/>
              <a:defRPr/>
            </a:pPr>
            <a:endParaRPr lang="en-US" sz="2200" b="1" dirty="0" smtClean="0">
              <a:solidFill>
                <a:schemeClr val="tx1"/>
              </a:solidFill>
            </a:endParaRPr>
          </a:p>
          <a:p>
            <a:pPr eaLnBrk="1" fontAlgn="auto" hangingPunct="1">
              <a:spcAft>
                <a:spcPts val="0"/>
              </a:spcAft>
              <a:buClrTx/>
              <a:buFont typeface="Wingdings 2"/>
              <a:buNone/>
              <a:defRPr/>
            </a:pPr>
            <a:r>
              <a:rPr lang="en-US" sz="2200" b="1" dirty="0" smtClean="0">
                <a:solidFill>
                  <a:schemeClr val="tx1"/>
                </a:solidFill>
              </a:rPr>
              <a:t>Then we have this rule of thumb: If </a:t>
            </a:r>
            <a:r>
              <a:rPr lang="en-US" sz="2200" b="1" i="1" dirty="0" smtClean="0">
                <a:solidFill>
                  <a:schemeClr val="tx1"/>
                </a:solidFill>
              </a:rPr>
              <a:t>k</a:t>
            </a:r>
            <a:r>
              <a:rPr lang="en-US" sz="2200" b="1" dirty="0" smtClean="0">
                <a:solidFill>
                  <a:schemeClr val="tx1"/>
                </a:solidFill>
              </a:rPr>
              <a:t> is between 100 and 1000 there is </a:t>
            </a:r>
          </a:p>
          <a:p>
            <a:pPr eaLnBrk="1" fontAlgn="auto" hangingPunct="1">
              <a:spcAft>
                <a:spcPts val="0"/>
              </a:spcAft>
              <a:buClrTx/>
              <a:buFont typeface="Wingdings 2"/>
              <a:buNone/>
              <a:defRPr/>
            </a:pPr>
            <a:r>
              <a:rPr lang="en-US" sz="2200" b="1" dirty="0" smtClean="0">
                <a:solidFill>
                  <a:schemeClr val="tx1"/>
                </a:solidFill>
              </a:rPr>
              <a:t>moderate to strong multicollinearity and if it exceeds 1000 there is severe </a:t>
            </a:r>
          </a:p>
          <a:p>
            <a:pPr eaLnBrk="1" fontAlgn="auto" hangingPunct="1">
              <a:spcAft>
                <a:spcPts val="0"/>
              </a:spcAft>
              <a:buClrTx/>
              <a:buFont typeface="Wingdings 2"/>
              <a:buNone/>
              <a:defRPr/>
            </a:pPr>
            <a:r>
              <a:rPr lang="en-US" sz="2200" b="1" dirty="0" smtClean="0">
                <a:solidFill>
                  <a:schemeClr val="tx1"/>
                </a:solidFill>
              </a:rPr>
              <a:t>multicollinearity. </a:t>
            </a:r>
          </a:p>
          <a:p>
            <a:pPr eaLnBrk="1" fontAlgn="auto" hangingPunct="1">
              <a:spcAft>
                <a:spcPts val="0"/>
              </a:spcAft>
              <a:buClrTx/>
              <a:buFont typeface="Wingdings 2"/>
              <a:buNone/>
              <a:defRPr/>
            </a:pPr>
            <a:endParaRPr lang="en-US" sz="2200" b="1" dirty="0" smtClean="0">
              <a:solidFill>
                <a:schemeClr val="tx1"/>
              </a:solidFill>
            </a:endParaRPr>
          </a:p>
          <a:p>
            <a:pPr eaLnBrk="1" fontAlgn="auto" hangingPunct="1">
              <a:spcAft>
                <a:spcPts val="0"/>
              </a:spcAft>
              <a:buClrTx/>
              <a:buFont typeface="Wingdings 2"/>
              <a:buNone/>
              <a:defRPr/>
            </a:pPr>
            <a:endParaRPr lang="en-US" sz="2200" b="1" dirty="0">
              <a:solidFill>
                <a:schemeClr val="tx1"/>
              </a:solidFill>
            </a:endParaRPr>
          </a:p>
        </p:txBody>
      </p:sp>
      <p:sp>
        <p:nvSpPr>
          <p:cNvPr id="5017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50180"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981200" y="2133600"/>
            <a:ext cx="3095625" cy="942975"/>
          </a:xfrm>
          <a:prstGeom prst="rect">
            <a:avLst/>
          </a:prstGeom>
          <a:noFill/>
          <a:ln w="9525">
            <a:noFill/>
            <a:miter lim="800000"/>
            <a:headEnd/>
            <a:tailEnd/>
          </a:ln>
        </p:spPr>
      </p:pic>
      <p:sp>
        <p:nvSpPr>
          <p:cNvPr id="50181" name="Rectangle 4"/>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50182"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905000" y="3886200"/>
            <a:ext cx="3867150" cy="942975"/>
          </a:xfrm>
          <a:prstGeom prst="rect">
            <a:avLst/>
          </a:prstGeom>
          <a:noFill/>
          <a:ln w="9525">
            <a:noFill/>
            <a:miter lim="800000"/>
            <a:headEnd/>
            <a:tailEnd/>
          </a:ln>
        </p:spPr>
      </p:pic>
      <p:sp>
        <p:nvSpPr>
          <p:cNvPr id="50183" name="Rectangle 5"/>
          <p:cNvSpPr>
            <a:spLocks noChangeArrowheads="1"/>
          </p:cNvSpPr>
          <p:nvPr/>
        </p:nvSpPr>
        <p:spPr bwMode="auto">
          <a:xfrm>
            <a:off x="0" y="1400175"/>
            <a:ext cx="9144000" cy="0"/>
          </a:xfrm>
          <a:prstGeom prst="rect">
            <a:avLst/>
          </a:prstGeom>
          <a:noFill/>
          <a:ln w="9525">
            <a:noFill/>
            <a:miter lim="800000"/>
            <a:headEnd/>
            <a:tailEnd/>
          </a:ln>
        </p:spPr>
        <p:txBody>
          <a:bodyPr wrap="none" anchor="ctr">
            <a:spAutoFit/>
          </a:bodyPr>
          <a:lstStyle/>
          <a:p>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2"/>
          <p:cNvSpPr>
            <a:spLocks noGrp="1"/>
          </p:cNvSpPr>
          <p:nvPr>
            <p:ph idx="1"/>
          </p:nvPr>
        </p:nvSpPr>
        <p:spPr>
          <a:xfrm>
            <a:off x="76200" y="1143000"/>
            <a:ext cx="8915400" cy="5562600"/>
          </a:xfrm>
        </p:spPr>
        <p:txBody>
          <a:bodyPr/>
          <a:lstStyle/>
          <a:p>
            <a:pPr eaLnBrk="1" hangingPunct="1">
              <a:buFont typeface="Wingdings 2" pitchFamily="18" charset="2"/>
              <a:buNone/>
            </a:pPr>
            <a:r>
              <a:rPr lang="en-US" sz="2200" b="1" smtClean="0">
                <a:solidFill>
                  <a:schemeClr val="tx1"/>
                </a:solidFill>
              </a:rPr>
              <a:t>Alternatively, if the CI (=      ) is between 10 and 30, there is moderate to</a:t>
            </a:r>
          </a:p>
          <a:p>
            <a:pPr eaLnBrk="1" hangingPunct="1">
              <a:buFont typeface="Wingdings 2" pitchFamily="18" charset="2"/>
              <a:buNone/>
            </a:pPr>
            <a:r>
              <a:rPr lang="en-US" sz="2200" b="1" smtClean="0">
                <a:solidFill>
                  <a:schemeClr val="tx1"/>
                </a:solidFill>
              </a:rPr>
              <a:t>strong multicollinearity and if it exceeds 30 there is severe </a:t>
            </a:r>
          </a:p>
          <a:p>
            <a:pPr eaLnBrk="1" hangingPunct="1">
              <a:buFont typeface="Wingdings 2" pitchFamily="18" charset="2"/>
              <a:buNone/>
            </a:pPr>
            <a:r>
              <a:rPr lang="en-US" sz="2200" b="1" smtClean="0">
                <a:solidFill>
                  <a:schemeClr val="tx1"/>
                </a:solidFill>
              </a:rPr>
              <a:t>multicollinearity. </a:t>
            </a:r>
          </a:p>
          <a:p>
            <a:pPr eaLnBrk="1" hangingPunct="1">
              <a:buFont typeface="Wingdings 2" pitchFamily="18" charset="2"/>
              <a:buNone/>
            </a:pPr>
            <a:r>
              <a:rPr lang="en-US" sz="2200" b="1" smtClean="0">
                <a:solidFill>
                  <a:schemeClr val="tx1"/>
                </a:solidFill>
              </a:rPr>
              <a:t>Incidentally, a low eigenvalue (in relation to the maximum eigenvalues)  is </a:t>
            </a:r>
          </a:p>
          <a:p>
            <a:pPr eaLnBrk="1" hangingPunct="1">
              <a:buFont typeface="Wingdings 2" pitchFamily="18" charset="2"/>
              <a:buNone/>
            </a:pPr>
            <a:r>
              <a:rPr lang="en-US" sz="2200" b="1" smtClean="0">
                <a:solidFill>
                  <a:schemeClr val="tx1"/>
                </a:solidFill>
              </a:rPr>
              <a:t>generally an indication of near-linear dependencies in the data.     </a:t>
            </a:r>
          </a:p>
        </p:txBody>
      </p:sp>
      <p:sp>
        <p:nvSpPr>
          <p:cNvPr id="51203"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51204"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971800" y="1219200"/>
            <a:ext cx="323850" cy="38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686800" cy="685800"/>
          </a:xfrm>
        </p:spPr>
        <p:txBody>
          <a:bodyPr>
            <a:normAutofit fontScale="90000"/>
          </a:bodyPr>
          <a:lstStyle/>
          <a:p>
            <a:pPr eaLnBrk="1" fontAlgn="auto" hangingPunct="1">
              <a:spcAft>
                <a:spcPts val="0"/>
              </a:spcAft>
              <a:defRPr/>
            </a:pPr>
            <a:r>
              <a:rPr lang="en-US" sz="4000" b="1" dirty="0" smtClean="0">
                <a:solidFill>
                  <a:schemeClr val="tx1"/>
                </a:solidFill>
                <a:latin typeface="Times New Roman" pitchFamily="18" charset="0"/>
                <a:cs typeface="Times New Roman" pitchFamily="18" charset="0"/>
              </a:rPr>
              <a:t>REMEDIAL MEASURES</a:t>
            </a:r>
            <a:r>
              <a:rPr lang="en-US" dirty="0" smtClean="0">
                <a:solidFill>
                  <a:schemeClr val="tx1"/>
                </a:solidFill>
              </a:rPr>
              <a:t/>
            </a:r>
            <a:br>
              <a:rPr lang="en-US" dirty="0" smtClean="0">
                <a:solidFill>
                  <a:schemeClr val="tx1"/>
                </a:solidFill>
              </a:rPr>
            </a:br>
            <a:endParaRPr lang="en-US" dirty="0">
              <a:solidFill>
                <a:schemeClr val="tx1"/>
              </a:solidFill>
            </a:endParaRPr>
          </a:p>
        </p:txBody>
      </p:sp>
      <p:sp>
        <p:nvSpPr>
          <p:cNvPr id="3" name="Content Placeholder 2"/>
          <p:cNvSpPr>
            <a:spLocks noGrp="1"/>
          </p:cNvSpPr>
          <p:nvPr>
            <p:ph idx="1"/>
          </p:nvPr>
        </p:nvSpPr>
        <p:spPr>
          <a:xfrm>
            <a:off x="0" y="1066800"/>
            <a:ext cx="9067800" cy="5791200"/>
          </a:xfrm>
        </p:spPr>
        <p:txBody>
          <a:bodyPr>
            <a:normAutofit/>
          </a:bodyPr>
          <a:lstStyle/>
          <a:p>
            <a:pPr eaLnBrk="1" fontAlgn="auto" hangingPunct="1">
              <a:spcAft>
                <a:spcPts val="0"/>
              </a:spcAft>
              <a:buFont typeface="Wingdings 2"/>
              <a:buNone/>
              <a:defRPr/>
            </a:pPr>
            <a:r>
              <a:rPr lang="en-US" sz="2200" b="1" dirty="0" smtClean="0">
                <a:solidFill>
                  <a:schemeClr val="tx1"/>
                </a:solidFill>
              </a:rPr>
              <a:t>NO Single solution exist that eliminate multicollinearity altogether. A </a:t>
            </a:r>
          </a:p>
          <a:p>
            <a:pPr eaLnBrk="1" fontAlgn="auto" hangingPunct="1">
              <a:spcAft>
                <a:spcPts val="0"/>
              </a:spcAft>
              <a:buFont typeface="Wingdings 2"/>
              <a:buNone/>
              <a:defRPr/>
            </a:pPr>
            <a:r>
              <a:rPr lang="en-US" sz="2200" b="1" dirty="0" smtClean="0">
                <a:solidFill>
                  <a:schemeClr val="tx1"/>
                </a:solidFill>
              </a:rPr>
              <a:t>great deal of judgment is required in handling the problem. However, </a:t>
            </a:r>
          </a:p>
          <a:p>
            <a:pPr eaLnBrk="1" fontAlgn="auto" hangingPunct="1">
              <a:spcAft>
                <a:spcPts val="0"/>
              </a:spcAft>
              <a:buFont typeface="Wingdings 2"/>
              <a:buNone/>
              <a:defRPr/>
            </a:pPr>
            <a:r>
              <a:rPr lang="en-US" sz="2200" b="1" dirty="0" smtClean="0">
                <a:solidFill>
                  <a:schemeClr val="tx1"/>
                </a:solidFill>
              </a:rPr>
              <a:t>certain general approaches might be useful in treating multicollinearity, </a:t>
            </a:r>
          </a:p>
          <a:p>
            <a:pPr eaLnBrk="1" fontAlgn="auto" hangingPunct="1">
              <a:spcAft>
                <a:spcPts val="0"/>
              </a:spcAft>
              <a:buFont typeface="Wingdings 2"/>
              <a:buNone/>
              <a:defRPr/>
            </a:pPr>
            <a:r>
              <a:rPr lang="en-US" sz="2200" b="1" dirty="0" smtClean="0">
                <a:solidFill>
                  <a:schemeClr val="tx1"/>
                </a:solidFill>
              </a:rPr>
              <a:t>and these are:</a:t>
            </a:r>
          </a:p>
          <a:p>
            <a:pPr eaLnBrk="1" fontAlgn="auto" hangingPunct="1">
              <a:spcAft>
                <a:spcPts val="0"/>
              </a:spcAft>
              <a:buClrTx/>
              <a:buFont typeface="Wingdings" pitchFamily="2" charset="2"/>
              <a:buChar char="Ø"/>
              <a:defRPr/>
            </a:pPr>
            <a:r>
              <a:rPr lang="en-US" sz="2400" b="1" u="sng" dirty="0" smtClean="0">
                <a:solidFill>
                  <a:schemeClr val="tx1"/>
                </a:solidFill>
                <a:latin typeface="+mj-lt"/>
              </a:rPr>
              <a:t>Begin Neglect or Do Nothing:</a:t>
            </a:r>
          </a:p>
          <a:p>
            <a:pPr marL="457200" indent="-457200" eaLnBrk="1" fontAlgn="auto" hangingPunct="1">
              <a:spcAft>
                <a:spcPts val="0"/>
              </a:spcAft>
              <a:buFont typeface="Wingdings 2"/>
              <a:buNone/>
              <a:defRPr/>
            </a:pPr>
            <a:r>
              <a:rPr lang="en-US" sz="2200" b="1" dirty="0" smtClean="0">
                <a:solidFill>
                  <a:schemeClr val="tx1"/>
                </a:solidFill>
              </a:rPr>
              <a:t>If an analyst is less interested in interpreting individual coefficients but </a:t>
            </a:r>
          </a:p>
          <a:p>
            <a:pPr marL="457200" indent="-457200" eaLnBrk="1" fontAlgn="auto" hangingPunct="1">
              <a:spcAft>
                <a:spcPts val="0"/>
              </a:spcAft>
              <a:buFont typeface="Wingdings 2"/>
              <a:buNone/>
              <a:defRPr/>
            </a:pPr>
            <a:r>
              <a:rPr lang="en-US" sz="2200" b="1" dirty="0" smtClean="0">
                <a:solidFill>
                  <a:schemeClr val="tx1"/>
                </a:solidFill>
              </a:rPr>
              <a:t>more interesting in forecasting, multicollinearity may no be the serious </a:t>
            </a:r>
          </a:p>
          <a:p>
            <a:pPr marL="457200" indent="-457200" eaLnBrk="1" fontAlgn="auto" hangingPunct="1">
              <a:spcAft>
                <a:spcPts val="0"/>
              </a:spcAft>
              <a:buFont typeface="Wingdings 2"/>
              <a:buNone/>
              <a:defRPr/>
            </a:pPr>
            <a:r>
              <a:rPr lang="en-US" sz="2200" b="1" dirty="0" smtClean="0">
                <a:solidFill>
                  <a:schemeClr val="tx1"/>
                </a:solidFill>
              </a:rPr>
              <a:t>concern. One can simply ignore it without any dire consequences. Similarly, </a:t>
            </a:r>
          </a:p>
          <a:p>
            <a:pPr marL="457200" indent="-457200" eaLnBrk="1" fontAlgn="auto" hangingPunct="1">
              <a:spcAft>
                <a:spcPts val="0"/>
              </a:spcAft>
              <a:buFont typeface="Wingdings 2"/>
              <a:buNone/>
              <a:defRPr/>
            </a:pPr>
            <a:r>
              <a:rPr lang="en-US" sz="2200" b="1" dirty="0" smtClean="0">
                <a:solidFill>
                  <a:schemeClr val="tx1"/>
                </a:solidFill>
              </a:rPr>
              <a:t>even with high correlations among independent variables, if regression </a:t>
            </a:r>
          </a:p>
          <a:p>
            <a:pPr marL="457200" indent="-457200" eaLnBrk="1" fontAlgn="auto" hangingPunct="1">
              <a:spcAft>
                <a:spcPts val="0"/>
              </a:spcAft>
              <a:buFont typeface="Wingdings 2"/>
              <a:buNone/>
              <a:defRPr/>
            </a:pPr>
            <a:r>
              <a:rPr lang="en-US" sz="2200" b="1" dirty="0" smtClean="0">
                <a:solidFill>
                  <a:schemeClr val="tx1"/>
                </a:solidFill>
              </a:rPr>
              <a:t>coefficients significant and have meaningful signs and magnitudes, one </a:t>
            </a:r>
          </a:p>
          <a:p>
            <a:pPr marL="457200" indent="-457200" eaLnBrk="1" fontAlgn="auto" hangingPunct="1">
              <a:spcAft>
                <a:spcPts val="0"/>
              </a:spcAft>
              <a:buFont typeface="Wingdings 2"/>
              <a:buNone/>
              <a:defRPr/>
            </a:pPr>
            <a:r>
              <a:rPr lang="en-US" sz="2200" b="1" dirty="0" smtClean="0">
                <a:solidFill>
                  <a:schemeClr val="tx1"/>
                </a:solidFill>
              </a:rPr>
              <a:t>need not be too concerned about multicollinearity. If the coefficients is </a:t>
            </a:r>
          </a:p>
          <a:p>
            <a:pPr marL="457200" indent="-457200" eaLnBrk="1" fontAlgn="auto" hangingPunct="1">
              <a:spcAft>
                <a:spcPts val="0"/>
              </a:spcAft>
              <a:buFont typeface="Wingdings 2"/>
              <a:buNone/>
              <a:defRPr/>
            </a:pPr>
            <a:r>
              <a:rPr lang="en-US" sz="2200" b="1" dirty="0" smtClean="0">
                <a:solidFill>
                  <a:schemeClr val="tx1"/>
                </a:solidFill>
              </a:rPr>
              <a:t>significant even in the presence of multicollinearity, then that is clearly a </a:t>
            </a:r>
          </a:p>
          <a:p>
            <a:pPr marL="457200" indent="-457200" eaLnBrk="1" fontAlgn="auto" hangingPunct="1">
              <a:spcAft>
                <a:spcPts val="0"/>
              </a:spcAft>
              <a:buFont typeface="Wingdings 2"/>
              <a:buNone/>
              <a:defRPr/>
            </a:pPr>
            <a:r>
              <a:rPr lang="en-US" sz="2200" b="1" dirty="0" smtClean="0">
                <a:solidFill>
                  <a:schemeClr val="tx1"/>
                </a:solidFill>
              </a:rPr>
              <a:t>robust result. Finally, if the variable belong in the model for theoretical </a:t>
            </a:r>
          </a:p>
          <a:p>
            <a:pPr marL="457200" indent="-457200" eaLnBrk="1" fontAlgn="auto" hangingPunct="1">
              <a:spcAft>
                <a:spcPts val="0"/>
              </a:spcAft>
              <a:buFont typeface="Wingdings 2"/>
              <a:buNone/>
              <a:defRPr/>
            </a:pPr>
            <a:r>
              <a:rPr lang="en-US" sz="2200" b="1" dirty="0" smtClean="0">
                <a:solidFill>
                  <a:schemeClr val="tx1"/>
                </a:solidFill>
              </a:rPr>
              <a:t>reasons, then it might be safer to keep it even if there is multicollinearity. </a:t>
            </a:r>
            <a:endParaRPr lang="en-US" sz="2200" b="1" dirty="0">
              <a:solidFill>
                <a:schemeClr val="tx1"/>
              </a:solidFill>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ontent Placeholder 2"/>
          <p:cNvSpPr>
            <a:spLocks noGrp="1"/>
          </p:cNvSpPr>
          <p:nvPr>
            <p:ph idx="1"/>
          </p:nvPr>
        </p:nvSpPr>
        <p:spPr>
          <a:xfrm>
            <a:off x="0" y="1143000"/>
            <a:ext cx="9144000" cy="5715000"/>
          </a:xfrm>
        </p:spPr>
        <p:txBody>
          <a:bodyPr/>
          <a:lstStyle/>
          <a:p>
            <a:pPr eaLnBrk="1" hangingPunct="1">
              <a:buClrTx/>
              <a:buFont typeface="Wingdings" pitchFamily="2" charset="2"/>
              <a:buChar char="Ø"/>
            </a:pPr>
            <a:r>
              <a:rPr lang="en-US" sz="2400" b="1" u="sng" dirty="0" smtClean="0">
                <a:solidFill>
                  <a:schemeClr val="tx1"/>
                </a:solidFill>
                <a:latin typeface="Franklin Gothic Medium" pitchFamily="34" charset="0"/>
              </a:rPr>
              <a:t>A Priori Information</a:t>
            </a:r>
          </a:p>
          <a:p>
            <a:pPr eaLnBrk="1" hangingPunct="1">
              <a:buFont typeface="Wingdings 2" pitchFamily="18" charset="2"/>
              <a:buNone/>
            </a:pPr>
            <a:r>
              <a:rPr lang="en-US" sz="2200" b="1" dirty="0" smtClean="0">
                <a:solidFill>
                  <a:schemeClr val="tx1"/>
                </a:solidFill>
              </a:rPr>
              <a:t>Suppose we consider a model</a:t>
            </a:r>
          </a:p>
          <a:p>
            <a:pPr algn="ctr" eaLnBrk="1" hangingPunct="1">
              <a:buFont typeface="Wingdings 2" pitchFamily="18" charset="2"/>
              <a:buNone/>
            </a:pPr>
            <a:r>
              <a:rPr lang="en-US" sz="2400" b="1" dirty="0" smtClean="0">
                <a:solidFill>
                  <a:schemeClr val="tx1"/>
                </a:solidFill>
              </a:rPr>
              <a:t>Y</a:t>
            </a:r>
            <a:r>
              <a:rPr lang="en-US" sz="2400" b="1" baseline="-25000" dirty="0" smtClean="0">
                <a:solidFill>
                  <a:schemeClr val="tx1"/>
                </a:solidFill>
              </a:rPr>
              <a:t>i</a:t>
            </a:r>
            <a:r>
              <a:rPr lang="en-US" sz="2400" b="1" dirty="0" smtClean="0">
                <a:solidFill>
                  <a:schemeClr val="tx1"/>
                </a:solidFill>
              </a:rPr>
              <a:t> = β</a:t>
            </a:r>
            <a:r>
              <a:rPr lang="en-US" sz="2400" b="1" baseline="-25000" dirty="0" smtClean="0">
                <a:solidFill>
                  <a:schemeClr val="tx1"/>
                </a:solidFill>
              </a:rPr>
              <a:t>1 </a:t>
            </a:r>
            <a:r>
              <a:rPr lang="en-US" sz="2400" b="1" dirty="0" smtClean="0">
                <a:solidFill>
                  <a:schemeClr val="tx1"/>
                </a:solidFill>
              </a:rPr>
              <a:t>+ β</a:t>
            </a:r>
            <a:r>
              <a:rPr lang="en-US" sz="2400" b="1" baseline="-25000" dirty="0" smtClean="0">
                <a:solidFill>
                  <a:schemeClr val="tx1"/>
                </a:solidFill>
              </a:rPr>
              <a:t>2</a:t>
            </a:r>
            <a:r>
              <a:rPr lang="en-US" sz="2400" b="1" dirty="0" smtClean="0">
                <a:solidFill>
                  <a:schemeClr val="tx1"/>
                </a:solidFill>
              </a:rPr>
              <a:t>X</a:t>
            </a:r>
            <a:r>
              <a:rPr lang="en-US" sz="2400" b="1" baseline="-25000" dirty="0" smtClean="0">
                <a:solidFill>
                  <a:schemeClr val="tx1"/>
                </a:solidFill>
              </a:rPr>
              <a:t>2i</a:t>
            </a:r>
            <a:r>
              <a:rPr lang="en-US" sz="2400" b="1" dirty="0" smtClean="0">
                <a:solidFill>
                  <a:schemeClr val="tx1"/>
                </a:solidFill>
              </a:rPr>
              <a:t> + β</a:t>
            </a:r>
            <a:r>
              <a:rPr lang="en-US" sz="2400" b="1" baseline="-25000" dirty="0" smtClean="0">
                <a:solidFill>
                  <a:schemeClr val="tx1"/>
                </a:solidFill>
              </a:rPr>
              <a:t>3</a:t>
            </a:r>
            <a:r>
              <a:rPr lang="en-US" sz="2400" b="1" dirty="0" smtClean="0">
                <a:solidFill>
                  <a:schemeClr val="tx1"/>
                </a:solidFill>
              </a:rPr>
              <a:t>X</a:t>
            </a:r>
            <a:r>
              <a:rPr lang="en-US" sz="2400" b="1" baseline="-25000" dirty="0" smtClean="0">
                <a:solidFill>
                  <a:schemeClr val="tx1"/>
                </a:solidFill>
              </a:rPr>
              <a:t>3i</a:t>
            </a:r>
            <a:r>
              <a:rPr lang="en-US" sz="2400" b="1" dirty="0" smtClean="0">
                <a:solidFill>
                  <a:schemeClr val="tx1"/>
                </a:solidFill>
              </a:rPr>
              <a:t> + </a:t>
            </a:r>
            <a:r>
              <a:rPr lang="en-US" sz="2400" b="1" dirty="0" err="1" smtClean="0">
                <a:solidFill>
                  <a:schemeClr val="tx1"/>
                </a:solidFill>
              </a:rPr>
              <a:t>u</a:t>
            </a:r>
            <a:r>
              <a:rPr lang="en-US" sz="2400" b="1" baseline="-25000" dirty="0" err="1" smtClean="0">
                <a:solidFill>
                  <a:schemeClr val="tx1"/>
                </a:solidFill>
              </a:rPr>
              <a:t>i</a:t>
            </a:r>
            <a:r>
              <a:rPr lang="en-US" sz="2400" b="1" baseline="-25000" dirty="0" smtClean="0">
                <a:solidFill>
                  <a:schemeClr val="tx1"/>
                </a:solidFill>
              </a:rPr>
              <a:t>    </a:t>
            </a:r>
          </a:p>
          <a:p>
            <a:pPr eaLnBrk="1" hangingPunct="1">
              <a:buFont typeface="Wingdings 2" pitchFamily="18" charset="2"/>
              <a:buNone/>
            </a:pPr>
            <a:r>
              <a:rPr lang="en-US" sz="2400" b="1" dirty="0" smtClean="0">
                <a:solidFill>
                  <a:schemeClr val="tx1"/>
                </a:solidFill>
              </a:rPr>
              <a:t>Where Y = consumption, X</a:t>
            </a:r>
            <a:r>
              <a:rPr lang="en-US" sz="2400" b="1" baseline="-25000" dirty="0" smtClean="0">
                <a:solidFill>
                  <a:schemeClr val="tx1"/>
                </a:solidFill>
              </a:rPr>
              <a:t>2</a:t>
            </a:r>
            <a:r>
              <a:rPr lang="en-US" sz="2400" b="1" dirty="0" smtClean="0">
                <a:solidFill>
                  <a:schemeClr val="tx1"/>
                </a:solidFill>
              </a:rPr>
              <a:t> = income, and X</a:t>
            </a:r>
            <a:r>
              <a:rPr lang="en-US" sz="2400" b="1" baseline="-25000" dirty="0" smtClean="0">
                <a:solidFill>
                  <a:schemeClr val="tx1"/>
                </a:solidFill>
              </a:rPr>
              <a:t>3</a:t>
            </a:r>
            <a:r>
              <a:rPr lang="en-US" sz="2400" b="1" dirty="0" smtClean="0">
                <a:solidFill>
                  <a:schemeClr val="tx1"/>
                </a:solidFill>
              </a:rPr>
              <a:t> = wealth. </a:t>
            </a:r>
          </a:p>
          <a:p>
            <a:pPr eaLnBrk="1" hangingPunct="1">
              <a:buFont typeface="Wingdings 2" pitchFamily="18" charset="2"/>
              <a:buNone/>
            </a:pPr>
            <a:r>
              <a:rPr lang="en-US" sz="2400" b="1" dirty="0" smtClean="0">
                <a:solidFill>
                  <a:schemeClr val="tx1"/>
                </a:solidFill>
              </a:rPr>
              <a:t> Theoretically, there can be collinearity between Income and Wealth.</a:t>
            </a:r>
          </a:p>
          <a:p>
            <a:pPr eaLnBrk="1" hangingPunct="1">
              <a:buFont typeface="Wingdings 2" pitchFamily="18" charset="2"/>
              <a:buNone/>
            </a:pPr>
            <a:r>
              <a:rPr lang="en-US" sz="2400" b="1" dirty="0" smtClean="0">
                <a:solidFill>
                  <a:schemeClr val="tx1"/>
                </a:solidFill>
              </a:rPr>
              <a:t> As multicollinearity is a sample phenomenon to some extent, it can </a:t>
            </a:r>
          </a:p>
          <a:p>
            <a:pPr eaLnBrk="1" hangingPunct="1">
              <a:buFont typeface="Wingdings 2" pitchFamily="18" charset="2"/>
              <a:buNone/>
            </a:pPr>
            <a:r>
              <a:rPr lang="en-US" sz="2400" b="1" dirty="0" smtClean="0">
                <a:solidFill>
                  <a:schemeClr val="tx1"/>
                </a:solidFill>
              </a:rPr>
              <a:t>be taken care at the stage of sample selection and collection of </a:t>
            </a:r>
          </a:p>
          <a:p>
            <a:pPr eaLnBrk="1" hangingPunct="1">
              <a:buFont typeface="Wingdings 2" pitchFamily="18" charset="2"/>
              <a:buNone/>
            </a:pPr>
            <a:r>
              <a:rPr lang="en-US" sz="2400" b="1" dirty="0" smtClean="0">
                <a:solidFill>
                  <a:schemeClr val="tx1"/>
                </a:solidFill>
              </a:rPr>
              <a:t>information.</a:t>
            </a:r>
          </a:p>
          <a:p>
            <a:pPr eaLnBrk="1" hangingPunct="1">
              <a:buFont typeface="Wingdings 2" pitchFamily="18" charset="2"/>
              <a:buNone/>
            </a:pPr>
            <a:r>
              <a:rPr lang="en-US" sz="2400" b="1" dirty="0" smtClean="0">
                <a:solidFill>
                  <a:schemeClr val="tx1"/>
                </a:solidFill>
              </a:rPr>
              <a:t>  </a:t>
            </a:r>
          </a:p>
          <a:p>
            <a:pPr eaLnBrk="1" hangingPunct="1">
              <a:buFont typeface="Wingdings 2" pitchFamily="18" charset="2"/>
              <a:buNone/>
            </a:pPr>
            <a:endParaRPr lang="en-US" sz="2400" dirty="0" smtClean="0"/>
          </a:p>
          <a:p>
            <a:pPr eaLnBrk="1" hangingPunct="1">
              <a:buFont typeface="Wingdings 2" pitchFamily="18" charset="2"/>
              <a:buNone/>
            </a:pPr>
            <a:endParaRPr lang="en-US" sz="2400" b="1" baseline="-25000" dirty="0" smtClean="0">
              <a:solidFill>
                <a:schemeClr val="tx1"/>
              </a:solidFill>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2"/>
          <p:cNvSpPr>
            <a:spLocks noGrp="1"/>
          </p:cNvSpPr>
          <p:nvPr>
            <p:ph idx="1"/>
          </p:nvPr>
        </p:nvSpPr>
        <p:spPr>
          <a:xfrm>
            <a:off x="152400" y="1066800"/>
            <a:ext cx="8915400" cy="5791200"/>
          </a:xfrm>
        </p:spPr>
        <p:txBody>
          <a:bodyPr/>
          <a:lstStyle/>
          <a:p>
            <a:pPr eaLnBrk="1" hangingPunct="1">
              <a:lnSpc>
                <a:spcPct val="80000"/>
              </a:lnSpc>
              <a:buClrTx/>
              <a:buFont typeface="Wingdings" pitchFamily="2" charset="2"/>
              <a:buChar char="Ø"/>
            </a:pPr>
            <a:r>
              <a:rPr lang="en-US" sz="2400" b="1" u="sng" dirty="0" smtClean="0">
                <a:solidFill>
                  <a:schemeClr val="tx1"/>
                </a:solidFill>
                <a:latin typeface="Franklin Gothic Medium" pitchFamily="34" charset="0"/>
              </a:rPr>
              <a:t>Combining Cross-Sectional and Time Series Data</a:t>
            </a:r>
          </a:p>
          <a:p>
            <a:pPr eaLnBrk="1" hangingPunct="1">
              <a:lnSpc>
                <a:spcPct val="80000"/>
              </a:lnSpc>
              <a:buFont typeface="Wingdings 2" pitchFamily="18" charset="2"/>
              <a:buNone/>
            </a:pPr>
            <a:endParaRPr lang="en-US" sz="2200" b="1" u="sng" dirty="0" smtClean="0">
              <a:solidFill>
                <a:schemeClr val="tx1"/>
              </a:solidFill>
            </a:endParaRPr>
          </a:p>
          <a:p>
            <a:pPr eaLnBrk="1" hangingPunct="1">
              <a:lnSpc>
                <a:spcPct val="80000"/>
              </a:lnSpc>
              <a:buFont typeface="Wingdings 2" pitchFamily="18" charset="2"/>
              <a:buNone/>
            </a:pPr>
            <a:r>
              <a:rPr lang="en-US" sz="2100" dirty="0" smtClean="0">
                <a:solidFill>
                  <a:schemeClr val="tx1"/>
                </a:solidFill>
              </a:rPr>
              <a:t>A variant of the extraneous or a priori information technique is the </a:t>
            </a:r>
          </a:p>
          <a:p>
            <a:pPr eaLnBrk="1" hangingPunct="1">
              <a:lnSpc>
                <a:spcPct val="80000"/>
              </a:lnSpc>
              <a:buFont typeface="Wingdings 2" pitchFamily="18" charset="2"/>
              <a:buNone/>
            </a:pPr>
            <a:r>
              <a:rPr lang="en-US" sz="2100" dirty="0" smtClean="0">
                <a:solidFill>
                  <a:schemeClr val="tx1"/>
                </a:solidFill>
              </a:rPr>
              <a:t>combination of cross-sectional and time-series data, known as pooling </a:t>
            </a:r>
          </a:p>
          <a:p>
            <a:pPr eaLnBrk="1" hangingPunct="1">
              <a:lnSpc>
                <a:spcPct val="80000"/>
              </a:lnSpc>
              <a:buFont typeface="Wingdings 2" pitchFamily="18" charset="2"/>
              <a:buNone/>
            </a:pPr>
            <a:r>
              <a:rPr lang="en-US" sz="2100" dirty="0" smtClean="0">
                <a:solidFill>
                  <a:schemeClr val="tx1"/>
                </a:solidFill>
              </a:rPr>
              <a:t>the data. Suppose we want to study the demand for automobiles in</a:t>
            </a:r>
          </a:p>
          <a:p>
            <a:pPr eaLnBrk="1" hangingPunct="1">
              <a:lnSpc>
                <a:spcPct val="80000"/>
              </a:lnSpc>
              <a:buFont typeface="Wingdings 2" pitchFamily="18" charset="2"/>
              <a:buNone/>
            </a:pPr>
            <a:r>
              <a:rPr lang="en-US" sz="2100" dirty="0" smtClean="0">
                <a:solidFill>
                  <a:schemeClr val="tx1"/>
                </a:solidFill>
              </a:rPr>
              <a:t>India and assume we have time series data on the number of </a:t>
            </a:r>
          </a:p>
          <a:p>
            <a:pPr eaLnBrk="1" hangingPunct="1">
              <a:lnSpc>
                <a:spcPct val="80000"/>
              </a:lnSpc>
              <a:buFont typeface="Wingdings 2" pitchFamily="18" charset="2"/>
              <a:buNone/>
            </a:pPr>
            <a:r>
              <a:rPr lang="en-US" sz="2100" dirty="0" smtClean="0">
                <a:solidFill>
                  <a:schemeClr val="tx1"/>
                </a:solidFill>
              </a:rPr>
              <a:t>cars, averages price of the car, and consumer income. Suppose also that </a:t>
            </a:r>
          </a:p>
          <a:p>
            <a:pPr algn="ctr" eaLnBrk="1" hangingPunct="1">
              <a:lnSpc>
                <a:spcPct val="80000"/>
              </a:lnSpc>
              <a:buFont typeface="Wingdings 2" pitchFamily="18" charset="2"/>
              <a:buNone/>
            </a:pPr>
            <a:endParaRPr lang="en-US" sz="2000" dirty="0" smtClean="0">
              <a:solidFill>
                <a:schemeClr val="tx1"/>
              </a:solidFill>
            </a:endParaRPr>
          </a:p>
          <a:p>
            <a:pPr algn="ctr" eaLnBrk="1" hangingPunct="1">
              <a:lnSpc>
                <a:spcPct val="80000"/>
              </a:lnSpc>
              <a:buFont typeface="Wingdings 2" pitchFamily="18" charset="2"/>
              <a:buNone/>
            </a:pPr>
            <a:r>
              <a:rPr lang="en-US" sz="2000" dirty="0" err="1" smtClean="0">
                <a:solidFill>
                  <a:schemeClr val="tx1"/>
                </a:solidFill>
              </a:rPr>
              <a:t>InY</a:t>
            </a:r>
            <a:r>
              <a:rPr lang="en-US" sz="2000" baseline="-25000" dirty="0" err="1" smtClean="0">
                <a:solidFill>
                  <a:schemeClr val="tx1"/>
                </a:solidFill>
              </a:rPr>
              <a:t>t</a:t>
            </a:r>
            <a:r>
              <a:rPr lang="en-US" sz="2000" baseline="-25000" dirty="0" smtClean="0">
                <a:solidFill>
                  <a:schemeClr val="tx1"/>
                </a:solidFill>
              </a:rPr>
              <a:t> </a:t>
            </a:r>
            <a:r>
              <a:rPr lang="en-US" sz="2000" dirty="0" smtClean="0">
                <a:solidFill>
                  <a:schemeClr val="tx1"/>
                </a:solidFill>
              </a:rPr>
              <a:t> = </a:t>
            </a:r>
            <a:r>
              <a:rPr lang="el-GR" sz="2000" dirty="0" smtClean="0">
                <a:solidFill>
                  <a:schemeClr val="tx1"/>
                </a:solidFill>
              </a:rPr>
              <a:t>β</a:t>
            </a:r>
            <a:r>
              <a:rPr lang="en-US" sz="2000" baseline="-25000" dirty="0" smtClean="0">
                <a:solidFill>
                  <a:schemeClr val="tx1"/>
                </a:solidFill>
              </a:rPr>
              <a:t>1</a:t>
            </a:r>
            <a:r>
              <a:rPr lang="en-US" sz="2000" dirty="0" smtClean="0">
                <a:solidFill>
                  <a:schemeClr val="tx1"/>
                </a:solidFill>
              </a:rPr>
              <a:t> + </a:t>
            </a:r>
            <a:r>
              <a:rPr lang="el-GR" sz="2000" dirty="0" smtClean="0">
                <a:solidFill>
                  <a:schemeClr val="tx1"/>
                </a:solidFill>
              </a:rPr>
              <a:t>β</a:t>
            </a:r>
            <a:r>
              <a:rPr lang="en-US" sz="2000" baseline="-25000" dirty="0" smtClean="0">
                <a:solidFill>
                  <a:schemeClr val="tx1"/>
                </a:solidFill>
              </a:rPr>
              <a:t>2</a:t>
            </a:r>
            <a:r>
              <a:rPr lang="en-US" sz="2000" dirty="0" smtClean="0">
                <a:solidFill>
                  <a:schemeClr val="tx1"/>
                </a:solidFill>
              </a:rPr>
              <a:t> </a:t>
            </a:r>
            <a:r>
              <a:rPr lang="en-US" sz="2000" dirty="0" err="1" smtClean="0">
                <a:solidFill>
                  <a:schemeClr val="tx1"/>
                </a:solidFill>
              </a:rPr>
              <a:t>In</a:t>
            </a:r>
            <a:r>
              <a:rPr lang="en-US" sz="2000" i="1" dirty="0" err="1" smtClean="0">
                <a:solidFill>
                  <a:schemeClr val="tx1"/>
                </a:solidFill>
              </a:rPr>
              <a:t>P</a:t>
            </a:r>
            <a:r>
              <a:rPr lang="en-US" sz="2000" baseline="-25000" dirty="0" err="1" smtClean="0">
                <a:solidFill>
                  <a:schemeClr val="tx1"/>
                </a:solidFill>
              </a:rPr>
              <a:t>t</a:t>
            </a:r>
            <a:r>
              <a:rPr lang="en-US" sz="2000" dirty="0" smtClean="0">
                <a:solidFill>
                  <a:schemeClr val="tx1"/>
                </a:solidFill>
              </a:rPr>
              <a:t> + </a:t>
            </a:r>
            <a:r>
              <a:rPr lang="el-GR" sz="2000" dirty="0" smtClean="0">
                <a:solidFill>
                  <a:schemeClr val="tx1"/>
                </a:solidFill>
              </a:rPr>
              <a:t>β</a:t>
            </a:r>
            <a:r>
              <a:rPr lang="en-US" sz="2000" baseline="-25000" dirty="0" smtClean="0">
                <a:solidFill>
                  <a:schemeClr val="tx1"/>
                </a:solidFill>
              </a:rPr>
              <a:t>3</a:t>
            </a:r>
            <a:r>
              <a:rPr lang="en-US" sz="2000" dirty="0" smtClean="0">
                <a:solidFill>
                  <a:schemeClr val="tx1"/>
                </a:solidFill>
              </a:rPr>
              <a:t> </a:t>
            </a:r>
            <a:r>
              <a:rPr lang="en-US" sz="2000" dirty="0" err="1" smtClean="0">
                <a:solidFill>
                  <a:schemeClr val="tx1"/>
                </a:solidFill>
              </a:rPr>
              <a:t>In</a:t>
            </a:r>
            <a:r>
              <a:rPr lang="en-US" sz="2000" i="1" dirty="0" err="1" smtClean="0">
                <a:solidFill>
                  <a:schemeClr val="tx1"/>
                </a:solidFill>
              </a:rPr>
              <a:t>I</a:t>
            </a:r>
            <a:r>
              <a:rPr lang="en-US" sz="2000" i="1" baseline="-25000" dirty="0" err="1" smtClean="0">
                <a:solidFill>
                  <a:schemeClr val="tx1"/>
                </a:solidFill>
              </a:rPr>
              <a:t>t</a:t>
            </a:r>
            <a:r>
              <a:rPr lang="en-US" sz="2000" i="1" dirty="0" smtClean="0">
                <a:solidFill>
                  <a:schemeClr val="tx1"/>
                </a:solidFill>
              </a:rPr>
              <a:t> </a:t>
            </a:r>
            <a:r>
              <a:rPr lang="en-US" sz="2000" dirty="0" smtClean="0">
                <a:solidFill>
                  <a:schemeClr val="tx1"/>
                </a:solidFill>
              </a:rPr>
              <a:t>+ </a:t>
            </a:r>
            <a:r>
              <a:rPr lang="en-US" sz="2000" dirty="0" err="1" smtClean="0">
                <a:solidFill>
                  <a:schemeClr val="tx1"/>
                </a:solidFill>
              </a:rPr>
              <a:t>u</a:t>
            </a:r>
            <a:r>
              <a:rPr lang="en-US" sz="2000" baseline="-25000" dirty="0" err="1" smtClean="0">
                <a:solidFill>
                  <a:schemeClr val="tx1"/>
                </a:solidFill>
              </a:rPr>
              <a:t>i</a:t>
            </a:r>
            <a:r>
              <a:rPr lang="en-US" sz="2000" baseline="-25000" dirty="0" smtClean="0">
                <a:solidFill>
                  <a:schemeClr val="tx1"/>
                </a:solidFill>
              </a:rPr>
              <a:t> </a:t>
            </a:r>
            <a:r>
              <a:rPr lang="en-US" sz="2000" dirty="0" smtClean="0">
                <a:solidFill>
                  <a:schemeClr val="tx1"/>
                </a:solidFill>
              </a:rPr>
              <a:t> </a:t>
            </a:r>
          </a:p>
          <a:p>
            <a:pPr algn="ctr" eaLnBrk="1" hangingPunct="1">
              <a:lnSpc>
                <a:spcPct val="80000"/>
              </a:lnSpc>
              <a:buFont typeface="Wingdings 2" pitchFamily="18" charset="2"/>
              <a:buNone/>
            </a:pPr>
            <a:endParaRPr lang="en-US" sz="2000" dirty="0" smtClean="0">
              <a:solidFill>
                <a:schemeClr val="tx1"/>
              </a:solidFill>
            </a:endParaRPr>
          </a:p>
          <a:p>
            <a:pPr eaLnBrk="1" hangingPunct="1">
              <a:lnSpc>
                <a:spcPct val="80000"/>
              </a:lnSpc>
              <a:buFont typeface="Wingdings 2" pitchFamily="18" charset="2"/>
              <a:buNone/>
            </a:pPr>
            <a:r>
              <a:rPr lang="en-US" sz="2100" dirty="0" smtClean="0">
                <a:solidFill>
                  <a:schemeClr val="tx1"/>
                </a:solidFill>
              </a:rPr>
              <a:t>Where Y = number of cars sold, P = average price, I = income, and t = time. </a:t>
            </a:r>
          </a:p>
          <a:p>
            <a:pPr eaLnBrk="1" hangingPunct="1">
              <a:lnSpc>
                <a:spcPct val="80000"/>
              </a:lnSpc>
              <a:buFont typeface="Wingdings 2" pitchFamily="18" charset="2"/>
              <a:buNone/>
            </a:pPr>
            <a:r>
              <a:rPr lang="en-US" sz="2100" dirty="0" smtClean="0">
                <a:solidFill>
                  <a:schemeClr val="tx1"/>
                </a:solidFill>
              </a:rPr>
              <a:t>Our objective is to estimate the price elasticity </a:t>
            </a:r>
            <a:r>
              <a:rPr lang="el-GR" sz="2100" dirty="0" smtClean="0">
                <a:solidFill>
                  <a:schemeClr val="tx1"/>
                </a:solidFill>
              </a:rPr>
              <a:t>β</a:t>
            </a:r>
            <a:r>
              <a:rPr lang="en-US" sz="2100" baseline="-25000" dirty="0" smtClean="0">
                <a:solidFill>
                  <a:schemeClr val="tx1"/>
                </a:solidFill>
              </a:rPr>
              <a:t>2</a:t>
            </a:r>
            <a:r>
              <a:rPr lang="en-US" sz="2100" dirty="0" smtClean="0">
                <a:solidFill>
                  <a:schemeClr val="tx1"/>
                </a:solidFill>
              </a:rPr>
              <a:t> and income elasticity </a:t>
            </a:r>
            <a:r>
              <a:rPr lang="el-GR" sz="2100" dirty="0" smtClean="0">
                <a:solidFill>
                  <a:schemeClr val="tx1"/>
                </a:solidFill>
              </a:rPr>
              <a:t>β</a:t>
            </a:r>
            <a:r>
              <a:rPr lang="en-US" sz="2100" baseline="-25000" dirty="0" smtClean="0">
                <a:solidFill>
                  <a:schemeClr val="tx1"/>
                </a:solidFill>
              </a:rPr>
              <a:t>3.</a:t>
            </a:r>
            <a:r>
              <a:rPr lang="en-US" sz="2100" dirty="0" smtClean="0">
                <a:solidFill>
                  <a:schemeClr val="tx1"/>
                </a:solidFill>
              </a:rPr>
              <a:t> </a:t>
            </a:r>
          </a:p>
          <a:p>
            <a:pPr eaLnBrk="1" hangingPunct="1">
              <a:lnSpc>
                <a:spcPct val="80000"/>
              </a:lnSpc>
              <a:buFont typeface="Wingdings 2" pitchFamily="18" charset="2"/>
              <a:buNone/>
            </a:pPr>
            <a:r>
              <a:rPr lang="en-US" sz="2100" dirty="0" smtClean="0">
                <a:solidFill>
                  <a:schemeClr val="tx1"/>
                </a:solidFill>
              </a:rPr>
              <a:t>Tobin says that if we have cross-sectional data, we can obtain fairly </a:t>
            </a:r>
          </a:p>
          <a:p>
            <a:pPr eaLnBrk="1" hangingPunct="1">
              <a:lnSpc>
                <a:spcPct val="80000"/>
              </a:lnSpc>
              <a:buFont typeface="Wingdings 2" pitchFamily="18" charset="2"/>
              <a:buNone/>
            </a:pPr>
            <a:r>
              <a:rPr lang="en-US" sz="2100" dirty="0" smtClean="0">
                <a:solidFill>
                  <a:schemeClr val="tx1"/>
                </a:solidFill>
              </a:rPr>
              <a:t>reliable point in time, the prices do not vary much. Let the cross-</a:t>
            </a:r>
          </a:p>
          <a:p>
            <a:pPr eaLnBrk="1" hangingPunct="1">
              <a:lnSpc>
                <a:spcPct val="80000"/>
              </a:lnSpc>
              <a:buFont typeface="Wingdings 2" pitchFamily="18" charset="2"/>
              <a:buNone/>
            </a:pPr>
            <a:r>
              <a:rPr lang="en-US" sz="2100" dirty="0" smtClean="0">
                <a:solidFill>
                  <a:schemeClr val="tx1"/>
                </a:solidFill>
              </a:rPr>
              <a:t>sectionally estimated income elasticity be </a:t>
            </a:r>
            <a:r>
              <a:rPr lang="el-GR" sz="2100" dirty="0" smtClean="0">
                <a:solidFill>
                  <a:schemeClr val="tx1"/>
                </a:solidFill>
              </a:rPr>
              <a:t>β</a:t>
            </a:r>
            <a:r>
              <a:rPr lang="en-US" sz="2100" baseline="-25000" dirty="0" smtClean="0">
                <a:solidFill>
                  <a:schemeClr val="tx1"/>
                </a:solidFill>
              </a:rPr>
              <a:t>3.</a:t>
            </a:r>
            <a:r>
              <a:rPr lang="en-US" sz="2100" dirty="0" smtClean="0">
                <a:solidFill>
                  <a:schemeClr val="tx1"/>
                </a:solidFill>
              </a:rPr>
              <a:t> Using this estimate, we may </a:t>
            </a:r>
          </a:p>
          <a:p>
            <a:pPr eaLnBrk="1" hangingPunct="1">
              <a:lnSpc>
                <a:spcPct val="80000"/>
              </a:lnSpc>
              <a:buFont typeface="Wingdings 2" pitchFamily="18" charset="2"/>
              <a:buNone/>
            </a:pPr>
            <a:r>
              <a:rPr lang="en-US" sz="2100" dirty="0" smtClean="0">
                <a:solidFill>
                  <a:schemeClr val="tx1"/>
                </a:solidFill>
              </a:rPr>
              <a:t>write the preceding time series regression as </a:t>
            </a:r>
          </a:p>
          <a:p>
            <a:pPr eaLnBrk="1" hangingPunct="1">
              <a:lnSpc>
                <a:spcPct val="80000"/>
              </a:lnSpc>
              <a:buFont typeface="Wingdings 2" pitchFamily="18" charset="2"/>
              <a:buNone/>
            </a:pPr>
            <a:r>
              <a:rPr lang="en-US" sz="2000" dirty="0" smtClean="0">
                <a:solidFill>
                  <a:schemeClr val="tx1"/>
                </a:solidFill>
              </a:rPr>
              <a:t> </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2"/>
          <p:cNvSpPr>
            <a:spLocks noGrp="1"/>
          </p:cNvSpPr>
          <p:nvPr>
            <p:ph idx="1"/>
          </p:nvPr>
        </p:nvSpPr>
        <p:spPr>
          <a:xfrm>
            <a:off x="0" y="1066800"/>
            <a:ext cx="9144000" cy="5791200"/>
          </a:xfrm>
        </p:spPr>
        <p:txBody>
          <a:bodyPr/>
          <a:lstStyle/>
          <a:p>
            <a:pPr algn="ctr" eaLnBrk="1" hangingPunct="1">
              <a:lnSpc>
                <a:spcPct val="90000"/>
              </a:lnSpc>
              <a:buFont typeface="Wingdings 2" pitchFamily="18" charset="2"/>
              <a:buNone/>
            </a:pPr>
            <a:endParaRPr lang="en-US" sz="2200" b="1" smtClean="0">
              <a:solidFill>
                <a:schemeClr val="tx1"/>
              </a:solidFill>
            </a:endParaRPr>
          </a:p>
          <a:p>
            <a:pPr algn="ctr" eaLnBrk="1" hangingPunct="1">
              <a:lnSpc>
                <a:spcPct val="90000"/>
              </a:lnSpc>
              <a:buFont typeface="Wingdings 2" pitchFamily="18" charset="2"/>
              <a:buNone/>
            </a:pPr>
            <a:r>
              <a:rPr lang="en-US" sz="2200" b="1" smtClean="0">
                <a:solidFill>
                  <a:schemeClr val="tx1"/>
                </a:solidFill>
              </a:rPr>
              <a:t>Y</a:t>
            </a:r>
            <a:r>
              <a:rPr lang="en-US" sz="2200" b="1" baseline="-25000" smtClean="0">
                <a:solidFill>
                  <a:schemeClr val="tx1"/>
                </a:solidFill>
              </a:rPr>
              <a:t>t</a:t>
            </a:r>
            <a:r>
              <a:rPr lang="en-US" sz="2200" b="1" baseline="30000" smtClean="0">
                <a:solidFill>
                  <a:schemeClr val="tx1"/>
                </a:solidFill>
              </a:rPr>
              <a:t>* </a:t>
            </a:r>
            <a:r>
              <a:rPr lang="en-US" sz="2200" b="1" smtClean="0">
                <a:solidFill>
                  <a:schemeClr val="tx1"/>
                </a:solidFill>
              </a:rPr>
              <a:t>= β</a:t>
            </a:r>
            <a:r>
              <a:rPr lang="en-US" sz="2200" b="1" baseline="-25000" smtClean="0">
                <a:solidFill>
                  <a:schemeClr val="tx1"/>
                </a:solidFill>
              </a:rPr>
              <a:t>1</a:t>
            </a:r>
            <a:r>
              <a:rPr lang="en-US" sz="2200" b="1" smtClean="0">
                <a:solidFill>
                  <a:schemeClr val="tx1"/>
                </a:solidFill>
              </a:rPr>
              <a:t> + β</a:t>
            </a:r>
            <a:r>
              <a:rPr lang="en-US" sz="2200" b="1" baseline="-25000" smtClean="0">
                <a:solidFill>
                  <a:schemeClr val="tx1"/>
                </a:solidFill>
              </a:rPr>
              <a:t>2</a:t>
            </a:r>
            <a:r>
              <a:rPr lang="en-US" sz="2200" b="1" smtClean="0">
                <a:solidFill>
                  <a:schemeClr val="tx1"/>
                </a:solidFill>
              </a:rPr>
              <a:t>In</a:t>
            </a:r>
            <a:r>
              <a:rPr lang="en-US" sz="2200" b="1" i="1" smtClean="0">
                <a:solidFill>
                  <a:schemeClr val="tx1"/>
                </a:solidFill>
              </a:rPr>
              <a:t>P</a:t>
            </a:r>
            <a:r>
              <a:rPr lang="en-US" sz="2200" b="1" baseline="-25000" smtClean="0">
                <a:solidFill>
                  <a:schemeClr val="tx1"/>
                </a:solidFill>
              </a:rPr>
              <a:t>t</a:t>
            </a:r>
            <a:r>
              <a:rPr lang="en-US" sz="2200" b="1" smtClean="0">
                <a:solidFill>
                  <a:schemeClr val="tx1"/>
                </a:solidFill>
              </a:rPr>
              <a:t> + u</a:t>
            </a:r>
            <a:r>
              <a:rPr lang="en-US" sz="2200" b="1" baseline="-25000" smtClean="0">
                <a:solidFill>
                  <a:schemeClr val="tx1"/>
                </a:solidFill>
              </a:rPr>
              <a:t>t</a:t>
            </a:r>
          </a:p>
          <a:p>
            <a:pPr algn="ctr" eaLnBrk="1" hangingPunct="1">
              <a:lnSpc>
                <a:spcPct val="90000"/>
              </a:lnSpc>
              <a:buFont typeface="Wingdings 2" pitchFamily="18" charset="2"/>
              <a:buNone/>
            </a:pPr>
            <a:r>
              <a:rPr lang="en-US" sz="2200" b="1" smtClean="0">
                <a:solidFill>
                  <a:schemeClr val="tx1"/>
                </a:solidFill>
              </a:rPr>
              <a:t> </a:t>
            </a:r>
          </a:p>
          <a:p>
            <a:pPr eaLnBrk="1" hangingPunct="1">
              <a:lnSpc>
                <a:spcPct val="90000"/>
              </a:lnSpc>
              <a:buFont typeface="Wingdings 2" pitchFamily="18" charset="2"/>
              <a:buNone/>
            </a:pPr>
            <a:r>
              <a:rPr lang="en-US" sz="2200" b="1" smtClean="0">
                <a:solidFill>
                  <a:schemeClr val="tx1"/>
                </a:solidFill>
              </a:rPr>
              <a:t>Where Y</a:t>
            </a:r>
            <a:r>
              <a:rPr lang="en-US" sz="2200" b="1" baseline="-25000" smtClean="0">
                <a:solidFill>
                  <a:schemeClr val="tx1"/>
                </a:solidFill>
              </a:rPr>
              <a:t>t</a:t>
            </a:r>
            <a:r>
              <a:rPr lang="en-US" sz="2200" b="1" baseline="30000" smtClean="0">
                <a:solidFill>
                  <a:schemeClr val="tx1"/>
                </a:solidFill>
              </a:rPr>
              <a:t>*</a:t>
            </a:r>
            <a:r>
              <a:rPr lang="en-US" sz="2200" b="1" smtClean="0">
                <a:solidFill>
                  <a:schemeClr val="tx1"/>
                </a:solidFill>
              </a:rPr>
              <a:t> = In Y –  </a:t>
            </a:r>
            <a:r>
              <a:rPr lang="en-US" sz="2200" b="1" baseline="-25000" smtClean="0">
                <a:solidFill>
                  <a:schemeClr val="tx1"/>
                </a:solidFill>
              </a:rPr>
              <a:t>3</a:t>
            </a:r>
            <a:r>
              <a:rPr lang="en-US" sz="2200" b="1" smtClean="0">
                <a:solidFill>
                  <a:schemeClr val="tx1"/>
                </a:solidFill>
              </a:rPr>
              <a:t> In</a:t>
            </a:r>
            <a:r>
              <a:rPr lang="en-US" sz="2200" b="1" i="1" smtClean="0">
                <a:solidFill>
                  <a:schemeClr val="tx1"/>
                </a:solidFill>
              </a:rPr>
              <a:t>I,</a:t>
            </a:r>
            <a:r>
              <a:rPr lang="en-US" sz="2200" b="1" smtClean="0">
                <a:solidFill>
                  <a:schemeClr val="tx1"/>
                </a:solidFill>
              </a:rPr>
              <a:t> that is,Y</a:t>
            </a:r>
            <a:r>
              <a:rPr lang="en-US" sz="2200" b="1" baseline="-25000" smtClean="0">
                <a:solidFill>
                  <a:schemeClr val="tx1"/>
                </a:solidFill>
              </a:rPr>
              <a:t>t</a:t>
            </a:r>
            <a:r>
              <a:rPr lang="en-US" sz="2200" b="1" baseline="30000" smtClean="0">
                <a:solidFill>
                  <a:schemeClr val="tx1"/>
                </a:solidFill>
              </a:rPr>
              <a:t>*</a:t>
            </a:r>
            <a:r>
              <a:rPr lang="en-US" sz="2200" b="1" smtClean="0">
                <a:solidFill>
                  <a:schemeClr val="tx1"/>
                </a:solidFill>
              </a:rPr>
              <a:t> represents that value of Y after removing from it the effect of income </a:t>
            </a:r>
          </a:p>
          <a:p>
            <a:pPr eaLnBrk="1" hangingPunct="1">
              <a:lnSpc>
                <a:spcPct val="90000"/>
              </a:lnSpc>
              <a:buFont typeface="Wingdings 2" pitchFamily="18" charset="2"/>
              <a:buNone/>
            </a:pPr>
            <a:r>
              <a:rPr lang="en-US" sz="2200" b="1" smtClean="0">
                <a:solidFill>
                  <a:schemeClr val="tx1"/>
                </a:solidFill>
              </a:rPr>
              <a:t>We can now obtain an estimate of the price elasticity </a:t>
            </a:r>
            <a:r>
              <a:rPr lang="el-GR" sz="2200" b="1" smtClean="0">
                <a:solidFill>
                  <a:schemeClr val="tx1"/>
                </a:solidFill>
              </a:rPr>
              <a:t>β</a:t>
            </a:r>
            <a:r>
              <a:rPr lang="en-US" sz="2200" b="1" baseline="-25000" smtClean="0">
                <a:solidFill>
                  <a:schemeClr val="tx1"/>
                </a:solidFill>
              </a:rPr>
              <a:t>2</a:t>
            </a:r>
            <a:r>
              <a:rPr lang="en-US" sz="2200" b="1" smtClean="0">
                <a:solidFill>
                  <a:schemeClr val="tx1"/>
                </a:solidFill>
              </a:rPr>
              <a:t> from the preceding </a:t>
            </a:r>
          </a:p>
          <a:p>
            <a:pPr eaLnBrk="1" hangingPunct="1">
              <a:lnSpc>
                <a:spcPct val="90000"/>
              </a:lnSpc>
              <a:buFont typeface="Wingdings 2" pitchFamily="18" charset="2"/>
              <a:buNone/>
            </a:pPr>
            <a:r>
              <a:rPr lang="en-US" sz="2200" b="1" smtClean="0">
                <a:solidFill>
                  <a:schemeClr val="tx1"/>
                </a:solidFill>
              </a:rPr>
              <a:t>regression.</a:t>
            </a:r>
          </a:p>
          <a:p>
            <a:pPr eaLnBrk="1" hangingPunct="1">
              <a:lnSpc>
                <a:spcPct val="90000"/>
              </a:lnSpc>
              <a:buFont typeface="Wingdings 2" pitchFamily="18" charset="2"/>
              <a:buNone/>
            </a:pPr>
            <a:r>
              <a:rPr lang="en-US" sz="2200" b="1" smtClean="0">
                <a:solidFill>
                  <a:schemeClr val="tx1"/>
                </a:solidFill>
              </a:rPr>
              <a:t>Although it is an appealing technique, pooling the time series and cross </a:t>
            </a:r>
          </a:p>
          <a:p>
            <a:pPr eaLnBrk="1" hangingPunct="1">
              <a:lnSpc>
                <a:spcPct val="90000"/>
              </a:lnSpc>
              <a:buFont typeface="Wingdings 2" pitchFamily="18" charset="2"/>
              <a:buNone/>
            </a:pPr>
            <a:r>
              <a:rPr lang="en-US" sz="2200" b="1" smtClean="0">
                <a:solidFill>
                  <a:schemeClr val="tx1"/>
                </a:solidFill>
              </a:rPr>
              <a:t>sectional data in the manner just suggested may create problems of </a:t>
            </a:r>
          </a:p>
          <a:p>
            <a:pPr eaLnBrk="1" hangingPunct="1">
              <a:lnSpc>
                <a:spcPct val="90000"/>
              </a:lnSpc>
              <a:buFont typeface="Wingdings 2" pitchFamily="18" charset="2"/>
              <a:buNone/>
            </a:pPr>
            <a:r>
              <a:rPr lang="en-US" sz="2200" b="1" smtClean="0">
                <a:solidFill>
                  <a:schemeClr val="tx1"/>
                </a:solidFill>
              </a:rPr>
              <a:t>interpretation, because we are assuming implicitly that cross-sectionally</a:t>
            </a:r>
          </a:p>
          <a:p>
            <a:pPr eaLnBrk="1" hangingPunct="1">
              <a:lnSpc>
                <a:spcPct val="90000"/>
              </a:lnSpc>
              <a:buFont typeface="Wingdings 2" pitchFamily="18" charset="2"/>
              <a:buNone/>
            </a:pPr>
            <a:r>
              <a:rPr lang="en-US" sz="2200" b="1" smtClean="0">
                <a:solidFill>
                  <a:schemeClr val="tx1"/>
                </a:solidFill>
              </a:rPr>
              <a:t>estimated income elasticity is the same thing as that which would be </a:t>
            </a:r>
          </a:p>
          <a:p>
            <a:pPr eaLnBrk="1" hangingPunct="1">
              <a:lnSpc>
                <a:spcPct val="90000"/>
              </a:lnSpc>
              <a:buFont typeface="Wingdings 2" pitchFamily="18" charset="2"/>
              <a:buNone/>
            </a:pPr>
            <a:r>
              <a:rPr lang="en-US" sz="2200" b="1" smtClean="0">
                <a:solidFill>
                  <a:schemeClr val="tx1"/>
                </a:solidFill>
              </a:rPr>
              <a:t>obtained from pure time series analysis. Nevertheless, the technique has </a:t>
            </a:r>
          </a:p>
          <a:p>
            <a:pPr eaLnBrk="1" hangingPunct="1">
              <a:lnSpc>
                <a:spcPct val="90000"/>
              </a:lnSpc>
              <a:buFont typeface="Wingdings 2" pitchFamily="18" charset="2"/>
              <a:buNone/>
            </a:pPr>
            <a:r>
              <a:rPr lang="en-US" sz="2200" b="1" smtClean="0">
                <a:solidFill>
                  <a:schemeClr val="tx1"/>
                </a:solidFill>
              </a:rPr>
              <a:t>been used in many applications and is worthy of considerations in the </a:t>
            </a:r>
          </a:p>
          <a:p>
            <a:pPr eaLnBrk="1" hangingPunct="1">
              <a:lnSpc>
                <a:spcPct val="90000"/>
              </a:lnSpc>
              <a:buFont typeface="Wingdings 2" pitchFamily="18" charset="2"/>
              <a:buNone/>
            </a:pPr>
            <a:r>
              <a:rPr lang="en-US" sz="2200" b="1" smtClean="0">
                <a:solidFill>
                  <a:schemeClr val="tx1"/>
                </a:solidFill>
              </a:rPr>
              <a:t>situation where the cross-sectional estimates do not vary substantially from </a:t>
            </a:r>
          </a:p>
          <a:p>
            <a:pPr eaLnBrk="1" hangingPunct="1">
              <a:lnSpc>
                <a:spcPct val="90000"/>
              </a:lnSpc>
              <a:buFont typeface="Wingdings 2" pitchFamily="18" charset="2"/>
              <a:buNone/>
            </a:pPr>
            <a:r>
              <a:rPr lang="en-US" sz="2200" b="1" smtClean="0">
                <a:solidFill>
                  <a:schemeClr val="tx1"/>
                </a:solidFill>
              </a:rPr>
              <a:t>one cross-section to another.  </a:t>
            </a:r>
          </a:p>
        </p:txBody>
      </p:sp>
      <p:sp>
        <p:nvSpPr>
          <p:cNvPr id="55299"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sp>
        <p:nvSpPr>
          <p:cNvPr id="55300" name="Rectangle 4"/>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55301"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178050" y="2162175"/>
            <a:ext cx="184150" cy="428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143000"/>
            <a:ext cx="8915400" cy="5715000"/>
          </a:xfrm>
        </p:spPr>
        <p:txBody>
          <a:bodyPr>
            <a:normAutofit/>
          </a:bodyPr>
          <a:lstStyle/>
          <a:p>
            <a:pPr eaLnBrk="1" fontAlgn="auto" hangingPunct="1">
              <a:spcAft>
                <a:spcPts val="0"/>
              </a:spcAft>
              <a:buClrTx/>
              <a:buFont typeface="Wingdings" pitchFamily="2" charset="2"/>
              <a:buChar char="Ø"/>
              <a:defRPr/>
            </a:pPr>
            <a:r>
              <a:rPr lang="en-US" sz="2400" b="1" u="sng" dirty="0" smtClean="0">
                <a:solidFill>
                  <a:schemeClr val="tx1"/>
                </a:solidFill>
                <a:latin typeface="+mj-lt"/>
              </a:rPr>
              <a:t>Dropping a Variable(s) and Specification bias</a:t>
            </a:r>
          </a:p>
          <a:p>
            <a:pPr eaLnBrk="1" fontAlgn="auto" hangingPunct="1">
              <a:spcAft>
                <a:spcPts val="0"/>
              </a:spcAft>
              <a:buFont typeface="Wingdings 2"/>
              <a:buNone/>
              <a:defRPr/>
            </a:pPr>
            <a:r>
              <a:rPr lang="en-US" sz="2200" b="1" dirty="0" smtClean="0">
                <a:solidFill>
                  <a:schemeClr val="tx1"/>
                </a:solidFill>
              </a:rPr>
              <a:t>When faced with severe multicollinearity one of the simples things to drop </a:t>
            </a:r>
          </a:p>
          <a:p>
            <a:pPr eaLnBrk="1" fontAlgn="auto" hangingPunct="1">
              <a:spcAft>
                <a:spcPts val="0"/>
              </a:spcAft>
              <a:buFont typeface="Wingdings 2"/>
              <a:buNone/>
              <a:defRPr/>
            </a:pPr>
            <a:r>
              <a:rPr lang="en-US" sz="2200" b="1" dirty="0" smtClean="0">
                <a:solidFill>
                  <a:schemeClr val="tx1"/>
                </a:solidFill>
              </a:rPr>
              <a:t>one of the collinear variables.</a:t>
            </a:r>
          </a:p>
          <a:p>
            <a:pPr eaLnBrk="1" fontAlgn="auto" hangingPunct="1">
              <a:spcAft>
                <a:spcPts val="0"/>
              </a:spcAft>
              <a:buFont typeface="Wingdings 2"/>
              <a:buNone/>
              <a:defRPr/>
            </a:pPr>
            <a:r>
              <a:rPr lang="en-US" sz="2200" b="1" dirty="0" smtClean="0">
                <a:solidFill>
                  <a:schemeClr val="tx1"/>
                </a:solidFill>
              </a:rPr>
              <a:t>But by dropping a variable from the model we may be committing a </a:t>
            </a:r>
          </a:p>
          <a:p>
            <a:pPr eaLnBrk="1" fontAlgn="auto" hangingPunct="1">
              <a:spcAft>
                <a:spcPts val="0"/>
              </a:spcAft>
              <a:buFont typeface="Wingdings 2"/>
              <a:buNone/>
              <a:defRPr/>
            </a:pPr>
            <a:r>
              <a:rPr lang="en-US" sz="2200" b="1" dirty="0" smtClean="0">
                <a:solidFill>
                  <a:schemeClr val="tx1"/>
                </a:solidFill>
              </a:rPr>
              <a:t>specification bias or specification error. Specification bias arises from </a:t>
            </a:r>
          </a:p>
          <a:p>
            <a:pPr eaLnBrk="1" fontAlgn="auto" hangingPunct="1">
              <a:spcAft>
                <a:spcPts val="0"/>
              </a:spcAft>
              <a:buFont typeface="Wingdings 2"/>
              <a:buNone/>
              <a:defRPr/>
            </a:pPr>
            <a:r>
              <a:rPr lang="en-US" sz="2200" b="1" dirty="0" smtClean="0">
                <a:solidFill>
                  <a:schemeClr val="tx1"/>
                </a:solidFill>
              </a:rPr>
              <a:t>incorrect specification of Model used in the analysis.   </a:t>
            </a:r>
          </a:p>
          <a:p>
            <a:pPr eaLnBrk="1" fontAlgn="auto" hangingPunct="1">
              <a:spcAft>
                <a:spcPts val="0"/>
              </a:spcAft>
              <a:buFont typeface="Wingdings 2"/>
              <a:buNone/>
              <a:defRPr/>
            </a:pPr>
            <a:r>
              <a:rPr lang="en-US" sz="2200" b="1" dirty="0" smtClean="0">
                <a:solidFill>
                  <a:schemeClr val="tx1"/>
                </a:solidFill>
              </a:rPr>
              <a:t>IF, for example, the true model is </a:t>
            </a:r>
          </a:p>
          <a:p>
            <a:pPr algn="ctr" eaLnBrk="1" fontAlgn="auto" hangingPunct="1">
              <a:spcAft>
                <a:spcPts val="0"/>
              </a:spcAft>
              <a:buFont typeface="Wingdings 2"/>
              <a:buNone/>
              <a:defRPr/>
            </a:pPr>
            <a:r>
              <a:rPr lang="en-US" sz="2000" b="1" dirty="0" smtClean="0">
                <a:solidFill>
                  <a:schemeClr val="tx1"/>
                </a:solidFill>
              </a:rPr>
              <a:t>Y</a:t>
            </a:r>
            <a:r>
              <a:rPr lang="en-US" sz="2000" b="1" baseline="-25000" dirty="0" smtClean="0">
                <a:solidFill>
                  <a:schemeClr val="tx1"/>
                </a:solidFill>
              </a:rPr>
              <a:t>i</a:t>
            </a:r>
            <a:r>
              <a:rPr lang="en-US" sz="2000" b="1" dirty="0" smtClean="0">
                <a:solidFill>
                  <a:schemeClr val="tx1"/>
                </a:solidFill>
              </a:rPr>
              <a:t> = β</a:t>
            </a:r>
            <a:r>
              <a:rPr lang="en-US" sz="2000" b="1" baseline="-25000" dirty="0" smtClean="0">
                <a:solidFill>
                  <a:schemeClr val="tx1"/>
                </a:solidFill>
              </a:rPr>
              <a:t>1 </a:t>
            </a:r>
            <a:r>
              <a:rPr lang="en-US" sz="2000" b="1" dirty="0" smtClean="0">
                <a:solidFill>
                  <a:schemeClr val="tx1"/>
                </a:solidFill>
              </a:rPr>
              <a:t>+ β</a:t>
            </a:r>
            <a:r>
              <a:rPr lang="en-US" sz="2000" b="1" baseline="-25000" dirty="0" smtClean="0">
                <a:solidFill>
                  <a:schemeClr val="tx1"/>
                </a:solidFill>
              </a:rPr>
              <a:t>2</a:t>
            </a:r>
            <a:r>
              <a:rPr lang="en-US" sz="2000" b="1" dirty="0" smtClean="0">
                <a:solidFill>
                  <a:schemeClr val="tx1"/>
                </a:solidFill>
              </a:rPr>
              <a:t>X</a:t>
            </a:r>
            <a:r>
              <a:rPr lang="en-US" sz="2000" b="1" baseline="-25000" dirty="0" smtClean="0">
                <a:solidFill>
                  <a:schemeClr val="tx1"/>
                </a:solidFill>
              </a:rPr>
              <a:t>2i</a:t>
            </a:r>
            <a:r>
              <a:rPr lang="en-US" sz="2000" b="1" dirty="0" smtClean="0">
                <a:solidFill>
                  <a:schemeClr val="tx1"/>
                </a:solidFill>
              </a:rPr>
              <a:t> + β</a:t>
            </a:r>
            <a:r>
              <a:rPr lang="en-US" sz="2000" b="1" baseline="-25000" dirty="0" smtClean="0">
                <a:solidFill>
                  <a:schemeClr val="tx1"/>
                </a:solidFill>
              </a:rPr>
              <a:t>3</a:t>
            </a:r>
            <a:r>
              <a:rPr lang="en-US" sz="2000" b="1" dirty="0" smtClean="0">
                <a:solidFill>
                  <a:schemeClr val="tx1"/>
                </a:solidFill>
              </a:rPr>
              <a:t>X</a:t>
            </a:r>
            <a:r>
              <a:rPr lang="en-US" sz="2000" b="1" baseline="-25000" dirty="0" smtClean="0">
                <a:solidFill>
                  <a:schemeClr val="tx1"/>
                </a:solidFill>
              </a:rPr>
              <a:t>3i</a:t>
            </a:r>
            <a:r>
              <a:rPr lang="en-US" sz="2000" b="1" dirty="0" smtClean="0">
                <a:solidFill>
                  <a:schemeClr val="tx1"/>
                </a:solidFill>
              </a:rPr>
              <a:t> + </a:t>
            </a:r>
            <a:r>
              <a:rPr lang="en-US" sz="2000" b="1" dirty="0" err="1" smtClean="0">
                <a:solidFill>
                  <a:schemeClr val="tx1"/>
                </a:solidFill>
              </a:rPr>
              <a:t>u</a:t>
            </a:r>
            <a:r>
              <a:rPr lang="en-US" sz="2000" b="1" baseline="-25000" dirty="0" err="1" smtClean="0">
                <a:solidFill>
                  <a:schemeClr val="tx1"/>
                </a:solidFill>
              </a:rPr>
              <a:t>i</a:t>
            </a:r>
            <a:r>
              <a:rPr lang="en-US" sz="2000" b="1" baseline="-25000" dirty="0" smtClean="0">
                <a:solidFill>
                  <a:schemeClr val="tx1"/>
                </a:solidFill>
              </a:rPr>
              <a:t> </a:t>
            </a:r>
            <a:r>
              <a:rPr lang="en-US" sz="2000" b="1" dirty="0" smtClean="0">
                <a:solidFill>
                  <a:schemeClr val="tx1"/>
                </a:solidFill>
              </a:rPr>
              <a:t> …………….1</a:t>
            </a:r>
            <a:endParaRPr lang="en-US" sz="2000" b="1" baseline="-25000" dirty="0" smtClean="0">
              <a:solidFill>
                <a:schemeClr val="tx1"/>
              </a:solidFill>
            </a:endParaRPr>
          </a:p>
          <a:p>
            <a:pPr eaLnBrk="1" fontAlgn="auto" hangingPunct="1">
              <a:spcAft>
                <a:spcPts val="0"/>
              </a:spcAft>
              <a:buFont typeface="Wingdings 2"/>
              <a:buNone/>
              <a:defRPr/>
            </a:pPr>
            <a:r>
              <a:rPr lang="en-US" sz="2000" b="1" baseline="-25000" dirty="0" smtClean="0">
                <a:solidFill>
                  <a:schemeClr val="tx1"/>
                </a:solidFill>
              </a:rPr>
              <a:t> </a:t>
            </a:r>
            <a:r>
              <a:rPr lang="en-US" sz="2200" b="1" dirty="0" smtClean="0">
                <a:solidFill>
                  <a:schemeClr val="tx1"/>
                </a:solidFill>
              </a:rPr>
              <a:t>but we mistakenly fit the model,</a:t>
            </a:r>
          </a:p>
          <a:p>
            <a:pPr algn="ctr" eaLnBrk="1" fontAlgn="auto" hangingPunct="1">
              <a:spcAft>
                <a:spcPts val="0"/>
              </a:spcAft>
              <a:buFont typeface="Wingdings 2"/>
              <a:buNone/>
              <a:defRPr/>
            </a:pPr>
            <a:r>
              <a:rPr lang="en-US" sz="2200" b="1" dirty="0" smtClean="0">
                <a:solidFill>
                  <a:schemeClr val="tx1"/>
                </a:solidFill>
              </a:rPr>
              <a:t>Y</a:t>
            </a:r>
            <a:r>
              <a:rPr lang="en-US" sz="2200" b="1" baseline="-25000" dirty="0" smtClean="0">
                <a:solidFill>
                  <a:schemeClr val="tx1"/>
                </a:solidFill>
              </a:rPr>
              <a:t>i</a:t>
            </a:r>
            <a:r>
              <a:rPr lang="en-US" sz="2200" b="1" dirty="0" smtClean="0">
                <a:solidFill>
                  <a:schemeClr val="tx1"/>
                </a:solidFill>
              </a:rPr>
              <a:t> =</a:t>
            </a:r>
            <a:r>
              <a:rPr lang="en-US" sz="2200" b="1" i="1" dirty="0" smtClean="0">
                <a:solidFill>
                  <a:schemeClr val="tx1"/>
                </a:solidFill>
              </a:rPr>
              <a:t>b</a:t>
            </a:r>
            <a:r>
              <a:rPr lang="en-US" sz="2200" b="1" i="1" baseline="-25000" dirty="0" smtClean="0">
                <a:solidFill>
                  <a:schemeClr val="tx1"/>
                </a:solidFill>
              </a:rPr>
              <a:t>1</a:t>
            </a:r>
            <a:r>
              <a:rPr lang="en-US" sz="2200" b="1" i="1" dirty="0" smtClean="0">
                <a:solidFill>
                  <a:schemeClr val="tx1"/>
                </a:solidFill>
              </a:rPr>
              <a:t> + b</a:t>
            </a:r>
            <a:r>
              <a:rPr lang="en-US" sz="2200" b="1" i="1" baseline="-25000" dirty="0" smtClean="0">
                <a:solidFill>
                  <a:schemeClr val="tx1"/>
                </a:solidFill>
              </a:rPr>
              <a:t>12</a:t>
            </a:r>
            <a:r>
              <a:rPr lang="en-US" sz="2200" b="1" i="1" dirty="0" smtClean="0">
                <a:solidFill>
                  <a:schemeClr val="tx1"/>
                </a:solidFill>
              </a:rPr>
              <a:t> </a:t>
            </a:r>
            <a:r>
              <a:rPr lang="en-US" sz="2200" b="1" dirty="0" smtClean="0">
                <a:solidFill>
                  <a:schemeClr val="tx1"/>
                </a:solidFill>
              </a:rPr>
              <a:t>X</a:t>
            </a:r>
            <a:r>
              <a:rPr lang="en-US" sz="2200" b="1" baseline="-25000" dirty="0" smtClean="0">
                <a:solidFill>
                  <a:schemeClr val="tx1"/>
                </a:solidFill>
              </a:rPr>
              <a:t>2i</a:t>
            </a:r>
            <a:r>
              <a:rPr lang="en-US" sz="2200" b="1" dirty="0" smtClean="0">
                <a:solidFill>
                  <a:schemeClr val="tx1"/>
                </a:solidFill>
              </a:rPr>
              <a:t> + </a:t>
            </a:r>
            <a:r>
              <a:rPr lang="en-US" sz="2200" b="1" dirty="0" err="1" smtClean="0">
                <a:solidFill>
                  <a:schemeClr val="tx1"/>
                </a:solidFill>
              </a:rPr>
              <a:t>û</a:t>
            </a:r>
            <a:r>
              <a:rPr lang="en-US" sz="2200" b="1" baseline="-25000" dirty="0" err="1" smtClean="0">
                <a:solidFill>
                  <a:schemeClr val="tx1"/>
                </a:solidFill>
              </a:rPr>
              <a:t>i</a:t>
            </a:r>
            <a:r>
              <a:rPr lang="en-US" sz="2200" baseline="-25000" dirty="0" smtClean="0">
                <a:solidFill>
                  <a:schemeClr val="tx1"/>
                </a:solidFill>
              </a:rPr>
              <a:t> </a:t>
            </a:r>
            <a:r>
              <a:rPr lang="en-US" sz="2200" dirty="0" smtClean="0">
                <a:solidFill>
                  <a:schemeClr val="tx1"/>
                </a:solidFill>
              </a:rPr>
              <a:t>…………………</a:t>
            </a:r>
            <a:r>
              <a:rPr lang="en-US" sz="2200" b="1" dirty="0" smtClean="0">
                <a:solidFill>
                  <a:schemeClr val="tx1"/>
                </a:solidFill>
              </a:rPr>
              <a:t>2</a:t>
            </a:r>
          </a:p>
          <a:p>
            <a:pPr eaLnBrk="1" fontAlgn="auto" hangingPunct="1">
              <a:spcAft>
                <a:spcPts val="0"/>
              </a:spcAft>
              <a:buFont typeface="Wingdings 2"/>
              <a:buNone/>
              <a:defRPr/>
            </a:pPr>
            <a:r>
              <a:rPr lang="en-US" sz="2200" b="1" dirty="0" smtClean="0">
                <a:solidFill>
                  <a:schemeClr val="tx1"/>
                </a:solidFill>
              </a:rPr>
              <a:t>Then it can be shown that</a:t>
            </a:r>
          </a:p>
          <a:p>
            <a:pPr algn="ctr" eaLnBrk="1" fontAlgn="auto" hangingPunct="1">
              <a:spcAft>
                <a:spcPts val="0"/>
              </a:spcAft>
              <a:buFont typeface="Wingdings 2"/>
              <a:buNone/>
              <a:defRPr/>
            </a:pPr>
            <a:r>
              <a:rPr lang="en-US" sz="2200" b="1" dirty="0" smtClean="0">
                <a:solidFill>
                  <a:schemeClr val="tx1"/>
                </a:solidFill>
              </a:rPr>
              <a:t>E(</a:t>
            </a:r>
            <a:r>
              <a:rPr lang="en-US" sz="2200" b="1" i="1" dirty="0" smtClean="0">
                <a:solidFill>
                  <a:schemeClr val="tx1"/>
                </a:solidFill>
              </a:rPr>
              <a:t>b</a:t>
            </a:r>
            <a:r>
              <a:rPr lang="en-US" sz="2200" b="1" baseline="-25000" dirty="0" smtClean="0">
                <a:solidFill>
                  <a:schemeClr val="tx1"/>
                </a:solidFill>
              </a:rPr>
              <a:t>12</a:t>
            </a:r>
            <a:r>
              <a:rPr lang="en-US" sz="2200" b="1" dirty="0" smtClean="0">
                <a:solidFill>
                  <a:schemeClr val="tx1"/>
                </a:solidFill>
              </a:rPr>
              <a:t> ) = </a:t>
            </a:r>
            <a:r>
              <a:rPr lang="en-US" sz="2400" b="1" dirty="0" smtClean="0">
                <a:solidFill>
                  <a:schemeClr val="tx1"/>
                </a:solidFill>
              </a:rPr>
              <a:t>β</a:t>
            </a:r>
            <a:r>
              <a:rPr lang="en-US" sz="2400" b="1" baseline="-25000" dirty="0" smtClean="0">
                <a:solidFill>
                  <a:schemeClr val="tx1"/>
                </a:solidFill>
              </a:rPr>
              <a:t>2</a:t>
            </a:r>
            <a:r>
              <a:rPr lang="en-US" sz="2400" b="1" dirty="0" smtClean="0">
                <a:solidFill>
                  <a:schemeClr val="tx1"/>
                </a:solidFill>
              </a:rPr>
              <a:t> + β</a:t>
            </a:r>
            <a:r>
              <a:rPr lang="en-US" sz="2400" b="1" baseline="-25000" dirty="0" smtClean="0">
                <a:solidFill>
                  <a:schemeClr val="tx1"/>
                </a:solidFill>
              </a:rPr>
              <a:t>3</a:t>
            </a:r>
            <a:r>
              <a:rPr lang="en-US" sz="2400" b="1" dirty="0" smtClean="0">
                <a:solidFill>
                  <a:schemeClr val="tx1"/>
                </a:solidFill>
              </a:rPr>
              <a:t> </a:t>
            </a:r>
            <a:r>
              <a:rPr lang="en-US" sz="2400" b="1" i="1" dirty="0" smtClean="0">
                <a:solidFill>
                  <a:schemeClr val="tx1"/>
                </a:solidFill>
              </a:rPr>
              <a:t>b</a:t>
            </a:r>
            <a:r>
              <a:rPr lang="en-US" sz="2400" b="1" baseline="-25000" dirty="0" smtClean="0">
                <a:solidFill>
                  <a:schemeClr val="tx1"/>
                </a:solidFill>
              </a:rPr>
              <a:t>32</a:t>
            </a:r>
            <a:r>
              <a:rPr lang="en-US" sz="2400" b="1" dirty="0" smtClean="0">
                <a:solidFill>
                  <a:schemeClr val="tx1"/>
                </a:solidFill>
              </a:rPr>
              <a:t> ……………3</a:t>
            </a: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endParaRPr lang="en-US" sz="2200" b="1" baseline="-25000" dirty="0" smtClean="0">
              <a:solidFill>
                <a:schemeClr val="tx1"/>
              </a:solidFill>
            </a:endParaRPr>
          </a:p>
          <a:p>
            <a:pPr eaLnBrk="1" fontAlgn="auto" hangingPunct="1">
              <a:spcAft>
                <a:spcPts val="0"/>
              </a:spcAft>
              <a:buFont typeface="Wingdings 2"/>
              <a:buNone/>
              <a:defRPr/>
            </a:pPr>
            <a:endParaRPr lang="en-US" sz="2200" b="1" baseline="-25000" dirty="0" smtClean="0">
              <a:solidFill>
                <a:schemeClr val="tx1"/>
              </a:solidFill>
            </a:endParaRPr>
          </a:p>
          <a:p>
            <a:pPr algn="ctr" eaLnBrk="1" fontAlgn="auto" hangingPunct="1">
              <a:spcAft>
                <a:spcPts val="0"/>
              </a:spcAft>
              <a:buFont typeface="Wingdings 2"/>
              <a:buNone/>
              <a:defRPr/>
            </a:pPr>
            <a:endParaRPr lang="en-US" sz="2000" b="1" baseline="-25000" dirty="0" smtClean="0">
              <a:solidFill>
                <a:schemeClr val="tx1"/>
              </a:solidFill>
            </a:endParaRPr>
          </a:p>
          <a:p>
            <a:pPr algn="ctr" eaLnBrk="1" fontAlgn="auto" hangingPunct="1">
              <a:spcAft>
                <a:spcPts val="0"/>
              </a:spcAft>
              <a:buFont typeface="Wingdings 2"/>
              <a:buNone/>
              <a:defRPr/>
            </a:pPr>
            <a:endParaRPr lang="en-US" sz="2000" b="1" baseline="-25000" dirty="0" smtClean="0">
              <a:solidFill>
                <a:schemeClr val="tx1"/>
              </a:solidFill>
            </a:endParaRPr>
          </a:p>
          <a:p>
            <a:pPr algn="ctr" eaLnBrk="1" fontAlgn="auto" hangingPunct="1">
              <a:spcAft>
                <a:spcPts val="0"/>
              </a:spcAft>
              <a:buFont typeface="Wingdings 2"/>
              <a:buNone/>
              <a:defRPr/>
            </a:pPr>
            <a:endParaRPr lang="en-US" sz="2000" b="1" baseline="-25000" dirty="0" smtClean="0">
              <a:solidFill>
                <a:schemeClr val="tx1"/>
              </a:solidFill>
            </a:endParaRPr>
          </a:p>
          <a:p>
            <a:pPr algn="ctr" eaLnBrk="1" fontAlgn="auto" hangingPunct="1">
              <a:spcAft>
                <a:spcPts val="0"/>
              </a:spcAft>
              <a:buFont typeface="Wingdings 2"/>
              <a:buNone/>
              <a:defRPr/>
            </a:pPr>
            <a:endParaRPr lang="en-US" sz="2000" b="1" baseline="-25000" dirty="0" smtClean="0">
              <a:solidFill>
                <a:schemeClr val="tx1"/>
              </a:solidFill>
            </a:endParaRPr>
          </a:p>
          <a:p>
            <a:pPr algn="ctr" eaLnBrk="1" fontAlgn="auto" hangingPunct="1">
              <a:spcAft>
                <a:spcPts val="0"/>
              </a:spcAft>
              <a:buFont typeface="Wingdings 2"/>
              <a:buNone/>
              <a:defRPr/>
            </a:pPr>
            <a:endParaRPr lang="en-US" sz="2000" b="1" baseline="-25000" dirty="0" smtClean="0">
              <a:solidFill>
                <a:schemeClr val="tx1"/>
              </a:solidFill>
            </a:endParaRPr>
          </a:p>
          <a:p>
            <a:pPr algn="ctr" eaLnBrk="1" fontAlgn="auto" hangingPunct="1">
              <a:spcAft>
                <a:spcPts val="0"/>
              </a:spcAft>
              <a:buFont typeface="Wingdings 2"/>
              <a:buNone/>
              <a:defRPr/>
            </a:pPr>
            <a:endParaRPr lang="en-US" sz="2000" b="1" baseline="-25000" dirty="0" smtClean="0">
              <a:solidFill>
                <a:schemeClr val="tx1"/>
              </a:solidFill>
            </a:endParaRPr>
          </a:p>
          <a:p>
            <a:pPr eaLnBrk="1" fontAlgn="auto" hangingPunct="1">
              <a:spcAft>
                <a:spcPts val="0"/>
              </a:spcAft>
              <a:buFont typeface="Wingdings 2"/>
              <a:buNone/>
              <a:defRPr/>
            </a:pPr>
            <a:endParaRPr lang="en-US" sz="2000" b="1" baseline="-25000" dirty="0" smtClean="0">
              <a:solidFill>
                <a:schemeClr val="tx1"/>
              </a:solidFill>
            </a:endParaRPr>
          </a:p>
          <a:p>
            <a:pPr algn="ctr" eaLnBrk="1" fontAlgn="auto" hangingPunct="1">
              <a:spcAft>
                <a:spcPts val="0"/>
              </a:spcAft>
              <a:buFont typeface="Wingdings 2"/>
              <a:buNone/>
              <a:defRPr/>
            </a:pPr>
            <a:endParaRPr lang="en-US" sz="2200" b="1" baseline="-25000" dirty="0">
              <a:solidFill>
                <a:schemeClr val="tx1"/>
              </a:solidFill>
            </a:endParaRPr>
          </a:p>
          <a:p>
            <a:pPr algn="ctr" eaLnBrk="1" fontAlgn="auto" hangingPunct="1">
              <a:spcAft>
                <a:spcPts val="0"/>
              </a:spcAft>
              <a:buFont typeface="Wingdings 2"/>
              <a:buNone/>
              <a:defRPr/>
            </a:pPr>
            <a:endParaRPr lang="en-US" sz="2200" b="1" baseline="-25000" dirty="0" smtClean="0">
              <a:solidFill>
                <a:schemeClr val="tx1"/>
              </a:solidFill>
            </a:endParaRPr>
          </a:p>
          <a:p>
            <a:pPr algn="ctr" eaLnBrk="1" fontAlgn="auto" hangingPunct="1">
              <a:spcAft>
                <a:spcPts val="0"/>
              </a:spcAft>
              <a:buFont typeface="Wingdings 2"/>
              <a:buNone/>
              <a:defRPr/>
            </a:pPr>
            <a:endParaRPr lang="en-US" sz="2000" b="1" baseline="-25000" dirty="0" smtClean="0">
              <a:solidFill>
                <a:schemeClr val="tx1"/>
              </a:solidFill>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2"/>
          <p:cNvSpPr>
            <a:spLocks noGrp="1"/>
          </p:cNvSpPr>
          <p:nvPr>
            <p:ph idx="1"/>
          </p:nvPr>
        </p:nvSpPr>
        <p:spPr>
          <a:xfrm>
            <a:off x="76200" y="1066800"/>
            <a:ext cx="9067800" cy="5791200"/>
          </a:xfrm>
        </p:spPr>
        <p:txBody>
          <a:bodyPr/>
          <a:lstStyle/>
          <a:p>
            <a:pPr eaLnBrk="1" hangingPunct="1">
              <a:buFont typeface="Wingdings 2" pitchFamily="18" charset="2"/>
              <a:buNone/>
            </a:pPr>
            <a:r>
              <a:rPr lang="en-US" sz="2100" b="1" smtClean="0">
                <a:solidFill>
                  <a:schemeClr val="tx1"/>
                </a:solidFill>
              </a:rPr>
              <a:t>where</a:t>
            </a:r>
            <a:r>
              <a:rPr lang="en-US" sz="2100" smtClean="0"/>
              <a:t> </a:t>
            </a:r>
            <a:r>
              <a:rPr lang="en-US" sz="2100" b="1" i="1" smtClean="0">
                <a:solidFill>
                  <a:schemeClr val="tx1"/>
                </a:solidFill>
              </a:rPr>
              <a:t>b</a:t>
            </a:r>
            <a:r>
              <a:rPr lang="en-US" sz="2100" b="1" i="1" baseline="-25000" smtClean="0">
                <a:solidFill>
                  <a:schemeClr val="tx1"/>
                </a:solidFill>
              </a:rPr>
              <a:t>32</a:t>
            </a:r>
            <a:r>
              <a:rPr lang="en-US" sz="2100" b="1" i="1" smtClean="0">
                <a:solidFill>
                  <a:schemeClr val="tx1"/>
                </a:solidFill>
              </a:rPr>
              <a:t> = </a:t>
            </a:r>
            <a:r>
              <a:rPr lang="en-US" sz="2100" b="1" smtClean="0">
                <a:solidFill>
                  <a:schemeClr val="tx1"/>
                </a:solidFill>
              </a:rPr>
              <a:t>slope coefficient in the regression of X</a:t>
            </a:r>
            <a:r>
              <a:rPr lang="en-US" sz="2100" b="1" baseline="-25000" smtClean="0">
                <a:solidFill>
                  <a:schemeClr val="tx1"/>
                </a:solidFill>
              </a:rPr>
              <a:t>3</a:t>
            </a:r>
            <a:r>
              <a:rPr lang="en-US" sz="2100" b="1" smtClean="0">
                <a:solidFill>
                  <a:schemeClr val="tx1"/>
                </a:solidFill>
              </a:rPr>
              <a:t> and X</a:t>
            </a:r>
            <a:r>
              <a:rPr lang="en-US" sz="2100" b="1" baseline="-25000" smtClean="0">
                <a:solidFill>
                  <a:schemeClr val="tx1"/>
                </a:solidFill>
              </a:rPr>
              <a:t>2.</a:t>
            </a:r>
            <a:r>
              <a:rPr lang="en-US" sz="2100" b="1" smtClean="0">
                <a:solidFill>
                  <a:schemeClr val="tx1"/>
                </a:solidFill>
              </a:rPr>
              <a:t> There fore it is </a:t>
            </a:r>
          </a:p>
          <a:p>
            <a:pPr eaLnBrk="1" hangingPunct="1">
              <a:buFont typeface="Wingdings 2" pitchFamily="18" charset="2"/>
              <a:buNone/>
            </a:pPr>
            <a:r>
              <a:rPr lang="en-US" sz="2100" b="1" smtClean="0">
                <a:solidFill>
                  <a:schemeClr val="tx1"/>
                </a:solidFill>
              </a:rPr>
              <a:t>obvious from above equation that </a:t>
            </a:r>
            <a:r>
              <a:rPr lang="en-US" sz="2100" b="1" i="1" smtClean="0">
                <a:solidFill>
                  <a:schemeClr val="tx1"/>
                </a:solidFill>
              </a:rPr>
              <a:t>b</a:t>
            </a:r>
            <a:r>
              <a:rPr lang="en-US" sz="2100" b="1" baseline="-25000" smtClean="0">
                <a:solidFill>
                  <a:schemeClr val="tx1"/>
                </a:solidFill>
              </a:rPr>
              <a:t>12</a:t>
            </a:r>
            <a:r>
              <a:rPr lang="en-US" sz="2100" b="1" smtClean="0">
                <a:solidFill>
                  <a:schemeClr val="tx1"/>
                </a:solidFill>
              </a:rPr>
              <a:t> will be a biased estimate of β</a:t>
            </a:r>
            <a:r>
              <a:rPr lang="en-US" sz="2100" b="1" baseline="-25000" smtClean="0">
                <a:solidFill>
                  <a:schemeClr val="tx1"/>
                </a:solidFill>
              </a:rPr>
              <a:t>2</a:t>
            </a:r>
            <a:r>
              <a:rPr lang="en-US" sz="2100" b="1" smtClean="0">
                <a:solidFill>
                  <a:schemeClr val="tx1"/>
                </a:solidFill>
              </a:rPr>
              <a:t> as </a:t>
            </a:r>
          </a:p>
          <a:p>
            <a:pPr eaLnBrk="1" hangingPunct="1">
              <a:buFont typeface="Wingdings 2" pitchFamily="18" charset="2"/>
              <a:buNone/>
            </a:pPr>
            <a:r>
              <a:rPr lang="en-US" sz="2100" b="1" smtClean="0">
                <a:solidFill>
                  <a:schemeClr val="tx1"/>
                </a:solidFill>
              </a:rPr>
              <a:t>long  as </a:t>
            </a:r>
            <a:r>
              <a:rPr lang="en-US" sz="2100" b="1" i="1" smtClean="0">
                <a:solidFill>
                  <a:schemeClr val="tx1"/>
                </a:solidFill>
              </a:rPr>
              <a:t>b</a:t>
            </a:r>
            <a:r>
              <a:rPr lang="en-US" sz="2100" b="1" baseline="-25000" smtClean="0">
                <a:solidFill>
                  <a:schemeClr val="tx1"/>
                </a:solidFill>
              </a:rPr>
              <a:t>32</a:t>
            </a:r>
            <a:r>
              <a:rPr lang="en-US" sz="2100" b="1" smtClean="0">
                <a:solidFill>
                  <a:schemeClr val="tx1"/>
                </a:solidFill>
              </a:rPr>
              <a:t> is different from zero. Of course, if b</a:t>
            </a:r>
            <a:r>
              <a:rPr lang="en-US" sz="2100" b="1" i="1" baseline="-25000" smtClean="0">
                <a:solidFill>
                  <a:schemeClr val="tx1"/>
                </a:solidFill>
              </a:rPr>
              <a:t>32 </a:t>
            </a:r>
            <a:r>
              <a:rPr lang="en-US" sz="2100" b="1" i="1" smtClean="0">
                <a:solidFill>
                  <a:schemeClr val="tx1"/>
                </a:solidFill>
              </a:rPr>
              <a:t> </a:t>
            </a:r>
            <a:r>
              <a:rPr lang="en-US" sz="2100" b="1" smtClean="0">
                <a:solidFill>
                  <a:schemeClr val="tx1"/>
                </a:solidFill>
              </a:rPr>
              <a:t>from equation 3 that if</a:t>
            </a:r>
          </a:p>
          <a:p>
            <a:pPr eaLnBrk="1" hangingPunct="1">
              <a:buFont typeface="Wingdings 2" pitchFamily="18" charset="2"/>
              <a:buNone/>
            </a:pPr>
            <a:r>
              <a:rPr lang="en-US" sz="2100" b="1" smtClean="0">
                <a:solidFill>
                  <a:schemeClr val="tx1"/>
                </a:solidFill>
              </a:rPr>
              <a:t>both b</a:t>
            </a:r>
            <a:r>
              <a:rPr lang="en-US" sz="2100" b="1" i="1" baseline="-25000" smtClean="0">
                <a:solidFill>
                  <a:schemeClr val="tx1"/>
                </a:solidFill>
              </a:rPr>
              <a:t>32</a:t>
            </a:r>
            <a:r>
              <a:rPr lang="en-US" sz="2100" b="1" i="1" smtClean="0">
                <a:solidFill>
                  <a:schemeClr val="tx1"/>
                </a:solidFill>
              </a:rPr>
              <a:t> and </a:t>
            </a:r>
            <a:r>
              <a:rPr lang="en-US" sz="2100" b="1" smtClean="0">
                <a:solidFill>
                  <a:schemeClr val="tx1"/>
                </a:solidFill>
              </a:rPr>
              <a:t> β</a:t>
            </a:r>
            <a:r>
              <a:rPr lang="en-US" sz="2100" b="1" baseline="-25000" smtClean="0">
                <a:solidFill>
                  <a:schemeClr val="tx1"/>
                </a:solidFill>
              </a:rPr>
              <a:t>3</a:t>
            </a:r>
            <a:r>
              <a:rPr lang="en-US" sz="2100" b="1" smtClean="0">
                <a:solidFill>
                  <a:schemeClr val="tx1"/>
                </a:solidFill>
              </a:rPr>
              <a:t> are positive E(</a:t>
            </a:r>
            <a:r>
              <a:rPr lang="en-US" sz="2100" b="1" i="1" smtClean="0">
                <a:solidFill>
                  <a:schemeClr val="tx1"/>
                </a:solidFill>
              </a:rPr>
              <a:t>b</a:t>
            </a:r>
            <a:r>
              <a:rPr lang="en-US" sz="2100" b="1" baseline="-25000" smtClean="0">
                <a:solidFill>
                  <a:schemeClr val="tx1"/>
                </a:solidFill>
              </a:rPr>
              <a:t>12</a:t>
            </a:r>
            <a:r>
              <a:rPr lang="en-US" sz="2100" b="1" smtClean="0">
                <a:solidFill>
                  <a:schemeClr val="tx1"/>
                </a:solidFill>
              </a:rPr>
              <a:t> ) will be greater than β</a:t>
            </a:r>
            <a:r>
              <a:rPr lang="en-US" sz="2100" b="1" baseline="-25000" smtClean="0">
                <a:solidFill>
                  <a:schemeClr val="tx1"/>
                </a:solidFill>
              </a:rPr>
              <a:t>2</a:t>
            </a:r>
            <a:r>
              <a:rPr lang="en-US" sz="2100" b="1" smtClean="0">
                <a:solidFill>
                  <a:schemeClr val="tx1"/>
                </a:solidFill>
              </a:rPr>
              <a:t> ; hence, on the </a:t>
            </a:r>
          </a:p>
          <a:p>
            <a:pPr eaLnBrk="1" hangingPunct="1">
              <a:buFont typeface="Wingdings 2" pitchFamily="18" charset="2"/>
              <a:buNone/>
            </a:pPr>
            <a:r>
              <a:rPr lang="en-US" sz="2100" b="1" smtClean="0">
                <a:solidFill>
                  <a:schemeClr val="tx1"/>
                </a:solidFill>
              </a:rPr>
              <a:t>average </a:t>
            </a:r>
            <a:r>
              <a:rPr lang="en-US" sz="2100" b="1" i="1" smtClean="0">
                <a:solidFill>
                  <a:schemeClr val="tx1"/>
                </a:solidFill>
              </a:rPr>
              <a:t>b</a:t>
            </a:r>
            <a:r>
              <a:rPr lang="en-US" sz="2100" b="1" baseline="-25000" smtClean="0">
                <a:solidFill>
                  <a:schemeClr val="tx1"/>
                </a:solidFill>
              </a:rPr>
              <a:t>12</a:t>
            </a:r>
            <a:r>
              <a:rPr lang="en-US" sz="2100" b="1" smtClean="0">
                <a:solidFill>
                  <a:schemeClr val="tx1"/>
                </a:solidFill>
              </a:rPr>
              <a:t> will over estimate β</a:t>
            </a:r>
            <a:r>
              <a:rPr lang="en-US" sz="2100" b="1" baseline="-25000" smtClean="0">
                <a:solidFill>
                  <a:schemeClr val="tx1"/>
                </a:solidFill>
              </a:rPr>
              <a:t>2</a:t>
            </a:r>
            <a:r>
              <a:rPr lang="en-US" sz="2100" b="1" smtClean="0">
                <a:solidFill>
                  <a:schemeClr val="tx1"/>
                </a:solidFill>
              </a:rPr>
              <a:t> , leading to positive bias. Similarly, if </a:t>
            </a:r>
          </a:p>
          <a:p>
            <a:pPr eaLnBrk="1" hangingPunct="1">
              <a:buFont typeface="Wingdings 2" pitchFamily="18" charset="2"/>
              <a:buNone/>
            </a:pPr>
            <a:r>
              <a:rPr lang="en-US" sz="2100" b="1" smtClean="0">
                <a:solidFill>
                  <a:schemeClr val="tx1"/>
                </a:solidFill>
              </a:rPr>
              <a:t>product </a:t>
            </a:r>
            <a:r>
              <a:rPr lang="en-US" sz="2100" b="1" i="1" smtClean="0">
                <a:solidFill>
                  <a:schemeClr val="tx1"/>
                </a:solidFill>
              </a:rPr>
              <a:t>b</a:t>
            </a:r>
            <a:r>
              <a:rPr lang="en-US" sz="2100" b="1" baseline="-25000" smtClean="0">
                <a:solidFill>
                  <a:schemeClr val="tx1"/>
                </a:solidFill>
              </a:rPr>
              <a:t>32</a:t>
            </a:r>
            <a:r>
              <a:rPr lang="en-US" sz="2100" b="1" smtClean="0">
                <a:solidFill>
                  <a:schemeClr val="tx1"/>
                </a:solidFill>
              </a:rPr>
              <a:t> β</a:t>
            </a:r>
            <a:r>
              <a:rPr lang="en-US" sz="2100" b="1" baseline="-25000" smtClean="0">
                <a:solidFill>
                  <a:schemeClr val="tx1"/>
                </a:solidFill>
              </a:rPr>
              <a:t>3</a:t>
            </a:r>
            <a:r>
              <a:rPr lang="en-US" sz="2100" b="1" smtClean="0">
                <a:solidFill>
                  <a:schemeClr val="tx1"/>
                </a:solidFill>
              </a:rPr>
              <a:t> is negative, on the average, </a:t>
            </a:r>
            <a:r>
              <a:rPr lang="en-US" sz="2100" b="1" i="1" smtClean="0">
                <a:solidFill>
                  <a:schemeClr val="tx1"/>
                </a:solidFill>
              </a:rPr>
              <a:t>b</a:t>
            </a:r>
            <a:r>
              <a:rPr lang="en-US" sz="2100" b="1" baseline="-25000" smtClean="0">
                <a:solidFill>
                  <a:schemeClr val="tx1"/>
                </a:solidFill>
              </a:rPr>
              <a:t>12</a:t>
            </a:r>
            <a:r>
              <a:rPr lang="en-US" sz="2100" b="1" smtClean="0">
                <a:solidFill>
                  <a:schemeClr val="tx1"/>
                </a:solidFill>
              </a:rPr>
              <a:t> will under estimate β</a:t>
            </a:r>
            <a:r>
              <a:rPr lang="en-US" sz="2100" b="1" baseline="-25000" smtClean="0">
                <a:solidFill>
                  <a:schemeClr val="tx1"/>
                </a:solidFill>
              </a:rPr>
              <a:t>2 </a:t>
            </a:r>
            <a:r>
              <a:rPr lang="en-US" sz="2100" b="1" smtClean="0">
                <a:solidFill>
                  <a:schemeClr val="tx1"/>
                </a:solidFill>
              </a:rPr>
              <a:t> , </a:t>
            </a:r>
          </a:p>
          <a:p>
            <a:pPr eaLnBrk="1" hangingPunct="1">
              <a:buFont typeface="Wingdings 2" pitchFamily="18" charset="2"/>
              <a:buNone/>
            </a:pPr>
            <a:r>
              <a:rPr lang="en-US" sz="2100" b="1" smtClean="0">
                <a:solidFill>
                  <a:schemeClr val="tx1"/>
                </a:solidFill>
              </a:rPr>
              <a:t>leading to negative bias.</a:t>
            </a:r>
          </a:p>
          <a:p>
            <a:pPr eaLnBrk="1" hangingPunct="1">
              <a:buFont typeface="Wingdings 2" pitchFamily="18" charset="2"/>
              <a:buNone/>
            </a:pPr>
            <a:endParaRPr lang="en-US" sz="2100" b="1" smtClean="0">
              <a:solidFill>
                <a:schemeClr val="tx1"/>
              </a:solidFill>
            </a:endParaRPr>
          </a:p>
          <a:p>
            <a:pPr eaLnBrk="1" hangingPunct="1">
              <a:buFont typeface="Wingdings 2" pitchFamily="18" charset="2"/>
              <a:buNone/>
            </a:pPr>
            <a:r>
              <a:rPr lang="en-US" sz="2100" b="1" smtClean="0">
                <a:solidFill>
                  <a:schemeClr val="tx1"/>
                </a:solidFill>
              </a:rPr>
              <a:t>From the preceding discussion it is clear that dropping a variable </a:t>
            </a:r>
          </a:p>
          <a:p>
            <a:pPr eaLnBrk="1" hangingPunct="1">
              <a:buFont typeface="Wingdings 2" pitchFamily="18" charset="2"/>
              <a:buNone/>
            </a:pPr>
            <a:r>
              <a:rPr lang="en-US" sz="2100" b="1" smtClean="0">
                <a:solidFill>
                  <a:schemeClr val="tx1"/>
                </a:solidFill>
              </a:rPr>
              <a:t>from a model to alleviate the problem of multicollinearity may lead to </a:t>
            </a:r>
          </a:p>
          <a:p>
            <a:pPr eaLnBrk="1" hangingPunct="1">
              <a:buFont typeface="Wingdings 2" pitchFamily="18" charset="2"/>
              <a:buNone/>
            </a:pPr>
            <a:r>
              <a:rPr lang="en-US" sz="2100" b="1" smtClean="0">
                <a:solidFill>
                  <a:schemeClr val="tx1"/>
                </a:solidFill>
              </a:rPr>
              <a:t>the specification bias. Hence the remedy may be worth than the </a:t>
            </a:r>
          </a:p>
          <a:p>
            <a:pPr eaLnBrk="1" hangingPunct="1">
              <a:buFont typeface="Wingdings 2" pitchFamily="18" charset="2"/>
              <a:buNone/>
            </a:pPr>
            <a:r>
              <a:rPr lang="en-US" sz="2100" b="1" smtClean="0">
                <a:solidFill>
                  <a:schemeClr val="tx1"/>
                </a:solidFill>
              </a:rPr>
              <a:t>disease in some situations because, whereas multicollinearity may </a:t>
            </a:r>
          </a:p>
          <a:p>
            <a:pPr eaLnBrk="1" hangingPunct="1">
              <a:buFont typeface="Wingdings 2" pitchFamily="18" charset="2"/>
              <a:buNone/>
            </a:pPr>
            <a:r>
              <a:rPr lang="en-US" sz="2100" b="1" smtClean="0">
                <a:solidFill>
                  <a:schemeClr val="tx1"/>
                </a:solidFill>
              </a:rPr>
              <a:t>prevent precise estimation of the parameters of the model, </a:t>
            </a:r>
          </a:p>
          <a:p>
            <a:pPr eaLnBrk="1" hangingPunct="1">
              <a:buFont typeface="Wingdings 2" pitchFamily="18" charset="2"/>
              <a:buNone/>
            </a:pPr>
            <a:r>
              <a:rPr lang="en-US" sz="2100" b="1" smtClean="0">
                <a:solidFill>
                  <a:schemeClr val="tx1"/>
                </a:solidFill>
              </a:rPr>
              <a:t>omitting a variable may seriously mislead us as to the true values </a:t>
            </a:r>
          </a:p>
          <a:p>
            <a:pPr eaLnBrk="1" hangingPunct="1">
              <a:buFont typeface="Wingdings 2" pitchFamily="18" charset="2"/>
              <a:buNone/>
            </a:pPr>
            <a:r>
              <a:rPr lang="en-US" sz="2100" b="1" smtClean="0">
                <a:solidFill>
                  <a:schemeClr val="tx1"/>
                </a:solidFill>
              </a:rPr>
              <a:t>of the parameters.</a:t>
            </a:r>
            <a:endParaRPr lang="en-US" sz="2100" smtClean="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6800"/>
            <a:ext cx="9144000" cy="5791200"/>
          </a:xfrm>
        </p:spPr>
        <p:txBody>
          <a:bodyPr>
            <a:normAutofit fontScale="92500" lnSpcReduction="20000"/>
          </a:bodyPr>
          <a:lstStyle/>
          <a:p>
            <a:pPr eaLnBrk="1" fontAlgn="auto" hangingPunct="1">
              <a:spcAft>
                <a:spcPts val="0"/>
              </a:spcAft>
              <a:buClrTx/>
              <a:buFont typeface="Wingdings" pitchFamily="2" charset="2"/>
              <a:buChar char="Ø"/>
              <a:defRPr/>
            </a:pPr>
            <a:r>
              <a:rPr lang="en-US" sz="2600" b="1" u="sng" dirty="0" smtClean="0">
                <a:solidFill>
                  <a:schemeClr val="tx1"/>
                </a:solidFill>
                <a:latin typeface="+mj-lt"/>
              </a:rPr>
              <a:t>Transformation of Variables</a:t>
            </a:r>
          </a:p>
          <a:p>
            <a:pPr eaLnBrk="1" fontAlgn="auto" hangingPunct="1">
              <a:spcAft>
                <a:spcPts val="0"/>
              </a:spcAft>
              <a:buFont typeface="Wingdings 2"/>
              <a:buNone/>
              <a:defRPr/>
            </a:pPr>
            <a:endParaRPr lang="en-US" sz="2200" b="1" u="sng" dirty="0" smtClean="0">
              <a:solidFill>
                <a:schemeClr val="tx1"/>
              </a:solidFill>
            </a:endParaRPr>
          </a:p>
          <a:p>
            <a:pPr eaLnBrk="1" fontAlgn="auto" hangingPunct="1">
              <a:spcAft>
                <a:spcPts val="0"/>
              </a:spcAft>
              <a:buFont typeface="Wingdings 2"/>
              <a:buNone/>
              <a:defRPr/>
            </a:pPr>
            <a:r>
              <a:rPr lang="en-US" sz="2400" b="1" dirty="0" smtClean="0">
                <a:solidFill>
                  <a:schemeClr val="tx1"/>
                </a:solidFill>
              </a:rPr>
              <a:t>Suppose we have time series data on consumption expenditure, income, </a:t>
            </a:r>
          </a:p>
          <a:p>
            <a:pPr eaLnBrk="1" fontAlgn="auto" hangingPunct="1">
              <a:spcAft>
                <a:spcPts val="0"/>
              </a:spcAft>
              <a:buFont typeface="Wingdings 2"/>
              <a:buNone/>
              <a:defRPr/>
            </a:pPr>
            <a:r>
              <a:rPr lang="en-US" sz="2400" b="1" dirty="0" smtClean="0">
                <a:solidFill>
                  <a:schemeClr val="tx1"/>
                </a:solidFill>
              </a:rPr>
              <a:t>and wealth. One reason for high multicollinearity between income and wealth </a:t>
            </a:r>
          </a:p>
          <a:p>
            <a:pPr eaLnBrk="1" fontAlgn="auto" hangingPunct="1">
              <a:spcAft>
                <a:spcPts val="0"/>
              </a:spcAft>
              <a:buFont typeface="Wingdings 2"/>
              <a:buNone/>
              <a:defRPr/>
            </a:pPr>
            <a:r>
              <a:rPr lang="en-US" sz="2400" b="1" dirty="0" smtClean="0">
                <a:solidFill>
                  <a:schemeClr val="tx1"/>
                </a:solidFill>
              </a:rPr>
              <a:t>in such data is that over time both the variables tend to move in the same </a:t>
            </a:r>
          </a:p>
          <a:p>
            <a:pPr eaLnBrk="1" fontAlgn="auto" hangingPunct="1">
              <a:spcAft>
                <a:spcPts val="0"/>
              </a:spcAft>
              <a:buFont typeface="Wingdings 2"/>
              <a:buNone/>
              <a:defRPr/>
            </a:pPr>
            <a:r>
              <a:rPr lang="en-US" sz="2400" b="1" dirty="0" smtClean="0">
                <a:solidFill>
                  <a:schemeClr val="tx1"/>
                </a:solidFill>
              </a:rPr>
              <a:t>direction. One way of minimizing this dependence is to proceed as follows:</a:t>
            </a:r>
          </a:p>
          <a:p>
            <a:pPr eaLnBrk="1" fontAlgn="auto" hangingPunct="1">
              <a:spcAft>
                <a:spcPts val="0"/>
              </a:spcAft>
              <a:buFont typeface="Wingdings 2"/>
              <a:buNone/>
              <a:defRPr/>
            </a:pPr>
            <a:r>
              <a:rPr lang="en-US" sz="2400" b="1" dirty="0" smtClean="0">
                <a:solidFill>
                  <a:schemeClr val="tx1"/>
                </a:solidFill>
              </a:rPr>
              <a:t>If the relation</a:t>
            </a:r>
          </a:p>
          <a:p>
            <a:pPr algn="ctr" eaLnBrk="1" fontAlgn="auto" hangingPunct="1">
              <a:spcAft>
                <a:spcPts val="0"/>
              </a:spcAft>
              <a:buFont typeface="Wingdings 2"/>
              <a:buNone/>
              <a:defRPr/>
            </a:pPr>
            <a:r>
              <a:rPr lang="en-US" sz="2400" b="1" dirty="0" err="1" smtClean="0">
                <a:solidFill>
                  <a:schemeClr val="tx1"/>
                </a:solidFill>
              </a:rPr>
              <a:t>Y</a:t>
            </a:r>
            <a:r>
              <a:rPr lang="en-US" sz="2400" b="1" baseline="-25000" dirty="0" err="1" smtClean="0">
                <a:solidFill>
                  <a:schemeClr val="tx1"/>
                </a:solidFill>
              </a:rPr>
              <a:t>t</a:t>
            </a:r>
            <a:r>
              <a:rPr lang="en-US" sz="2400" b="1" dirty="0" smtClean="0">
                <a:solidFill>
                  <a:schemeClr val="tx1"/>
                </a:solidFill>
              </a:rPr>
              <a:t> = β</a:t>
            </a:r>
            <a:r>
              <a:rPr lang="en-US" sz="2400" b="1" baseline="-25000" dirty="0" smtClean="0">
                <a:solidFill>
                  <a:schemeClr val="tx1"/>
                </a:solidFill>
              </a:rPr>
              <a:t>1 </a:t>
            </a:r>
            <a:r>
              <a:rPr lang="en-US" sz="2400" b="1" dirty="0" smtClean="0">
                <a:solidFill>
                  <a:schemeClr val="tx1"/>
                </a:solidFill>
              </a:rPr>
              <a:t>+ β</a:t>
            </a:r>
            <a:r>
              <a:rPr lang="en-US" sz="2400" b="1" baseline="-25000" dirty="0" smtClean="0">
                <a:solidFill>
                  <a:schemeClr val="tx1"/>
                </a:solidFill>
              </a:rPr>
              <a:t>2</a:t>
            </a:r>
            <a:r>
              <a:rPr lang="en-US" sz="2400" b="1" dirty="0" smtClean="0">
                <a:solidFill>
                  <a:schemeClr val="tx1"/>
                </a:solidFill>
              </a:rPr>
              <a:t>X</a:t>
            </a:r>
            <a:r>
              <a:rPr lang="en-US" sz="2400" b="1" baseline="-25000" dirty="0" smtClean="0">
                <a:solidFill>
                  <a:schemeClr val="tx1"/>
                </a:solidFill>
              </a:rPr>
              <a:t>2t</a:t>
            </a:r>
            <a:r>
              <a:rPr lang="en-US" sz="2400" b="1" dirty="0" smtClean="0">
                <a:solidFill>
                  <a:schemeClr val="tx1"/>
                </a:solidFill>
              </a:rPr>
              <a:t> + β</a:t>
            </a:r>
            <a:r>
              <a:rPr lang="en-US" sz="2400" b="1" baseline="-25000" dirty="0" smtClean="0">
                <a:solidFill>
                  <a:schemeClr val="tx1"/>
                </a:solidFill>
              </a:rPr>
              <a:t>3</a:t>
            </a:r>
            <a:r>
              <a:rPr lang="en-US" sz="2400" b="1" dirty="0" smtClean="0">
                <a:solidFill>
                  <a:schemeClr val="tx1"/>
                </a:solidFill>
              </a:rPr>
              <a:t>X</a:t>
            </a:r>
            <a:r>
              <a:rPr lang="en-US" sz="2400" b="1" baseline="-25000" dirty="0" smtClean="0">
                <a:solidFill>
                  <a:schemeClr val="tx1"/>
                </a:solidFill>
              </a:rPr>
              <a:t>3t</a:t>
            </a:r>
            <a:r>
              <a:rPr lang="en-US" sz="2400" b="1" dirty="0" smtClean="0">
                <a:solidFill>
                  <a:schemeClr val="tx1"/>
                </a:solidFill>
              </a:rPr>
              <a:t> + </a:t>
            </a:r>
            <a:r>
              <a:rPr lang="en-US" sz="2400" b="1" dirty="0" err="1" smtClean="0">
                <a:solidFill>
                  <a:schemeClr val="tx1"/>
                </a:solidFill>
              </a:rPr>
              <a:t>u</a:t>
            </a:r>
            <a:r>
              <a:rPr lang="en-US" sz="2400" b="1" baseline="-25000" dirty="0" err="1" smtClean="0">
                <a:solidFill>
                  <a:schemeClr val="tx1"/>
                </a:solidFill>
              </a:rPr>
              <a:t>t</a:t>
            </a:r>
            <a:r>
              <a:rPr lang="en-US" sz="2400" b="1" baseline="-25000" dirty="0" smtClean="0">
                <a:solidFill>
                  <a:schemeClr val="tx1"/>
                </a:solidFill>
              </a:rPr>
              <a:t> </a:t>
            </a:r>
            <a:r>
              <a:rPr lang="en-US" sz="2400" b="1" dirty="0" smtClean="0">
                <a:solidFill>
                  <a:schemeClr val="tx1"/>
                </a:solidFill>
              </a:rPr>
              <a:t> …………………….1 </a:t>
            </a:r>
          </a:p>
          <a:p>
            <a:pPr eaLnBrk="1" fontAlgn="auto" hangingPunct="1">
              <a:spcAft>
                <a:spcPts val="0"/>
              </a:spcAft>
              <a:buFont typeface="Wingdings 2"/>
              <a:buNone/>
              <a:defRPr/>
            </a:pPr>
            <a:endParaRPr lang="en-US" sz="2400" b="1" dirty="0" smtClean="0">
              <a:solidFill>
                <a:schemeClr val="tx1"/>
              </a:solidFill>
            </a:endParaRPr>
          </a:p>
          <a:p>
            <a:pPr eaLnBrk="1" fontAlgn="auto" hangingPunct="1">
              <a:spcAft>
                <a:spcPts val="0"/>
              </a:spcAft>
              <a:buFont typeface="Wingdings 2"/>
              <a:buNone/>
              <a:defRPr/>
            </a:pPr>
            <a:r>
              <a:rPr lang="en-US" sz="2400" b="1" dirty="0" smtClean="0">
                <a:solidFill>
                  <a:schemeClr val="tx1"/>
                </a:solidFill>
              </a:rPr>
              <a:t>holds at time </a:t>
            </a:r>
            <a:r>
              <a:rPr lang="en-US" sz="2400" b="1" dirty="0" err="1" smtClean="0">
                <a:solidFill>
                  <a:schemeClr val="tx1"/>
                </a:solidFill>
              </a:rPr>
              <a:t>I</a:t>
            </a:r>
            <a:r>
              <a:rPr lang="en-US" sz="2400" b="1" i="1" dirty="0" err="1" smtClean="0">
                <a:solidFill>
                  <a:schemeClr val="tx1"/>
                </a:solidFill>
              </a:rPr>
              <a:t>t</a:t>
            </a:r>
            <a:r>
              <a:rPr lang="en-US" sz="2400" b="1" dirty="0" err="1" smtClean="0">
                <a:solidFill>
                  <a:schemeClr val="tx1"/>
                </a:solidFill>
              </a:rPr>
              <a:t>I</a:t>
            </a:r>
            <a:r>
              <a:rPr lang="en-US" sz="2400" b="1" dirty="0" smtClean="0">
                <a:solidFill>
                  <a:schemeClr val="tx1"/>
                </a:solidFill>
              </a:rPr>
              <a:t>, it must also hold time </a:t>
            </a:r>
            <a:r>
              <a:rPr lang="en-US" sz="2400" b="1" i="1" dirty="0" smtClean="0">
                <a:solidFill>
                  <a:schemeClr val="tx1"/>
                </a:solidFill>
              </a:rPr>
              <a:t>t-1</a:t>
            </a:r>
            <a:r>
              <a:rPr lang="en-US" sz="2400" b="1" dirty="0" smtClean="0">
                <a:solidFill>
                  <a:schemeClr val="tx1"/>
                </a:solidFill>
              </a:rPr>
              <a:t> because the origin of the time is </a:t>
            </a:r>
          </a:p>
          <a:p>
            <a:pPr eaLnBrk="1" fontAlgn="auto" hangingPunct="1">
              <a:spcAft>
                <a:spcPts val="0"/>
              </a:spcAft>
              <a:buFont typeface="Wingdings 2"/>
              <a:buNone/>
              <a:defRPr/>
            </a:pPr>
            <a:r>
              <a:rPr lang="en-US" sz="2400" b="1" dirty="0" smtClean="0">
                <a:solidFill>
                  <a:schemeClr val="tx1"/>
                </a:solidFill>
              </a:rPr>
              <a:t>arbitrary in anyway. Therefore, we have</a:t>
            </a:r>
          </a:p>
          <a:p>
            <a:pPr algn="ctr" eaLnBrk="1" fontAlgn="auto" hangingPunct="1">
              <a:spcAft>
                <a:spcPts val="0"/>
              </a:spcAft>
              <a:buFont typeface="Wingdings 2"/>
              <a:buNone/>
              <a:defRPr/>
            </a:pPr>
            <a:endParaRPr lang="en-US" sz="2400" b="1" baseline="-25000" dirty="0" smtClean="0">
              <a:solidFill>
                <a:schemeClr val="tx1"/>
              </a:solidFill>
            </a:endParaRPr>
          </a:p>
          <a:p>
            <a:pPr algn="ctr" eaLnBrk="1" fontAlgn="auto" hangingPunct="1">
              <a:spcAft>
                <a:spcPts val="0"/>
              </a:spcAft>
              <a:buFont typeface="Wingdings 2"/>
              <a:buNone/>
              <a:defRPr/>
            </a:pPr>
            <a:r>
              <a:rPr lang="en-US" sz="2400" b="1" baseline="-25000" dirty="0" smtClean="0">
                <a:solidFill>
                  <a:schemeClr val="tx1"/>
                </a:solidFill>
              </a:rPr>
              <a:t> </a:t>
            </a:r>
            <a:r>
              <a:rPr lang="en-US" sz="2400" b="1" dirty="0" err="1" smtClean="0">
                <a:solidFill>
                  <a:schemeClr val="tx1"/>
                </a:solidFill>
              </a:rPr>
              <a:t>Y</a:t>
            </a:r>
            <a:r>
              <a:rPr lang="en-US" sz="2400" b="1" baseline="-25000" dirty="0" err="1" smtClean="0">
                <a:solidFill>
                  <a:schemeClr val="tx1"/>
                </a:solidFill>
              </a:rPr>
              <a:t>t</a:t>
            </a:r>
            <a:r>
              <a:rPr lang="en-US" sz="2400" b="1" dirty="0" smtClean="0">
                <a:solidFill>
                  <a:schemeClr val="tx1"/>
                </a:solidFill>
              </a:rPr>
              <a:t> = β</a:t>
            </a:r>
            <a:r>
              <a:rPr lang="en-US" sz="2400" b="1" baseline="-25000" dirty="0" smtClean="0">
                <a:solidFill>
                  <a:schemeClr val="tx1"/>
                </a:solidFill>
              </a:rPr>
              <a:t>1 </a:t>
            </a:r>
            <a:r>
              <a:rPr lang="en-US" sz="2400" b="1" dirty="0" smtClean="0">
                <a:solidFill>
                  <a:schemeClr val="tx1"/>
                </a:solidFill>
              </a:rPr>
              <a:t>+ β</a:t>
            </a:r>
            <a:r>
              <a:rPr lang="en-US" sz="2400" b="1" baseline="-25000" dirty="0" smtClean="0">
                <a:solidFill>
                  <a:schemeClr val="tx1"/>
                </a:solidFill>
              </a:rPr>
              <a:t>2</a:t>
            </a:r>
            <a:r>
              <a:rPr lang="en-US" sz="2400" b="1" dirty="0" smtClean="0">
                <a:solidFill>
                  <a:schemeClr val="tx1"/>
                </a:solidFill>
              </a:rPr>
              <a:t>X</a:t>
            </a:r>
            <a:r>
              <a:rPr lang="en-US" sz="2400" b="1" baseline="-25000" dirty="0" smtClean="0">
                <a:solidFill>
                  <a:schemeClr val="tx1"/>
                </a:solidFill>
              </a:rPr>
              <a:t>2,t-1</a:t>
            </a:r>
            <a:r>
              <a:rPr lang="en-US" sz="2400" b="1" dirty="0" smtClean="0">
                <a:solidFill>
                  <a:schemeClr val="tx1"/>
                </a:solidFill>
              </a:rPr>
              <a:t>+ β</a:t>
            </a:r>
            <a:r>
              <a:rPr lang="en-US" sz="2400" b="1" baseline="-25000" dirty="0" smtClean="0">
                <a:solidFill>
                  <a:schemeClr val="tx1"/>
                </a:solidFill>
              </a:rPr>
              <a:t>3</a:t>
            </a:r>
            <a:r>
              <a:rPr lang="en-US" sz="2400" b="1" dirty="0" smtClean="0">
                <a:solidFill>
                  <a:schemeClr val="tx1"/>
                </a:solidFill>
              </a:rPr>
              <a:t>X</a:t>
            </a:r>
            <a:r>
              <a:rPr lang="en-US" sz="2400" b="1" baseline="-25000" dirty="0" smtClean="0">
                <a:solidFill>
                  <a:schemeClr val="tx1"/>
                </a:solidFill>
              </a:rPr>
              <a:t>3,t-1</a:t>
            </a:r>
            <a:r>
              <a:rPr lang="en-US" sz="2400" b="1" dirty="0" smtClean="0">
                <a:solidFill>
                  <a:schemeClr val="tx1"/>
                </a:solidFill>
              </a:rPr>
              <a:t> + u</a:t>
            </a:r>
            <a:r>
              <a:rPr lang="en-US" sz="2400" b="1" baseline="-25000" dirty="0" smtClean="0">
                <a:solidFill>
                  <a:schemeClr val="tx1"/>
                </a:solidFill>
              </a:rPr>
              <a:t>t-1 </a:t>
            </a:r>
            <a:r>
              <a:rPr lang="en-US" sz="2400" b="1" dirty="0" smtClean="0">
                <a:solidFill>
                  <a:schemeClr val="tx1"/>
                </a:solidFill>
              </a:rPr>
              <a:t> …………2</a:t>
            </a:r>
          </a:p>
          <a:p>
            <a:pPr eaLnBrk="1" fontAlgn="auto" hangingPunct="1">
              <a:spcAft>
                <a:spcPts val="0"/>
              </a:spcAft>
              <a:buFont typeface="Wingdings 2"/>
              <a:buNone/>
              <a:defRPr/>
            </a:pPr>
            <a:endParaRPr lang="en-US" sz="2400" b="1" dirty="0" smtClean="0">
              <a:solidFill>
                <a:schemeClr val="tx1"/>
              </a:solidFill>
            </a:endParaRPr>
          </a:p>
          <a:p>
            <a:pPr eaLnBrk="1" fontAlgn="auto" hangingPunct="1">
              <a:spcAft>
                <a:spcPts val="0"/>
              </a:spcAft>
              <a:buFont typeface="Wingdings 2"/>
              <a:buNone/>
              <a:defRPr/>
            </a:pPr>
            <a:r>
              <a:rPr lang="en-US" sz="2400" b="1" dirty="0" smtClean="0">
                <a:solidFill>
                  <a:schemeClr val="tx1"/>
                </a:solidFill>
              </a:rPr>
              <a:t> if we subtract equation 2 from 1, we obtain,</a:t>
            </a:r>
            <a:r>
              <a:rPr lang="en-US" sz="2400" b="1" baseline="-25000" dirty="0" smtClean="0">
                <a:solidFill>
                  <a:schemeClr val="tx1"/>
                </a:solidFill>
              </a:rPr>
              <a:t> </a:t>
            </a:r>
            <a:r>
              <a:rPr lang="en-US" sz="2400" b="1" dirty="0" smtClean="0">
                <a:solidFill>
                  <a:schemeClr val="tx1"/>
                </a:solidFill>
              </a:rPr>
              <a:t> </a:t>
            </a:r>
            <a:endParaRPr lang="en-US" sz="2400" b="1" baseline="-25000" dirty="0" smtClean="0">
              <a:solidFill>
                <a:schemeClr val="tx1"/>
              </a:solidFill>
            </a:endParaRPr>
          </a:p>
          <a:p>
            <a:pPr algn="ctr" eaLnBrk="1" fontAlgn="auto" hangingPunct="1">
              <a:spcAft>
                <a:spcPts val="0"/>
              </a:spcAft>
              <a:buFont typeface="Wingdings 2"/>
              <a:buNone/>
              <a:defRPr/>
            </a:pPr>
            <a:r>
              <a:rPr lang="en-US" sz="2400" b="1" dirty="0" err="1" smtClean="0">
                <a:solidFill>
                  <a:schemeClr val="tx1"/>
                </a:solidFill>
              </a:rPr>
              <a:t>Y</a:t>
            </a:r>
            <a:r>
              <a:rPr lang="en-US" sz="2400" b="1" baseline="-25000" dirty="0" err="1" smtClean="0">
                <a:solidFill>
                  <a:schemeClr val="tx1"/>
                </a:solidFill>
              </a:rPr>
              <a:t>t</a:t>
            </a:r>
            <a:r>
              <a:rPr lang="en-US" sz="2400" b="1" dirty="0" smtClean="0">
                <a:solidFill>
                  <a:schemeClr val="tx1"/>
                </a:solidFill>
              </a:rPr>
              <a:t> – Y</a:t>
            </a:r>
            <a:r>
              <a:rPr lang="en-US" sz="2400" b="1" baseline="-25000" dirty="0" smtClean="0">
                <a:solidFill>
                  <a:schemeClr val="tx1"/>
                </a:solidFill>
              </a:rPr>
              <a:t>t-1</a:t>
            </a:r>
            <a:r>
              <a:rPr lang="en-US" sz="2400" b="1" dirty="0" smtClean="0">
                <a:solidFill>
                  <a:schemeClr val="tx1"/>
                </a:solidFill>
              </a:rPr>
              <a:t> = β</a:t>
            </a:r>
            <a:r>
              <a:rPr lang="en-US" sz="2400" b="1" baseline="-25000" dirty="0" smtClean="0">
                <a:solidFill>
                  <a:schemeClr val="tx1"/>
                </a:solidFill>
              </a:rPr>
              <a:t>2</a:t>
            </a:r>
            <a:r>
              <a:rPr lang="en-US" sz="2400" b="1" dirty="0" smtClean="0">
                <a:solidFill>
                  <a:schemeClr val="tx1"/>
                </a:solidFill>
              </a:rPr>
              <a:t> (X</a:t>
            </a:r>
            <a:r>
              <a:rPr lang="en-US" sz="2400" b="1" baseline="-25000" dirty="0" smtClean="0">
                <a:solidFill>
                  <a:schemeClr val="tx1"/>
                </a:solidFill>
              </a:rPr>
              <a:t>2t</a:t>
            </a:r>
            <a:r>
              <a:rPr lang="en-US" sz="2400" b="1" dirty="0" smtClean="0">
                <a:solidFill>
                  <a:schemeClr val="tx1"/>
                </a:solidFill>
              </a:rPr>
              <a:t> - X</a:t>
            </a:r>
            <a:r>
              <a:rPr lang="en-US" sz="2400" b="1" baseline="-25000" dirty="0" smtClean="0">
                <a:solidFill>
                  <a:schemeClr val="tx1"/>
                </a:solidFill>
              </a:rPr>
              <a:t>2,t-1</a:t>
            </a:r>
            <a:r>
              <a:rPr lang="en-US" sz="2400" b="1" dirty="0" smtClean="0">
                <a:solidFill>
                  <a:schemeClr val="tx1"/>
                </a:solidFill>
              </a:rPr>
              <a:t> ) + β</a:t>
            </a:r>
            <a:r>
              <a:rPr lang="en-US" sz="2400" b="1" baseline="-25000" dirty="0" smtClean="0">
                <a:solidFill>
                  <a:schemeClr val="tx1"/>
                </a:solidFill>
              </a:rPr>
              <a:t>3</a:t>
            </a:r>
            <a:r>
              <a:rPr lang="en-US" sz="2400" b="1" dirty="0" smtClean="0">
                <a:solidFill>
                  <a:schemeClr val="tx1"/>
                </a:solidFill>
              </a:rPr>
              <a:t> (X</a:t>
            </a:r>
            <a:r>
              <a:rPr lang="en-US" sz="2400" b="1" baseline="-25000" dirty="0" smtClean="0">
                <a:solidFill>
                  <a:schemeClr val="tx1"/>
                </a:solidFill>
              </a:rPr>
              <a:t>3t</a:t>
            </a:r>
            <a:r>
              <a:rPr lang="en-US" sz="2400" b="1" dirty="0" smtClean="0">
                <a:solidFill>
                  <a:schemeClr val="tx1"/>
                </a:solidFill>
              </a:rPr>
              <a:t> - X</a:t>
            </a:r>
            <a:r>
              <a:rPr lang="en-US" sz="2400" b="1" baseline="-25000" dirty="0" smtClean="0">
                <a:solidFill>
                  <a:schemeClr val="tx1"/>
                </a:solidFill>
              </a:rPr>
              <a:t>3,t-1</a:t>
            </a:r>
            <a:r>
              <a:rPr lang="en-US" sz="2400" b="1" dirty="0" smtClean="0">
                <a:solidFill>
                  <a:schemeClr val="tx1"/>
                </a:solidFill>
              </a:rPr>
              <a:t> ) + </a:t>
            </a:r>
            <a:r>
              <a:rPr lang="en-US" sz="2400" b="1" dirty="0" err="1" smtClean="0">
                <a:solidFill>
                  <a:schemeClr val="tx1"/>
                </a:solidFill>
              </a:rPr>
              <a:t>v</a:t>
            </a:r>
            <a:r>
              <a:rPr lang="en-US" sz="2400" b="1" baseline="-25000" dirty="0" err="1" smtClean="0">
                <a:solidFill>
                  <a:schemeClr val="tx1"/>
                </a:solidFill>
              </a:rPr>
              <a:t>t</a:t>
            </a:r>
            <a:r>
              <a:rPr lang="en-US" sz="2400" b="1" dirty="0" smtClean="0">
                <a:solidFill>
                  <a:schemeClr val="tx1"/>
                </a:solidFill>
              </a:rPr>
              <a:t> ...............3</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6800"/>
            <a:ext cx="9144000" cy="5791200"/>
          </a:xfrm>
        </p:spPr>
        <p:txBody>
          <a:bodyPr>
            <a:normAutofit lnSpcReduction="10000"/>
          </a:bodyPr>
          <a:lstStyle/>
          <a:p>
            <a:pPr eaLnBrk="1" fontAlgn="auto" hangingPunct="1">
              <a:spcAft>
                <a:spcPts val="0"/>
              </a:spcAft>
              <a:buFont typeface="Wingdings 2"/>
              <a:buNone/>
              <a:defRPr/>
            </a:pPr>
            <a:r>
              <a:rPr lang="en-US" sz="2200" b="1" dirty="0" smtClean="0">
                <a:solidFill>
                  <a:schemeClr val="tx1"/>
                </a:solidFill>
              </a:rPr>
              <a:t>Where </a:t>
            </a:r>
            <a:r>
              <a:rPr lang="en-US" sz="2200" b="1" dirty="0" err="1" smtClean="0">
                <a:solidFill>
                  <a:schemeClr val="tx1"/>
                </a:solidFill>
              </a:rPr>
              <a:t>v</a:t>
            </a:r>
            <a:r>
              <a:rPr lang="en-US" sz="2200" b="1" baseline="-25000" dirty="0" err="1" smtClean="0">
                <a:solidFill>
                  <a:schemeClr val="tx1"/>
                </a:solidFill>
              </a:rPr>
              <a:t>t</a:t>
            </a:r>
            <a:r>
              <a:rPr lang="en-US" sz="2200" b="1" dirty="0" smtClean="0">
                <a:solidFill>
                  <a:schemeClr val="tx1"/>
                </a:solidFill>
              </a:rPr>
              <a:t> = </a:t>
            </a:r>
            <a:r>
              <a:rPr lang="en-US" sz="2200" b="1" dirty="0" err="1" smtClean="0">
                <a:solidFill>
                  <a:schemeClr val="tx1"/>
                </a:solidFill>
              </a:rPr>
              <a:t>u</a:t>
            </a:r>
            <a:r>
              <a:rPr lang="en-US" sz="2200" b="1" baseline="-25000" dirty="0" err="1" smtClean="0">
                <a:solidFill>
                  <a:schemeClr val="tx1"/>
                </a:solidFill>
              </a:rPr>
              <a:t>t</a:t>
            </a:r>
            <a:r>
              <a:rPr lang="en-US" sz="2200" b="1" baseline="-25000" dirty="0" smtClean="0">
                <a:solidFill>
                  <a:schemeClr val="tx1"/>
                </a:solidFill>
              </a:rPr>
              <a:t> </a:t>
            </a:r>
            <a:r>
              <a:rPr lang="en-US" sz="2200" b="1" dirty="0" smtClean="0">
                <a:solidFill>
                  <a:schemeClr val="tx1"/>
                </a:solidFill>
              </a:rPr>
              <a:t> - </a:t>
            </a:r>
            <a:r>
              <a:rPr lang="en-US" sz="2200" b="1" baseline="-25000" dirty="0" smtClean="0">
                <a:solidFill>
                  <a:schemeClr val="tx1"/>
                </a:solidFill>
              </a:rPr>
              <a:t> </a:t>
            </a:r>
            <a:r>
              <a:rPr lang="en-US" sz="2200" b="1" dirty="0" smtClean="0">
                <a:solidFill>
                  <a:schemeClr val="tx1"/>
                </a:solidFill>
              </a:rPr>
              <a:t>u</a:t>
            </a:r>
            <a:r>
              <a:rPr lang="en-US" sz="2200" b="1" baseline="-25000" dirty="0" smtClean="0">
                <a:solidFill>
                  <a:schemeClr val="tx1"/>
                </a:solidFill>
              </a:rPr>
              <a:t>t-1</a:t>
            </a:r>
            <a:r>
              <a:rPr lang="en-US" sz="2200" b="1" dirty="0" smtClean="0">
                <a:solidFill>
                  <a:schemeClr val="tx1"/>
                </a:solidFill>
              </a:rPr>
              <a:t> . Equation 3 is known as </a:t>
            </a:r>
            <a:r>
              <a:rPr lang="en-US" sz="2200" b="1" i="1" dirty="0" smtClean="0">
                <a:solidFill>
                  <a:schemeClr val="tx1"/>
                </a:solidFill>
                <a:latin typeface="+mj-lt"/>
              </a:rPr>
              <a:t>first difference form</a:t>
            </a:r>
            <a:r>
              <a:rPr lang="en-US" sz="2200" b="1" dirty="0" smtClean="0">
                <a:solidFill>
                  <a:schemeClr val="tx1"/>
                </a:solidFill>
                <a:latin typeface="+mj-lt"/>
              </a:rPr>
              <a:t> </a:t>
            </a:r>
            <a:r>
              <a:rPr lang="en-US" sz="2200" b="1" dirty="0" smtClean="0">
                <a:solidFill>
                  <a:schemeClr val="tx1"/>
                </a:solidFill>
              </a:rPr>
              <a:t>because </a:t>
            </a:r>
          </a:p>
          <a:p>
            <a:pPr eaLnBrk="1" fontAlgn="auto" hangingPunct="1">
              <a:spcAft>
                <a:spcPts val="0"/>
              </a:spcAft>
              <a:buFont typeface="Wingdings 2"/>
              <a:buNone/>
              <a:defRPr/>
            </a:pPr>
            <a:r>
              <a:rPr lang="en-US" sz="2200" b="1" dirty="0" smtClean="0">
                <a:solidFill>
                  <a:schemeClr val="tx1"/>
                </a:solidFill>
              </a:rPr>
              <a:t>we run the regression, not on the original variables, but on the differences of </a:t>
            </a:r>
          </a:p>
          <a:p>
            <a:pPr eaLnBrk="1" fontAlgn="auto" hangingPunct="1">
              <a:spcAft>
                <a:spcPts val="0"/>
              </a:spcAft>
              <a:buFont typeface="Wingdings 2"/>
              <a:buNone/>
              <a:defRPr/>
            </a:pPr>
            <a:r>
              <a:rPr lang="en-US" sz="2200" b="1" dirty="0" smtClean="0">
                <a:solidFill>
                  <a:schemeClr val="tx1"/>
                </a:solidFill>
              </a:rPr>
              <a:t>the successive values of the variables.</a:t>
            </a:r>
          </a:p>
          <a:p>
            <a:pPr eaLnBrk="1" fontAlgn="auto" hangingPunct="1">
              <a:spcAft>
                <a:spcPts val="0"/>
              </a:spcAft>
              <a:buFont typeface="Wingdings 2"/>
              <a:buNone/>
              <a:defRPr/>
            </a:pPr>
            <a:r>
              <a:rPr lang="en-US" sz="2200" b="1" dirty="0" smtClean="0">
                <a:solidFill>
                  <a:schemeClr val="tx1"/>
                </a:solidFill>
              </a:rPr>
              <a:t>The first difference regression model often reduces the severity of </a:t>
            </a:r>
          </a:p>
          <a:p>
            <a:pPr eaLnBrk="1" fontAlgn="auto" hangingPunct="1">
              <a:spcAft>
                <a:spcPts val="0"/>
              </a:spcAft>
              <a:buFont typeface="Wingdings 2"/>
              <a:buNone/>
              <a:defRPr/>
            </a:pPr>
            <a:r>
              <a:rPr lang="en-US" sz="2200" b="1" dirty="0" smtClean="0">
                <a:solidFill>
                  <a:schemeClr val="tx1"/>
                </a:solidFill>
              </a:rPr>
              <a:t>multicollinearity because, although the levels of X</a:t>
            </a:r>
            <a:r>
              <a:rPr lang="en-US" sz="2200" b="1" baseline="-25000" dirty="0" smtClean="0">
                <a:solidFill>
                  <a:schemeClr val="tx1"/>
                </a:solidFill>
              </a:rPr>
              <a:t>2</a:t>
            </a:r>
            <a:r>
              <a:rPr lang="en-US" sz="2200" b="1" dirty="0" smtClean="0">
                <a:solidFill>
                  <a:schemeClr val="tx1"/>
                </a:solidFill>
              </a:rPr>
              <a:t> and X</a:t>
            </a:r>
            <a:r>
              <a:rPr lang="en-US" sz="2200" b="1" baseline="-25000" dirty="0" smtClean="0">
                <a:solidFill>
                  <a:schemeClr val="tx1"/>
                </a:solidFill>
              </a:rPr>
              <a:t>3</a:t>
            </a:r>
            <a:r>
              <a:rPr lang="en-US" sz="2200" b="1" dirty="0" smtClean="0">
                <a:solidFill>
                  <a:schemeClr val="tx1"/>
                </a:solidFill>
              </a:rPr>
              <a:t> may be highly </a:t>
            </a:r>
          </a:p>
          <a:p>
            <a:pPr eaLnBrk="1" fontAlgn="auto" hangingPunct="1">
              <a:spcAft>
                <a:spcPts val="0"/>
              </a:spcAft>
              <a:buFont typeface="Wingdings 2"/>
              <a:buNone/>
              <a:defRPr/>
            </a:pPr>
            <a:r>
              <a:rPr lang="en-US" sz="2200" b="1" dirty="0" smtClean="0">
                <a:solidFill>
                  <a:schemeClr val="tx1"/>
                </a:solidFill>
              </a:rPr>
              <a:t>correlated. An incidental advantage of the first difference is that it may </a:t>
            </a:r>
          </a:p>
          <a:p>
            <a:pPr eaLnBrk="1" fontAlgn="auto" hangingPunct="1">
              <a:spcAft>
                <a:spcPts val="0"/>
              </a:spcAft>
              <a:buFont typeface="Wingdings 2"/>
              <a:buNone/>
              <a:defRPr/>
            </a:pPr>
            <a:r>
              <a:rPr lang="en-US" sz="2200" b="1" dirty="0" smtClean="0">
                <a:solidFill>
                  <a:schemeClr val="tx1"/>
                </a:solidFill>
              </a:rPr>
              <a:t>make a nonstationary time series stationary. </a:t>
            </a:r>
          </a:p>
          <a:p>
            <a:pPr eaLnBrk="1" fontAlgn="auto" hangingPunct="1">
              <a:spcAft>
                <a:spcPts val="0"/>
              </a:spcAft>
              <a:buFont typeface="Wingdings 2"/>
              <a:buNone/>
              <a:defRPr/>
            </a:pPr>
            <a:r>
              <a:rPr lang="en-US" sz="2200" b="1" dirty="0" smtClean="0">
                <a:solidFill>
                  <a:schemeClr val="tx1"/>
                </a:solidFill>
              </a:rPr>
              <a:t>Another commonly used transformation in practice is the </a:t>
            </a:r>
            <a:r>
              <a:rPr lang="en-US" sz="2200" b="1" dirty="0" smtClean="0">
                <a:solidFill>
                  <a:schemeClr val="tx1"/>
                </a:solidFill>
                <a:latin typeface="+mj-lt"/>
              </a:rPr>
              <a:t>RATIO </a:t>
            </a:r>
          </a:p>
          <a:p>
            <a:pPr eaLnBrk="1" fontAlgn="auto" hangingPunct="1">
              <a:spcAft>
                <a:spcPts val="0"/>
              </a:spcAft>
              <a:buFont typeface="Wingdings 2"/>
              <a:buNone/>
              <a:defRPr/>
            </a:pPr>
            <a:r>
              <a:rPr lang="en-US" sz="2200" b="1" dirty="0" smtClean="0">
                <a:solidFill>
                  <a:schemeClr val="tx1"/>
                </a:solidFill>
                <a:latin typeface="+mj-lt"/>
              </a:rPr>
              <a:t>TRANSFORMATION.</a:t>
            </a:r>
            <a:r>
              <a:rPr lang="en-US" sz="2200" b="1" dirty="0" smtClean="0">
                <a:solidFill>
                  <a:schemeClr val="tx1"/>
                </a:solidFill>
              </a:rPr>
              <a:t> Consider the model:</a:t>
            </a: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r>
              <a:rPr lang="en-US" sz="2200" b="1" dirty="0" smtClean="0">
                <a:solidFill>
                  <a:schemeClr val="tx1"/>
                </a:solidFill>
              </a:rPr>
              <a:t> </a:t>
            </a: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r>
              <a:rPr lang="en-US" sz="2200" b="1" dirty="0" smtClean="0">
                <a:solidFill>
                  <a:schemeClr val="tx1"/>
                </a:solidFill>
              </a:rPr>
              <a:t>where Y is consumption expenditure in real dollars, X</a:t>
            </a:r>
            <a:r>
              <a:rPr lang="en-US" sz="2200" b="1" baseline="-25000" dirty="0" smtClean="0">
                <a:solidFill>
                  <a:schemeClr val="tx1"/>
                </a:solidFill>
              </a:rPr>
              <a:t>2 </a:t>
            </a:r>
            <a:r>
              <a:rPr lang="en-US" sz="2200" b="1" dirty="0" smtClean="0">
                <a:solidFill>
                  <a:schemeClr val="tx1"/>
                </a:solidFill>
              </a:rPr>
              <a:t> is GDP, and X</a:t>
            </a:r>
            <a:r>
              <a:rPr lang="en-US" sz="2200" b="1" baseline="-25000" dirty="0" smtClean="0">
                <a:solidFill>
                  <a:schemeClr val="tx1"/>
                </a:solidFill>
              </a:rPr>
              <a:t>3</a:t>
            </a:r>
            <a:r>
              <a:rPr lang="en-US" sz="2200" b="1" dirty="0" smtClean="0">
                <a:solidFill>
                  <a:schemeClr val="tx1"/>
                </a:solidFill>
              </a:rPr>
              <a:t> is </a:t>
            </a:r>
          </a:p>
          <a:p>
            <a:pPr eaLnBrk="1" fontAlgn="auto" hangingPunct="1">
              <a:spcAft>
                <a:spcPts val="0"/>
              </a:spcAft>
              <a:buFont typeface="Wingdings 2"/>
              <a:buNone/>
              <a:defRPr/>
            </a:pPr>
            <a:r>
              <a:rPr lang="en-US" sz="2200" b="1" dirty="0" smtClean="0">
                <a:solidFill>
                  <a:schemeClr val="tx1"/>
                </a:solidFill>
              </a:rPr>
              <a:t>total population. Since GDP and population grow over time , they are  </a:t>
            </a:r>
            <a:endParaRPr lang="en-US" sz="2200" b="1" dirty="0">
              <a:solidFill>
                <a:schemeClr val="tx1"/>
              </a:solidFill>
            </a:endParaRPr>
          </a:p>
        </p:txBody>
      </p:sp>
      <p:sp>
        <p:nvSpPr>
          <p:cNvPr id="59395" name="Rectangle 3"/>
          <p:cNvSpPr>
            <a:spLocks noChangeArrowheads="1"/>
          </p:cNvSpPr>
          <p:nvPr/>
        </p:nvSpPr>
        <p:spPr bwMode="auto">
          <a:xfrm>
            <a:off x="1981200" y="4876800"/>
            <a:ext cx="5867400" cy="430213"/>
          </a:xfrm>
          <a:prstGeom prst="rect">
            <a:avLst/>
          </a:prstGeom>
          <a:noFill/>
          <a:ln w="9525">
            <a:noFill/>
            <a:miter lim="800000"/>
            <a:headEnd/>
            <a:tailEnd/>
          </a:ln>
        </p:spPr>
        <p:txBody>
          <a:bodyPr>
            <a:spAutoFit/>
          </a:bodyPr>
          <a:lstStyle/>
          <a:p>
            <a:r>
              <a:rPr lang="en-US" sz="2200" b="1">
                <a:latin typeface="Franklin Gothic Book" pitchFamily="34" charset="0"/>
              </a:rPr>
              <a:t>Y</a:t>
            </a:r>
            <a:r>
              <a:rPr lang="en-US" sz="2200" b="1" baseline="-25000">
                <a:latin typeface="Franklin Gothic Book" pitchFamily="34" charset="0"/>
              </a:rPr>
              <a:t>t</a:t>
            </a:r>
            <a:r>
              <a:rPr lang="en-US" sz="2200" b="1">
                <a:latin typeface="Franklin Gothic Book" pitchFamily="34" charset="0"/>
              </a:rPr>
              <a:t> = β</a:t>
            </a:r>
            <a:r>
              <a:rPr lang="en-US" sz="2200" b="1" baseline="-25000">
                <a:latin typeface="Franklin Gothic Book" pitchFamily="34" charset="0"/>
              </a:rPr>
              <a:t>1 </a:t>
            </a:r>
            <a:r>
              <a:rPr lang="en-US" sz="2200" b="1">
                <a:latin typeface="Franklin Gothic Book" pitchFamily="34" charset="0"/>
              </a:rPr>
              <a:t>+ β</a:t>
            </a:r>
            <a:r>
              <a:rPr lang="en-US" sz="2200" b="1" baseline="-25000">
                <a:latin typeface="Franklin Gothic Book" pitchFamily="34" charset="0"/>
              </a:rPr>
              <a:t>2</a:t>
            </a:r>
            <a:r>
              <a:rPr lang="en-US" sz="2200" b="1">
                <a:latin typeface="Franklin Gothic Book" pitchFamily="34" charset="0"/>
              </a:rPr>
              <a:t>X</a:t>
            </a:r>
            <a:r>
              <a:rPr lang="en-US" sz="2200" b="1" baseline="-25000">
                <a:latin typeface="Franklin Gothic Book" pitchFamily="34" charset="0"/>
              </a:rPr>
              <a:t>2t</a:t>
            </a:r>
            <a:r>
              <a:rPr lang="en-US" sz="2200" b="1">
                <a:latin typeface="Franklin Gothic Book" pitchFamily="34" charset="0"/>
              </a:rPr>
              <a:t> + β</a:t>
            </a:r>
            <a:r>
              <a:rPr lang="en-US" sz="2200" b="1" baseline="-25000">
                <a:latin typeface="Franklin Gothic Book" pitchFamily="34" charset="0"/>
              </a:rPr>
              <a:t>3</a:t>
            </a:r>
            <a:r>
              <a:rPr lang="en-US" sz="2200" b="1">
                <a:latin typeface="Franklin Gothic Book" pitchFamily="34" charset="0"/>
              </a:rPr>
              <a:t>X</a:t>
            </a:r>
            <a:r>
              <a:rPr lang="en-US" sz="2200" b="1" baseline="-25000">
                <a:latin typeface="Franklin Gothic Book" pitchFamily="34" charset="0"/>
              </a:rPr>
              <a:t>3t</a:t>
            </a:r>
            <a:r>
              <a:rPr lang="en-US" sz="2200" b="1">
                <a:latin typeface="Franklin Gothic Book" pitchFamily="34" charset="0"/>
              </a:rPr>
              <a:t> + u</a:t>
            </a:r>
            <a:r>
              <a:rPr lang="en-US" sz="2200" b="1" baseline="-25000">
                <a:latin typeface="Franklin Gothic Book" pitchFamily="34" charset="0"/>
              </a:rPr>
              <a:t>t </a:t>
            </a:r>
            <a:r>
              <a:rPr lang="en-US" sz="2200" b="1">
                <a:latin typeface="Franklin Gothic Book" pitchFamily="34" charset="0"/>
              </a:rPr>
              <a:t> …………………….4</a:t>
            </a:r>
            <a:endParaRPr lang="en-US" sz="2200">
              <a:latin typeface="Franklin Gothic Book" pitchFamily="34"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6800"/>
            <a:ext cx="9144000" cy="5791200"/>
          </a:xfrm>
        </p:spPr>
        <p:txBody>
          <a:bodyPr>
            <a:normAutofit fontScale="92500" lnSpcReduction="10000"/>
          </a:bodyPr>
          <a:lstStyle/>
          <a:p>
            <a:pPr eaLnBrk="1" fontAlgn="auto" hangingPunct="1">
              <a:spcAft>
                <a:spcPts val="0"/>
              </a:spcAft>
              <a:buFont typeface="Wingdings 2"/>
              <a:buNone/>
              <a:defRPr/>
            </a:pPr>
            <a:r>
              <a:rPr lang="en-US" sz="2200" b="1" dirty="0" smtClean="0">
                <a:solidFill>
                  <a:schemeClr val="tx1"/>
                </a:solidFill>
              </a:rPr>
              <a:t>Likely to be correlated. One “solution” to this problem is to express the </a:t>
            </a:r>
          </a:p>
          <a:p>
            <a:pPr eaLnBrk="1" fontAlgn="auto" hangingPunct="1">
              <a:spcAft>
                <a:spcPts val="0"/>
              </a:spcAft>
              <a:buFont typeface="Wingdings 2"/>
              <a:buNone/>
              <a:defRPr/>
            </a:pPr>
            <a:r>
              <a:rPr lang="en-US" sz="2200" b="1" dirty="0" smtClean="0">
                <a:solidFill>
                  <a:schemeClr val="tx1"/>
                </a:solidFill>
              </a:rPr>
              <a:t>model on a per capita basis, that is by dividing equation 2 by X</a:t>
            </a:r>
            <a:r>
              <a:rPr lang="en-US" sz="2200" b="1" baseline="-25000" dirty="0" smtClean="0">
                <a:solidFill>
                  <a:schemeClr val="tx1"/>
                </a:solidFill>
              </a:rPr>
              <a:t>3 </a:t>
            </a:r>
            <a:r>
              <a:rPr lang="en-US" sz="2200" b="1" dirty="0" smtClean="0">
                <a:solidFill>
                  <a:schemeClr val="tx1"/>
                </a:solidFill>
              </a:rPr>
              <a:t> , we obtain</a:t>
            </a:r>
          </a:p>
          <a:p>
            <a:pPr eaLnBrk="1" fontAlgn="auto" hangingPunct="1">
              <a:spcAft>
                <a:spcPts val="0"/>
              </a:spcAft>
              <a:buFont typeface="Wingdings 2"/>
              <a:buNone/>
              <a:defRPr/>
            </a:pPr>
            <a:endParaRPr lang="en-US" sz="2200" b="1" dirty="0">
              <a:solidFill>
                <a:schemeClr val="tx1"/>
              </a:solidFill>
            </a:endParaRP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r>
              <a:rPr lang="en-US" sz="2200" b="1" dirty="0" smtClean="0">
                <a:solidFill>
                  <a:schemeClr val="tx1"/>
                </a:solidFill>
              </a:rPr>
              <a:t>Such a transformation may reduce collinearity in the original variables. But </a:t>
            </a:r>
          </a:p>
          <a:p>
            <a:pPr eaLnBrk="1" fontAlgn="auto" hangingPunct="1">
              <a:spcAft>
                <a:spcPts val="0"/>
              </a:spcAft>
              <a:buFont typeface="Wingdings 2"/>
              <a:buNone/>
              <a:defRPr/>
            </a:pPr>
            <a:r>
              <a:rPr lang="en-US" sz="2200" b="1" dirty="0" smtClean="0">
                <a:solidFill>
                  <a:schemeClr val="tx1"/>
                </a:solidFill>
              </a:rPr>
              <a:t>the first difference or ratio transformation are not without problems. For </a:t>
            </a:r>
          </a:p>
          <a:p>
            <a:pPr eaLnBrk="1" fontAlgn="auto" hangingPunct="1">
              <a:spcAft>
                <a:spcPts val="0"/>
              </a:spcAft>
              <a:buFont typeface="Wingdings 2"/>
              <a:buNone/>
              <a:defRPr/>
            </a:pPr>
            <a:r>
              <a:rPr lang="en-US" sz="2200" b="1" dirty="0" smtClean="0">
                <a:solidFill>
                  <a:schemeClr val="tx1"/>
                </a:solidFill>
              </a:rPr>
              <a:t>instance, the error term </a:t>
            </a:r>
            <a:r>
              <a:rPr lang="en-US" sz="2200" b="1" i="1" dirty="0" err="1" smtClean="0">
                <a:solidFill>
                  <a:schemeClr val="tx1"/>
                </a:solidFill>
              </a:rPr>
              <a:t>v</a:t>
            </a:r>
            <a:r>
              <a:rPr lang="en-US" sz="2200" b="1" i="1" baseline="-25000" dirty="0" err="1" smtClean="0">
                <a:solidFill>
                  <a:schemeClr val="tx1"/>
                </a:solidFill>
              </a:rPr>
              <a:t>t</a:t>
            </a:r>
            <a:r>
              <a:rPr lang="en-US" sz="2200" b="1" i="1" baseline="-25000" dirty="0" smtClean="0">
                <a:solidFill>
                  <a:schemeClr val="tx1"/>
                </a:solidFill>
              </a:rPr>
              <a:t> </a:t>
            </a:r>
            <a:r>
              <a:rPr lang="en-US" sz="2200" b="1" i="1" dirty="0" smtClean="0">
                <a:solidFill>
                  <a:schemeClr val="tx1"/>
                </a:solidFill>
              </a:rPr>
              <a:t> </a:t>
            </a:r>
            <a:r>
              <a:rPr lang="en-US" sz="2200" b="1" dirty="0" smtClean="0">
                <a:solidFill>
                  <a:schemeClr val="tx1"/>
                </a:solidFill>
              </a:rPr>
              <a:t>in equation 3 may not satisfy one of the </a:t>
            </a:r>
          </a:p>
          <a:p>
            <a:pPr eaLnBrk="1" fontAlgn="auto" hangingPunct="1">
              <a:spcAft>
                <a:spcPts val="0"/>
              </a:spcAft>
              <a:buFont typeface="Wingdings 2"/>
              <a:buNone/>
              <a:defRPr/>
            </a:pPr>
            <a:r>
              <a:rPr lang="en-US" sz="2200" b="1" dirty="0" smtClean="0">
                <a:solidFill>
                  <a:schemeClr val="tx1"/>
                </a:solidFill>
              </a:rPr>
              <a:t>assumption of the Classical linear regression model, namely, that the </a:t>
            </a:r>
          </a:p>
          <a:p>
            <a:pPr eaLnBrk="1" fontAlgn="auto" hangingPunct="1">
              <a:spcAft>
                <a:spcPts val="0"/>
              </a:spcAft>
              <a:buFont typeface="Wingdings 2"/>
              <a:buNone/>
              <a:defRPr/>
            </a:pPr>
            <a:r>
              <a:rPr lang="en-US" sz="2200" b="1" dirty="0" smtClean="0">
                <a:solidFill>
                  <a:schemeClr val="tx1"/>
                </a:solidFill>
              </a:rPr>
              <a:t>original disturbance are serially uncorrelated. If the original disturbance </a:t>
            </a:r>
          </a:p>
          <a:p>
            <a:pPr eaLnBrk="1" fontAlgn="auto" hangingPunct="1">
              <a:spcAft>
                <a:spcPts val="0"/>
              </a:spcAft>
              <a:buFont typeface="Wingdings 2"/>
              <a:buNone/>
              <a:defRPr/>
            </a:pPr>
            <a:r>
              <a:rPr lang="en-US" sz="2200" b="1" dirty="0" smtClean="0">
                <a:solidFill>
                  <a:schemeClr val="tx1"/>
                </a:solidFill>
              </a:rPr>
              <a:t>term </a:t>
            </a:r>
            <a:r>
              <a:rPr lang="en-US" sz="2200" b="1" dirty="0" err="1" smtClean="0">
                <a:solidFill>
                  <a:schemeClr val="tx1"/>
                </a:solidFill>
              </a:rPr>
              <a:t>u</a:t>
            </a:r>
            <a:r>
              <a:rPr lang="en-US" sz="2200" b="1" baseline="-25000" dirty="0" err="1" smtClean="0">
                <a:solidFill>
                  <a:schemeClr val="tx1"/>
                </a:solidFill>
              </a:rPr>
              <a:t>t</a:t>
            </a:r>
            <a:r>
              <a:rPr lang="en-US" sz="2200" b="1" baseline="-25000" dirty="0" smtClean="0">
                <a:solidFill>
                  <a:schemeClr val="tx1"/>
                </a:solidFill>
              </a:rPr>
              <a:t>  </a:t>
            </a:r>
            <a:r>
              <a:rPr lang="en-US" sz="2200" b="1" dirty="0" smtClean="0">
                <a:solidFill>
                  <a:schemeClr val="tx1"/>
                </a:solidFill>
              </a:rPr>
              <a:t> is serially uncorrelated, the error term </a:t>
            </a:r>
            <a:r>
              <a:rPr lang="en-US" sz="2200" b="1" dirty="0" err="1" smtClean="0">
                <a:solidFill>
                  <a:schemeClr val="tx1"/>
                </a:solidFill>
              </a:rPr>
              <a:t>v</a:t>
            </a:r>
            <a:r>
              <a:rPr lang="en-US" sz="2200" b="1" baseline="-25000" dirty="0" err="1" smtClean="0">
                <a:solidFill>
                  <a:schemeClr val="tx1"/>
                </a:solidFill>
              </a:rPr>
              <a:t>t</a:t>
            </a:r>
            <a:r>
              <a:rPr lang="en-US" sz="2200" b="1" dirty="0" smtClean="0">
                <a:solidFill>
                  <a:schemeClr val="tx1"/>
                </a:solidFill>
              </a:rPr>
              <a:t> obtained previously will in </a:t>
            </a:r>
          </a:p>
          <a:p>
            <a:pPr eaLnBrk="1" fontAlgn="auto" hangingPunct="1">
              <a:spcAft>
                <a:spcPts val="0"/>
              </a:spcAft>
              <a:buFont typeface="Wingdings 2"/>
              <a:buNone/>
              <a:defRPr/>
            </a:pPr>
            <a:r>
              <a:rPr lang="en-US" sz="2200" b="1" dirty="0" smtClean="0">
                <a:solidFill>
                  <a:schemeClr val="tx1"/>
                </a:solidFill>
              </a:rPr>
              <a:t>most cases be serially correlated. Therefore, the remedy may be worse than </a:t>
            </a:r>
          </a:p>
          <a:p>
            <a:pPr eaLnBrk="1" fontAlgn="auto" hangingPunct="1">
              <a:spcAft>
                <a:spcPts val="0"/>
              </a:spcAft>
              <a:buFont typeface="Wingdings 2"/>
              <a:buNone/>
              <a:defRPr/>
            </a:pPr>
            <a:r>
              <a:rPr lang="en-US" sz="2200" b="1" dirty="0" smtClean="0">
                <a:solidFill>
                  <a:schemeClr val="tx1"/>
                </a:solidFill>
              </a:rPr>
              <a:t>the disease. Moreover there is loss of one observation due to the </a:t>
            </a:r>
          </a:p>
          <a:p>
            <a:pPr eaLnBrk="1" fontAlgn="auto" hangingPunct="1">
              <a:spcAft>
                <a:spcPts val="0"/>
              </a:spcAft>
              <a:buFont typeface="Wingdings 2"/>
              <a:buNone/>
              <a:defRPr/>
            </a:pPr>
            <a:r>
              <a:rPr lang="en-US" sz="2200" b="1" dirty="0" smtClean="0">
                <a:solidFill>
                  <a:schemeClr val="tx1"/>
                </a:solidFill>
              </a:rPr>
              <a:t>differencing procedure, and therefore the degrees of freedom are reduced </a:t>
            </a:r>
          </a:p>
          <a:p>
            <a:pPr eaLnBrk="1" fontAlgn="auto" hangingPunct="1">
              <a:spcAft>
                <a:spcPts val="0"/>
              </a:spcAft>
              <a:buFont typeface="Wingdings 2"/>
              <a:buNone/>
              <a:defRPr/>
            </a:pPr>
            <a:r>
              <a:rPr lang="en-US" sz="2200" b="1" dirty="0" smtClean="0">
                <a:solidFill>
                  <a:schemeClr val="tx1"/>
                </a:solidFill>
              </a:rPr>
              <a:t>by one. In a small sample, this could be a factor one would wish at least to </a:t>
            </a:r>
          </a:p>
          <a:p>
            <a:pPr eaLnBrk="1" fontAlgn="auto" hangingPunct="1">
              <a:spcAft>
                <a:spcPts val="0"/>
              </a:spcAft>
              <a:buFont typeface="Wingdings 2"/>
              <a:buNone/>
              <a:defRPr/>
            </a:pPr>
            <a:r>
              <a:rPr lang="en-US" sz="2200" b="1" dirty="0" smtClean="0">
                <a:solidFill>
                  <a:schemeClr val="tx1"/>
                </a:solidFill>
              </a:rPr>
              <a:t>take into consideration. Furthermore, the first-differencing procedure may not be </a:t>
            </a:r>
          </a:p>
          <a:p>
            <a:pPr eaLnBrk="1" fontAlgn="auto" hangingPunct="1">
              <a:spcAft>
                <a:spcPts val="0"/>
              </a:spcAft>
              <a:buFont typeface="Wingdings 2"/>
              <a:buNone/>
              <a:defRPr/>
            </a:pPr>
            <a:endParaRPr lang="en-US" sz="2200" b="1" dirty="0" smtClean="0">
              <a:solidFill>
                <a:schemeClr val="tx1"/>
              </a:solidFill>
            </a:endParaRPr>
          </a:p>
        </p:txBody>
      </p:sp>
      <p:sp>
        <p:nvSpPr>
          <p:cNvPr id="6041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sp>
        <p:nvSpPr>
          <p:cNvPr id="60420" name="Rectangle 11"/>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sp>
        <p:nvSpPr>
          <p:cNvPr id="60421" name="Rectangle 1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sp>
        <p:nvSpPr>
          <p:cNvPr id="60422"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60423"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619250" y="1828800"/>
            <a:ext cx="4248150" cy="685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43000"/>
            <a:ext cx="9144000" cy="5715000"/>
          </a:xfrm>
        </p:spPr>
        <p:txBody>
          <a:bodyPr>
            <a:normAutofit/>
          </a:bodyPr>
          <a:lstStyle/>
          <a:p>
            <a:pPr eaLnBrk="1" fontAlgn="auto" hangingPunct="1">
              <a:spcAft>
                <a:spcPts val="0"/>
              </a:spcAft>
              <a:buFont typeface="Wingdings 2"/>
              <a:buNone/>
              <a:defRPr/>
            </a:pPr>
            <a:r>
              <a:rPr lang="en-US" sz="2200" b="1" dirty="0" smtClean="0">
                <a:solidFill>
                  <a:schemeClr val="tx1"/>
                </a:solidFill>
              </a:rPr>
              <a:t>appropriate in cross-sectional data where there is no logical ordering of the </a:t>
            </a:r>
          </a:p>
          <a:p>
            <a:pPr eaLnBrk="1" fontAlgn="auto" hangingPunct="1">
              <a:spcAft>
                <a:spcPts val="0"/>
              </a:spcAft>
              <a:buFont typeface="Wingdings 2"/>
              <a:buNone/>
              <a:defRPr/>
            </a:pPr>
            <a:r>
              <a:rPr lang="en-US" sz="2200" b="1" dirty="0" smtClean="0">
                <a:solidFill>
                  <a:schemeClr val="tx1"/>
                </a:solidFill>
              </a:rPr>
              <a:t>observation.</a:t>
            </a:r>
            <a:r>
              <a:rPr lang="en-US" sz="2200" b="1" dirty="0">
                <a:solidFill>
                  <a:schemeClr val="tx1"/>
                </a:solidFill>
              </a:rPr>
              <a:t> </a:t>
            </a:r>
            <a:r>
              <a:rPr lang="en-US" sz="2200" b="1" dirty="0" smtClean="0">
                <a:solidFill>
                  <a:schemeClr val="tx1"/>
                </a:solidFill>
              </a:rPr>
              <a:t>In short, one should be careful in using the first difference or </a:t>
            </a:r>
          </a:p>
          <a:p>
            <a:pPr eaLnBrk="1" fontAlgn="auto" hangingPunct="1">
              <a:spcAft>
                <a:spcPts val="0"/>
              </a:spcAft>
              <a:buFont typeface="Wingdings 2"/>
              <a:buNone/>
              <a:defRPr/>
            </a:pPr>
            <a:r>
              <a:rPr lang="en-US" sz="2200" b="1" dirty="0" smtClean="0">
                <a:solidFill>
                  <a:schemeClr val="tx1"/>
                </a:solidFill>
              </a:rPr>
              <a:t>ratio method of transforming the data to resolve the problem of </a:t>
            </a:r>
          </a:p>
          <a:p>
            <a:pPr eaLnBrk="1" fontAlgn="auto" hangingPunct="1">
              <a:spcAft>
                <a:spcPts val="0"/>
              </a:spcAft>
              <a:buFont typeface="Wingdings 2"/>
              <a:buNone/>
              <a:defRPr/>
            </a:pPr>
            <a:r>
              <a:rPr lang="en-US" sz="2200" b="1" dirty="0" smtClean="0">
                <a:solidFill>
                  <a:schemeClr val="tx1"/>
                </a:solidFill>
              </a:rPr>
              <a:t>multicollinearity.</a:t>
            </a: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ClrTx/>
              <a:buFont typeface="Wingdings" pitchFamily="2" charset="2"/>
              <a:buChar char="Ø"/>
              <a:defRPr/>
            </a:pPr>
            <a:r>
              <a:rPr lang="en-US" sz="2400" b="1" u="sng" dirty="0" smtClean="0">
                <a:solidFill>
                  <a:schemeClr val="tx1"/>
                </a:solidFill>
                <a:latin typeface="+mj-lt"/>
              </a:rPr>
              <a:t>Additional or New Data</a:t>
            </a:r>
          </a:p>
          <a:p>
            <a:pPr eaLnBrk="1" fontAlgn="auto" hangingPunct="1">
              <a:spcAft>
                <a:spcPts val="0"/>
              </a:spcAft>
              <a:buFont typeface="Wingdings 2"/>
              <a:buNone/>
              <a:defRPr/>
            </a:pPr>
            <a:r>
              <a:rPr lang="en-US" sz="2200" b="1" dirty="0" smtClean="0">
                <a:solidFill>
                  <a:schemeClr val="tx1"/>
                </a:solidFill>
              </a:rPr>
              <a:t>Since multicollinearity is the sample feature, it is possible that in another </a:t>
            </a:r>
          </a:p>
          <a:p>
            <a:pPr eaLnBrk="1" fontAlgn="auto" hangingPunct="1">
              <a:spcAft>
                <a:spcPts val="0"/>
              </a:spcAft>
              <a:buFont typeface="Wingdings 2"/>
              <a:buNone/>
              <a:defRPr/>
            </a:pPr>
            <a:r>
              <a:rPr lang="en-US" sz="2200" b="1" dirty="0" smtClean="0">
                <a:solidFill>
                  <a:schemeClr val="tx1"/>
                </a:solidFill>
              </a:rPr>
              <a:t>sample involving the same variables collinearity may not be so serious as in </a:t>
            </a:r>
          </a:p>
          <a:p>
            <a:pPr eaLnBrk="1" fontAlgn="auto" hangingPunct="1">
              <a:spcAft>
                <a:spcPts val="0"/>
              </a:spcAft>
              <a:buFont typeface="Wingdings 2"/>
              <a:buNone/>
              <a:defRPr/>
            </a:pPr>
            <a:r>
              <a:rPr lang="en-US" sz="2200" b="1" dirty="0" smtClean="0">
                <a:solidFill>
                  <a:schemeClr val="tx1"/>
                </a:solidFill>
              </a:rPr>
              <a:t>the first sample. Sometime simply increasing the size of the sample (if </a:t>
            </a:r>
          </a:p>
          <a:p>
            <a:pPr eaLnBrk="1" fontAlgn="auto" hangingPunct="1">
              <a:spcAft>
                <a:spcPts val="0"/>
              </a:spcAft>
              <a:buFont typeface="Wingdings 2"/>
              <a:buNone/>
              <a:defRPr/>
            </a:pPr>
            <a:r>
              <a:rPr lang="en-US" sz="2200" b="1" dirty="0" smtClean="0">
                <a:solidFill>
                  <a:schemeClr val="tx1"/>
                </a:solidFill>
              </a:rPr>
              <a:t>possible) may attenuate the collinearity problem. For example, in the three </a:t>
            </a:r>
          </a:p>
          <a:p>
            <a:pPr eaLnBrk="1" fontAlgn="auto" hangingPunct="1">
              <a:spcAft>
                <a:spcPts val="0"/>
              </a:spcAft>
              <a:buFont typeface="Wingdings 2"/>
              <a:buNone/>
              <a:defRPr/>
            </a:pPr>
            <a:r>
              <a:rPr lang="en-US" sz="2200" b="1" dirty="0" smtClean="0">
                <a:solidFill>
                  <a:schemeClr val="tx1"/>
                </a:solidFill>
              </a:rPr>
              <a:t>variable model we saw that </a:t>
            </a: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endParaRPr lang="en-US" sz="2200" b="1" dirty="0" smtClean="0">
              <a:solidFill>
                <a:schemeClr val="tx1"/>
              </a:solidFill>
            </a:endParaRPr>
          </a:p>
        </p:txBody>
      </p:sp>
      <p:sp>
        <p:nvSpPr>
          <p:cNvPr id="61443"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61444"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286000" y="5638800"/>
            <a:ext cx="2971800" cy="638175"/>
          </a:xfrm>
          <a:prstGeom prst="rect">
            <a:avLst/>
          </a:prstGeom>
          <a:noFill/>
          <a:ln w="9525">
            <a:noFill/>
            <a:miter lim="800000"/>
            <a:headEnd/>
            <a:tailEnd/>
          </a:ln>
        </p:spPr>
      </p:pic>
      <p:sp>
        <p:nvSpPr>
          <p:cNvPr id="61445" name="Rectangle 3"/>
          <p:cNvSpPr>
            <a:spLocks noChangeArrowheads="1"/>
          </p:cNvSpPr>
          <p:nvPr/>
        </p:nvSpPr>
        <p:spPr bwMode="auto">
          <a:xfrm>
            <a:off x="0" y="1095375"/>
            <a:ext cx="9144000" cy="0"/>
          </a:xfrm>
          <a:prstGeom prst="rect">
            <a:avLst/>
          </a:prstGeom>
          <a:noFill/>
          <a:ln w="9525">
            <a:noFill/>
            <a:miter lim="800000"/>
            <a:headEnd/>
            <a:tailEnd/>
          </a:ln>
        </p:spPr>
        <p:txBody>
          <a:bodyPr wrap="none" anchor="ctr">
            <a:spAutoFit/>
          </a:bodyPr>
          <a:lstStyle/>
          <a:p>
            <a:endParaRPr 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6800"/>
            <a:ext cx="9144000" cy="5638800"/>
          </a:xfrm>
        </p:spPr>
        <p:txBody>
          <a:bodyPr>
            <a:normAutofit/>
          </a:bodyPr>
          <a:lstStyle/>
          <a:p>
            <a:pPr eaLnBrk="1" fontAlgn="auto" hangingPunct="1">
              <a:spcAft>
                <a:spcPts val="0"/>
              </a:spcAft>
              <a:buFont typeface="Wingdings 2"/>
              <a:buNone/>
              <a:defRPr/>
            </a:pPr>
            <a:r>
              <a:rPr lang="en-US" sz="2200" b="1" dirty="0" smtClean="0">
                <a:solidFill>
                  <a:schemeClr val="tx1"/>
                </a:solidFill>
              </a:rPr>
              <a:t>Now as the sample size, increases            will generally increase. Therefore, </a:t>
            </a:r>
          </a:p>
          <a:p>
            <a:pPr eaLnBrk="1" fontAlgn="auto" hangingPunct="1">
              <a:spcAft>
                <a:spcPts val="0"/>
              </a:spcAft>
              <a:buFont typeface="Wingdings 2"/>
              <a:buNone/>
              <a:defRPr/>
            </a:pPr>
            <a:r>
              <a:rPr lang="en-US" sz="2200" b="1" dirty="0" smtClean="0">
                <a:solidFill>
                  <a:schemeClr val="tx1"/>
                </a:solidFill>
              </a:rPr>
              <a:t>for any given  </a:t>
            </a:r>
            <a:r>
              <a:rPr lang="en-US" sz="2200" b="1" i="1" dirty="0" smtClean="0">
                <a:solidFill>
                  <a:schemeClr val="tx1"/>
                </a:solidFill>
              </a:rPr>
              <a:t>r</a:t>
            </a:r>
            <a:r>
              <a:rPr lang="en-US" sz="2200" b="1" i="1" baseline="-25000" dirty="0" smtClean="0">
                <a:solidFill>
                  <a:schemeClr val="tx1"/>
                </a:solidFill>
              </a:rPr>
              <a:t>23</a:t>
            </a:r>
            <a:r>
              <a:rPr lang="en-US" sz="2200" b="1" i="1" dirty="0" smtClean="0">
                <a:solidFill>
                  <a:schemeClr val="tx1"/>
                </a:solidFill>
              </a:rPr>
              <a:t> , the variance of        </a:t>
            </a:r>
            <a:r>
              <a:rPr lang="en-US" sz="2200" b="1" dirty="0" smtClean="0">
                <a:solidFill>
                  <a:schemeClr val="tx1"/>
                </a:solidFill>
              </a:rPr>
              <a:t>will decrease, thus decreasing the </a:t>
            </a:r>
          </a:p>
          <a:p>
            <a:pPr eaLnBrk="1" fontAlgn="auto" hangingPunct="1">
              <a:spcAft>
                <a:spcPts val="0"/>
              </a:spcAft>
              <a:buFont typeface="Wingdings 2"/>
              <a:buNone/>
              <a:defRPr/>
            </a:pPr>
            <a:r>
              <a:rPr lang="en-US" sz="2200" b="1" dirty="0" smtClean="0">
                <a:solidFill>
                  <a:schemeClr val="tx1"/>
                </a:solidFill>
              </a:rPr>
              <a:t>standard error, which will enable us to estimate β</a:t>
            </a:r>
            <a:r>
              <a:rPr lang="en-US" sz="2200" b="1" baseline="-25000" dirty="0" smtClean="0">
                <a:solidFill>
                  <a:schemeClr val="tx1"/>
                </a:solidFill>
              </a:rPr>
              <a:t>2 </a:t>
            </a:r>
            <a:r>
              <a:rPr lang="en-US" sz="2200" b="1" dirty="0" smtClean="0">
                <a:solidFill>
                  <a:schemeClr val="tx1"/>
                </a:solidFill>
              </a:rPr>
              <a:t> more precisely.</a:t>
            </a: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ClrTx/>
              <a:buFont typeface="Wingdings" pitchFamily="2" charset="2"/>
              <a:buChar char="Ø"/>
              <a:defRPr/>
            </a:pPr>
            <a:r>
              <a:rPr lang="en-US" sz="2400" b="1" u="sng" dirty="0" smtClean="0">
                <a:solidFill>
                  <a:schemeClr val="tx1"/>
                </a:solidFill>
                <a:latin typeface="+mj-lt"/>
              </a:rPr>
              <a:t>Reducing Collinearity in Polynomial Regression</a:t>
            </a:r>
          </a:p>
          <a:p>
            <a:pPr eaLnBrk="1" fontAlgn="auto" hangingPunct="1">
              <a:spcAft>
                <a:spcPts val="0"/>
              </a:spcAft>
              <a:buFont typeface="Wingdings 2"/>
              <a:buNone/>
              <a:defRPr/>
            </a:pPr>
            <a:r>
              <a:rPr lang="en-US" sz="2200" b="1" dirty="0" smtClean="0">
                <a:solidFill>
                  <a:schemeClr val="tx1"/>
                </a:solidFill>
              </a:rPr>
              <a:t>A special feature of these model is that the explanatory variables appears </a:t>
            </a:r>
          </a:p>
          <a:p>
            <a:pPr eaLnBrk="1" fontAlgn="auto" hangingPunct="1">
              <a:spcAft>
                <a:spcPts val="0"/>
              </a:spcAft>
              <a:buFont typeface="Wingdings 2"/>
              <a:buNone/>
              <a:defRPr/>
            </a:pPr>
            <a:r>
              <a:rPr lang="en-US" sz="2200" b="1" dirty="0" smtClean="0">
                <a:solidFill>
                  <a:schemeClr val="tx1"/>
                </a:solidFill>
              </a:rPr>
              <a:t>with various powers. In practice though, it has been found that if the </a:t>
            </a:r>
          </a:p>
          <a:p>
            <a:pPr eaLnBrk="1" fontAlgn="auto" hangingPunct="1">
              <a:spcAft>
                <a:spcPts val="0"/>
              </a:spcAft>
              <a:buFont typeface="Wingdings 2"/>
              <a:buNone/>
              <a:defRPr/>
            </a:pPr>
            <a:r>
              <a:rPr lang="en-US" sz="2200" b="1" dirty="0" smtClean="0">
                <a:solidFill>
                  <a:schemeClr val="tx1"/>
                </a:solidFill>
              </a:rPr>
              <a:t>explanatory variables are expressed in the deviation form, multicollinearity </a:t>
            </a:r>
          </a:p>
          <a:p>
            <a:pPr eaLnBrk="1" fontAlgn="auto" hangingPunct="1">
              <a:spcAft>
                <a:spcPts val="0"/>
              </a:spcAft>
              <a:buFont typeface="Wingdings 2"/>
              <a:buNone/>
              <a:defRPr/>
            </a:pPr>
            <a:r>
              <a:rPr lang="en-US" sz="2200" b="1" dirty="0" smtClean="0">
                <a:solidFill>
                  <a:schemeClr val="tx1"/>
                </a:solidFill>
              </a:rPr>
              <a:t>is substantially reduced. But even then the problem may persist in which </a:t>
            </a:r>
          </a:p>
          <a:p>
            <a:pPr eaLnBrk="1" fontAlgn="auto" hangingPunct="1">
              <a:spcAft>
                <a:spcPts val="0"/>
              </a:spcAft>
              <a:buFont typeface="Wingdings 2"/>
              <a:buNone/>
              <a:defRPr/>
            </a:pPr>
            <a:r>
              <a:rPr lang="en-US" sz="2200" b="1" dirty="0" smtClean="0">
                <a:solidFill>
                  <a:schemeClr val="tx1"/>
                </a:solidFill>
              </a:rPr>
              <a:t>case one may Want to consider techniques such as </a:t>
            </a:r>
            <a:r>
              <a:rPr lang="en-US" sz="2200" b="1" dirty="0" smtClean="0">
                <a:solidFill>
                  <a:schemeClr val="tx1"/>
                </a:solidFill>
                <a:latin typeface="+mj-lt"/>
              </a:rPr>
              <a:t>ORTHOGONAL </a:t>
            </a:r>
          </a:p>
          <a:p>
            <a:pPr eaLnBrk="1" fontAlgn="auto" hangingPunct="1">
              <a:spcAft>
                <a:spcPts val="0"/>
              </a:spcAft>
              <a:buFont typeface="Wingdings 2"/>
              <a:buNone/>
              <a:defRPr/>
            </a:pPr>
            <a:r>
              <a:rPr lang="en-US" sz="2200" b="1" dirty="0" smtClean="0">
                <a:solidFill>
                  <a:schemeClr val="tx1"/>
                </a:solidFill>
                <a:latin typeface="+mj-lt"/>
              </a:rPr>
              <a:t>POLYNOMIALS.</a:t>
            </a:r>
          </a:p>
          <a:p>
            <a:pPr eaLnBrk="1" fontAlgn="auto" hangingPunct="1">
              <a:spcAft>
                <a:spcPts val="0"/>
              </a:spcAft>
              <a:buFont typeface="Wingdings 2"/>
              <a:buNone/>
              <a:defRPr/>
            </a:pPr>
            <a:r>
              <a:rPr lang="en-US" sz="2200" b="1" dirty="0" smtClean="0">
                <a:solidFill>
                  <a:schemeClr val="tx1"/>
                </a:solidFill>
              </a:rPr>
              <a:t> </a:t>
            </a:r>
          </a:p>
          <a:p>
            <a:pPr eaLnBrk="1" fontAlgn="auto" hangingPunct="1">
              <a:spcAft>
                <a:spcPts val="0"/>
              </a:spcAft>
              <a:buFont typeface="Wingdings 2"/>
              <a:buNone/>
              <a:defRPr/>
            </a:pPr>
            <a:endParaRPr lang="en-US" sz="2200" b="1" dirty="0" smtClean="0">
              <a:solidFill>
                <a:schemeClr val="tx1"/>
              </a:solidFill>
            </a:endParaRPr>
          </a:p>
          <a:p>
            <a:pPr eaLnBrk="1" fontAlgn="auto" hangingPunct="1">
              <a:spcAft>
                <a:spcPts val="0"/>
              </a:spcAft>
              <a:buFont typeface="Wingdings 2"/>
              <a:buNone/>
              <a:defRPr/>
            </a:pPr>
            <a:endParaRPr lang="en-US" sz="2200" b="1" dirty="0">
              <a:solidFill>
                <a:schemeClr val="tx1"/>
              </a:solidFill>
            </a:endParaRPr>
          </a:p>
        </p:txBody>
      </p:sp>
      <p:sp>
        <p:nvSpPr>
          <p:cNvPr id="62467"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sp>
        <p:nvSpPr>
          <p:cNvPr id="62468"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62469"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4191000" y="1143000"/>
            <a:ext cx="695325" cy="342900"/>
          </a:xfrm>
          <a:prstGeom prst="rect">
            <a:avLst/>
          </a:prstGeom>
          <a:noFill/>
          <a:ln w="9525">
            <a:noFill/>
            <a:miter lim="800000"/>
            <a:headEnd/>
            <a:tailEnd/>
          </a:ln>
        </p:spPr>
      </p:pic>
      <p:sp>
        <p:nvSpPr>
          <p:cNvPr id="62470"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atin typeface="Franklin Gothic Book" pitchFamily="34" charset="0"/>
            </a:endParaRPr>
          </a:p>
        </p:txBody>
      </p:sp>
      <p:pic>
        <p:nvPicPr>
          <p:cNvPr id="62471" name="Picture 5"/>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4191000" y="1524000"/>
            <a:ext cx="257175" cy="361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6800"/>
            <a:ext cx="9144000" cy="5791200"/>
          </a:xfrm>
        </p:spPr>
        <p:txBody>
          <a:bodyPr>
            <a:normAutofit/>
          </a:bodyPr>
          <a:lstStyle/>
          <a:p>
            <a:pPr eaLnBrk="1" fontAlgn="auto" hangingPunct="1">
              <a:spcAft>
                <a:spcPts val="0"/>
              </a:spcAft>
              <a:buClrTx/>
              <a:buFont typeface="Wingdings" pitchFamily="2" charset="2"/>
              <a:buChar char="Ø"/>
              <a:defRPr/>
            </a:pPr>
            <a:r>
              <a:rPr lang="en-US" sz="2400" b="1" u="sng" dirty="0" smtClean="0">
                <a:solidFill>
                  <a:schemeClr val="tx1"/>
                </a:solidFill>
                <a:latin typeface="+mj-lt"/>
              </a:rPr>
              <a:t>Other methods of remedying multicollinearity</a:t>
            </a:r>
          </a:p>
          <a:p>
            <a:pPr eaLnBrk="1" fontAlgn="auto" hangingPunct="1">
              <a:spcAft>
                <a:spcPts val="0"/>
              </a:spcAft>
              <a:buFont typeface="Wingdings 2"/>
              <a:buNone/>
              <a:defRPr/>
            </a:pPr>
            <a:r>
              <a:rPr lang="en-US" sz="2200" b="1" dirty="0" smtClean="0">
                <a:solidFill>
                  <a:schemeClr val="tx1"/>
                </a:solidFill>
              </a:rPr>
              <a:t>Multivariate statistical techniques such as </a:t>
            </a:r>
            <a:r>
              <a:rPr lang="en-US" sz="2200" b="1" dirty="0" smtClean="0">
                <a:solidFill>
                  <a:schemeClr val="tx1"/>
                </a:solidFill>
                <a:latin typeface="+mj-lt"/>
              </a:rPr>
              <a:t>FACTOR COMPONENTS </a:t>
            </a:r>
            <a:r>
              <a:rPr lang="en-US" sz="2200" b="1" dirty="0" smtClean="0">
                <a:solidFill>
                  <a:schemeClr val="tx1"/>
                </a:solidFill>
              </a:rPr>
              <a:t>and </a:t>
            </a:r>
          </a:p>
          <a:p>
            <a:pPr eaLnBrk="1" fontAlgn="auto" hangingPunct="1">
              <a:spcAft>
                <a:spcPts val="0"/>
              </a:spcAft>
              <a:buFont typeface="Wingdings 2"/>
              <a:buNone/>
              <a:defRPr/>
            </a:pPr>
            <a:r>
              <a:rPr lang="en-US" sz="2200" b="1" dirty="0" smtClean="0">
                <a:solidFill>
                  <a:schemeClr val="tx1"/>
                </a:solidFill>
                <a:latin typeface="+mj-lt"/>
              </a:rPr>
              <a:t>PRINCIPLE COMPONENTS </a:t>
            </a:r>
            <a:r>
              <a:rPr lang="en-US" sz="2200" b="1" dirty="0" smtClean="0">
                <a:solidFill>
                  <a:schemeClr val="tx1"/>
                </a:solidFill>
              </a:rPr>
              <a:t>or techniques such as </a:t>
            </a:r>
            <a:r>
              <a:rPr lang="en-US" sz="2200" b="1" dirty="0" smtClean="0">
                <a:solidFill>
                  <a:schemeClr val="tx1"/>
                </a:solidFill>
                <a:latin typeface="+mj-lt"/>
              </a:rPr>
              <a:t>RIDGE REGRESSION </a:t>
            </a:r>
            <a:r>
              <a:rPr lang="en-US" sz="2200" b="1" dirty="0" smtClean="0">
                <a:solidFill>
                  <a:schemeClr val="tx1"/>
                </a:solidFill>
              </a:rPr>
              <a:t>are </a:t>
            </a:r>
          </a:p>
          <a:p>
            <a:pPr eaLnBrk="1" fontAlgn="auto" hangingPunct="1">
              <a:spcAft>
                <a:spcPts val="0"/>
              </a:spcAft>
              <a:buFont typeface="Wingdings 2"/>
              <a:buNone/>
              <a:defRPr/>
            </a:pPr>
            <a:r>
              <a:rPr lang="en-US" sz="2200" b="1" dirty="0" smtClean="0">
                <a:solidFill>
                  <a:schemeClr val="tx1"/>
                </a:solidFill>
              </a:rPr>
              <a:t>often to solve the problem of multicollinearity. </a:t>
            </a:r>
            <a:endParaRPr lang="en-US" sz="2200" b="1" dirty="0">
              <a:solidFill>
                <a:schemeClr val="tx1"/>
              </a:solidFill>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686800" cy="838200"/>
          </a:xfrm>
        </p:spPr>
        <p:txBody>
          <a:bodyPr>
            <a:noAutofit/>
          </a:bodyPr>
          <a:lstStyle/>
          <a:p>
            <a:pPr eaLnBrk="1" fontAlgn="auto" hangingPunct="1">
              <a:spcAft>
                <a:spcPts val="0"/>
              </a:spcAft>
              <a:defRPr/>
            </a:pPr>
            <a:r>
              <a:rPr lang="en-US" sz="2500" b="1" dirty="0" smtClean="0">
                <a:solidFill>
                  <a:schemeClr val="tx1"/>
                </a:solidFill>
              </a:rPr>
              <a:t>Is multicollinearity necessarily bad? May not be if the objective is prediction only</a:t>
            </a:r>
            <a:endParaRPr lang="en-US" sz="2500" b="1" dirty="0">
              <a:solidFill>
                <a:schemeClr val="tx1"/>
              </a:solidFill>
            </a:endParaRPr>
          </a:p>
        </p:txBody>
      </p:sp>
      <p:sp>
        <p:nvSpPr>
          <p:cNvPr id="64515" name="Content Placeholder 2"/>
          <p:cNvSpPr>
            <a:spLocks noGrp="1"/>
          </p:cNvSpPr>
          <p:nvPr>
            <p:ph idx="1"/>
          </p:nvPr>
        </p:nvSpPr>
        <p:spPr>
          <a:xfrm>
            <a:off x="0" y="1219200"/>
            <a:ext cx="8991600" cy="5486400"/>
          </a:xfrm>
        </p:spPr>
        <p:txBody>
          <a:bodyPr/>
          <a:lstStyle/>
          <a:p>
            <a:pPr eaLnBrk="1" hangingPunct="1">
              <a:buFont typeface="Wingdings 2" pitchFamily="18" charset="2"/>
              <a:buNone/>
            </a:pPr>
            <a:r>
              <a:rPr lang="en-US" sz="2200" b="1" smtClean="0">
                <a:solidFill>
                  <a:schemeClr val="tx1"/>
                </a:solidFill>
              </a:rPr>
              <a:t>IT has been said that if the soul purpose of regression analysis is </a:t>
            </a:r>
          </a:p>
          <a:p>
            <a:pPr eaLnBrk="1" hangingPunct="1">
              <a:buFont typeface="Wingdings 2" pitchFamily="18" charset="2"/>
              <a:buNone/>
            </a:pPr>
            <a:r>
              <a:rPr lang="en-US" sz="2200" b="1" smtClean="0">
                <a:solidFill>
                  <a:schemeClr val="tx1"/>
                </a:solidFill>
              </a:rPr>
              <a:t>prediction or forecasting, then multicollinearity is not a serious problem </a:t>
            </a:r>
          </a:p>
          <a:p>
            <a:pPr eaLnBrk="1" hangingPunct="1">
              <a:buFont typeface="Wingdings 2" pitchFamily="18" charset="2"/>
              <a:buNone/>
            </a:pPr>
            <a:r>
              <a:rPr lang="en-US" sz="2200" b="1" smtClean="0">
                <a:solidFill>
                  <a:schemeClr val="tx1"/>
                </a:solidFill>
              </a:rPr>
              <a:t>because higher the R</a:t>
            </a:r>
            <a:r>
              <a:rPr lang="en-US" sz="2200" b="1" baseline="30000" smtClean="0">
                <a:solidFill>
                  <a:schemeClr val="tx1"/>
                </a:solidFill>
              </a:rPr>
              <a:t>2</a:t>
            </a:r>
            <a:r>
              <a:rPr lang="en-US" sz="2200" b="1" smtClean="0">
                <a:solidFill>
                  <a:schemeClr val="tx1"/>
                </a:solidFill>
              </a:rPr>
              <a:t> , the better the prediction. But this may be so </a:t>
            </a:r>
          </a:p>
          <a:p>
            <a:pPr eaLnBrk="1" hangingPunct="1">
              <a:buFont typeface="Wingdings 2" pitchFamily="18" charset="2"/>
              <a:buNone/>
            </a:pPr>
            <a:r>
              <a:rPr lang="en-US" sz="2200" b="1" smtClean="0">
                <a:solidFill>
                  <a:schemeClr val="tx1"/>
                </a:solidFill>
              </a:rPr>
              <a:t>“…….. as long as the values of explanatory variables for which </a:t>
            </a:r>
          </a:p>
          <a:p>
            <a:pPr eaLnBrk="1" hangingPunct="1">
              <a:buFont typeface="Wingdings 2" pitchFamily="18" charset="2"/>
              <a:buNone/>
            </a:pPr>
            <a:r>
              <a:rPr lang="en-US" sz="2200" b="1" smtClean="0">
                <a:solidFill>
                  <a:schemeClr val="tx1"/>
                </a:solidFill>
              </a:rPr>
              <a:t>predictions are desired obey the same near linear same dependencies </a:t>
            </a:r>
          </a:p>
          <a:p>
            <a:pPr eaLnBrk="1" hangingPunct="1">
              <a:buFont typeface="Wingdings 2" pitchFamily="18" charset="2"/>
              <a:buNone/>
            </a:pPr>
            <a:r>
              <a:rPr lang="en-US" sz="2200" b="1" smtClean="0">
                <a:solidFill>
                  <a:schemeClr val="tx1"/>
                </a:solidFill>
              </a:rPr>
              <a:t>as the original design matrix </a:t>
            </a:r>
            <a:r>
              <a:rPr lang="en-US" sz="2200" b="1" i="1" smtClean="0">
                <a:solidFill>
                  <a:schemeClr val="tx1"/>
                </a:solidFill>
              </a:rPr>
              <a:t>X.” </a:t>
            </a:r>
            <a:r>
              <a:rPr lang="en-US" sz="2200" b="1" smtClean="0">
                <a:solidFill>
                  <a:schemeClr val="tx1"/>
                </a:solidFill>
              </a:rPr>
              <a:t>Thus, if in an estimated regression it is </a:t>
            </a:r>
          </a:p>
          <a:p>
            <a:pPr eaLnBrk="1" hangingPunct="1">
              <a:buFont typeface="Wingdings 2" pitchFamily="18" charset="2"/>
              <a:buNone/>
            </a:pPr>
            <a:r>
              <a:rPr lang="en-US" sz="2200" b="1" smtClean="0">
                <a:solidFill>
                  <a:schemeClr val="tx1"/>
                </a:solidFill>
              </a:rPr>
              <a:t>found that  </a:t>
            </a:r>
            <a:r>
              <a:rPr lang="en-US" sz="2200" b="1" i="1" smtClean="0">
                <a:solidFill>
                  <a:schemeClr val="tx1"/>
                </a:solidFill>
              </a:rPr>
              <a:t>X</a:t>
            </a:r>
            <a:r>
              <a:rPr lang="en-US" sz="2200" b="1" i="1" baseline="-25000" smtClean="0">
                <a:solidFill>
                  <a:schemeClr val="tx1"/>
                </a:solidFill>
              </a:rPr>
              <a:t>2 </a:t>
            </a:r>
            <a:r>
              <a:rPr lang="en-US" sz="2200" b="1" i="1" smtClean="0">
                <a:solidFill>
                  <a:schemeClr val="tx1"/>
                </a:solidFill>
              </a:rPr>
              <a:t> = 2X</a:t>
            </a:r>
            <a:r>
              <a:rPr lang="en-US" sz="2200" b="1" i="1" baseline="-25000" smtClean="0">
                <a:solidFill>
                  <a:schemeClr val="tx1"/>
                </a:solidFill>
              </a:rPr>
              <a:t>3</a:t>
            </a:r>
            <a:r>
              <a:rPr lang="en-US" sz="2200" b="1" i="1" smtClean="0">
                <a:solidFill>
                  <a:schemeClr val="tx1"/>
                </a:solidFill>
              </a:rPr>
              <a:t> </a:t>
            </a:r>
            <a:r>
              <a:rPr lang="en-US" sz="2200" b="1" smtClean="0">
                <a:solidFill>
                  <a:schemeClr val="tx1"/>
                </a:solidFill>
              </a:rPr>
              <a:t>approximately, then in a future sample used to </a:t>
            </a:r>
          </a:p>
          <a:p>
            <a:pPr eaLnBrk="1" hangingPunct="1">
              <a:buFont typeface="Wingdings 2" pitchFamily="18" charset="2"/>
              <a:buNone/>
            </a:pPr>
            <a:r>
              <a:rPr lang="en-US" sz="2200" b="1" smtClean="0">
                <a:solidFill>
                  <a:schemeClr val="tx1"/>
                </a:solidFill>
              </a:rPr>
              <a:t>forecast </a:t>
            </a:r>
            <a:r>
              <a:rPr lang="en-US" sz="2200" b="1" i="1" smtClean="0">
                <a:solidFill>
                  <a:schemeClr val="tx1"/>
                </a:solidFill>
              </a:rPr>
              <a:t>Y, X</a:t>
            </a:r>
            <a:r>
              <a:rPr lang="en-US" sz="2200" b="1" i="1" baseline="-25000" smtClean="0">
                <a:solidFill>
                  <a:schemeClr val="tx1"/>
                </a:solidFill>
              </a:rPr>
              <a:t>2</a:t>
            </a:r>
            <a:r>
              <a:rPr lang="en-US" sz="2200" b="1" i="1" smtClean="0">
                <a:solidFill>
                  <a:schemeClr val="tx1"/>
                </a:solidFill>
              </a:rPr>
              <a:t> </a:t>
            </a:r>
            <a:r>
              <a:rPr lang="en-US" sz="2200" b="1" smtClean="0">
                <a:solidFill>
                  <a:schemeClr val="tx1"/>
                </a:solidFill>
              </a:rPr>
              <a:t>should also be approximately equal to </a:t>
            </a:r>
            <a:r>
              <a:rPr lang="en-US" sz="2200" b="1" i="1" smtClean="0">
                <a:solidFill>
                  <a:schemeClr val="tx1"/>
                </a:solidFill>
              </a:rPr>
              <a:t>2X</a:t>
            </a:r>
            <a:r>
              <a:rPr lang="en-US" sz="2200" b="1" i="1" baseline="-25000" smtClean="0">
                <a:solidFill>
                  <a:schemeClr val="tx1"/>
                </a:solidFill>
              </a:rPr>
              <a:t>3 </a:t>
            </a:r>
            <a:r>
              <a:rPr lang="en-US" sz="2200" b="1" i="1" smtClean="0">
                <a:solidFill>
                  <a:schemeClr val="tx1"/>
                </a:solidFill>
              </a:rPr>
              <a:t> , </a:t>
            </a:r>
            <a:r>
              <a:rPr lang="en-US" sz="2200" b="1" smtClean="0">
                <a:solidFill>
                  <a:schemeClr val="tx1"/>
                </a:solidFill>
              </a:rPr>
              <a:t>a condition </a:t>
            </a:r>
          </a:p>
          <a:p>
            <a:pPr eaLnBrk="1" hangingPunct="1">
              <a:buFont typeface="Wingdings 2" pitchFamily="18" charset="2"/>
              <a:buNone/>
            </a:pPr>
            <a:r>
              <a:rPr lang="en-US" sz="2200" b="1" smtClean="0">
                <a:solidFill>
                  <a:schemeClr val="tx1"/>
                </a:solidFill>
              </a:rPr>
              <a:t>difficult to meet n practice, in which case prediction will become </a:t>
            </a:r>
          </a:p>
          <a:p>
            <a:pPr eaLnBrk="1" hangingPunct="1">
              <a:buFont typeface="Wingdings 2" pitchFamily="18" charset="2"/>
              <a:buNone/>
            </a:pPr>
            <a:r>
              <a:rPr lang="en-US" sz="2200" b="1" smtClean="0">
                <a:solidFill>
                  <a:schemeClr val="tx1"/>
                </a:solidFill>
              </a:rPr>
              <a:t>increasingly uncertain. Moreover, if the objective of the analysis is not </a:t>
            </a:r>
          </a:p>
          <a:p>
            <a:pPr eaLnBrk="1" hangingPunct="1">
              <a:buFont typeface="Wingdings 2" pitchFamily="18" charset="2"/>
              <a:buNone/>
            </a:pPr>
            <a:r>
              <a:rPr lang="en-US" sz="2200" b="1" smtClean="0">
                <a:solidFill>
                  <a:schemeClr val="tx1"/>
                </a:solidFill>
              </a:rPr>
              <a:t>only prediction but also reliable estimation of the parameters, serous </a:t>
            </a:r>
          </a:p>
          <a:p>
            <a:pPr eaLnBrk="1" hangingPunct="1">
              <a:buFont typeface="Wingdings 2" pitchFamily="18" charset="2"/>
              <a:buNone/>
            </a:pPr>
            <a:r>
              <a:rPr lang="en-US" sz="2200" b="1" smtClean="0">
                <a:solidFill>
                  <a:schemeClr val="tx1"/>
                </a:solidFill>
              </a:rPr>
              <a:t>multicollinearity will be a problem because we have seen that it leads to </a:t>
            </a:r>
          </a:p>
          <a:p>
            <a:pPr eaLnBrk="1" hangingPunct="1">
              <a:buFont typeface="Wingdings 2" pitchFamily="18" charset="2"/>
              <a:buNone/>
            </a:pPr>
            <a:r>
              <a:rPr lang="en-US" sz="2200" b="1" smtClean="0">
                <a:solidFill>
                  <a:schemeClr val="tx1"/>
                </a:solidFill>
              </a:rPr>
              <a:t>large errors of the estimators. </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Content Placeholder 2"/>
          <p:cNvSpPr>
            <a:spLocks noGrp="1"/>
          </p:cNvSpPr>
          <p:nvPr>
            <p:ph idx="1"/>
          </p:nvPr>
        </p:nvSpPr>
        <p:spPr>
          <a:xfrm>
            <a:off x="152400" y="1143000"/>
            <a:ext cx="8915400" cy="5562600"/>
          </a:xfrm>
        </p:spPr>
        <p:txBody>
          <a:bodyPr/>
          <a:lstStyle/>
          <a:p>
            <a:pPr eaLnBrk="1" hangingPunct="1">
              <a:buFont typeface="Wingdings 2" pitchFamily="18" charset="2"/>
              <a:buNone/>
            </a:pPr>
            <a:r>
              <a:rPr lang="en-US" sz="2200" b="1" smtClean="0">
                <a:solidFill>
                  <a:schemeClr val="tx1"/>
                </a:solidFill>
              </a:rPr>
              <a:t>In one situation however, multicollinearity may not pose a serious </a:t>
            </a:r>
          </a:p>
          <a:p>
            <a:pPr eaLnBrk="1" hangingPunct="1">
              <a:buFont typeface="Wingdings 2" pitchFamily="18" charset="2"/>
              <a:buNone/>
            </a:pPr>
            <a:r>
              <a:rPr lang="en-US" sz="2200" b="1" smtClean="0">
                <a:solidFill>
                  <a:schemeClr val="tx1"/>
                </a:solidFill>
              </a:rPr>
              <a:t>problem. This is the case when </a:t>
            </a:r>
            <a:r>
              <a:rPr lang="en-US" sz="2200" b="1" i="1" smtClean="0">
                <a:solidFill>
                  <a:schemeClr val="tx1"/>
                </a:solidFill>
              </a:rPr>
              <a:t>R</a:t>
            </a:r>
            <a:r>
              <a:rPr lang="en-US" sz="2200" b="1" i="1" baseline="30000" smtClean="0">
                <a:solidFill>
                  <a:schemeClr val="tx1"/>
                </a:solidFill>
              </a:rPr>
              <a:t>2</a:t>
            </a:r>
            <a:r>
              <a:rPr lang="en-US" sz="2200" b="1" i="1" smtClean="0">
                <a:solidFill>
                  <a:schemeClr val="tx1"/>
                </a:solidFill>
              </a:rPr>
              <a:t> </a:t>
            </a:r>
            <a:r>
              <a:rPr lang="en-US" sz="2200" b="1" smtClean="0">
                <a:solidFill>
                  <a:schemeClr val="tx1"/>
                </a:solidFill>
              </a:rPr>
              <a:t>is high and the regression coefficients </a:t>
            </a:r>
          </a:p>
          <a:p>
            <a:pPr eaLnBrk="1" hangingPunct="1">
              <a:buFont typeface="Wingdings 2" pitchFamily="18" charset="2"/>
              <a:buNone/>
            </a:pPr>
            <a:r>
              <a:rPr lang="en-US" sz="2200" b="1" smtClean="0">
                <a:solidFill>
                  <a:schemeClr val="tx1"/>
                </a:solidFill>
              </a:rPr>
              <a:t>are individually significant as revealed by the higher t-values.</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D2EF5D258FB042B15A253E786A520A" ma:contentTypeVersion="0" ma:contentTypeDescription="Create a new document." ma:contentTypeScope="" ma:versionID="b25993d58e02f27973881dc648d485a9">
  <xsd:schema xmlns:xsd="http://www.w3.org/2001/XMLSchema" xmlns:xs="http://www.w3.org/2001/XMLSchema" xmlns:p="http://schemas.microsoft.com/office/2006/metadata/properties" targetNamespace="http://schemas.microsoft.com/office/2006/metadata/properties" ma:root="true" ma:fieldsID="0967b7be50301903c78f9c39c6fd9af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6243F78-BC6A-425F-8E2C-A7A17F2CFE86}"/>
</file>

<file path=customXml/itemProps2.xml><?xml version="1.0" encoding="utf-8"?>
<ds:datastoreItem xmlns:ds="http://schemas.openxmlformats.org/officeDocument/2006/customXml" ds:itemID="{84AD068D-1A8E-47B1-B92C-5392A428D307}"/>
</file>

<file path=customXml/itemProps3.xml><?xml version="1.0" encoding="utf-8"?>
<ds:datastoreItem xmlns:ds="http://schemas.openxmlformats.org/officeDocument/2006/customXml" ds:itemID="{ED93A2EC-23D5-4205-AEC7-C381A5BEC6F8}"/>
</file>

<file path=docProps/app.xml><?xml version="1.0" encoding="utf-8"?>
<Properties xmlns="http://schemas.openxmlformats.org/officeDocument/2006/extended-properties" xmlns:vt="http://schemas.openxmlformats.org/officeDocument/2006/docPropsVTypes">
  <Template>Concourse</Template>
  <TotalTime>1434</TotalTime>
  <Words>5598</Words>
  <Application>Microsoft Office PowerPoint</Application>
  <PresentationFormat>On-screen Show (4:3)</PresentationFormat>
  <Paragraphs>847</Paragraphs>
  <Slides>62</Slides>
  <Notes>4</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Trek</vt:lpstr>
      <vt:lpstr>Slide 1</vt:lpstr>
      <vt:lpstr>Slide 2</vt:lpstr>
      <vt:lpstr>What is Multicollinearity? </vt:lpstr>
      <vt:lpstr>Slide 4</vt:lpstr>
      <vt:lpstr>Slide 5</vt:lpstr>
      <vt:lpstr>Slide 6</vt:lpstr>
      <vt:lpstr>Degrees of multicollinearity </vt:lpstr>
      <vt:lpstr>Slide 8</vt:lpstr>
      <vt:lpstr>Slide 9</vt:lpstr>
      <vt:lpstr>Sources of Multicollinearity  </vt:lpstr>
      <vt:lpstr>Slide 11</vt:lpstr>
      <vt:lpstr>Consequences of multicollinearity </vt:lpstr>
      <vt:lpstr>Consequences : </vt:lpstr>
      <vt:lpstr>Theoretical consequences</vt:lpstr>
      <vt:lpstr>Slide 15</vt:lpstr>
      <vt:lpstr>Slide 16</vt:lpstr>
      <vt:lpstr>Slide 17</vt:lpstr>
      <vt:lpstr>Slide 18</vt:lpstr>
      <vt:lpstr>Slide 19</vt:lpstr>
      <vt:lpstr>Slide 20</vt:lpstr>
      <vt:lpstr>PRACTICAL CONSEQUENCES</vt:lpstr>
      <vt:lpstr>Slide 22</vt:lpstr>
      <vt:lpstr>Slide 23</vt:lpstr>
      <vt:lpstr>Slide 24</vt:lpstr>
      <vt:lpstr>Slide 25</vt:lpstr>
      <vt:lpstr>Slide 26</vt:lpstr>
      <vt:lpstr>Slide 27</vt:lpstr>
      <vt:lpstr>Slide 28</vt:lpstr>
      <vt:lpstr>Slide 29</vt:lpstr>
      <vt:lpstr>Slide 30</vt:lpstr>
      <vt:lpstr>Slide 31</vt:lpstr>
      <vt:lpstr>Slide 32</vt:lpstr>
      <vt:lpstr>DETECTION OF MULTICOLLINEARITY</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REMEDIAL MEASURES </vt:lpstr>
      <vt:lpstr>Slide 50</vt:lpstr>
      <vt:lpstr>Slide 51</vt:lpstr>
      <vt:lpstr>Slide 52</vt:lpstr>
      <vt:lpstr>Slide 53</vt:lpstr>
      <vt:lpstr>Slide 54</vt:lpstr>
      <vt:lpstr>Slide 55</vt:lpstr>
      <vt:lpstr>Slide 56</vt:lpstr>
      <vt:lpstr>Slide 57</vt:lpstr>
      <vt:lpstr>Slide 58</vt:lpstr>
      <vt:lpstr>Slide 59</vt:lpstr>
      <vt:lpstr>Slide 60</vt:lpstr>
      <vt:lpstr>Is multicollinearity necessarily bad? May not be if the objective is prediction only</vt:lpstr>
      <vt:lpstr>Slide 62</vt:lpstr>
    </vt:vector>
  </TitlesOfParts>
  <Company>ongc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kunal</dc:creator>
  <cp:lastModifiedBy>Ketan</cp:lastModifiedBy>
  <cp:revision>166</cp:revision>
  <dcterms:created xsi:type="dcterms:W3CDTF">2011-01-21T14:35:48Z</dcterms:created>
  <dcterms:modified xsi:type="dcterms:W3CDTF">2012-04-12T21:18:17Z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0x010100CAD2EF5D258FB042B15A253E786A520A</vt:lpwstr>
  </property>
</Properties>
</file>