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5" r:id="rId13"/>
    <p:sldId id="272" r:id="rId14"/>
    <p:sldId id="273" r:id="rId15"/>
    <p:sldId id="274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6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Sheet1!$E$6:$E$11</c:f>
              <c:strCache>
                <c:ptCount val="6"/>
                <c:pt idx="0">
                  <c:v>Mumbai</c:v>
                </c:pt>
                <c:pt idx="1">
                  <c:v>Chennai</c:v>
                </c:pt>
                <c:pt idx="2">
                  <c:v>Bangalore</c:v>
                </c:pt>
                <c:pt idx="3">
                  <c:v>Hyderabad</c:v>
                </c:pt>
                <c:pt idx="4">
                  <c:v>Pune</c:v>
                </c:pt>
                <c:pt idx="5">
                  <c:v>Kolkata</c:v>
                </c:pt>
              </c:strCache>
            </c:strRef>
          </c:cat>
          <c:val>
            <c:numRef>
              <c:f>Sheet1!$F$6:$F$11</c:f>
              <c:numCache>
                <c:formatCode>#,##0</c:formatCode>
                <c:ptCount val="6"/>
                <c:pt idx="0">
                  <c:v>788789</c:v>
                </c:pt>
                <c:pt idx="1">
                  <c:v>794403</c:v>
                </c:pt>
                <c:pt idx="2">
                  <c:v>984488</c:v>
                </c:pt>
                <c:pt idx="3">
                  <c:v>795023</c:v>
                </c:pt>
                <c:pt idx="4">
                  <c:v>725146</c:v>
                </c:pt>
                <c:pt idx="5">
                  <c:v>402978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9-456C-9C7F-49924A4F37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50213423"/>
        <c:axId val="911698975"/>
      </c:barChart>
      <c:catAx>
        <c:axId val="105021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698975"/>
        <c:crosses val="autoZero"/>
        <c:auto val="1"/>
        <c:lblAlgn val="ctr"/>
        <c:lblOffset val="100"/>
        <c:noMultiLvlLbl val="0"/>
      </c:catAx>
      <c:valAx>
        <c:axId val="911698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0213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Sheet1!$E$25:$E$30</c:f>
              <c:strCache>
                <c:ptCount val="6"/>
                <c:pt idx="0">
                  <c:v>IBM Corp</c:v>
                </c:pt>
                <c:pt idx="1">
                  <c:v>Accenture</c:v>
                </c:pt>
                <c:pt idx="2">
                  <c:v>JP Morgan Chase and Co</c:v>
                </c:pt>
                <c:pt idx="3">
                  <c:v>American Express</c:v>
                </c:pt>
                <c:pt idx="4">
                  <c:v>McKinsey and Company</c:v>
                </c:pt>
                <c:pt idx="5">
                  <c:v>Wipro Technology</c:v>
                </c:pt>
              </c:strCache>
            </c:strRef>
          </c:cat>
          <c:val>
            <c:numRef>
              <c:f>Sheet1!$F$25:$F$30</c:f>
              <c:numCache>
                <c:formatCode>#,##0</c:formatCode>
                <c:ptCount val="6"/>
                <c:pt idx="0">
                  <c:v>1468040</c:v>
                </c:pt>
                <c:pt idx="1">
                  <c:v>1986586</c:v>
                </c:pt>
                <c:pt idx="2">
                  <c:v>997500</c:v>
                </c:pt>
                <c:pt idx="3">
                  <c:v>1350000</c:v>
                </c:pt>
                <c:pt idx="4">
                  <c:v>1080000</c:v>
                </c:pt>
                <c:pt idx="5">
                  <c:v>1750000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3B-4ED3-8781-9B1D745AD6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51643903"/>
        <c:axId val="911696479"/>
      </c:barChart>
      <c:catAx>
        <c:axId val="105164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696479"/>
        <c:crosses val="autoZero"/>
        <c:auto val="1"/>
        <c:lblAlgn val="ctr"/>
        <c:lblOffset val="100"/>
        <c:noMultiLvlLbl val="0"/>
      </c:catAx>
      <c:valAx>
        <c:axId val="91169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1643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1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1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6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21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6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85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03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80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69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73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2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DFFF81B-4487-41E4-A47A-10B520FDCBC6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67BF6A3-8BD3-4E7B-BEB2-273E64F401D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27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0A4616-D537-4822-9E6C-4F7BEAFC54B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79" y="701963"/>
            <a:ext cx="2163618" cy="2163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131AD3-B7A2-4FD4-9357-A8239A8477EC}"/>
              </a:ext>
            </a:extLst>
          </p:cNvPr>
          <p:cNvSpPr txBox="1"/>
          <p:nvPr/>
        </p:nvSpPr>
        <p:spPr>
          <a:xfrm>
            <a:off x="1749782" y="842703"/>
            <a:ext cx="9631439" cy="168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The Maharaja Sayajirao University of Baroda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Faculty of Science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Department of Statistics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95105-1AAE-4A18-B7CC-3FE7BF14FAB7}"/>
              </a:ext>
            </a:extLst>
          </p:cNvPr>
          <p:cNvSpPr txBox="1"/>
          <p:nvPr/>
        </p:nvSpPr>
        <p:spPr>
          <a:xfrm>
            <a:off x="900725" y="3821097"/>
            <a:ext cx="10247562" cy="97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Data Science	  	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F0607-1FF9-4AC1-90EA-430FA594A158}"/>
              </a:ext>
            </a:extLst>
          </p:cNvPr>
          <p:cNvSpPr txBox="1"/>
          <p:nvPr/>
        </p:nvSpPr>
        <p:spPr>
          <a:xfrm>
            <a:off x="2655640" y="6396335"/>
            <a:ext cx="9134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Century Gothic" panose="020B0502020202020204" pitchFamily="34" charset="0"/>
              </a:rPr>
              <a:t>Presented by:  Aiman, Parth, Manali, </a:t>
            </a:r>
          </a:p>
          <a:p>
            <a:pPr algn="r"/>
            <a:r>
              <a:rPr lang="en-US" sz="1200" dirty="0">
                <a:latin typeface="Century Gothic" panose="020B0502020202020204" pitchFamily="34" charset="0"/>
              </a:rPr>
              <a:t>Pradeep, </a:t>
            </a:r>
            <a:r>
              <a:rPr lang="en-US" sz="1200" dirty="0" err="1">
                <a:latin typeface="Century Gothic" panose="020B0502020202020204" pitchFamily="34" charset="0"/>
              </a:rPr>
              <a:t>Grishma</a:t>
            </a:r>
            <a:r>
              <a:rPr lang="en-US" sz="1200" dirty="0">
                <a:latin typeface="Century Gothic" panose="020B0502020202020204" pitchFamily="34" charset="0"/>
              </a:rPr>
              <a:t>, </a:t>
            </a:r>
            <a:r>
              <a:rPr lang="en-US" sz="1200" dirty="0" err="1">
                <a:latin typeface="Century Gothic" panose="020B0502020202020204" pitchFamily="34" charset="0"/>
              </a:rPr>
              <a:t>Niyati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8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ata science isolated icon simple element from Vector Image">
            <a:extLst>
              <a:ext uri="{FF2B5EF4-FFF2-40B4-BE49-F238E27FC236}">
                <a16:creationId xmlns:a16="http://schemas.microsoft.com/office/drawing/2014/main" id="{CB8D7143-311A-4D46-85FC-F1BB45E79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5" t="13744" r="20157" b="31837"/>
          <a:stretch/>
        </p:blipFill>
        <p:spPr bwMode="auto">
          <a:xfrm>
            <a:off x="2436071" y="1871092"/>
            <a:ext cx="1564174" cy="155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ta analysis symbol - Free interface icons">
            <a:extLst>
              <a:ext uri="{FF2B5EF4-FFF2-40B4-BE49-F238E27FC236}">
                <a16:creationId xmlns:a16="http://schemas.microsoft.com/office/drawing/2014/main" id="{B5DB9CFF-17C6-478B-80C5-8AAA4053E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007" y="1627002"/>
            <a:ext cx="1943058" cy="194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C23227-ECBC-4A03-9C53-6198BD5E7D24}"/>
              </a:ext>
            </a:extLst>
          </p:cNvPr>
          <p:cNvSpPr txBox="1"/>
          <p:nvPr/>
        </p:nvSpPr>
        <p:spPr>
          <a:xfrm>
            <a:off x="1012329" y="765392"/>
            <a:ext cx="9951998" cy="81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Data Science	     	          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0CD31-0E68-4D85-9638-5784DFC36276}"/>
              </a:ext>
            </a:extLst>
          </p:cNvPr>
          <p:cNvSpPr txBox="1"/>
          <p:nvPr/>
        </p:nvSpPr>
        <p:spPr>
          <a:xfrm>
            <a:off x="701553" y="3716717"/>
            <a:ext cx="4258270" cy="249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2.5 Exabytes/day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Berlin Sans FB" panose="020E0602020502020306" pitchFamily="34" charset="0"/>
                <a:cs typeface="Times New Roman" panose="02020603050405020304" pitchFamily="18" charset="0"/>
              </a:rPr>
              <a:t>New Sectors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Berlin Sans FB" panose="020E0602020502020306" pitchFamily="34" charset="0"/>
                <a:cs typeface="Times New Roman" panose="02020603050405020304" pitchFamily="18" charset="0"/>
              </a:rPr>
              <a:t>New Fields</a:t>
            </a:r>
            <a:endParaRPr lang="en-US" sz="4800" dirty="0">
              <a:latin typeface="Berlin Sans FB" panose="020E0602020502020306" pitchFamily="34" charset="0"/>
            </a:endParaRPr>
          </a:p>
        </p:txBody>
      </p:sp>
      <p:pic>
        <p:nvPicPr>
          <p:cNvPr id="8" name="Picture 6" descr="Big Data Symbols Technology Elements Vector Illustration Graphic Design  Royalty Free Cliparts, Vectors, And Stock Illustration. Image 116825288.">
            <a:extLst>
              <a:ext uri="{FF2B5EF4-FFF2-40B4-BE49-F238E27FC236}">
                <a16:creationId xmlns:a16="http://schemas.microsoft.com/office/drawing/2014/main" id="{78C34B2E-C2BB-4C50-B2C7-F50838D6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845" y="3737486"/>
            <a:ext cx="2664691" cy="26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n India, there are 10 artificial intelligence startups.">
            <a:extLst>
              <a:ext uri="{FF2B5EF4-FFF2-40B4-BE49-F238E27FC236}">
                <a16:creationId xmlns:a16="http://schemas.microsoft.com/office/drawing/2014/main" id="{BA0473F6-DFA4-476E-A403-DF5D01D7B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979" y="3613689"/>
            <a:ext cx="2803157" cy="280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82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DBAB08-474A-42CE-A9B1-E5E419F45386}"/>
              </a:ext>
            </a:extLst>
          </p:cNvPr>
          <p:cNvSpPr txBox="1"/>
          <p:nvPr/>
        </p:nvSpPr>
        <p:spPr>
          <a:xfrm>
            <a:off x="604843" y="696533"/>
            <a:ext cx="3773193" cy="81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Data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B7B62-9757-47F6-B1E1-A55FE963717B}"/>
              </a:ext>
            </a:extLst>
          </p:cNvPr>
          <p:cNvSpPr txBox="1"/>
          <p:nvPr/>
        </p:nvSpPr>
        <p:spPr>
          <a:xfrm>
            <a:off x="736892" y="6161467"/>
            <a:ext cx="111595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The ART of uncovering the insights and trends in data</a:t>
            </a:r>
          </a:p>
          <a:p>
            <a:endParaRPr lang="en-IN"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496A97-ECEB-4ACC-8A20-B4990F3FE7CB}"/>
              </a:ext>
            </a:extLst>
          </p:cNvPr>
          <p:cNvGrpSpPr/>
          <p:nvPr/>
        </p:nvGrpSpPr>
        <p:grpSpPr>
          <a:xfrm>
            <a:off x="3687995" y="1967345"/>
            <a:ext cx="4970339" cy="4046345"/>
            <a:chOff x="5950904" y="1985818"/>
            <a:chExt cx="4970339" cy="404634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C128789-7943-40BF-99BF-D35DA28A8B84}"/>
                </a:ext>
              </a:extLst>
            </p:cNvPr>
            <p:cNvGrpSpPr/>
            <p:nvPr/>
          </p:nvGrpSpPr>
          <p:grpSpPr>
            <a:xfrm>
              <a:off x="6096000" y="1985818"/>
              <a:ext cx="4442691" cy="4046345"/>
              <a:chOff x="5098673" y="1275603"/>
              <a:chExt cx="4886159" cy="4737725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CC7B84A-C3B3-431F-9C34-ED328B091C0A}"/>
                  </a:ext>
                </a:extLst>
              </p:cNvPr>
              <p:cNvSpPr/>
              <p:nvPr/>
            </p:nvSpPr>
            <p:spPr>
              <a:xfrm>
                <a:off x="5098673" y="1298577"/>
                <a:ext cx="2937932" cy="2937932"/>
              </a:xfrm>
              <a:prstGeom prst="ellipse">
                <a:avLst/>
              </a:prstGeom>
              <a:solidFill>
                <a:schemeClr val="accent1">
                  <a:alpha val="5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74BB51A-4592-4AD0-991F-0B1F4B55256F}"/>
                  </a:ext>
                </a:extLst>
              </p:cNvPr>
              <p:cNvSpPr/>
              <p:nvPr/>
            </p:nvSpPr>
            <p:spPr>
              <a:xfrm>
                <a:off x="7046900" y="1275603"/>
                <a:ext cx="2937932" cy="2937932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5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B807DB7-5941-44BB-BFD0-FD85C48F2F57}"/>
                  </a:ext>
                </a:extLst>
              </p:cNvPr>
              <p:cNvSpPr/>
              <p:nvPr/>
            </p:nvSpPr>
            <p:spPr>
              <a:xfrm>
                <a:off x="6072787" y="3075396"/>
                <a:ext cx="2937932" cy="2937932"/>
              </a:xfrm>
              <a:prstGeom prst="ellipse">
                <a:avLst/>
              </a:prstGeom>
              <a:solidFill>
                <a:schemeClr val="accent2">
                  <a:lumMod val="75000"/>
                  <a:alpha val="51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9625F7-C770-4E1B-AEF7-BF8FDC3BB975}"/>
                </a:ext>
              </a:extLst>
            </p:cNvPr>
            <p:cNvSpPr txBox="1"/>
            <p:nvPr/>
          </p:nvSpPr>
          <p:spPr>
            <a:xfrm>
              <a:off x="5950904" y="2604857"/>
              <a:ext cx="2153958" cy="957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Century Gothic" panose="020B0502020202020204" pitchFamily="34" charset="0"/>
                </a:rPr>
                <a:t>Programming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Century Gothic" panose="020B0502020202020204" pitchFamily="34" charset="0"/>
                </a:rPr>
                <a:t>Skills</a:t>
              </a:r>
              <a:endParaRPr lang="en-US" sz="14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20890F-0C76-41CB-90AC-5C980C294D56}"/>
                </a:ext>
              </a:extLst>
            </p:cNvPr>
            <p:cNvSpPr txBox="1"/>
            <p:nvPr/>
          </p:nvSpPr>
          <p:spPr>
            <a:xfrm>
              <a:off x="8249958" y="2471879"/>
              <a:ext cx="2671285" cy="957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Century Gothic" panose="020B0502020202020204" pitchFamily="34" charset="0"/>
                </a:rPr>
                <a:t>Statistics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Century Gothic" panose="020B0502020202020204" pitchFamily="34" charset="0"/>
                </a:rPr>
                <a:t>&amp; </a:t>
              </a:r>
              <a:r>
                <a:rPr lang="en-US" sz="2000" dirty="0" err="1">
                  <a:latin typeface="Century Gothic" panose="020B0502020202020204" pitchFamily="34" charset="0"/>
                </a:rPr>
                <a:t>Maths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E6638E-CACB-48E0-BE58-0BE1323E979D}"/>
                </a:ext>
              </a:extLst>
            </p:cNvPr>
            <p:cNvSpPr txBox="1"/>
            <p:nvPr/>
          </p:nvSpPr>
          <p:spPr>
            <a:xfrm>
              <a:off x="7201167" y="4495015"/>
              <a:ext cx="2232356" cy="1130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dirty="0">
                  <a:latin typeface="Century Gothic" panose="020B0502020202020204" pitchFamily="34" charset="0"/>
                </a:rPr>
                <a:t>Domain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>
                  <a:latin typeface="Century Gothic" panose="020B0502020202020204" pitchFamily="34" charset="0"/>
                </a:rPr>
                <a:t>Knowledge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6DBC2A-950E-4AD5-B394-D304B8BE0324}"/>
              </a:ext>
            </a:extLst>
          </p:cNvPr>
          <p:cNvSpPr txBox="1"/>
          <p:nvPr/>
        </p:nvSpPr>
        <p:spPr>
          <a:xfrm>
            <a:off x="5688461" y="3440451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</a:t>
            </a:r>
          </a:p>
          <a:p>
            <a:pPr algn="ctr"/>
            <a:r>
              <a:rPr lang="en-US" sz="1400" dirty="0"/>
              <a:t>Science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620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64D61B-38FE-40BE-930F-A2C75CA73712}"/>
              </a:ext>
            </a:extLst>
          </p:cNvPr>
          <p:cNvSpPr txBox="1"/>
          <p:nvPr/>
        </p:nvSpPr>
        <p:spPr>
          <a:xfrm>
            <a:off x="621229" y="705125"/>
            <a:ext cx="9134396" cy="5839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Data Science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Machine Learning Algorithms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ury Gothic" panose="020B0502020202020204" pitchFamily="34" charset="0"/>
              </a:rPr>
              <a:t>Numbers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ury Gothic" panose="020B0502020202020204" pitchFamily="34" charset="0"/>
              </a:rPr>
              <a:t>Text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ury Gothic" panose="020B0502020202020204" pitchFamily="34" charset="0"/>
              </a:rPr>
              <a:t>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ury Gothic" panose="020B0502020202020204" pitchFamily="34" charset="0"/>
              </a:rPr>
              <a:t>Video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ury Gothic" panose="020B0502020202020204" pitchFamily="34" charset="0"/>
              </a:rPr>
              <a:t>Audio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to produce </a:t>
            </a:r>
            <a:r>
              <a:rPr lang="en-IN" sz="2400" b="1" dirty="0">
                <a:latin typeface="Century Gothic" panose="020B0502020202020204" pitchFamily="34" charset="0"/>
              </a:rPr>
              <a:t>Artificial Intelligence </a:t>
            </a:r>
            <a:r>
              <a:rPr lang="en-IN" sz="2400" dirty="0">
                <a:latin typeface="Century Gothic" panose="020B0502020202020204" pitchFamily="34" charset="0"/>
              </a:rPr>
              <a:t>(AI) systems to perform tasks that ordinarily require human intelligence.</a:t>
            </a:r>
          </a:p>
        </p:txBody>
      </p:sp>
    </p:spTree>
    <p:extLst>
      <p:ext uri="{BB962C8B-B14F-4D97-AF65-F5344CB8AC3E}">
        <p14:creationId xmlns:p14="http://schemas.microsoft.com/office/powerpoint/2010/main" val="216534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07678E4-5C3B-4DD6-A90D-646F5E953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7E7E9"/>
              </a:clrFrom>
              <a:clrTo>
                <a:srgbClr val="E7E7E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048" y="1784335"/>
            <a:ext cx="6733098" cy="494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3BF5EB-25D8-43EB-ADC7-A123536996FE}"/>
              </a:ext>
            </a:extLst>
          </p:cNvPr>
          <p:cNvSpPr txBox="1"/>
          <p:nvPr/>
        </p:nvSpPr>
        <p:spPr>
          <a:xfrm>
            <a:off x="628072" y="709897"/>
            <a:ext cx="6096000" cy="81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Data Science Cycle</a:t>
            </a:r>
          </a:p>
        </p:txBody>
      </p:sp>
    </p:spTree>
    <p:extLst>
      <p:ext uri="{BB962C8B-B14F-4D97-AF65-F5344CB8AC3E}">
        <p14:creationId xmlns:p14="http://schemas.microsoft.com/office/powerpoint/2010/main" val="275898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EA08CE-F2AA-4D48-9287-9F8541F93E04}"/>
              </a:ext>
            </a:extLst>
          </p:cNvPr>
          <p:cNvSpPr txBox="1"/>
          <p:nvPr/>
        </p:nvSpPr>
        <p:spPr>
          <a:xfrm>
            <a:off x="635092" y="814473"/>
            <a:ext cx="11272798" cy="683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Data Analysis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Century Gothic" panose="020B0502020202020204" pitchFamily="34" charset="0"/>
              </a:rPr>
              <a:t>Science of examining a set of data to draw conclusions about the information to be able to make decisions or simply to expand the knowledge on various subjects. 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Century Gothic" panose="020B0502020202020204" pitchFamily="34" charset="0"/>
              </a:rPr>
              <a:t>Process of inspecting, cleansing, transforming, and modelling data with the goal of discovering useful information, giving conclusions, and supporting decision-making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6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Why Data Analytics is Gaining HYPE in the 21st Century | by Rinu Gour |  Towards Data Science">
            <a:extLst>
              <a:ext uri="{FF2B5EF4-FFF2-40B4-BE49-F238E27FC236}">
                <a16:creationId xmlns:a16="http://schemas.microsoft.com/office/drawing/2014/main" id="{8CE008BD-B0D3-4E03-B3E4-9C28C2763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972" y="1820349"/>
            <a:ext cx="5361500" cy="503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74A74-E4F8-4BC5-87A2-510DAD2FDEF2}"/>
              </a:ext>
            </a:extLst>
          </p:cNvPr>
          <p:cNvSpPr txBox="1"/>
          <p:nvPr/>
        </p:nvSpPr>
        <p:spPr>
          <a:xfrm>
            <a:off x="628072" y="709897"/>
            <a:ext cx="6096000" cy="81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41254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A2DCD-0C5B-4FA3-A915-F11392B15135}"/>
              </a:ext>
            </a:extLst>
          </p:cNvPr>
          <p:cNvSpPr txBox="1"/>
          <p:nvPr/>
        </p:nvSpPr>
        <p:spPr>
          <a:xfrm>
            <a:off x="473647" y="470415"/>
            <a:ext cx="9134396" cy="1180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Skills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6D6517-12B1-46B6-9EE1-6921742E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34795"/>
              </p:ext>
            </p:extLst>
          </p:nvPr>
        </p:nvGraphicFramePr>
        <p:xfrm>
          <a:off x="852668" y="2067997"/>
          <a:ext cx="10486664" cy="4319588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5243332">
                  <a:extLst>
                    <a:ext uri="{9D8B030D-6E8A-4147-A177-3AD203B41FA5}">
                      <a16:colId xmlns:a16="http://schemas.microsoft.com/office/drawing/2014/main" val="2355815182"/>
                    </a:ext>
                  </a:extLst>
                </a:gridCol>
                <a:gridCol w="5243332">
                  <a:extLst>
                    <a:ext uri="{9D8B030D-6E8A-4147-A177-3AD203B41FA5}">
                      <a16:colId xmlns:a16="http://schemas.microsoft.com/office/drawing/2014/main" val="3895066548"/>
                    </a:ext>
                  </a:extLst>
                </a:gridCol>
              </a:tblGrid>
              <a:tr h="42633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Science</a:t>
                      </a: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 </a:t>
                      </a:r>
                      <a:r>
                        <a:rPr lang="en-IN" sz="2400" b="0" dirty="0" err="1">
                          <a:effectLst/>
                          <a:latin typeface="Century Gothic" panose="020B0502020202020204" pitchFamily="34" charset="0"/>
                        </a:rPr>
                        <a:t>modeling</a:t>
                      </a: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/visualization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Programming languages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Object-oriented programming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 warehouse/data mining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Machine learning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Computer science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Statistics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Analytics</a:t>
                      </a: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 mining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 warehousing/analytics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 visualization tools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Predictive </a:t>
                      </a:r>
                      <a:r>
                        <a:rPr lang="en-IN" sz="2400" b="0" dirty="0" err="1">
                          <a:effectLst/>
                          <a:latin typeface="Century Gothic" panose="020B0502020202020204" pitchFamily="34" charset="0"/>
                        </a:rPr>
                        <a:t>modeling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Database reporting and management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400" b="0" dirty="0">
                          <a:effectLst/>
                          <a:latin typeface="Century Gothic" panose="020B0502020202020204" pitchFamily="34" charset="0"/>
                        </a:rPr>
                        <a:t>SQL/SAS/R programming</a:t>
                      </a:r>
                      <a:endParaRPr lang="en-IN" sz="28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495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30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641A3-7F5B-4876-9A1F-29054D80E339}"/>
              </a:ext>
            </a:extLst>
          </p:cNvPr>
          <p:cNvSpPr txBox="1"/>
          <p:nvPr/>
        </p:nvSpPr>
        <p:spPr>
          <a:xfrm>
            <a:off x="597964" y="556795"/>
            <a:ext cx="9134396" cy="1059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Job Roles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9A9B06-9A60-4EC8-94AC-D415BC121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50938"/>
              </p:ext>
            </p:extLst>
          </p:nvPr>
        </p:nvGraphicFramePr>
        <p:xfrm>
          <a:off x="1069019" y="2287269"/>
          <a:ext cx="10504710" cy="326406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5252355">
                  <a:extLst>
                    <a:ext uri="{9D8B030D-6E8A-4147-A177-3AD203B41FA5}">
                      <a16:colId xmlns:a16="http://schemas.microsoft.com/office/drawing/2014/main" val="4138505676"/>
                    </a:ext>
                  </a:extLst>
                </a:gridCol>
                <a:gridCol w="5252355">
                  <a:extLst>
                    <a:ext uri="{9D8B030D-6E8A-4147-A177-3AD203B41FA5}">
                      <a16:colId xmlns:a16="http://schemas.microsoft.com/office/drawing/2014/main" val="3557925190"/>
                    </a:ext>
                  </a:extLst>
                </a:gridCol>
              </a:tblGrid>
              <a:tr h="32640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Science</a:t>
                      </a: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EDA (Exploratory Data Analytics)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Machine learning processing and operations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Data trend analysis and predictions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Processing, verifying, and cleaning data integrity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Analytics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Clean data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EDA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Create visual dashboards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342900" lvl="0" indent="-342900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2000" b="0" dirty="0">
                          <a:effectLst/>
                          <a:latin typeface="Century Gothic" panose="020B0502020202020204" pitchFamily="34" charset="0"/>
                        </a:rPr>
                        <a:t>Develop KPIs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297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5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EB938-7D6D-474B-8E79-9D600FB73995}"/>
              </a:ext>
            </a:extLst>
          </p:cNvPr>
          <p:cNvSpPr txBox="1"/>
          <p:nvPr/>
        </p:nvSpPr>
        <p:spPr>
          <a:xfrm>
            <a:off x="282081" y="630346"/>
            <a:ext cx="11627838" cy="1747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Q&amp;A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of the key variations between both is how each professional type finds out its solutions</a:t>
            </a:r>
            <a:endParaRPr lang="en-US" sz="6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E656B9-E780-4DB7-B155-1736C8E1E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888262"/>
              </p:ext>
            </p:extLst>
          </p:nvPr>
        </p:nvGraphicFramePr>
        <p:xfrm>
          <a:off x="996315" y="2880119"/>
          <a:ext cx="9875238" cy="294170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4937619">
                  <a:extLst>
                    <a:ext uri="{9D8B030D-6E8A-4147-A177-3AD203B41FA5}">
                      <a16:colId xmlns:a16="http://schemas.microsoft.com/office/drawing/2014/main" val="994269338"/>
                    </a:ext>
                  </a:extLst>
                </a:gridCol>
                <a:gridCol w="4937619">
                  <a:extLst>
                    <a:ext uri="{9D8B030D-6E8A-4147-A177-3AD203B41FA5}">
                      <a16:colId xmlns:a16="http://schemas.microsoft.com/office/drawing/2014/main" val="2192049619"/>
                    </a:ext>
                  </a:extLst>
                </a:gridCol>
              </a:tblGrid>
              <a:tr h="2846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Science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fontAlgn="base">
                        <a:spcAft>
                          <a:spcPts val="0"/>
                        </a:spcAft>
                      </a:pPr>
                      <a:r>
                        <a:rPr lang="en-IN" sz="2800" b="0" dirty="0">
                          <a:effectLst/>
                          <a:latin typeface="Century Gothic" panose="020B0502020202020204" pitchFamily="34" charset="0"/>
                        </a:rPr>
                        <a:t>They study the data to spot necessary questions to solve. Then, they focus on finding the solution. 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Century Gothic" panose="020B0502020202020204" pitchFamily="34" charset="0"/>
                        </a:rPr>
                        <a:t>Data Analytics</a:t>
                      </a: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fontAlgn="base">
                        <a:spcAft>
                          <a:spcPts val="0"/>
                        </a:spcAft>
                      </a:pPr>
                      <a:r>
                        <a:rPr lang="en-IN" sz="2800" b="0" dirty="0">
                          <a:effectLst/>
                          <a:latin typeface="Century Gothic" panose="020B0502020202020204" pitchFamily="34" charset="0"/>
                        </a:rPr>
                        <a:t>These professionals get the questions directly and use their skills to prepare answers.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fontAlgn="base">
                        <a:spcAft>
                          <a:spcPts val="0"/>
                        </a:spcAft>
                      </a:pPr>
                      <a:r>
                        <a:rPr lang="en-IN" sz="2800" b="0" dirty="0"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en-IN" sz="2400" b="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731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82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B0A41-C3A4-4C5E-8086-CA4E00CC8301}"/>
              </a:ext>
            </a:extLst>
          </p:cNvPr>
          <p:cNvSpPr txBox="1"/>
          <p:nvPr/>
        </p:nvSpPr>
        <p:spPr>
          <a:xfrm>
            <a:off x="643950" y="509450"/>
            <a:ext cx="10264195" cy="5839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dirty="0"/>
              <a:t>Data processing</a:t>
            </a:r>
          </a:p>
          <a:p>
            <a:endParaRPr lang="en-IN" sz="1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Data processing may involve various processes, including: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Validation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Sorting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Summarization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Aggregation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Analysis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Reporting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8758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B06554-F4D5-407E-8FB9-C2A2950C0863}"/>
              </a:ext>
            </a:extLst>
          </p:cNvPr>
          <p:cNvSpPr txBox="1"/>
          <p:nvPr/>
        </p:nvSpPr>
        <p:spPr>
          <a:xfrm>
            <a:off x="1244314" y="721886"/>
            <a:ext cx="10947686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sz="3200" dirty="0"/>
              <a:t>Astonishing Facts About Data Science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FF8DC-6DFE-4DFD-9E66-91557257A406}"/>
              </a:ext>
            </a:extLst>
          </p:cNvPr>
          <p:cNvSpPr txBox="1"/>
          <p:nvPr/>
        </p:nvSpPr>
        <p:spPr>
          <a:xfrm>
            <a:off x="1015230" y="2063024"/>
            <a:ext cx="8405862" cy="4573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 Less than </a:t>
            </a:r>
            <a:r>
              <a:rPr lang="en-IN" b="1" i="0" dirty="0">
                <a:effectLst/>
                <a:latin typeface="Arial" panose="020B0604020202020204" pitchFamily="34" charset="0"/>
              </a:rPr>
              <a:t>0.5%</a:t>
            </a:r>
            <a:r>
              <a:rPr lang="en-IN" b="0" i="0" dirty="0">
                <a:effectLst/>
                <a:latin typeface="Arial" panose="020B0604020202020204" pitchFamily="34" charset="0"/>
              </a:rPr>
              <a:t> of all data we create is ever analysed and used.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</a:rPr>
              <a:t> By 2025, Data Science sector in India is estimated to grow by </a:t>
            </a:r>
            <a:r>
              <a:rPr lang="en-IN" b="1" dirty="0">
                <a:latin typeface="Arial" panose="020B0604020202020204" pitchFamily="34" charset="0"/>
              </a:rPr>
              <a:t>$16 Billion </a:t>
            </a:r>
            <a:r>
              <a:rPr lang="en-IN" dirty="0">
                <a:latin typeface="Arial" panose="020B0604020202020204" pitchFamily="34" charset="0"/>
              </a:rPr>
              <a:t>(</a:t>
            </a:r>
            <a:r>
              <a:rPr lang="en-IN" b="0" i="0" dirty="0">
                <a:effectLst/>
                <a:latin typeface="arial" panose="020B0604020202020204" pitchFamily="34" charset="0"/>
              </a:rPr>
              <a:t>1,600 crore</a:t>
            </a:r>
            <a:r>
              <a:rPr lang="en-IN" dirty="0">
                <a:latin typeface="Arial" panose="020B0604020202020204" pitchFamily="34" charset="0"/>
              </a:rPr>
              <a:t>).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 A </a:t>
            </a:r>
            <a:r>
              <a:rPr lang="en-IN" b="1" i="0" dirty="0">
                <a:effectLst/>
                <a:latin typeface="Arial" panose="020B0604020202020204" pitchFamily="34" charset="0"/>
              </a:rPr>
              <a:t>10%</a:t>
            </a:r>
            <a:r>
              <a:rPr lang="en-IN" b="0" i="0" dirty="0">
                <a:effectLst/>
                <a:latin typeface="Arial" panose="020B0604020202020204" pitchFamily="34" charset="0"/>
              </a:rPr>
              <a:t> increase in data accessibility will result in more than </a:t>
            </a:r>
            <a:r>
              <a:rPr lang="en-IN" b="1" i="0" dirty="0">
                <a:effectLst/>
                <a:latin typeface="Arial" panose="020B0604020202020204" pitchFamily="34" charset="0"/>
              </a:rPr>
              <a:t>$65 </a:t>
            </a:r>
            <a:r>
              <a:rPr lang="en-IN" b="0" i="0" dirty="0">
                <a:effectLst/>
                <a:latin typeface="Arial" panose="020B0604020202020204" pitchFamily="34" charset="0"/>
              </a:rPr>
              <a:t>million additional net income for the typical Fortune 1000 company.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 Google uses about </a:t>
            </a:r>
            <a:r>
              <a:rPr lang="en-IN" b="1" i="0" dirty="0">
                <a:effectLst/>
                <a:latin typeface="Arial" panose="020B0604020202020204" pitchFamily="34" charset="0"/>
              </a:rPr>
              <a:t>1,000</a:t>
            </a:r>
            <a:r>
              <a:rPr lang="en-IN" b="0" i="0" dirty="0">
                <a:effectLst/>
                <a:latin typeface="Arial" panose="020B0604020202020204" pitchFamily="34" charset="0"/>
              </a:rPr>
              <a:t> computers to answer every single search query.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 Every second </a:t>
            </a:r>
            <a:r>
              <a:rPr lang="en-IN" b="1" i="0" dirty="0">
                <a:effectLst/>
                <a:latin typeface="Arial" panose="020B0604020202020204" pitchFamily="34" charset="0"/>
              </a:rPr>
              <a:t>60,000</a:t>
            </a:r>
            <a:r>
              <a:rPr lang="en-IN" b="0" i="0" dirty="0">
                <a:effectLst/>
                <a:latin typeface="Arial" panose="020B0604020202020204" pitchFamily="34" charset="0"/>
              </a:rPr>
              <a:t> search queries are performed on Google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By 2020, about </a:t>
            </a:r>
            <a:r>
              <a:rPr lang="en-IN" b="1" i="0" dirty="0">
                <a:effectLst/>
                <a:latin typeface="Arial" panose="020B0604020202020204" pitchFamily="34" charset="0"/>
              </a:rPr>
              <a:t>1.7 megabytes </a:t>
            </a:r>
            <a:r>
              <a:rPr lang="en-IN" b="0" i="0" dirty="0">
                <a:effectLst/>
                <a:latin typeface="Arial" panose="020B0604020202020204" pitchFamily="34" charset="0"/>
              </a:rPr>
              <a:t>of new information will be created every second for every human on the planet.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effectLst/>
                <a:latin typeface="Arial" panose="020B0604020202020204" pitchFamily="34" charset="0"/>
              </a:rPr>
              <a:t> </a:t>
            </a:r>
            <a:r>
              <a:rPr lang="en-IN" b="1" i="0" dirty="0">
                <a:effectLst/>
                <a:latin typeface="Arial" panose="020B0604020202020204" pitchFamily="34" charset="0"/>
              </a:rPr>
              <a:t>1 billion </a:t>
            </a:r>
            <a:r>
              <a:rPr lang="en-IN" b="0" i="0" dirty="0">
                <a:effectLst/>
                <a:latin typeface="Arial" panose="020B0604020202020204" pitchFamily="34" charset="0"/>
              </a:rPr>
              <a:t>pieces of content are shared via Facebook’s Open Graph every day</a:t>
            </a:r>
            <a:r>
              <a:rPr lang="en-IN" dirty="0">
                <a:latin typeface="Arial" panose="020B0604020202020204" pitchFamily="34" charset="0"/>
              </a:rPr>
              <a:t>.</a:t>
            </a:r>
            <a:endParaRPr lang="en-IN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597E14-E7A7-4C79-B2CD-4D1EB4DAB0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612" y="1908353"/>
            <a:ext cx="2550762" cy="15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3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B0A41-C3A4-4C5E-8086-CA4E00CC8301}"/>
              </a:ext>
            </a:extLst>
          </p:cNvPr>
          <p:cNvSpPr txBox="1"/>
          <p:nvPr/>
        </p:nvSpPr>
        <p:spPr>
          <a:xfrm>
            <a:off x="653187" y="786542"/>
            <a:ext cx="10264195" cy="65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sz="2800" dirty="0"/>
              <a:t>Experience Vs Salary of Data Scientists in </a:t>
            </a:r>
            <a:r>
              <a:rPr lang="en-IN" sz="2800" b="1" dirty="0"/>
              <a:t>INDIA-2021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1D7CC4-017D-4C3B-BEC5-956EBFABD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6" b="11003"/>
          <a:stretch/>
        </p:blipFill>
        <p:spPr bwMode="auto">
          <a:xfrm>
            <a:off x="971720" y="2198255"/>
            <a:ext cx="9871772" cy="432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037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B0A41-C3A4-4C5E-8086-CA4E00CC8301}"/>
              </a:ext>
            </a:extLst>
          </p:cNvPr>
          <p:cNvSpPr txBox="1"/>
          <p:nvPr/>
        </p:nvSpPr>
        <p:spPr>
          <a:xfrm>
            <a:off x="1004168" y="712650"/>
            <a:ext cx="10947686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sz="3200" dirty="0"/>
              <a:t>Data Scientist’s Income in India Based on Location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4A32713-469B-4642-80FC-A76DDDB148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2851772"/>
              </p:ext>
            </p:extLst>
          </p:nvPr>
        </p:nvGraphicFramePr>
        <p:xfrm>
          <a:off x="1893569" y="2225964"/>
          <a:ext cx="8090940" cy="4299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979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DFA497-7ECA-4ACC-B307-0F6E89BEE6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602014"/>
              </p:ext>
            </p:extLst>
          </p:nvPr>
        </p:nvGraphicFramePr>
        <p:xfrm>
          <a:off x="1869066" y="2050472"/>
          <a:ext cx="8198571" cy="4578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B06554-F4D5-407E-8FB9-C2A2950C0863}"/>
              </a:ext>
            </a:extLst>
          </p:cNvPr>
          <p:cNvSpPr txBox="1"/>
          <p:nvPr/>
        </p:nvSpPr>
        <p:spPr>
          <a:xfrm>
            <a:off x="773259" y="869668"/>
            <a:ext cx="10947686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sz="3200" dirty="0"/>
              <a:t>Data Scientist’s Income in India Based on Employer</a:t>
            </a:r>
          </a:p>
        </p:txBody>
      </p:sp>
    </p:spTree>
    <p:extLst>
      <p:ext uri="{BB962C8B-B14F-4D97-AF65-F5344CB8AC3E}">
        <p14:creationId xmlns:p14="http://schemas.microsoft.com/office/powerpoint/2010/main" val="3162258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8A0E1-696C-4057-BD7B-D21323BB94A0}"/>
              </a:ext>
            </a:extLst>
          </p:cNvPr>
          <p:cNvSpPr txBox="1"/>
          <p:nvPr/>
        </p:nvSpPr>
        <p:spPr>
          <a:xfrm>
            <a:off x="801348" y="1915365"/>
            <a:ext cx="4177052" cy="494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i="0" dirty="0">
                <a:effectLst/>
                <a:latin typeface=" Century Gothic"/>
              </a:rPr>
              <a:t>Industry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i="0" dirty="0">
                <a:solidFill>
                  <a:schemeClr val="accent3">
                    <a:lumMod val="50000"/>
                  </a:schemeClr>
                </a:solidFill>
                <a:effectLst/>
                <a:latin typeface=" Century Gothic"/>
              </a:rPr>
              <a:t>Health care sector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i="0" dirty="0">
                <a:solidFill>
                  <a:schemeClr val="accent3">
                    <a:lumMod val="50000"/>
                  </a:schemeClr>
                </a:solidFill>
                <a:effectLst/>
                <a:latin typeface=" Century Gothic"/>
              </a:rPr>
              <a:t>Transport Sector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i="0" dirty="0">
                <a:solidFill>
                  <a:schemeClr val="accent3">
                    <a:lumMod val="50000"/>
                  </a:schemeClr>
                </a:solidFill>
                <a:effectLst/>
                <a:latin typeface=" Century Gothic"/>
              </a:rPr>
              <a:t>E-commerce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 Century Gothic"/>
              </a:rPr>
              <a:t>Wrangling of data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 Century Gothic"/>
              </a:rPr>
              <a:t>Cloud computing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IN" sz="160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F674D-9269-4DCD-B56F-7B0E8E5AFB5A}"/>
              </a:ext>
            </a:extLst>
          </p:cNvPr>
          <p:cNvSpPr txBox="1"/>
          <p:nvPr/>
        </p:nvSpPr>
        <p:spPr>
          <a:xfrm>
            <a:off x="646544" y="739661"/>
            <a:ext cx="8285020" cy="81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dirty="0"/>
              <a:t>Future Scopes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ABB06-515D-4098-B4EE-3CE9DB316844}"/>
              </a:ext>
            </a:extLst>
          </p:cNvPr>
          <p:cNvSpPr txBox="1"/>
          <p:nvPr/>
        </p:nvSpPr>
        <p:spPr>
          <a:xfrm>
            <a:off x="6096000" y="1915365"/>
            <a:ext cx="5705671" cy="440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i="0" dirty="0">
                <a:effectLst/>
                <a:latin typeface=" Century Gothic"/>
              </a:rPr>
              <a:t>Academic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i="0" dirty="0">
                <a:solidFill>
                  <a:schemeClr val="accent3">
                    <a:lumMod val="50000"/>
                  </a:schemeClr>
                </a:solidFill>
                <a:effectLst/>
                <a:latin typeface=" Century Gothic"/>
              </a:rPr>
              <a:t>Improve Adaptive Learning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i="0" dirty="0">
                <a:solidFill>
                  <a:schemeClr val="accent3">
                    <a:lumMod val="50000"/>
                  </a:schemeClr>
                </a:solidFill>
                <a:effectLst/>
                <a:latin typeface=" Century Gothic"/>
              </a:rPr>
              <a:t>Better Parent Involvement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 Century Gothic"/>
              </a:rPr>
              <a:t>Better Assessment of Teachers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 Century Gothic"/>
              </a:rPr>
              <a:t>Improve Student’s Performance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 Century Gothic"/>
              </a:rPr>
              <a:t>Regular Updates in the Curriculum</a:t>
            </a:r>
          </a:p>
        </p:txBody>
      </p:sp>
    </p:spTree>
    <p:extLst>
      <p:ext uri="{BB962C8B-B14F-4D97-AF65-F5344CB8AC3E}">
        <p14:creationId xmlns:p14="http://schemas.microsoft.com/office/powerpoint/2010/main" val="378365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3CF36-5020-4654-A6F0-7235DFCD9C33}"/>
              </a:ext>
            </a:extLst>
          </p:cNvPr>
          <p:cNvSpPr txBox="1"/>
          <p:nvPr/>
        </p:nvSpPr>
        <p:spPr>
          <a:xfrm>
            <a:off x="581890" y="711953"/>
            <a:ext cx="8285020" cy="898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IN" sz="4000" dirty="0"/>
              <a:t>Careers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2A5F5-E74F-4EDA-9B8D-ADA38BABC071}"/>
              </a:ext>
            </a:extLst>
          </p:cNvPr>
          <p:cNvSpPr txBox="1"/>
          <p:nvPr/>
        </p:nvSpPr>
        <p:spPr>
          <a:xfrm>
            <a:off x="875258" y="2341989"/>
            <a:ext cx="6479910" cy="223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Open Sans"/>
              </a:rPr>
              <a:t> </a:t>
            </a:r>
            <a:r>
              <a:rPr lang="en-IN" sz="2400" b="0" i="0" dirty="0">
                <a:effectLst/>
                <a:latin typeface="Century Gothic" panose="020B0502020202020204" pitchFamily="34" charset="0"/>
              </a:rPr>
              <a:t>Data </a:t>
            </a:r>
            <a:r>
              <a:rPr lang="en-IN" sz="2400" dirty="0">
                <a:latin typeface="Century Gothic" panose="020B0502020202020204" pitchFamily="34" charset="0"/>
              </a:rPr>
              <a:t>Architect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Applications Architect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Infrastructure Architect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Enterprise Architect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F5645-B374-4592-9F7C-26087D1425FB}"/>
              </a:ext>
            </a:extLst>
          </p:cNvPr>
          <p:cNvSpPr txBox="1"/>
          <p:nvPr/>
        </p:nvSpPr>
        <p:spPr>
          <a:xfrm>
            <a:off x="5938982" y="2341989"/>
            <a:ext cx="6479910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Statistician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Data Analyst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Data Scientist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Data Engineer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entury Gothic" panose="020B0502020202020204" pitchFamily="34" charset="0"/>
              </a:rPr>
              <a:t> Machine Learning Scientist</a:t>
            </a:r>
          </a:p>
        </p:txBody>
      </p:sp>
    </p:spTree>
    <p:extLst>
      <p:ext uri="{BB962C8B-B14F-4D97-AF65-F5344CB8AC3E}">
        <p14:creationId xmlns:p14="http://schemas.microsoft.com/office/powerpoint/2010/main" val="4254304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טוויטר \ NACCE בטוויטר: &amp;quot;Thank you to those that submitted speaking  proposals for #NACCE2018 in Fort, Worth Texas (October 7-10, 2018)! You  will be notified in March if your presentation is accepted.">
            <a:extLst>
              <a:ext uri="{FF2B5EF4-FFF2-40B4-BE49-F238E27FC236}">
                <a16:creationId xmlns:a16="http://schemas.microsoft.com/office/drawing/2014/main" id="{48B57DAB-29E6-484A-9EC3-A491FA30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006" y="1949478"/>
            <a:ext cx="8104121" cy="354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66D96F-CC0A-4F61-833D-64F91B002B9C}"/>
              </a:ext>
            </a:extLst>
          </p:cNvPr>
          <p:cNvSpPr txBox="1"/>
          <p:nvPr/>
        </p:nvSpPr>
        <p:spPr>
          <a:xfrm>
            <a:off x="3119295" y="5284650"/>
            <a:ext cx="687583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G</a:t>
            </a:r>
            <a:r>
              <a:rPr lang="en-IN" sz="3200" dirty="0" err="1">
                <a:solidFill>
                  <a:schemeClr val="tx1"/>
                </a:solidFill>
              </a:rPr>
              <a:t>aurav</a:t>
            </a:r>
            <a:r>
              <a:rPr lang="en-IN" sz="3200" dirty="0">
                <a:solidFill>
                  <a:schemeClr val="tx1"/>
                </a:solidFill>
              </a:rPr>
              <a:t> Sir and Classmates……..</a:t>
            </a:r>
          </a:p>
        </p:txBody>
      </p:sp>
    </p:spTree>
    <p:extLst>
      <p:ext uri="{BB962C8B-B14F-4D97-AF65-F5344CB8AC3E}">
        <p14:creationId xmlns:p14="http://schemas.microsoft.com/office/powerpoint/2010/main" val="11306975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199</TotalTime>
  <Words>535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 Century Gothic</vt:lpstr>
      <vt:lpstr>Arial</vt:lpstr>
      <vt:lpstr>Arial</vt:lpstr>
      <vt:lpstr>Avenir Next LT Pro</vt:lpstr>
      <vt:lpstr>Berlin Sans FB</vt:lpstr>
      <vt:lpstr>Century Gothic</vt:lpstr>
      <vt:lpstr>Gill Sans MT</vt:lpstr>
      <vt:lpstr>Open Sans</vt:lpstr>
      <vt:lpstr>Symbol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PARTH PATEL</dc:creator>
  <cp:lastModifiedBy>PARTH PATEL</cp:lastModifiedBy>
  <cp:revision>67</cp:revision>
  <dcterms:created xsi:type="dcterms:W3CDTF">2021-12-31T14:18:55Z</dcterms:created>
  <dcterms:modified xsi:type="dcterms:W3CDTF">2021-12-31T17:41:13Z</dcterms:modified>
</cp:coreProperties>
</file>