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7" r:id="rId2"/>
    <p:sldId id="258" r:id="rId3"/>
    <p:sldId id="274" r:id="rId4"/>
    <p:sldId id="273" r:id="rId5"/>
    <p:sldId id="275" r:id="rId6"/>
    <p:sldId id="286" r:id="rId7"/>
    <p:sldId id="287" r:id="rId8"/>
    <p:sldId id="270" r:id="rId9"/>
    <p:sldId id="272" r:id="rId10"/>
    <p:sldId id="269" r:id="rId11"/>
    <p:sldId id="268" r:id="rId12"/>
    <p:sldId id="261" r:id="rId13"/>
    <p:sldId id="262" r:id="rId14"/>
    <p:sldId id="263" r:id="rId15"/>
    <p:sldId id="264" r:id="rId16"/>
    <p:sldId id="265" r:id="rId17"/>
    <p:sldId id="260" r:id="rId18"/>
    <p:sldId id="267" r:id="rId19"/>
    <p:sldId id="283" r:id="rId20"/>
    <p:sldId id="284" r:id="rId21"/>
    <p:sldId id="285" r:id="rId22"/>
    <p:sldId id="28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itfeature.com/glossary/varianc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7320" y="691349"/>
            <a:ext cx="6253317" cy="3791577"/>
          </a:xfrm>
        </p:spPr>
        <p:txBody>
          <a:bodyPr>
            <a:normAutofit/>
          </a:bodyPr>
          <a:lstStyle/>
          <a:p>
            <a:r>
              <a:rPr lang="en-US" dirty="0"/>
              <a:t>Statistical concepts</a:t>
            </a:r>
            <a:endParaRPr lang="en-US" sz="8000" dirty="0"/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 fontScale="90000"/>
          </a:bodyPr>
          <a:lstStyle/>
          <a:p>
            <a:pPr lvl="0"/>
            <a:r>
              <a:rPr lang="en-US" sz="3300" i="1" dirty="0"/>
              <a:t>																														</a:t>
            </a:r>
            <a:r>
              <a:rPr lang="en-US" sz="4400" dirty="0" smtClean="0"/>
              <a:t>CONTENTS</a:t>
            </a:r>
            <a:r>
              <a:rPr lang="en-US" sz="3300" i="1" dirty="0"/>
              <a:t>				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3134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600" dirty="0"/>
              <a:t>Measures of central tendency and dispersion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/>
              <a:t>Sampling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/>
              <a:t>Coefficient of variation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 err="1"/>
              <a:t>Multicollinearity</a:t>
            </a:r>
            <a:endParaRPr lang="en-IN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 err="1"/>
              <a:t>Hetro</a:t>
            </a:r>
            <a:r>
              <a:rPr lang="en-IN" sz="2600" dirty="0"/>
              <a:t> and homo </a:t>
            </a:r>
            <a:r>
              <a:rPr lang="en-IN" sz="2600" dirty="0" err="1"/>
              <a:t>scedasticity</a:t>
            </a:r>
            <a:endParaRPr lang="en-IN" sz="26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 err="1"/>
              <a:t>Gausian</a:t>
            </a:r>
            <a:r>
              <a:rPr lang="en-IN" sz="2600" dirty="0"/>
              <a:t> distribution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/>
              <a:t>Market basket analysis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600" dirty="0" smtClean="0"/>
              <a:t>SQL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1CE4AB-0573-4EAD-A553-973989A44177}"/>
              </a:ext>
            </a:extLst>
          </p:cNvPr>
          <p:cNvSpPr/>
          <p:nvPr/>
        </p:nvSpPr>
        <p:spPr>
          <a:xfrm>
            <a:off x="4750158" y="1931831"/>
            <a:ext cx="2408350" cy="9015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Central Tendency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C9F28-E85A-468C-9A59-2120927F16CB}"/>
              </a:ext>
            </a:extLst>
          </p:cNvPr>
          <p:cNvSpPr txBox="1"/>
          <p:nvPr/>
        </p:nvSpPr>
        <p:spPr>
          <a:xfrm>
            <a:off x="603160" y="635116"/>
            <a:ext cx="10985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/>
              <a:t>MEASURES OF CENTRAL TENDENCY </a:t>
            </a:r>
            <a:endParaRPr lang="en-IN" sz="3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83D31A-E664-4870-92D0-89B78D32CF2C}"/>
              </a:ext>
            </a:extLst>
          </p:cNvPr>
          <p:cNvSpPr/>
          <p:nvPr/>
        </p:nvSpPr>
        <p:spPr>
          <a:xfrm>
            <a:off x="8573038" y="3986012"/>
            <a:ext cx="2408350" cy="9015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Mode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A4B480-19BF-44CE-ADD1-4C7E77AAB411}"/>
              </a:ext>
            </a:extLst>
          </p:cNvPr>
          <p:cNvSpPr/>
          <p:nvPr/>
        </p:nvSpPr>
        <p:spPr>
          <a:xfrm>
            <a:off x="4750158" y="3992452"/>
            <a:ext cx="2408350" cy="9015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Median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C79941-ECAF-4E8E-9D3F-268C8496C873}"/>
              </a:ext>
            </a:extLst>
          </p:cNvPr>
          <p:cNvSpPr/>
          <p:nvPr/>
        </p:nvSpPr>
        <p:spPr>
          <a:xfrm>
            <a:off x="1150513" y="3986011"/>
            <a:ext cx="2408350" cy="90152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Mean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B15E283-123C-4BF2-9C57-94D4332AB9F9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5954333" y="2833352"/>
            <a:ext cx="0" cy="115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DE2102D-F4BF-49F0-89AA-AFF8CAE72257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954333" y="2833352"/>
            <a:ext cx="3822880" cy="1152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C94598-7E6C-4BA8-A87B-8A510DC5C3C9}"/>
              </a:ext>
            </a:extLst>
          </p:cNvPr>
          <p:cNvCxnSpPr>
            <a:stCxn id="4" idx="2"/>
            <a:endCxn id="8" idx="0"/>
          </p:cNvCxnSpPr>
          <p:nvPr/>
        </p:nvCxnSpPr>
        <p:spPr>
          <a:xfrm flipH="1">
            <a:off x="2354688" y="2833352"/>
            <a:ext cx="3599645" cy="11526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0A4B1FB1-F4A6-4B06-8FA9-2641F7A3F24A}"/>
              </a:ext>
            </a:extLst>
          </p:cNvPr>
          <p:cNvSpPr/>
          <p:nvPr/>
        </p:nvSpPr>
        <p:spPr>
          <a:xfrm>
            <a:off x="221086" y="5647623"/>
            <a:ext cx="1594833" cy="5752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Arithmetic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E34B79F-9B85-4CC6-94CA-CE2E5743AD2F}"/>
              </a:ext>
            </a:extLst>
          </p:cNvPr>
          <p:cNvSpPr/>
          <p:nvPr/>
        </p:nvSpPr>
        <p:spPr>
          <a:xfrm>
            <a:off x="2009103" y="5647624"/>
            <a:ext cx="1594833" cy="5752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Geometric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9D0CCB-0A1F-4D99-8BAB-C65E21AF4439}"/>
              </a:ext>
            </a:extLst>
          </p:cNvPr>
          <p:cNvSpPr/>
          <p:nvPr/>
        </p:nvSpPr>
        <p:spPr>
          <a:xfrm>
            <a:off x="3797120" y="5647626"/>
            <a:ext cx="1594833" cy="575257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Harmonic</a:t>
            </a: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5DBFE94-257A-49EB-9674-7E28E543F548}"/>
              </a:ext>
            </a:extLst>
          </p:cNvPr>
          <p:cNvCxnSpPr>
            <a:stCxn id="8" idx="2"/>
            <a:endCxn id="21" idx="0"/>
          </p:cNvCxnSpPr>
          <p:nvPr/>
        </p:nvCxnSpPr>
        <p:spPr>
          <a:xfrm flipH="1">
            <a:off x="1018503" y="4887532"/>
            <a:ext cx="1336185" cy="760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5624B50-0C89-4BB6-83F4-67110B3C000A}"/>
              </a:ext>
            </a:extLst>
          </p:cNvPr>
          <p:cNvCxnSpPr>
            <a:stCxn id="8" idx="2"/>
            <a:endCxn id="24" idx="0"/>
          </p:cNvCxnSpPr>
          <p:nvPr/>
        </p:nvCxnSpPr>
        <p:spPr>
          <a:xfrm>
            <a:off x="2354688" y="4887532"/>
            <a:ext cx="451832" cy="760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2E4BAD5-E7F4-4DDB-B7AA-4ED8E1310326}"/>
              </a:ext>
            </a:extLst>
          </p:cNvPr>
          <p:cNvCxnSpPr>
            <a:stCxn id="8" idx="2"/>
            <a:endCxn id="25" idx="0"/>
          </p:cNvCxnSpPr>
          <p:nvPr/>
        </p:nvCxnSpPr>
        <p:spPr>
          <a:xfrm>
            <a:off x="2354688" y="4887532"/>
            <a:ext cx="2239849" cy="760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7452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06B857-FFE3-43B8-B261-AC0717690D93}"/>
              </a:ext>
            </a:extLst>
          </p:cNvPr>
          <p:cNvSpPr/>
          <p:nvPr/>
        </p:nvSpPr>
        <p:spPr>
          <a:xfrm>
            <a:off x="4704529" y="335219"/>
            <a:ext cx="2704563" cy="15583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Three Order of Measurement of Average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BA159E-51F7-41E2-AF41-48A14069AC42}"/>
              </a:ext>
            </a:extLst>
          </p:cNvPr>
          <p:cNvSpPr/>
          <p:nvPr/>
        </p:nvSpPr>
        <p:spPr>
          <a:xfrm>
            <a:off x="798491" y="3519152"/>
            <a:ext cx="1970467" cy="6825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First Order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14781-B094-488E-901D-F602C71A9C18}"/>
              </a:ext>
            </a:extLst>
          </p:cNvPr>
          <p:cNvSpPr/>
          <p:nvPr/>
        </p:nvSpPr>
        <p:spPr>
          <a:xfrm>
            <a:off x="5110765" y="3519151"/>
            <a:ext cx="1970467" cy="6825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Second Order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AAF4E3-5605-4A7D-A8FD-80C410EB1D29}"/>
              </a:ext>
            </a:extLst>
          </p:cNvPr>
          <p:cNvSpPr/>
          <p:nvPr/>
        </p:nvSpPr>
        <p:spPr>
          <a:xfrm>
            <a:off x="9423042" y="3519150"/>
            <a:ext cx="1970467" cy="6825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Third Order</a:t>
            </a:r>
            <a:endParaRPr lang="en-IN" sz="2400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4F8D48-C6C6-47F2-8C7B-B03CC19A9FAC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1783725" y="1893563"/>
            <a:ext cx="4273086" cy="1625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1034B6E-1E68-47DE-BBE2-FCDE8D6AEBEA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056811" y="1893563"/>
            <a:ext cx="39188" cy="1625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CC7CD40-BB71-41B4-BC23-4C98D2F56B2E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6056811" y="1893563"/>
            <a:ext cx="4351465" cy="16255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318C62E-0D0B-4BA6-AFD0-AA4022E50D0A}"/>
              </a:ext>
            </a:extLst>
          </p:cNvPr>
          <p:cNvSpPr/>
          <p:nvPr/>
        </p:nvSpPr>
        <p:spPr>
          <a:xfrm>
            <a:off x="689020" y="5254576"/>
            <a:ext cx="2189407" cy="6825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Measures of Central Tendency 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76F74D-AA77-4719-83D8-D40923AEBB25}"/>
              </a:ext>
            </a:extLst>
          </p:cNvPr>
          <p:cNvSpPr/>
          <p:nvPr/>
        </p:nvSpPr>
        <p:spPr>
          <a:xfrm>
            <a:off x="5110764" y="5241697"/>
            <a:ext cx="1970467" cy="68258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Measures of Dispersion</a:t>
            </a:r>
            <a:endParaRPr lang="en-IN" sz="20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676A22-4A35-48DC-9F8D-715F2DA7C29A}"/>
              </a:ext>
            </a:extLst>
          </p:cNvPr>
          <p:cNvSpPr/>
          <p:nvPr/>
        </p:nvSpPr>
        <p:spPr>
          <a:xfrm>
            <a:off x="9263122" y="5154763"/>
            <a:ext cx="2290296" cy="88220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Measures of Skewness and Kurtosis</a:t>
            </a:r>
            <a:endParaRPr lang="en-IN" sz="2000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21BB41D-89E6-4137-9398-55C040BA9EBD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flipH="1">
            <a:off x="1783724" y="4201733"/>
            <a:ext cx="1" cy="1052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ECB1517-0CBF-49DF-807E-9F5A43F15D45}"/>
              </a:ext>
            </a:extLst>
          </p:cNvPr>
          <p:cNvCxnSpPr>
            <a:stCxn id="6" idx="2"/>
            <a:endCxn id="15" idx="0"/>
          </p:cNvCxnSpPr>
          <p:nvPr/>
        </p:nvCxnSpPr>
        <p:spPr>
          <a:xfrm flipH="1">
            <a:off x="6095998" y="4201732"/>
            <a:ext cx="1" cy="1039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A632C30-81FB-4CAC-A58B-86836A4F91E8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flipH="1">
            <a:off x="10408270" y="4201731"/>
            <a:ext cx="6" cy="953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865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C2459A-452C-49DC-A8D1-6360FAB50114}"/>
              </a:ext>
            </a:extLst>
          </p:cNvPr>
          <p:cNvSpPr txBox="1"/>
          <p:nvPr/>
        </p:nvSpPr>
        <p:spPr>
          <a:xfrm>
            <a:off x="399246" y="774809"/>
            <a:ext cx="113334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 smtClean="0"/>
              <a:t>MEASURES OF DISPERSION</a:t>
            </a:r>
            <a:endParaRPr lang="en-IN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0D3F2E-EA12-4346-9957-D49251C3EBF4}"/>
              </a:ext>
            </a:extLst>
          </p:cNvPr>
          <p:cNvSpPr txBox="1"/>
          <p:nvPr/>
        </p:nvSpPr>
        <p:spPr>
          <a:xfrm>
            <a:off x="626036" y="1904055"/>
            <a:ext cx="11333409" cy="44165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Range :    (max – min)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Quartile:</a:t>
            </a:r>
          </a:p>
          <a:p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400" dirty="0"/>
              <a:t>Mean Deviation:</a:t>
            </a:r>
          </a:p>
          <a:p>
            <a:pPr marL="914400" lvl="1" indent="-45720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Untitled Sans"/>
              </a:rPr>
              <a:t>To compute how far the values in a data set are from the center point.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Standard Deviation: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b="0" i="0" dirty="0">
                <a:effectLst/>
                <a:latin typeface="Inter"/>
              </a:rPr>
              <a:t>It is the average amount of </a:t>
            </a:r>
            <a:r>
              <a:rPr lang="en-US" dirty="0">
                <a:latin typeface="Inter"/>
              </a:rPr>
              <a:t>variability</a:t>
            </a:r>
            <a:r>
              <a:rPr lang="en-US" b="0" i="0" dirty="0">
                <a:effectLst/>
                <a:latin typeface="Inter"/>
              </a:rPr>
              <a:t> in your dataset. It tells you, on average, how far each value lies from the </a:t>
            </a:r>
            <a:r>
              <a:rPr lang="en-US" dirty="0">
                <a:latin typeface="Inter"/>
              </a:rPr>
              <a:t>mean.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Coefficient of Variance: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IN" dirty="0"/>
              <a:t>It is a measurement of the relative variability (consistency) of data.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63AFED-2B0B-4B4A-8E68-9DA72619836C}"/>
              </a:ext>
            </a:extLst>
          </p:cNvPr>
          <p:cNvSpPr/>
          <p:nvPr/>
        </p:nvSpPr>
        <p:spPr>
          <a:xfrm>
            <a:off x="3747751" y="2402415"/>
            <a:ext cx="1944710" cy="9948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</a:t>
            </a:r>
            <a:r>
              <a:rPr lang="en-US" sz="2000" baseline="30000" dirty="0">
                <a:solidFill>
                  <a:schemeClr val="tx1"/>
                </a:solidFill>
              </a:rPr>
              <a:t>st</a:t>
            </a:r>
            <a:r>
              <a:rPr lang="en-US" sz="2000" dirty="0">
                <a:solidFill>
                  <a:schemeClr val="tx1"/>
                </a:solidFill>
              </a:rPr>
              <a:t> Quartile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2</a:t>
            </a:r>
            <a:r>
              <a:rPr lang="en-US" sz="2000" baseline="30000" dirty="0">
                <a:solidFill>
                  <a:schemeClr val="tx1"/>
                </a:solidFill>
              </a:rPr>
              <a:t>nd</a:t>
            </a:r>
            <a:r>
              <a:rPr lang="en-US" sz="2000" dirty="0">
                <a:solidFill>
                  <a:schemeClr val="tx1"/>
                </a:solidFill>
              </a:rPr>
              <a:t> Quartile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3</a:t>
            </a:r>
            <a:r>
              <a:rPr lang="en-US" sz="2000" baseline="30000" dirty="0">
                <a:solidFill>
                  <a:schemeClr val="tx1"/>
                </a:solidFill>
              </a:rPr>
              <a:t>rd</a:t>
            </a:r>
            <a:r>
              <a:rPr lang="en-US" sz="2000" dirty="0">
                <a:solidFill>
                  <a:schemeClr val="tx1"/>
                </a:solidFill>
              </a:rPr>
              <a:t> Quartile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DC0089-914D-403E-A5DC-719A8C65BB9B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2524259" y="2899862"/>
            <a:ext cx="12234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094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DD623-E05B-4258-84DD-8C262AE81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448" y="796834"/>
            <a:ext cx="10515600" cy="788216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/>
              <a:t>EXAMPLES OF CORRELATION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10385-2E1D-4F58-A8D9-FF75CEEC1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Positive Correlation</a:t>
            </a:r>
          </a:p>
          <a:p>
            <a:pPr marL="0" indent="0">
              <a:buNone/>
            </a:pPr>
            <a:r>
              <a:rPr lang="en-US" dirty="0"/>
              <a:t>             </a:t>
            </a:r>
            <a:r>
              <a:rPr lang="en-US" sz="2000" dirty="0"/>
              <a:t>1)  Height </a:t>
            </a:r>
            <a:r>
              <a:rPr lang="en-US" sz="2000" b="1" dirty="0"/>
              <a:t>Vs</a:t>
            </a:r>
            <a:r>
              <a:rPr lang="en-US" sz="2000" dirty="0"/>
              <a:t> Weight</a:t>
            </a:r>
          </a:p>
          <a:p>
            <a:pPr marL="0" indent="0">
              <a:buNone/>
            </a:pPr>
            <a:r>
              <a:rPr lang="en-US" sz="2000" dirty="0"/>
              <a:t>                  2)  Temperature </a:t>
            </a:r>
            <a:r>
              <a:rPr lang="en-US" sz="2000" b="1" dirty="0"/>
              <a:t>Vs</a:t>
            </a:r>
            <a:r>
              <a:rPr lang="en-US" sz="2000" dirty="0"/>
              <a:t> Ice-cream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Negative Correlation</a:t>
            </a:r>
          </a:p>
          <a:p>
            <a:pPr marL="0" indent="0">
              <a:buNone/>
            </a:pPr>
            <a:r>
              <a:rPr lang="en-US" b="1" dirty="0"/>
              <a:t>             </a:t>
            </a:r>
            <a:r>
              <a:rPr lang="en-US" sz="2000" dirty="0"/>
              <a:t>1)  Time Spent Running  </a:t>
            </a:r>
            <a:r>
              <a:rPr lang="en-US" sz="2000" b="1" dirty="0"/>
              <a:t>Vs</a:t>
            </a:r>
            <a:r>
              <a:rPr lang="en-US" sz="2000" dirty="0"/>
              <a:t> Body Fat</a:t>
            </a:r>
          </a:p>
          <a:p>
            <a:pPr marL="0" indent="0">
              <a:buNone/>
            </a:pPr>
            <a:r>
              <a:rPr lang="en-US" sz="2000" dirty="0"/>
              <a:t>                  2)  Time Spent On Watching TV </a:t>
            </a:r>
            <a:r>
              <a:rPr lang="en-US" sz="2000" b="1" dirty="0"/>
              <a:t>Vs</a:t>
            </a:r>
            <a:r>
              <a:rPr lang="en-US" sz="2000" dirty="0"/>
              <a:t> Exam Score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Zero Correlation</a:t>
            </a:r>
          </a:p>
          <a:p>
            <a:pPr marL="0" indent="0">
              <a:buNone/>
            </a:pPr>
            <a:r>
              <a:rPr lang="en-US" sz="2000" dirty="0"/>
              <a:t>                  1)  Coffee Consumption Vs Intelligence</a:t>
            </a:r>
          </a:p>
          <a:p>
            <a:pPr marL="0" indent="0">
              <a:buNone/>
            </a:pPr>
            <a:r>
              <a:rPr lang="en-US" sz="2000" dirty="0"/>
              <a:t>                  2)  Shoe Size Vs Movie Watched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4862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6507-6EE8-4683-B641-9ACADB5F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DIFFERENCE BETWEEN CLUSTER SAMPLING AND STRATIFIED SAMPLING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AE83A-3704-4F46-A92B-F05E70D0E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6983896" cy="49423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                                                  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Sample 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Objective </a:t>
            </a:r>
            <a:r>
              <a:rPr lang="en-IN" sz="2400" dirty="0"/>
              <a:t>/ Purpose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Error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 H</a:t>
            </a:r>
            <a:r>
              <a:rPr lang="en-IN" sz="2400" dirty="0" err="1"/>
              <a:t>omogeneity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 H</a:t>
            </a:r>
            <a:r>
              <a:rPr lang="en-IN" sz="2400" dirty="0" err="1"/>
              <a:t>eterogeneity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20707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00B2899-BC1D-4AFF-8F38-866903271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 smtClean="0">
                <a:latin typeface="+mn-lt"/>
              </a:rPr>
              <a:t>HOMO SCEDASTICITY</a:t>
            </a:r>
            <a:endParaRPr lang="en-IN" sz="5400" dirty="0">
              <a:latin typeface="+mn-lt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1C425B4-10AC-49EF-9282-9E14599955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75212" y="2206768"/>
            <a:ext cx="5264331" cy="33547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indent="0">
              <a:lnSpc>
                <a:spcPct val="100000"/>
              </a:lnSpc>
              <a:buClrTx/>
              <a:buSzTx/>
              <a:buNone/>
            </a:pPr>
            <a:r>
              <a:rPr lang="en-US" altLang="en-US" sz="2400" dirty="0" smtClean="0">
                <a:solidFill>
                  <a:srgbClr val="000000"/>
                </a:solidFill>
                <a:cs typeface="Open Sans" panose="020B0606030504020204" pitchFamily="34" charset="0"/>
              </a:rPr>
              <a:t/>
            </a:r>
            <a:br>
              <a:rPr lang="en-US" altLang="en-US" sz="2400" dirty="0" smtClean="0">
                <a:solidFill>
                  <a:srgbClr val="000000"/>
                </a:solidFill>
                <a:cs typeface="Open Sans" panose="020B0606030504020204" pitchFamily="34" charset="0"/>
              </a:rPr>
            </a:br>
            <a:r>
              <a:rPr lang="en-US" altLang="en-US" sz="2400" dirty="0" smtClean="0">
                <a:solidFill>
                  <a:srgbClr val="000000"/>
                </a:solidFill>
                <a:cs typeface="Open Sans" panose="020B0606030504020204" pitchFamily="34" charset="0"/>
              </a:rPr>
              <a:t>      </a:t>
            </a:r>
          </a:p>
          <a:p>
            <a:pPr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rgbClr val="000000"/>
                </a:solidFill>
                <a:cs typeface="Open Sans" panose="020B0606030504020204" pitchFamily="34" charset="0"/>
              </a:rPr>
              <a:t>important </a:t>
            </a:r>
            <a:r>
              <a:rPr lang="en-US" altLang="en-US" sz="2400" dirty="0">
                <a:solidFill>
                  <a:srgbClr val="000000"/>
                </a:solidFill>
                <a:cs typeface="Open Sans" panose="020B0606030504020204" pitchFamily="34" charset="0"/>
              </a:rPr>
              <a:t>assumption of </a:t>
            </a:r>
            <a:r>
              <a:rPr lang="en-US" altLang="en-US" sz="2400" dirty="0" smtClean="0">
                <a:solidFill>
                  <a:srgbClr val="000000"/>
                </a:solidFill>
                <a:cs typeface="Open Sans" panose="020B0606030504020204" pitchFamily="34" charset="0"/>
              </a:rPr>
              <a:t>OLS</a:t>
            </a:r>
          </a:p>
          <a:p>
            <a:pPr marL="0" indent="0">
              <a:lnSpc>
                <a:spcPct val="100000"/>
              </a:lnSpc>
              <a:buClrTx/>
              <a:buSzTx/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+mn-lt"/>
              <a:cs typeface="Open Sans" panose="020B0606030504020204" pitchFamily="34" charset="0"/>
            </a:endParaRPr>
          </a:p>
          <a:p>
            <a:pPr lvl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Open Sans" panose="020B0606030504020204" pitchFamily="34" charset="0"/>
              </a:rPr>
              <a:t>Error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Open Sans" panose="020B0606030504020204" pitchFamily="34" charset="0"/>
              </a:rPr>
              <a:t>term have the same 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Open Sans" panose="020B0606030504020204" pitchFamily="34" charset="0"/>
                <a:hlinkClick r:id="rId2"/>
              </a:rPr>
              <a:t>variance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Open Sans" panose="020B0606030504020204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Open Sans" panose="020B0606030504020204" pitchFamily="34" charset="0"/>
              </a:rPr>
              <a:t/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Open Sans" panose="020B0606030504020204" pitchFamily="34" charset="0"/>
              </a:rPr>
            </a:br>
            <a:endParaRPr lang="en-US" altLang="en-US" sz="1200" dirty="0" smtClean="0">
              <a:solidFill>
                <a:srgbClr val="000000"/>
              </a:solidFill>
              <a:cs typeface="Open Sans" panose="020B0606030504020204" pitchFamily="34" charset="0"/>
            </a:endParaRPr>
          </a:p>
          <a:p>
            <a:pPr lvl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dirty="0" smtClean="0">
                <a:solidFill>
                  <a:srgbClr val="000000"/>
                </a:solidFill>
                <a:cs typeface="Open Sans" panose="020B0606030504020204" pitchFamily="34" charset="0"/>
              </a:rPr>
              <a:t>Homo </a:t>
            </a:r>
            <a:r>
              <a:rPr lang="en-US" altLang="en-US" sz="2400" dirty="0">
                <a:solidFill>
                  <a:srgbClr val="000000"/>
                </a:solidFill>
                <a:cs typeface="Open Sans" panose="020B0606030504020204" pitchFamily="34" charset="0"/>
              </a:rPr>
              <a:t>means equal and </a:t>
            </a:r>
            <a:r>
              <a:rPr lang="en-US" altLang="en-US" sz="2400" dirty="0" err="1">
                <a:solidFill>
                  <a:srgbClr val="000000"/>
                </a:solidFill>
                <a:cs typeface="Open Sans" panose="020B0606030504020204" pitchFamily="34" charset="0"/>
              </a:rPr>
              <a:t>scedasticity</a:t>
            </a:r>
            <a:r>
              <a:rPr lang="en-US" altLang="en-US" sz="2400" dirty="0">
                <a:solidFill>
                  <a:srgbClr val="000000"/>
                </a:solidFill>
                <a:cs typeface="Open Sans" panose="020B0606030504020204" pitchFamily="34" charset="0"/>
              </a:rPr>
              <a:t> means spread.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113" y="2543038"/>
            <a:ext cx="4376057" cy="279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62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 smtClean="0"/>
              <a:t>HETRO SCEDASTICITY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C1628-F646-4B7B-9340-02D3F00C21F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44020" y="2185533"/>
            <a:ext cx="4620758" cy="39278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Variance of the residual is unequal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 smtClean="0"/>
              <a:t>Heteroskedasticity</a:t>
            </a:r>
            <a:r>
              <a:rPr lang="en-IN" dirty="0" smtClean="0"/>
              <a:t> is a violation of the assumptions for linear regression </a:t>
            </a:r>
            <a:r>
              <a:rPr lang="en-IN" dirty="0" err="1" smtClean="0"/>
              <a:t>modeling</a:t>
            </a:r>
            <a:r>
              <a:rPr lang="en-IN" sz="2000" b="0" i="0" dirty="0" smtClean="0">
                <a:solidFill>
                  <a:srgbClr val="000000"/>
                </a:solidFill>
                <a:effectLst/>
              </a:rPr>
              <a:t>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err="1" smtClean="0"/>
              <a:t>Occure</a:t>
            </a:r>
            <a:r>
              <a:rPr lang="en-IN" dirty="0" smtClean="0"/>
              <a:t> when large difference among the sizes of the observations.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679" y="2300015"/>
            <a:ext cx="5162550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5840" y="783771"/>
            <a:ext cx="7759337" cy="770709"/>
          </a:xfrm>
        </p:spPr>
        <p:txBody>
          <a:bodyPr>
            <a:normAutofit/>
          </a:bodyPr>
          <a:lstStyle/>
          <a:p>
            <a:r>
              <a:rPr lang="en-IN" sz="4000" dirty="0" smtClean="0"/>
              <a:t>COEFFICIENT OF VARIATION</a:t>
            </a:r>
            <a:endParaRPr lang="en-IN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214846" y="4648336"/>
            <a:ext cx="5667375" cy="10572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8754" y="2248878"/>
            <a:ext cx="893064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57595D"/>
                </a:solidFill>
              </a:rPr>
              <a:t>The coefficient of variation (relative standard deviation) -</a:t>
            </a:r>
            <a:r>
              <a:rPr lang="en-IN" sz="2000" dirty="0" smtClean="0">
                <a:solidFill>
                  <a:srgbClr val="57595D"/>
                </a:solidFill>
              </a:rPr>
              <a:t> </a:t>
            </a:r>
            <a:r>
              <a:rPr lang="en-IN" sz="2000" dirty="0">
                <a:solidFill>
                  <a:srgbClr val="57595D"/>
                </a:solidFill>
              </a:rPr>
              <a:t>statistical </a:t>
            </a:r>
            <a:r>
              <a:rPr lang="en-IN" sz="2000" dirty="0" smtClean="0">
                <a:solidFill>
                  <a:srgbClr val="57595D"/>
                </a:solidFill>
              </a:rPr>
              <a:t>measure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rgbClr val="57595D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 smtClean="0"/>
              <a:t>The </a:t>
            </a:r>
            <a:r>
              <a:rPr lang="en-IN" sz="2000" dirty="0"/>
              <a:t>lower the ratio of the standard deviation to mean return, the better risk-return trade-off.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 smtClean="0"/>
              <a:t>Formula of coefficient of variation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901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0505A66-7601-4FAE-8FE0-B105240D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9" y="705395"/>
            <a:ext cx="6701246" cy="888274"/>
          </a:xfrm>
        </p:spPr>
        <p:txBody>
          <a:bodyPr>
            <a:normAutofit/>
          </a:bodyPr>
          <a:lstStyle/>
          <a:p>
            <a:r>
              <a:rPr lang="en-IN" sz="4400" dirty="0" smtClean="0">
                <a:solidFill>
                  <a:schemeClr val="tx1"/>
                </a:solidFill>
              </a:rPr>
              <a:t>MULTICOLLINEARITY</a:t>
            </a:r>
            <a:endParaRPr lang="en-IN" sz="4400" dirty="0">
              <a:solidFill>
                <a:schemeClr val="tx1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A8AC83-250D-4FB6-8F11-A672A3DA7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49" y="2259874"/>
            <a:ext cx="10097587" cy="380129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 err="1" smtClean="0">
                <a:solidFill>
                  <a:schemeClr val="tx1"/>
                </a:solidFill>
              </a:rPr>
              <a:t>Multicollinearity</a:t>
            </a:r>
            <a:r>
              <a:rPr lang="en-IN" sz="2000" dirty="0" smtClean="0">
                <a:solidFill>
                  <a:schemeClr val="tx1"/>
                </a:solidFill>
              </a:rPr>
              <a:t> – High correlation among independent variables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>
                <a:solidFill>
                  <a:schemeClr val="tx1"/>
                </a:solidFill>
              </a:rPr>
              <a:t> </a:t>
            </a:r>
            <a:r>
              <a:rPr lang="en-IN" sz="2000" dirty="0" err="1" smtClean="0">
                <a:solidFill>
                  <a:schemeClr val="tx1"/>
                </a:solidFill>
              </a:rPr>
              <a:t>Multicollinearity</a:t>
            </a:r>
            <a:r>
              <a:rPr lang="en-IN" sz="2000" dirty="0" smtClean="0">
                <a:solidFill>
                  <a:schemeClr val="tx1"/>
                </a:solidFill>
              </a:rPr>
              <a:t>  will result in less reliable statistical inferences.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>
                <a:solidFill>
                  <a:schemeClr val="tx1"/>
                </a:solidFill>
              </a:rPr>
              <a:t> Detection of </a:t>
            </a:r>
            <a:r>
              <a:rPr lang="en-IN" sz="2000" dirty="0" err="1" smtClean="0">
                <a:solidFill>
                  <a:schemeClr val="tx1"/>
                </a:solidFill>
              </a:rPr>
              <a:t>multicollinearity</a:t>
            </a:r>
            <a:endParaRPr lang="en-IN" sz="20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solidFill>
                  <a:schemeClr val="tx1"/>
                </a:solidFill>
              </a:rPr>
              <a:t>Scatter plot and correlation </a:t>
            </a:r>
            <a:r>
              <a:rPr lang="en-IN" dirty="0" err="1" smtClean="0">
                <a:solidFill>
                  <a:schemeClr val="tx1"/>
                </a:solidFill>
              </a:rPr>
              <a:t>marices</a:t>
            </a:r>
            <a:endParaRPr lang="en-IN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solidFill>
                  <a:schemeClr val="tx1"/>
                </a:solidFill>
              </a:rPr>
              <a:t>Incorrect coefficient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solidFill>
                  <a:schemeClr val="tx1"/>
                </a:solidFill>
              </a:rPr>
              <a:t>Instability of the coefficient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smtClean="0">
                <a:solidFill>
                  <a:schemeClr val="tx1"/>
                </a:solidFill>
              </a:rPr>
              <a:t>Review the variance inflation factor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 smtClean="0">
                <a:solidFill>
                  <a:schemeClr val="tx1"/>
                </a:solidFill>
              </a:rPr>
              <a:t> How to deal with </a:t>
            </a:r>
            <a:r>
              <a:rPr lang="en-IN" sz="2000" dirty="0" err="1" smtClean="0">
                <a:solidFill>
                  <a:schemeClr val="tx1"/>
                </a:solidFill>
              </a:rPr>
              <a:t>multicollinearity</a:t>
            </a:r>
            <a:endParaRPr lang="en-IN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83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4143" y="865076"/>
            <a:ext cx="10515600" cy="881784"/>
          </a:xfrm>
        </p:spPr>
        <p:txBody>
          <a:bodyPr/>
          <a:lstStyle/>
          <a:p>
            <a:r>
              <a:rPr lang="en-US" dirty="0" smtClean="0"/>
              <a:t>MARKET BASKET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446" y="2272936"/>
            <a:ext cx="10515600" cy="4467497"/>
          </a:xfrm>
        </p:spPr>
        <p:txBody>
          <a:bodyPr>
            <a:normAutofit/>
          </a:bodyPr>
          <a:lstStyle/>
          <a:p>
            <a:r>
              <a:rPr lang="en-US" sz="3600" dirty="0" smtClean="0"/>
              <a:t>WHAT IS IT?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sz="2000" dirty="0" smtClean="0"/>
              <a:t>Market basket analysis is a data mining technique used by retailers to increase sales by better understanding customer purchasing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 It </a:t>
            </a:r>
            <a:r>
              <a:rPr lang="en-US" sz="2000" dirty="0"/>
              <a:t>identifies the strength of association between pairs of products purchased together and identify patterns of </a:t>
            </a:r>
            <a:r>
              <a:rPr lang="en-US" sz="2000" dirty="0" smtClean="0"/>
              <a:t>co-occurrence.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 smtClean="0"/>
              <a:t>This </a:t>
            </a:r>
            <a:r>
              <a:rPr lang="en-US" sz="2000" dirty="0"/>
              <a:t>process identifies customer buying habits by finding associations between the different items that customers place in their “shopping baskets</a:t>
            </a:r>
            <a:r>
              <a:rPr lang="en-US" sz="2000" dirty="0" smtClean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3898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6577" y="796199"/>
            <a:ext cx="10515600" cy="64625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EXAMPLE OF ASSOCIATION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9823" y="2050868"/>
            <a:ext cx="10515600" cy="435428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 MEASURES FOR ASSOCIATION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Support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Confidence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smtClean="0"/>
              <a:t>Lift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BASKET 1:- (Milk &amp; Cheese)</a:t>
            </a:r>
          </a:p>
          <a:p>
            <a:r>
              <a:rPr lang="en-US" dirty="0" smtClean="0"/>
              <a:t>Support = 0.667</a:t>
            </a:r>
          </a:p>
          <a:p>
            <a:r>
              <a:rPr lang="en-US" dirty="0" smtClean="0"/>
              <a:t>Confidence = 1</a:t>
            </a:r>
          </a:p>
          <a:p>
            <a:r>
              <a:rPr lang="en-US" dirty="0" smtClean="0"/>
              <a:t>Lift = 1.2857</a:t>
            </a:r>
            <a:endParaRPr lang="en-US" dirty="0"/>
          </a:p>
        </p:txBody>
      </p:sp>
      <p:pic>
        <p:nvPicPr>
          <p:cNvPr id="1026" name="Picture 2" descr="https://webfocusinfocenter.informationbuilders.com/wfappent/TLs/TL_rstat/source/images/mb_combo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183" y="2526673"/>
            <a:ext cx="5677189" cy="307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813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Increases customer engagement</a:t>
            </a:r>
          </a:p>
          <a:p>
            <a:pPr>
              <a:lnSpc>
                <a:spcPct val="150000"/>
              </a:lnSpc>
            </a:pPr>
            <a:r>
              <a:rPr lang="en-US" dirty="0"/>
              <a:t>Boosting </a:t>
            </a:r>
            <a:r>
              <a:rPr lang="en-US" dirty="0" smtClean="0"/>
              <a:t>sales</a:t>
            </a:r>
          </a:p>
          <a:p>
            <a:pPr>
              <a:lnSpc>
                <a:spcPct val="150000"/>
              </a:lnSpc>
            </a:pPr>
            <a:r>
              <a:rPr lang="en-US" dirty="0"/>
              <a:t>Improving customer experience</a:t>
            </a:r>
          </a:p>
          <a:p>
            <a:pPr>
              <a:lnSpc>
                <a:spcPct val="150000"/>
              </a:lnSpc>
            </a:pPr>
            <a:r>
              <a:rPr lang="en-US" dirty="0"/>
              <a:t>Optimize marketing strategies and campaigns</a:t>
            </a:r>
          </a:p>
          <a:p>
            <a:pPr>
              <a:lnSpc>
                <a:spcPct val="150000"/>
              </a:lnSpc>
            </a:pPr>
            <a:r>
              <a:rPr lang="en-US" dirty="0"/>
              <a:t>Identifies customer behavior and pattern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50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8828" y="740624"/>
            <a:ext cx="10515600" cy="872837"/>
          </a:xfrm>
        </p:spPr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2886" y="2279667"/>
            <a:ext cx="10515600" cy="49161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TELECOMMUNICATIONS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What packages customers are purchasing?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RETAIL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 smtClean="0"/>
              <a:t>Does it make sense to sell </a:t>
            </a:r>
            <a:r>
              <a:rPr lang="en-US" dirty="0" err="1" smtClean="0"/>
              <a:t>coldrink</a:t>
            </a:r>
            <a:r>
              <a:rPr lang="en-US" dirty="0" smtClean="0"/>
              <a:t> with chips?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 smtClean="0"/>
              <a:t> BANKS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 analyze credit card purchases of customers to build profiles for fraud detection </a:t>
            </a:r>
            <a:r>
              <a:rPr lang="en-US" dirty="0" smtClean="0"/>
              <a:t>purposes.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INSURANCE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build profiles to detect medical insurance claim fraud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5027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7"/>
          </a:xfrm>
        </p:spPr>
        <p:txBody>
          <a:bodyPr/>
          <a:lstStyle/>
          <a:p>
            <a:r>
              <a:rPr lang="en-US" dirty="0" smtClean="0"/>
              <a:t>NORMAL DISTRIBUTION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320" y="1956262"/>
            <a:ext cx="10515600" cy="5292436"/>
          </a:xfrm>
        </p:spPr>
        <p:txBody>
          <a:bodyPr/>
          <a:lstStyle/>
          <a:p>
            <a:r>
              <a:rPr lang="en-US" dirty="0" smtClean="0"/>
              <a:t>Normal distribution, also known as the Gaussian distribution, is a continuous probability distribution.</a:t>
            </a:r>
          </a:p>
          <a:p>
            <a:r>
              <a:rPr lang="en-US" dirty="0" smtClean="0"/>
              <a:t>It is the most common and widely used probability distribution.</a:t>
            </a:r>
          </a:p>
          <a:p>
            <a:r>
              <a:rPr lang="en-US" dirty="0" smtClean="0"/>
              <a:t>It is symmetrical about mean.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PDF 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where  x : value of variable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l-GR" dirty="0" smtClean="0"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: mean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l-GR" dirty="0" smtClean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: standard deviation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530" y="2898766"/>
            <a:ext cx="5486402" cy="3505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026" y="3304742"/>
            <a:ext cx="3917372" cy="1398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7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PROPERTIES</a:t>
            </a:r>
            <a:endParaRPr lang="en-IN" dirty="0"/>
          </a:p>
        </p:txBody>
      </p:sp>
      <p:pic>
        <p:nvPicPr>
          <p:cNvPr id="4" name="Picture 2" descr="The Normal Distribution: Graphically&#10;                   Normal Curve is Symmetrical&#10;                      Two halves ident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881463" y="2095137"/>
            <a:ext cx="5009149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1140823" y="2306156"/>
            <a:ext cx="527304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IT IS “BELL – SHAPED”.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MEAN, MEDIAN AND MODE ARE EQUAL.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TOTAL AREA UNDER THE CURVE IS 1.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SYMMETRICAL ABOUT MEAN.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ASYMPTOTIC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SKEWNESS :- 0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KURTOSIS :- 3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LOCATION :-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μ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SPREAD :- </a:t>
            </a:r>
            <a:r>
              <a:rPr lang="el-GR" dirty="0">
                <a:latin typeface="Calibri" panose="020F0502020204030204" pitchFamily="34" charset="0"/>
                <a:cs typeface="Calibri" panose="020F0502020204030204" pitchFamily="34" charset="0"/>
              </a:rPr>
              <a:t>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09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954" y="796200"/>
            <a:ext cx="10515600" cy="840220"/>
          </a:xfrm>
        </p:spPr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5949" y="2067495"/>
            <a:ext cx="10515600" cy="547254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 smtClean="0"/>
              <a:t>Height</a:t>
            </a:r>
          </a:p>
          <a:p>
            <a:r>
              <a:rPr lang="en-US" dirty="0" smtClean="0"/>
              <a:t>Rolling a Dice</a:t>
            </a:r>
          </a:p>
          <a:p>
            <a:r>
              <a:rPr lang="en-US" dirty="0" smtClean="0"/>
              <a:t>Flipping a Coin</a:t>
            </a:r>
          </a:p>
          <a:p>
            <a:r>
              <a:rPr lang="en-US" dirty="0" smtClean="0"/>
              <a:t>IQ of a person</a:t>
            </a:r>
          </a:p>
          <a:p>
            <a:r>
              <a:rPr lang="en-US" dirty="0" smtClean="0"/>
              <a:t>Income Distribution</a:t>
            </a:r>
          </a:p>
          <a:p>
            <a:r>
              <a:rPr lang="en-US" dirty="0" smtClean="0"/>
              <a:t>Shoe size</a:t>
            </a:r>
          </a:p>
          <a:p>
            <a:r>
              <a:rPr lang="en-US" dirty="0" smtClean="0"/>
              <a:t>Weight</a:t>
            </a:r>
          </a:p>
          <a:p>
            <a:r>
              <a:rPr lang="en-US" dirty="0" smtClean="0"/>
              <a:t>Student’s marks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803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A32C-F74A-4E7A-81FE-A62482DEB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497" y="395482"/>
            <a:ext cx="10575235" cy="766763"/>
          </a:xfrm>
        </p:spPr>
        <p:txBody>
          <a:bodyPr>
            <a:normAutofit fontScale="90000"/>
          </a:bodyPr>
          <a:lstStyle/>
          <a:p>
            <a:r>
              <a:rPr lang="en-US" sz="4000" u="sng" dirty="0" smtClean="0"/>
              <a:t>THE STRUCTURED QUERY LANGUAGE (SQL)</a:t>
            </a:r>
            <a:endParaRPr lang="en-IN" sz="40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EBC25-657B-4210-9FE9-FE0C4B65CC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7321" y="1338470"/>
            <a:ext cx="11370365" cy="5267740"/>
          </a:xfrm>
        </p:spPr>
        <p:txBody>
          <a:bodyPr>
            <a:normAutofit fontScale="85000" lnSpcReduction="20000"/>
          </a:bodyPr>
          <a:lstStyle/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Database</a:t>
            </a:r>
            <a:endParaRPr lang="en-US" dirty="0"/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IN" dirty="0" err="1"/>
              <a:t>elational</a:t>
            </a:r>
            <a:r>
              <a:rPr lang="en-IN" dirty="0"/>
              <a:t> database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RDBMS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SQL is a computer language for storing, manipulating and retrieving data stored in a relational database.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Standard language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dirty="0"/>
              <a:t>Divided into several different types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          -DDL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          -DML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          -DCL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          -TCL</a:t>
            </a:r>
          </a:p>
        </p:txBody>
      </p:sp>
    </p:spTree>
    <p:extLst>
      <p:ext uri="{BB962C8B-B14F-4D97-AF65-F5344CB8AC3E}">
        <p14:creationId xmlns:p14="http://schemas.microsoft.com/office/powerpoint/2010/main" val="1424854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4B4B6C4-0B53-4911-8A80-B5D05DA4DF03}"/>
              </a:ext>
            </a:extLst>
          </p:cNvPr>
          <p:cNvSpPr txBox="1"/>
          <p:nvPr/>
        </p:nvSpPr>
        <p:spPr>
          <a:xfrm>
            <a:off x="433105" y="335845"/>
            <a:ext cx="3591339" cy="40934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DDL</a:t>
            </a:r>
          </a:p>
          <a:p>
            <a:pPr algn="ctr"/>
            <a:endParaRPr lang="en-US" sz="28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CREATE DATABASE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CREATE TABLE statement</a:t>
            </a:r>
            <a:endParaRPr lang="en-US" sz="2000" dirty="0">
              <a:latin typeface="Book Antiqua" panose="0204060205030503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ALTER TABLE Statement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DROP TABLE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CREATE VIEW Statement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DROP VIEW Statement</a:t>
            </a:r>
            <a:endParaRPr lang="en-IN" sz="2000" dirty="0"/>
          </a:p>
          <a:p>
            <a:endParaRPr lang="en-IN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77D6CF-01D1-49B9-A25A-961FD5F3C62B}"/>
              </a:ext>
            </a:extLst>
          </p:cNvPr>
          <p:cNvSpPr txBox="1"/>
          <p:nvPr/>
        </p:nvSpPr>
        <p:spPr>
          <a:xfrm>
            <a:off x="4497304" y="335845"/>
            <a:ext cx="3043183" cy="28146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DML</a:t>
            </a:r>
          </a:p>
          <a:p>
            <a:pPr algn="ctr"/>
            <a:endParaRPr lang="en-IN" sz="28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SELECT statement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INSERT statement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DELETE statement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UPDATE statement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9E30E7-53F2-43B3-AF22-D7699B24556E}"/>
              </a:ext>
            </a:extLst>
          </p:cNvPr>
          <p:cNvSpPr txBox="1"/>
          <p:nvPr/>
        </p:nvSpPr>
        <p:spPr>
          <a:xfrm>
            <a:off x="8362120" y="335845"/>
            <a:ext cx="3237749" cy="19082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b="1" u="sng" dirty="0"/>
              <a:t>DCL</a:t>
            </a:r>
            <a:endParaRPr lang="en-IN" sz="3200" b="1" u="sng" dirty="0"/>
          </a:p>
          <a:p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GRANT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REVOKE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33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8A8377-4A59-4982-94D4-6D155E71D1ED}"/>
              </a:ext>
            </a:extLst>
          </p:cNvPr>
          <p:cNvSpPr txBox="1"/>
          <p:nvPr/>
        </p:nvSpPr>
        <p:spPr>
          <a:xfrm>
            <a:off x="569844" y="738808"/>
            <a:ext cx="4214192" cy="2209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u="sng" dirty="0"/>
              <a:t>SQL Standard data types</a:t>
            </a:r>
            <a:endParaRPr lang="en-IN" sz="2400" b="1" u="sng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String types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Numeric Types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200" dirty="0"/>
              <a:t>Datetime types</a:t>
            </a:r>
            <a:endParaRPr lang="en-IN" sz="2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89493A-B133-47AC-AF74-6B9D6EA5E331}"/>
              </a:ext>
            </a:extLst>
          </p:cNvPr>
          <p:cNvSpPr txBox="1"/>
          <p:nvPr/>
        </p:nvSpPr>
        <p:spPr>
          <a:xfrm>
            <a:off x="569844" y="3429000"/>
            <a:ext cx="5526156" cy="2999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b="1" u="sng" dirty="0"/>
              <a:t>SQL Constraints</a:t>
            </a:r>
            <a:endParaRPr lang="en-US" sz="2800" b="1" u="sng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NOT NULL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UNIQUE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PRIMARY Key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FOREIGN Key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CHECK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59910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681756" y="3111027"/>
            <a:ext cx="3966342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</a:t>
            </a:r>
            <a:endParaRPr lang="en-US" sz="6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7" name="Smiley Face 6"/>
          <p:cNvSpPr/>
          <p:nvPr/>
        </p:nvSpPr>
        <p:spPr>
          <a:xfrm>
            <a:off x="7720148" y="3122023"/>
            <a:ext cx="914400" cy="914400"/>
          </a:xfrm>
          <a:prstGeom prst="smileyFac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28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769520F8-BFE5-4C8C-A7AA-375C025A91CE}" vid="{AEAFD717-D3C8-4034-8F7E-D5220B0CCEB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{4B685E28-D402-46D3-B379-D59A9C6E16E9}tf56160789_win32</Template>
  <TotalTime>1215</TotalTime>
  <Words>651</Words>
  <Application>Microsoft Office PowerPoint</Application>
  <PresentationFormat>Widescreen</PresentationFormat>
  <Paragraphs>182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Book Antiqua</vt:lpstr>
      <vt:lpstr>Bookman Old Style</vt:lpstr>
      <vt:lpstr>Calibri</vt:lpstr>
      <vt:lpstr>Courier New</vt:lpstr>
      <vt:lpstr>Franklin Gothic Book</vt:lpstr>
      <vt:lpstr>Inter</vt:lpstr>
      <vt:lpstr>Open Sans</vt:lpstr>
      <vt:lpstr>Untitled Sans</vt:lpstr>
      <vt:lpstr>Wingdings</vt:lpstr>
      <vt:lpstr>1_RetrospectVTI</vt:lpstr>
      <vt:lpstr>Statistical concepts</vt:lpstr>
      <vt:lpstr>                              CONTENTS    </vt:lpstr>
      <vt:lpstr>PowerPoint Presentation</vt:lpstr>
      <vt:lpstr>PowerPoint Presentation</vt:lpstr>
      <vt:lpstr>PowerPoint Presentation</vt:lpstr>
      <vt:lpstr>EXAMPLES OF CORRELATION</vt:lpstr>
      <vt:lpstr>DIFFERENCE BETWEEN CLUSTER SAMPLING AND STRATIFIED SAMPLING</vt:lpstr>
      <vt:lpstr>HOMO SCEDASTICITY</vt:lpstr>
      <vt:lpstr>HETRO SCEDASTICITY</vt:lpstr>
      <vt:lpstr>COEFFICIENT OF VARIATION</vt:lpstr>
      <vt:lpstr>MULTICOLLINEARITY</vt:lpstr>
      <vt:lpstr>MARKET BASKET ANALYSIS</vt:lpstr>
      <vt:lpstr>EXAMPLE OF ASSOCIATION RULE</vt:lpstr>
      <vt:lpstr>ADVANTAGES</vt:lpstr>
      <vt:lpstr>APPLICATIONS</vt:lpstr>
      <vt:lpstr>NORMAL DISTRIBUTION</vt:lpstr>
      <vt:lpstr>PROPERTIES</vt:lpstr>
      <vt:lpstr>EXAMPLES</vt:lpstr>
      <vt:lpstr>THE STRUCTURED QUERY LANGUAGE (SQL)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concepts</dc:title>
  <dc:creator>Kandarp Kirit Patel</dc:creator>
  <cp:lastModifiedBy>SVI</cp:lastModifiedBy>
  <cp:revision>29</cp:revision>
  <dcterms:created xsi:type="dcterms:W3CDTF">2021-12-30T17:03:03Z</dcterms:created>
  <dcterms:modified xsi:type="dcterms:W3CDTF">2022-01-01T04:48:05Z</dcterms:modified>
</cp:coreProperties>
</file>