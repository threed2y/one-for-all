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  <p:sldId id="257" r:id="rId5"/>
    <p:sldId id="258" r:id="rId6"/>
    <p:sldId id="259" r:id="rId7"/>
    <p:sldId id="263" r:id="rId8"/>
    <p:sldId id="264" r:id="rId9"/>
    <p:sldId id="273" r:id="rId10"/>
    <p:sldId id="266" r:id="rId11"/>
    <p:sldId id="274" r:id="rId12"/>
    <p:sldId id="270" r:id="rId13"/>
    <p:sldId id="271" r:id="rId14"/>
    <p:sldId id="272" r:id="rId15"/>
    <p:sldId id="267" r:id="rId16"/>
    <p:sldId id="268" r:id="rId17"/>
    <p:sldId id="269" r:id="rId18"/>
    <p:sldId id="2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98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077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88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75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3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2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17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10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76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03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234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FB93AFC-66FD-466D-9B20-3ABCBA88D730}" type="datetimeFigureOut">
              <a:rPr lang="en-IN" smtClean="0"/>
              <a:t>01-01-2022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020CBF-8A11-49C1-BA67-33003513490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88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62F347B3-D94D-4121-BE6A-B9A066585F2E}"/>
              </a:ext>
            </a:extLst>
          </p:cNvPr>
          <p:cNvSpPr txBox="1">
            <a:spLocks/>
          </p:cNvSpPr>
          <p:nvPr/>
        </p:nvSpPr>
        <p:spPr>
          <a:xfrm>
            <a:off x="2958347" y="601376"/>
            <a:ext cx="7758813" cy="114300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9600" b="1" dirty="0">
                <a:latin typeface="+mj-lt"/>
              </a:rPr>
              <a:t>THE MAHARAJA SAYAJIRAO UNIVERSITY OF BARODA</a:t>
            </a:r>
          </a:p>
          <a:p>
            <a:r>
              <a:rPr lang="en-IN" sz="9600" b="1" dirty="0">
                <a:latin typeface="+mj-lt"/>
              </a:rPr>
              <a:t>		FACULTY OF SCIENCE</a:t>
            </a:r>
          </a:p>
          <a:p>
            <a:r>
              <a:rPr lang="en-IN" sz="9600" b="1" dirty="0">
                <a:latin typeface="+mj-lt"/>
              </a:rPr>
              <a:t>	        DEPARTMENT OF STATISTICS</a:t>
            </a:r>
            <a:endParaRPr lang="en-IN" b="1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73FC99-7F72-4ECF-ADCC-14C3DD873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45" y="332298"/>
            <a:ext cx="2179561" cy="2162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F72939-B146-416E-84FD-4F5DDAF5F994}"/>
              </a:ext>
            </a:extLst>
          </p:cNvPr>
          <p:cNvSpPr txBox="1"/>
          <p:nvPr/>
        </p:nvSpPr>
        <p:spPr>
          <a:xfrm flipH="1">
            <a:off x="4527916" y="2705725"/>
            <a:ext cx="3136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 STATISTICAL TECHNIQUES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F22E2-3C5B-4B61-888A-D044663D95AC}"/>
              </a:ext>
            </a:extLst>
          </p:cNvPr>
          <p:cNvSpPr txBox="1"/>
          <p:nvPr/>
        </p:nvSpPr>
        <p:spPr>
          <a:xfrm>
            <a:off x="10103483" y="4503071"/>
            <a:ext cx="25309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By :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Karan Parmar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Mausami Khunt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Dhara Bholani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Shreya Mathur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Vishwa Kavishwar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Paresh Chaudhari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Kushal Kumar Kain</a:t>
            </a:r>
          </a:p>
          <a:p>
            <a:pPr marL="285750" indent="-285750">
              <a:buFontTx/>
              <a:buChar char="-"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4245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5495-B887-4D19-B459-ABF1AD0A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38180"/>
            <a:ext cx="10058400" cy="145075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b="1" dirty="0"/>
              <a:t>TOPICS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74FD0-8DC3-4662-8B07-CDE477E9B7C1}"/>
              </a:ext>
            </a:extLst>
          </p:cNvPr>
          <p:cNvSpPr txBox="1"/>
          <p:nvPr/>
        </p:nvSpPr>
        <p:spPr>
          <a:xfrm flipH="1">
            <a:off x="1170258" y="2088937"/>
            <a:ext cx="562432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MEASURE OF CENTRAL TENDENCY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SAMPLING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REGRESSION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SQL   </a:t>
            </a:r>
          </a:p>
        </p:txBody>
      </p:sp>
    </p:spTree>
    <p:extLst>
      <p:ext uri="{BB962C8B-B14F-4D97-AF65-F5344CB8AC3E}">
        <p14:creationId xmlns:p14="http://schemas.microsoft.com/office/powerpoint/2010/main" val="37421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B3F74-43D5-4B0C-B364-F1A9AB12C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29194"/>
            <a:ext cx="10058400" cy="4023360"/>
          </a:xfrm>
        </p:spPr>
        <p:txBody>
          <a:bodyPr>
            <a:normAutofit/>
          </a:bodyPr>
          <a:lstStyle/>
          <a:p>
            <a:r>
              <a:rPr lang="en-IN" sz="2400" dirty="0"/>
              <a:t>-  It indicates the location or the general position of the distribution on X-axis.</a:t>
            </a:r>
          </a:p>
          <a:p>
            <a:endParaRPr lang="en-IN" sz="200" dirty="0"/>
          </a:p>
          <a:p>
            <a:r>
              <a:rPr lang="en-IN" sz="2400" dirty="0"/>
              <a:t>-  </a:t>
            </a:r>
            <a:r>
              <a:rPr lang="en-IN" sz="2400" b="1" dirty="0"/>
              <a:t>Types</a:t>
            </a:r>
            <a:r>
              <a:rPr lang="en-IN" sz="2400" dirty="0"/>
              <a:t> of measure of central tendency:</a:t>
            </a:r>
          </a:p>
          <a:p>
            <a:pPr lvl="8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MEAN</a:t>
            </a:r>
          </a:p>
          <a:p>
            <a:pPr lvl="8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MEDIAN</a:t>
            </a:r>
          </a:p>
          <a:p>
            <a:pPr lvl="8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MODE</a:t>
            </a:r>
          </a:p>
          <a:p>
            <a:endParaRPr lang="en-IN" sz="16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FB8B4C-18E7-467F-BDD7-32129080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05446"/>
            <a:ext cx="10058400" cy="145075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3600" b="1" dirty="0"/>
              <a:t>MEASURE OF CENTRAL TENDENCY</a:t>
            </a:r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13552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98E7-F4DC-4868-B29B-7287B1D4B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975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MEAN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ECE0C-6669-4EF4-AD39-971290300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34054"/>
            <a:ext cx="10058400" cy="40233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  What is mean?</a:t>
            </a:r>
          </a:p>
          <a:p>
            <a:pPr marL="201168" lvl="1" indent="0">
              <a:lnSpc>
                <a:spcPct val="100000"/>
              </a:lnSpc>
              <a:buClrTx/>
              <a:buNone/>
            </a:pPr>
            <a:r>
              <a:rPr lang="en-IN" sz="2200" dirty="0"/>
              <a:t>-  </a:t>
            </a:r>
            <a:r>
              <a:rPr lang="en-IN" sz="2000" dirty="0"/>
              <a:t>Arithmetic average of a set of given number.</a:t>
            </a:r>
          </a:p>
          <a:p>
            <a:pPr marL="201168" lvl="1" indent="0">
              <a:lnSpc>
                <a:spcPct val="100000"/>
              </a:lnSpc>
              <a:buClrTx/>
              <a:buNone/>
            </a:pPr>
            <a:endParaRPr lang="en-IN" sz="2200" dirty="0"/>
          </a:p>
          <a:p>
            <a:pPr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IN" sz="2400" dirty="0"/>
              <a:t>  Types :</a:t>
            </a:r>
          </a:p>
          <a:p>
            <a:pPr marL="201168" lvl="1" indent="0">
              <a:lnSpc>
                <a:spcPct val="100000"/>
              </a:lnSpc>
              <a:buClrTx/>
              <a:buNone/>
            </a:pPr>
            <a:r>
              <a:rPr lang="en-IN" sz="2000" dirty="0"/>
              <a:t>-   Arithmetic mean : Total sum of all values divided by the total number of values.</a:t>
            </a:r>
          </a:p>
          <a:p>
            <a:pPr marL="201168" lvl="1" indent="0">
              <a:lnSpc>
                <a:spcPct val="100000"/>
              </a:lnSpc>
              <a:buClrTx/>
              <a:buNone/>
            </a:pPr>
            <a:r>
              <a:rPr lang="en-IN" sz="2000" dirty="0"/>
              <a:t>-   Geometric mean : nth root of product of all numbers.</a:t>
            </a:r>
          </a:p>
          <a:p>
            <a:pPr marL="201168" lvl="1" indent="0">
              <a:lnSpc>
                <a:spcPct val="100000"/>
              </a:lnSpc>
              <a:buClrTx/>
              <a:buNone/>
            </a:pPr>
            <a:r>
              <a:rPr lang="en-IN" sz="2000" dirty="0"/>
              <a:t>-   Harmonic mean : It is the </a:t>
            </a:r>
            <a:r>
              <a:rPr lang="en-US" sz="2000" dirty="0"/>
              <a:t>reciprocal of arithmetic mean of the reciprocal of values.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68295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4BE17-2579-4B9F-AB6E-8FDFC5A3D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159605" cy="448733"/>
          </a:xfrm>
        </p:spPr>
        <p:txBody>
          <a:bodyPr>
            <a:normAutofit/>
          </a:bodyPr>
          <a:lstStyle/>
          <a:p>
            <a:pPr marL="0" indent="0">
              <a:buClrTx/>
              <a:buNone/>
            </a:pPr>
            <a:r>
              <a:rPr lang="en-US" dirty="0"/>
              <a:t>   -  It is the middle score in a set of given numbers.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B4A962-F559-4D96-B7A5-48CF01C0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92533"/>
            <a:ext cx="10058400" cy="145075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MEDIAN</a:t>
            </a:r>
            <a:endParaRPr lang="en-IN" sz="3600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3A9132-9904-4F82-9447-30FD18B06222}"/>
              </a:ext>
            </a:extLst>
          </p:cNvPr>
          <p:cNvSpPr txBox="1">
            <a:spLocks/>
          </p:cNvSpPr>
          <p:nvPr/>
        </p:nvSpPr>
        <p:spPr>
          <a:xfrm>
            <a:off x="1147882" y="2094302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685800" indent="-685800" defTabSz="914400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 sz="3600" b="1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MODE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F36AC9-AA02-441B-9952-979B62D04D55}"/>
              </a:ext>
            </a:extLst>
          </p:cNvPr>
          <p:cNvCxnSpPr>
            <a:cxnSpLocks/>
          </p:cNvCxnSpPr>
          <p:nvPr/>
        </p:nvCxnSpPr>
        <p:spPr>
          <a:xfrm>
            <a:off x="1168795" y="3619262"/>
            <a:ext cx="9986885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B6C7FEE-C563-4A9E-883B-4DF593DC7614}"/>
              </a:ext>
            </a:extLst>
          </p:cNvPr>
          <p:cNvSpPr txBox="1"/>
          <p:nvPr/>
        </p:nvSpPr>
        <p:spPr>
          <a:xfrm>
            <a:off x="1168794" y="3767668"/>
            <a:ext cx="86143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most frequently occurring number in a set of given numbers.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RELATION : 3median = mode + 2mean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80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55740-7EB4-4200-AEF5-70E41C0B0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414" y="1972735"/>
            <a:ext cx="10058400" cy="488526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dirty="0"/>
              <a:t> The action or process of taking samples from population data.</a:t>
            </a:r>
          </a:p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dirty="0"/>
              <a:t> Type of sampling :</a:t>
            </a:r>
          </a:p>
          <a:p>
            <a:pPr lvl="6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sz="1800" dirty="0"/>
              <a:t>Probability sampling</a:t>
            </a:r>
          </a:p>
          <a:p>
            <a:pPr marL="1071400" lvl="6" indent="0">
              <a:lnSpc>
                <a:spcPct val="150000"/>
              </a:lnSpc>
              <a:buClrTx/>
              <a:buNone/>
            </a:pPr>
            <a:r>
              <a:rPr lang="en-US" dirty="0"/>
              <a:t>	-  Simple random sampling</a:t>
            </a:r>
          </a:p>
          <a:p>
            <a:pPr marL="1071400" lvl="6" indent="0">
              <a:lnSpc>
                <a:spcPct val="150000"/>
              </a:lnSpc>
              <a:buClrTx/>
              <a:buNone/>
            </a:pPr>
            <a:r>
              <a:rPr lang="en-US" dirty="0"/>
              <a:t>	-  Stratified random sampling</a:t>
            </a:r>
          </a:p>
          <a:p>
            <a:pPr marL="1071400" lvl="6" indent="0">
              <a:lnSpc>
                <a:spcPct val="150000"/>
              </a:lnSpc>
              <a:buClrTx/>
              <a:buNone/>
            </a:pPr>
            <a:r>
              <a:rPr lang="en-US" dirty="0"/>
              <a:t>	-  Systematic random sampling</a:t>
            </a:r>
          </a:p>
          <a:p>
            <a:pPr marL="1071400" lvl="6" indent="0">
              <a:lnSpc>
                <a:spcPct val="150000"/>
              </a:lnSpc>
              <a:buClrTx/>
              <a:buNone/>
            </a:pPr>
            <a:r>
              <a:rPr lang="en-US" dirty="0"/>
              <a:t>	-  Cluster sampling</a:t>
            </a:r>
          </a:p>
          <a:p>
            <a:pPr lvl="6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sz="1800" dirty="0"/>
              <a:t>Non probability sampling</a:t>
            </a:r>
          </a:p>
          <a:p>
            <a:pPr marL="1071400" lvl="6" indent="0">
              <a:lnSpc>
                <a:spcPct val="150000"/>
              </a:lnSpc>
              <a:buClrTx/>
              <a:buNone/>
            </a:pPr>
            <a:r>
              <a:rPr lang="en-US" dirty="0"/>
              <a:t>	-  Convenience sampling</a:t>
            </a:r>
          </a:p>
          <a:p>
            <a:pPr marL="1071400" lvl="6" indent="0">
              <a:lnSpc>
                <a:spcPct val="150000"/>
              </a:lnSpc>
              <a:buClrTx/>
              <a:buNone/>
            </a:pPr>
            <a:r>
              <a:rPr lang="en-US" dirty="0"/>
              <a:t>	-  Snowball sampling</a:t>
            </a:r>
          </a:p>
          <a:p>
            <a:pPr>
              <a:lnSpc>
                <a:spcPct val="150000"/>
              </a:lnSpc>
              <a:buClrTx/>
            </a:pPr>
            <a:r>
              <a:rPr lang="en-US" sz="1600" dirty="0"/>
              <a:t>                              </a:t>
            </a:r>
            <a:endParaRPr lang="en-IN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E6446-575E-4978-86CE-A2E01B54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0093"/>
            <a:ext cx="10058400" cy="145075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SAMPLING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433381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216A0-3133-4C45-BBF6-9AF30F392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55800"/>
            <a:ext cx="10058400" cy="442533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 </a:t>
            </a:r>
            <a:r>
              <a:rPr lang="en-US" sz="3300" dirty="0"/>
              <a:t>What will be the size of our samples?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 -  Types of allocation of sample size:</a:t>
            </a:r>
          </a:p>
          <a:p>
            <a:pPr lvl="5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Equal allocation</a:t>
            </a:r>
          </a:p>
          <a:p>
            <a:pPr lvl="5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Proportional allocation</a:t>
            </a:r>
          </a:p>
          <a:p>
            <a:pPr lvl="5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Neyman allocation</a:t>
            </a:r>
          </a:p>
          <a:p>
            <a:pPr marL="0" indent="-13716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dirty="0"/>
              <a:t> </a:t>
            </a:r>
          </a:p>
          <a:p>
            <a:pPr marL="0" indent="-13716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dirty="0"/>
              <a:t> -  Equal allocation:</a:t>
            </a:r>
          </a:p>
          <a:p>
            <a:pPr marL="1008560" lvl="5" indent="-13716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dirty="0"/>
              <a:t>Number of units will be equal in all strata.</a:t>
            </a:r>
          </a:p>
          <a:p>
            <a:pPr marL="0" indent="-13716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dirty="0"/>
              <a:t> -  Proportional allocation:</a:t>
            </a:r>
          </a:p>
          <a:p>
            <a:pPr marL="1008560" lvl="5" indent="-13716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dirty="0"/>
              <a:t>Each strata will be different in size.</a:t>
            </a:r>
          </a:p>
          <a:p>
            <a:pPr marL="0" indent="-13716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dirty="0"/>
              <a:t> -  Neyman allocation/Optimal allocation:</a:t>
            </a:r>
          </a:p>
          <a:p>
            <a:pPr marL="1008560" lvl="5" indent="-13716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dirty="0"/>
              <a:t>Size of strata and variability in strata both are different.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2391AF-9945-471F-B96E-C7BB5B53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4145"/>
            <a:ext cx="10058400" cy="144938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ALLOCATION METHODS 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33292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25014-5D21-4786-805D-54A7F3C35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8201"/>
            <a:ext cx="10058400" cy="40233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-  Extent of relationship</a:t>
            </a:r>
          </a:p>
          <a:p>
            <a:pPr>
              <a:lnSpc>
                <a:spcPct val="150000"/>
              </a:lnSpc>
            </a:pPr>
            <a:r>
              <a:rPr lang="en-US" dirty="0"/>
              <a:t>-  Measure the strength and direction</a:t>
            </a:r>
          </a:p>
          <a:p>
            <a:pPr>
              <a:lnSpc>
                <a:spcPct val="150000"/>
              </a:lnSpc>
            </a:pPr>
            <a:r>
              <a:rPr lang="en-US" dirty="0"/>
              <a:t>-  Measure scale</a:t>
            </a:r>
          </a:p>
          <a:p>
            <a:pPr>
              <a:lnSpc>
                <a:spcPct val="150000"/>
              </a:lnSpc>
            </a:pPr>
            <a:r>
              <a:rPr lang="en-US" dirty="0"/>
              <a:t>-  Disadvantage</a:t>
            </a:r>
          </a:p>
          <a:p>
            <a:pPr>
              <a:lnSpc>
                <a:spcPct val="150000"/>
              </a:lnSpc>
            </a:pPr>
            <a:r>
              <a:rPr lang="en-IN" dirty="0"/>
              <a:t>-  Example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984A25-311B-4218-BBB0-0A4A7603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3248"/>
            <a:ext cx="10058400" cy="1450975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CORRELATION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37042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FF000-1331-489A-9086-F11131631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44210"/>
            <a:ext cx="10058400" cy="43411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-  A process which identify the mathematical relationship between a dependent variable and one or more independent variables.</a:t>
            </a:r>
          </a:p>
          <a:p>
            <a:pPr>
              <a:lnSpc>
                <a:spcPct val="100000"/>
              </a:lnSpc>
            </a:pPr>
            <a:r>
              <a:rPr lang="en-US" dirty="0"/>
              <a:t>-  This relationship is used for prediction purpose.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-  Types of regression:</a:t>
            </a:r>
          </a:p>
          <a:p>
            <a:pPr lvl="4">
              <a:lnSpc>
                <a:spcPct val="100000"/>
              </a:lnSpc>
              <a:buClrTx/>
              <a:buFont typeface="Wingdings" panose="05000000000000000000" pitchFamily="2" charset="2"/>
              <a:buChar char="Ø"/>
            </a:pPr>
            <a:r>
              <a:rPr lang="en-US" sz="1600" dirty="0"/>
              <a:t>Linear regression</a:t>
            </a:r>
            <a:endParaRPr lang="en-US" dirty="0"/>
          </a:p>
          <a:p>
            <a:pPr lvl="4">
              <a:lnSpc>
                <a:spcPct val="100000"/>
              </a:lnSpc>
              <a:buClrTx/>
              <a:buFont typeface="Wingdings" panose="05000000000000000000" pitchFamily="2" charset="2"/>
              <a:buChar char="Ø"/>
            </a:pPr>
            <a:r>
              <a:rPr lang="en-US" sz="1600" dirty="0"/>
              <a:t>Non-Linear regression</a:t>
            </a:r>
            <a:endParaRPr lang="en-US" dirty="0"/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ED2090-7CDB-4806-A606-377FB7C0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69583"/>
            <a:ext cx="10058400" cy="144938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REGRESSION 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4095604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A8F994-4E9B-4D18-8328-932F156A2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6378" y="1846263"/>
            <a:ext cx="7699570" cy="40227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FE02223-BA2B-45E8-BD18-A85A0AD4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38177"/>
            <a:ext cx="10058400" cy="144938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SCATTER PLOT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279509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8EB08-FD14-473A-B9E2-BFF4161EA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6140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-  General linear model of the regression will be looking like:</a:t>
            </a:r>
          </a:p>
          <a:p>
            <a:r>
              <a:rPr lang="en-US" dirty="0"/>
              <a:t>				y = a + bx + e</a:t>
            </a:r>
          </a:p>
          <a:p>
            <a:r>
              <a:rPr lang="en-US" dirty="0"/>
              <a:t>where, </a:t>
            </a:r>
            <a:r>
              <a:rPr lang="en-US" sz="2100" dirty="0"/>
              <a:t>y = dependent variable, x = independent variable/ explanatory variable, </a:t>
            </a:r>
          </a:p>
          <a:p>
            <a:pPr lvl="4"/>
            <a:r>
              <a:rPr lang="en-US" sz="2100" dirty="0"/>
              <a:t>a = intercept, b = slop of the line, e = random error/ residual</a:t>
            </a:r>
          </a:p>
          <a:p>
            <a:pPr lvl="4"/>
            <a:endParaRPr lang="en-US" sz="1800" dirty="0"/>
          </a:p>
          <a:p>
            <a:r>
              <a:rPr lang="en-US" dirty="0"/>
              <a:t>-  Assumptions:</a:t>
            </a:r>
          </a:p>
          <a:p>
            <a:r>
              <a:rPr lang="en-US" dirty="0"/>
              <a:t>	- </a:t>
            </a:r>
            <a:r>
              <a:rPr lang="en-US" u="sng" dirty="0"/>
              <a:t>linearity</a:t>
            </a:r>
            <a:r>
              <a:rPr lang="en-US" dirty="0"/>
              <a:t>: there has to be a linear relationship between x and y.</a:t>
            </a:r>
          </a:p>
          <a:p>
            <a:r>
              <a:rPr lang="en-US" dirty="0"/>
              <a:t>	- </a:t>
            </a:r>
            <a:r>
              <a:rPr lang="en-US" u="sng" dirty="0"/>
              <a:t>independence</a:t>
            </a:r>
            <a:r>
              <a:rPr lang="en-US" dirty="0"/>
              <a:t>: if there are more than one independent variables in the model then all the 				x's must be mutually independent.</a:t>
            </a:r>
          </a:p>
          <a:p>
            <a:r>
              <a:rPr lang="en-US" dirty="0"/>
              <a:t>	- </a:t>
            </a:r>
            <a:r>
              <a:rPr lang="en-US" u="sng" dirty="0"/>
              <a:t>homoscedasticity</a:t>
            </a:r>
            <a:r>
              <a:rPr lang="en-US" dirty="0"/>
              <a:t>: residual(e) variance are constant over the x.</a:t>
            </a:r>
          </a:p>
          <a:p>
            <a:r>
              <a:rPr lang="en-US" dirty="0"/>
              <a:t>	- </a:t>
            </a:r>
            <a:r>
              <a:rPr lang="en-US" u="sng" dirty="0"/>
              <a:t>normality</a:t>
            </a:r>
            <a:r>
              <a:rPr lang="en-US" dirty="0"/>
              <a:t>: residual(e) are </a:t>
            </a:r>
            <a:r>
              <a:rPr lang="en-US" dirty="0" err="1"/>
              <a:t>iid</a:t>
            </a:r>
            <a:r>
              <a:rPr lang="en-US" dirty="0"/>
              <a:t> normal distributed with zero mean and constant variance.</a:t>
            </a:r>
          </a:p>
          <a:p>
            <a:r>
              <a:rPr lang="en-US" dirty="0"/>
              <a:t> - Any one of the above assumption are violating in any situation this model will not good enough for the prediction. 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E4B83D-F35E-4AEB-94E2-599ED99B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38125"/>
            <a:ext cx="10058400" cy="1449388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MODEL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847867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95889-CF17-448D-96E1-E322E7135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2645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LOGISTIC REGRESSION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6339C-9EA0-4ABA-A8C9-8AEC704A3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033" y="2361702"/>
            <a:ext cx="10058400" cy="2134595"/>
          </a:xfrm>
        </p:spPr>
        <p:txBody>
          <a:bodyPr/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 When the response variable is binary in nature.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 Example : </a:t>
            </a:r>
          </a:p>
          <a:p>
            <a:pPr marL="0" indent="0">
              <a:buClrTx/>
              <a:buNone/>
            </a:pPr>
            <a:r>
              <a:rPr lang="en-US" dirty="0"/>
              <a:t>	-  predicting email is spam or not</a:t>
            </a:r>
          </a:p>
          <a:p>
            <a:pPr marL="0" indent="0">
              <a:buClrTx/>
              <a:buNone/>
            </a:pPr>
            <a:r>
              <a:rPr lang="en-US" dirty="0"/>
              <a:t>	-  predicting the likelihood that an individual experiences a heart attack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43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3653BC-C33C-499B-B618-EA770264CF60}"/>
              </a:ext>
            </a:extLst>
          </p:cNvPr>
          <p:cNvSpPr txBox="1"/>
          <p:nvPr/>
        </p:nvSpPr>
        <p:spPr>
          <a:xfrm>
            <a:off x="1252398" y="1084730"/>
            <a:ext cx="6710979" cy="6201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685800" indent="-685800" defTabSz="914400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 sz="3600" b="1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POLYNOMIAL REGRESSION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C9B35-D29E-4168-B217-8D473613117E}"/>
              </a:ext>
            </a:extLst>
          </p:cNvPr>
          <p:cNvSpPr txBox="1"/>
          <p:nvPr/>
        </p:nvSpPr>
        <p:spPr>
          <a:xfrm>
            <a:off x="1160033" y="1939022"/>
            <a:ext cx="94220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When relationship between predictor variable and the response variable is non-linear.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377C11-A33B-4C5E-B0E5-256278C1C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077" y="2915769"/>
            <a:ext cx="6306674" cy="315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03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FB84E2-A218-491F-BC91-69BE0B12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033" y="89379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RIDGE REGRESSION</a:t>
            </a:r>
            <a:endParaRPr lang="en-IN" sz="36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03D602-9C2D-41B6-8684-758E5F2F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134595"/>
          </a:xfrm>
        </p:spPr>
        <p:txBody>
          <a:bodyPr/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 When the predictor variables are highly correlated.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 Example :</a:t>
            </a:r>
          </a:p>
          <a:p>
            <a:pPr marL="0" indent="0">
              <a:buClrTx/>
              <a:buNone/>
            </a:pPr>
            <a:r>
              <a:rPr lang="en-US" dirty="0"/>
              <a:t>	-  To predict the salary of the basketball player from points and assists.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053EF5-3F65-42A2-8C34-117A8184BDCD}"/>
              </a:ext>
            </a:extLst>
          </p:cNvPr>
          <p:cNvSpPr txBox="1"/>
          <p:nvPr/>
        </p:nvSpPr>
        <p:spPr>
          <a:xfrm>
            <a:off x="1160033" y="3570465"/>
            <a:ext cx="6710979" cy="6201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685800" indent="-685800" defTabSz="914400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 sz="3600" b="1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POISSON REGRESSION</a:t>
            </a: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D03163-3086-46D5-9F48-97EBB29595CD}"/>
              </a:ext>
            </a:extLst>
          </p:cNvPr>
          <p:cNvSpPr txBox="1">
            <a:spLocks/>
          </p:cNvSpPr>
          <p:nvPr/>
        </p:nvSpPr>
        <p:spPr>
          <a:xfrm>
            <a:off x="1097280" y="4634026"/>
            <a:ext cx="10058400" cy="1479903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 When the response variable consists of count data.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  Example :</a:t>
            </a:r>
          </a:p>
          <a:p>
            <a:pPr marL="0" indent="0">
              <a:buClrTx/>
              <a:buFont typeface="Calibri" panose="020F0502020204030204" pitchFamily="34" charset="0"/>
              <a:buNone/>
            </a:pPr>
            <a:r>
              <a:rPr lang="en-US" dirty="0"/>
              <a:t>	-  To predict the number of awards earn by the student from the program in which 	  	    the student was enrolled and score on his\her final exam.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99724F-3031-402A-9171-EDC8E8825A91}"/>
              </a:ext>
            </a:extLst>
          </p:cNvPr>
          <p:cNvCxnSpPr>
            <a:cxnSpLocks/>
          </p:cNvCxnSpPr>
          <p:nvPr/>
        </p:nvCxnSpPr>
        <p:spPr>
          <a:xfrm flipH="1" flipV="1">
            <a:off x="1160025" y="4294096"/>
            <a:ext cx="10135504" cy="7171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03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342A0-EE6A-4B09-B4CC-029451BFD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92633"/>
            <a:ext cx="10058400" cy="4023360"/>
          </a:xfrm>
        </p:spPr>
        <p:txBody>
          <a:bodyPr>
            <a:normAutofit/>
          </a:bodyPr>
          <a:lstStyle/>
          <a:p>
            <a:pPr marL="201168" lvl="1" indent="0" algn="just">
              <a:lnSpc>
                <a:spcPct val="150000"/>
              </a:lnSpc>
              <a:buClrTx/>
              <a:buNone/>
            </a:pPr>
            <a:r>
              <a:rPr lang="en-US" sz="2400" dirty="0"/>
              <a:t>-  Why and What is SQL?</a:t>
            </a:r>
            <a:endParaRPr lang="en-IN" sz="2400" dirty="0"/>
          </a:p>
          <a:p>
            <a:pPr lvl="3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SQL stands for </a:t>
            </a:r>
            <a:r>
              <a:rPr lang="en-US" sz="1800" b="1" dirty="0"/>
              <a:t>Structured Query Language</a:t>
            </a:r>
            <a:endParaRPr lang="en-IN" sz="1800" b="1" dirty="0"/>
          </a:p>
          <a:p>
            <a:pPr lvl="3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Used for communicating with database with English-like statement queries.</a:t>
            </a:r>
            <a:endParaRPr lang="en-IN" sz="1800" dirty="0"/>
          </a:p>
          <a:p>
            <a:pPr lvl="3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Used to </a:t>
            </a:r>
            <a:r>
              <a:rPr lang="en-US" sz="1800" b="1" dirty="0"/>
              <a:t>query</a:t>
            </a:r>
            <a:r>
              <a:rPr lang="en-US" sz="1800" dirty="0"/>
              <a:t> database for </a:t>
            </a:r>
            <a:r>
              <a:rPr lang="en-US" sz="1800" b="1" dirty="0"/>
              <a:t>insights</a:t>
            </a:r>
            <a:r>
              <a:rPr lang="en-US" sz="1800" dirty="0"/>
              <a:t> and </a:t>
            </a:r>
            <a:r>
              <a:rPr lang="en-US" sz="1800" b="1" dirty="0"/>
              <a:t>modifications</a:t>
            </a:r>
            <a:r>
              <a:rPr lang="en-US" sz="1800" dirty="0"/>
              <a:t> when required</a:t>
            </a:r>
            <a:endParaRPr lang="en-IN" sz="1800" dirty="0"/>
          </a:p>
          <a:p>
            <a:pPr lvl="3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Uses mainly 4 types of SQL languages, </a:t>
            </a:r>
            <a:r>
              <a:rPr lang="en-US" sz="1800" b="1" dirty="0"/>
              <a:t>DDL, DML, DCL, TCL</a:t>
            </a:r>
            <a:endParaRPr lang="en-IN" sz="1800" b="1" dirty="0"/>
          </a:p>
          <a:p>
            <a:pPr lvl="3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The </a:t>
            </a:r>
            <a:r>
              <a:rPr lang="en-US" sz="1800" b="1" dirty="0"/>
              <a:t>application</a:t>
            </a:r>
            <a:r>
              <a:rPr lang="en-US" sz="1800" dirty="0"/>
              <a:t> used to perform such tasks is called </a:t>
            </a:r>
            <a:r>
              <a:rPr lang="en-US" sz="1800" b="1" dirty="0"/>
              <a:t>Database Management System</a:t>
            </a:r>
            <a:r>
              <a:rPr lang="en-US" sz="1800" dirty="0"/>
              <a:t> and few popular ones are </a:t>
            </a:r>
            <a:r>
              <a:rPr lang="en-US" sz="1800" b="1" dirty="0"/>
              <a:t>MySQL, PostgreSQL, Oracle, Microsoft Access, MongoDB.</a:t>
            </a:r>
            <a:endParaRPr lang="en-IN" sz="1800" b="1" dirty="0"/>
          </a:p>
          <a:p>
            <a:pPr algn="just"/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715D3-0C3C-4344-813C-C2961ECFF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264212"/>
            <a:ext cx="10058400" cy="144938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SQL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160577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24BD-8B44-4543-9B50-52F071C86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533" y="2074334"/>
            <a:ext cx="10058400" cy="4023360"/>
          </a:xfrm>
        </p:spPr>
        <p:txBody>
          <a:bodyPr>
            <a:normAutofit/>
          </a:bodyPr>
          <a:lstStyle/>
          <a:p>
            <a:pPr lvl="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Either working in the </a:t>
            </a:r>
            <a:r>
              <a:rPr lang="en-US" sz="1800" b="1" dirty="0"/>
              <a:t>terminal</a:t>
            </a:r>
            <a:r>
              <a:rPr lang="en-US" sz="1800" dirty="0"/>
              <a:t> or </a:t>
            </a:r>
            <a:r>
              <a:rPr lang="en-US" sz="1800" b="1" dirty="0"/>
              <a:t>query tool</a:t>
            </a:r>
            <a:r>
              <a:rPr lang="en-US" sz="1800" dirty="0"/>
              <a:t> of the application.</a:t>
            </a:r>
            <a:endParaRPr lang="en-IN" sz="1800" dirty="0"/>
          </a:p>
          <a:p>
            <a:pPr lvl="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Selection of correct </a:t>
            </a:r>
            <a:r>
              <a:rPr lang="en-US" sz="1800" b="1" dirty="0"/>
              <a:t>data model.</a:t>
            </a:r>
            <a:endParaRPr lang="en-IN" sz="1800" b="1" dirty="0"/>
          </a:p>
          <a:p>
            <a:pPr lvl="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Defining</a:t>
            </a:r>
            <a:r>
              <a:rPr lang="en-US" sz="1800" dirty="0"/>
              <a:t> proper relations/schemas of the entities and their </a:t>
            </a:r>
            <a:r>
              <a:rPr lang="en-US" sz="1800" b="1" dirty="0"/>
              <a:t>characteristics.</a:t>
            </a:r>
            <a:endParaRPr lang="en-IN" sz="1800" b="1" dirty="0"/>
          </a:p>
          <a:p>
            <a:pPr lvl="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Proper assignment of different keys.</a:t>
            </a:r>
            <a:endParaRPr lang="en-IN" sz="1800" dirty="0"/>
          </a:p>
          <a:p>
            <a:pPr lvl="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Clear </a:t>
            </a:r>
            <a:r>
              <a:rPr lang="en-US" sz="1800" b="1" dirty="0"/>
              <a:t>view of the objectives</a:t>
            </a:r>
            <a:r>
              <a:rPr lang="en-US" sz="1800" dirty="0"/>
              <a:t> to accomplish.</a:t>
            </a:r>
            <a:endParaRPr lang="en-IN" sz="1800" dirty="0"/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32F6B45-1C3C-456A-A185-0F0AE7D1B420}"/>
              </a:ext>
            </a:extLst>
          </p:cNvPr>
          <p:cNvSpPr txBox="1">
            <a:spLocks/>
          </p:cNvSpPr>
          <p:nvPr/>
        </p:nvSpPr>
        <p:spPr>
          <a:xfrm>
            <a:off x="428097" y="204945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How to work with SQL?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040063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25C81-C92B-4C3B-9605-FAE5B7662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33600"/>
            <a:ext cx="10058400" cy="4023360"/>
          </a:xfrm>
        </p:spPr>
        <p:txBody>
          <a:bodyPr>
            <a:normAutofit/>
          </a:bodyPr>
          <a:lstStyle/>
          <a:p>
            <a:pPr lvl="2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Most </a:t>
            </a:r>
            <a:r>
              <a:rPr lang="en-US" sz="1800" b="1" dirty="0"/>
              <a:t>basic query</a:t>
            </a:r>
            <a:r>
              <a:rPr lang="en-US" sz="1800" dirty="0"/>
              <a:t> statements.</a:t>
            </a:r>
            <a:endParaRPr lang="en-IN" sz="1800" dirty="0"/>
          </a:p>
          <a:p>
            <a:pPr lvl="2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b="1" dirty="0"/>
              <a:t>Managing different tables</a:t>
            </a:r>
            <a:r>
              <a:rPr lang="en-US" sz="1800" dirty="0"/>
              <a:t> within same or different databases</a:t>
            </a:r>
            <a:endParaRPr lang="en-IN" sz="1800" dirty="0"/>
          </a:p>
          <a:p>
            <a:pPr lvl="2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b="1" dirty="0"/>
              <a:t>Aggregate</a:t>
            </a:r>
            <a:r>
              <a:rPr lang="en-US" sz="1800" dirty="0"/>
              <a:t> functions</a:t>
            </a:r>
            <a:endParaRPr lang="en-IN" sz="1800" dirty="0"/>
          </a:p>
          <a:p>
            <a:pPr lvl="2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b="1" dirty="0"/>
              <a:t>Relational</a:t>
            </a:r>
            <a:r>
              <a:rPr lang="en-US" sz="1800" dirty="0"/>
              <a:t> algebra</a:t>
            </a:r>
            <a:endParaRPr lang="en-IN" sz="1800" dirty="0"/>
          </a:p>
          <a:p>
            <a:pPr lvl="2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b="1" dirty="0"/>
              <a:t>Join</a:t>
            </a:r>
            <a:r>
              <a:rPr lang="en-US" sz="1800" dirty="0"/>
              <a:t> functions</a:t>
            </a:r>
            <a:endParaRPr lang="en-IN" sz="1800" dirty="0"/>
          </a:p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2A0F85-75A1-4C28-B654-0C377F1402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096" y="168804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b="1" dirty="0"/>
              <a:t>Putting together everything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261508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C9D2583-B1DF-4BC1-8796-34BC11DB2540}"/>
              </a:ext>
            </a:extLst>
          </p:cNvPr>
          <p:cNvSpPr txBox="1"/>
          <p:nvPr/>
        </p:nvSpPr>
        <p:spPr>
          <a:xfrm>
            <a:off x="4420129" y="3013501"/>
            <a:ext cx="3351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336155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523</TotalTime>
  <Words>801</Words>
  <Application>Microsoft Office PowerPoint</Application>
  <PresentationFormat>Widescreen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Retrospect</vt:lpstr>
      <vt:lpstr>PowerPoint Presentation</vt:lpstr>
      <vt:lpstr>TOPICS </vt:lpstr>
      <vt:lpstr>MEASURE OF CENTRAL TENDENCY </vt:lpstr>
      <vt:lpstr>MEAN</vt:lpstr>
      <vt:lpstr>MEDIAN</vt:lpstr>
      <vt:lpstr>SAMPLING</vt:lpstr>
      <vt:lpstr>ALLOCATION METHODS </vt:lpstr>
      <vt:lpstr>CORRELATION</vt:lpstr>
      <vt:lpstr>REGRESSION </vt:lpstr>
      <vt:lpstr>SCATTER PLOT</vt:lpstr>
      <vt:lpstr>MODEL</vt:lpstr>
      <vt:lpstr>LOGISTIC REGRESSION</vt:lpstr>
      <vt:lpstr>PowerPoint Presentation</vt:lpstr>
      <vt:lpstr>RIDGE REGRESSION</vt:lpstr>
      <vt:lpstr>SQL</vt:lpstr>
      <vt:lpstr>PowerPoint Presentation</vt:lpstr>
      <vt:lpstr>Putting together everything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 .</dc:creator>
  <cp:lastModifiedBy>lab5 stat</cp:lastModifiedBy>
  <cp:revision>31</cp:revision>
  <dcterms:created xsi:type="dcterms:W3CDTF">2021-12-30T14:15:33Z</dcterms:created>
  <dcterms:modified xsi:type="dcterms:W3CDTF">2022-01-01T09:51:17Z</dcterms:modified>
</cp:coreProperties>
</file>