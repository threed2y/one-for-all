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73" r:id="rId1"/>
  </p:sldMasterIdLst>
  <p:sldIdLst>
    <p:sldId id="278" r:id="rId2"/>
    <p:sldId id="262" r:id="rId3"/>
    <p:sldId id="256" r:id="rId4"/>
    <p:sldId id="257" r:id="rId5"/>
    <p:sldId id="258" r:id="rId6"/>
    <p:sldId id="264" r:id="rId7"/>
    <p:sldId id="259" r:id="rId8"/>
    <p:sldId id="265" r:id="rId9"/>
    <p:sldId id="266" r:id="rId10"/>
    <p:sldId id="267" r:id="rId11"/>
    <p:sldId id="268" r:id="rId12"/>
    <p:sldId id="269" r:id="rId13"/>
    <p:sldId id="270" r:id="rId14"/>
    <p:sldId id="271" r:id="rId15"/>
    <p:sldId id="272" r:id="rId16"/>
    <p:sldId id="273" r:id="rId17"/>
    <p:sldId id="274" r:id="rId18"/>
    <p:sldId id="276" r:id="rId19"/>
    <p:sldId id="277"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AD026B81-5027-422F-AF61-ECA0FC226B24}">
          <p14:sldIdLst>
            <p14:sldId id="278"/>
            <p14:sldId id="262"/>
            <p14:sldId id="256"/>
            <p14:sldId id="257"/>
            <p14:sldId id="258"/>
            <p14:sldId id="264"/>
            <p14:sldId id="259"/>
            <p14:sldId id="265"/>
            <p14:sldId id="266"/>
            <p14:sldId id="267"/>
            <p14:sldId id="268"/>
            <p14:sldId id="269"/>
            <p14:sldId id="270"/>
            <p14:sldId id="271"/>
            <p14:sldId id="272"/>
            <p14:sldId id="273"/>
            <p14:sldId id="274"/>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8B902-6CBC-4B61-AEAC-37F54E4989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9194326-ED19-45E6-A09F-69CD99AC29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75EE89-0B95-4BF4-BCB5-F78763DDDBAC}"/>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E6942C3E-7609-4920-821F-D140DCF475B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376A228-EFDB-495A-ACE3-86E789297A10}"/>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15798359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6F794-6631-4805-ACE0-C42E6E6AD6A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80D87EA-E9DD-4214-B54B-C2CCAC3C408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765437-FCA6-4AF2-A816-C92ECFF72128}"/>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62B8FFDB-6521-48B5-8BCB-0623A7900A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54D262C-9679-4F80-9538-3458D332CCFF}"/>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26154571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6BA62-8674-4835-B0AF-34772872B7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4583EA6-F67D-4554-8E78-9708B0E1BD5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39B71F4C-1442-4DEA-A48D-834597CDD87B}"/>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1CD6D3A6-6627-49D9-95C6-5C5C99EB946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967BDFB-C615-45A9-B33E-13E6EE09A416}"/>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8655173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5435B6-6383-4749-918B-BCDD714D070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DE2E5CE-DAF0-4C20-ABFA-BE23E3CEE7ED}"/>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6ABE93E-0499-4101-9230-0F4F6DAF399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642AD52-0128-45C7-875F-35A5C606F21D}"/>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6" name="Footer Placeholder 5">
            <a:extLst>
              <a:ext uri="{FF2B5EF4-FFF2-40B4-BE49-F238E27FC236}">
                <a16:creationId xmlns:a16="http://schemas.microsoft.com/office/drawing/2014/main" id="{A0584E8B-04A8-4296-AA6B-24EDF21EFFE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EB011A-096D-4271-904A-EBFD774D6412}"/>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18559354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313E-642B-48E0-94B4-3150D468B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95ED3AB-485C-4DCF-A90D-EFEC9232CA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E556352A-A188-4DC8-8CAF-F466E009BC39}"/>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201C751-CEFC-4278-BBB7-1D5DD9F2C96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972C5038-04D2-4312-AE1A-FB4CACFEE93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B299B5-DE17-43F2-A59E-6068FF66D634}"/>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8" name="Footer Placeholder 7">
            <a:extLst>
              <a:ext uri="{FF2B5EF4-FFF2-40B4-BE49-F238E27FC236}">
                <a16:creationId xmlns:a16="http://schemas.microsoft.com/office/drawing/2014/main" id="{045D1FFA-283A-420E-8A0E-2CEB13BD500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DCD28A7-B6E7-42E8-A125-E089C3BED6FE}"/>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11452275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EE5E-D699-440F-A54F-D796AB03EB9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1B3138-94AE-48AF-98DA-180B70C3B428}"/>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4" name="Footer Placeholder 3">
            <a:extLst>
              <a:ext uri="{FF2B5EF4-FFF2-40B4-BE49-F238E27FC236}">
                <a16:creationId xmlns:a16="http://schemas.microsoft.com/office/drawing/2014/main" id="{F295FBAC-01C6-4DE7-AAC2-416897B20F5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CFEEE4-2446-4D75-8552-A7A0E78537BC}"/>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341238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7AF4A46-7F1D-47FE-B7FE-F1AEC1D514A2}"/>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3" name="Footer Placeholder 2">
            <a:extLst>
              <a:ext uri="{FF2B5EF4-FFF2-40B4-BE49-F238E27FC236}">
                <a16:creationId xmlns:a16="http://schemas.microsoft.com/office/drawing/2014/main" id="{55D8E597-1F0A-4FD0-BF9A-2BD554D930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0241532-DA83-4B64-8DE6-9F62B1CAF5D1}"/>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2924171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F5B9C-9427-495D-91C0-0C91FE748E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254AFEE-E70F-414E-8068-D70DA92184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70AE02-1BDF-4306-AD2F-6E480CFA6B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B924D41-2867-45F9-A10F-E9BEB583838A}"/>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6" name="Footer Placeholder 5">
            <a:extLst>
              <a:ext uri="{FF2B5EF4-FFF2-40B4-BE49-F238E27FC236}">
                <a16:creationId xmlns:a16="http://schemas.microsoft.com/office/drawing/2014/main" id="{721AD956-1DB9-47F2-BBDA-83802F1182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344D92-E259-451A-8C66-E9BEEB5EB135}"/>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849072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8575D-8A7A-4D65-A7C0-3307D15D32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F7657D-0421-4EFD-8795-1E004EB9C36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312F3C9-3F8C-4BAF-A0F3-1A5F5B7F7C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64DB8EB-B945-415C-9DE7-205B766B37DF}"/>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6" name="Footer Placeholder 5">
            <a:extLst>
              <a:ext uri="{FF2B5EF4-FFF2-40B4-BE49-F238E27FC236}">
                <a16:creationId xmlns:a16="http://schemas.microsoft.com/office/drawing/2014/main" id="{FBA3E667-0B7D-47E7-B43F-18D4DEBC97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90E0D4E-856A-4ACE-8077-E9BFD657A93F}"/>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28601171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F19D4-271A-4003-A51A-D63FF3F4F10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C2397F9-6094-428E-9F66-BC1D0990EA34}"/>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B21F56-32CA-4345-B608-C98D42C1F7EF}"/>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2830A0F3-6C45-41B1-9263-4ACD13A7636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EB66F16-4900-4494-BD27-163A74DB7E5D}"/>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2353154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8BED93B-865C-43BE-895A-8B631BD8247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F63E067-910F-44F6-9BDA-637AE9676B6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FB5AE62-47F0-481B-AC94-CA1BEF0BD837}"/>
              </a:ext>
            </a:extLst>
          </p:cNvPr>
          <p:cNvSpPr>
            <a:spLocks noGrp="1"/>
          </p:cNvSpPr>
          <p:nvPr>
            <p:ph type="dt" sz="half" idx="10"/>
          </p:nvPr>
        </p:nvSpPr>
        <p:spPr/>
        <p:txBody>
          <a:body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1EA7F9C3-BB35-42F0-9E4A-3D99B54C132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A52DAE-A121-48BA-A7AB-87D9DE4B22AD}"/>
              </a:ext>
            </a:extLst>
          </p:cNvPr>
          <p:cNvSpPr>
            <a:spLocks noGrp="1"/>
          </p:cNvSpPr>
          <p:nvPr>
            <p:ph type="sldNum" sz="quarter" idx="12"/>
          </p:nvPr>
        </p:nvSpPr>
        <p:spPr/>
        <p:txBody>
          <a:bodyPr/>
          <a:lstStyle/>
          <a:p>
            <a:fld id="{FFBE79BE-CB0D-411F-B858-A4AF61D97ED6}" type="slidenum">
              <a:rPr lang="en-IN" smtClean="0"/>
              <a:t>‹#›</a:t>
            </a:fld>
            <a:endParaRPr lang="en-IN"/>
          </a:p>
        </p:txBody>
      </p:sp>
    </p:spTree>
    <p:extLst>
      <p:ext uri="{BB962C8B-B14F-4D97-AF65-F5344CB8AC3E}">
        <p14:creationId xmlns:p14="http://schemas.microsoft.com/office/powerpoint/2010/main" val="367879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D19DE7E-DBF3-4A22-BAFE-0D97DD55EDF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BEAEE79-2ECC-4803-B3B1-F2C339C386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6C371E-387F-413B-9BE1-A0E9C8E7D2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1FCB0F-7C53-4C09-B2DE-38AE05F9437F}" type="datetimeFigureOut">
              <a:rPr lang="en-IN" smtClean="0"/>
              <a:t>27-09-2019</a:t>
            </a:fld>
            <a:endParaRPr lang="en-IN"/>
          </a:p>
        </p:txBody>
      </p:sp>
      <p:sp>
        <p:nvSpPr>
          <p:cNvPr id="5" name="Footer Placeholder 4">
            <a:extLst>
              <a:ext uri="{FF2B5EF4-FFF2-40B4-BE49-F238E27FC236}">
                <a16:creationId xmlns:a16="http://schemas.microsoft.com/office/drawing/2014/main" id="{F01C5FC8-FC51-4ECF-BAC6-4E3C8C4D6F8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BD012C5-7572-43E2-9378-F706E105B5C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BE79BE-CB0D-411F-B858-A4AF61D97ED6}" type="slidenum">
              <a:rPr lang="en-IN" smtClean="0"/>
              <a:t>‹#›</a:t>
            </a:fld>
            <a:endParaRPr lang="en-IN"/>
          </a:p>
        </p:txBody>
      </p:sp>
    </p:spTree>
    <p:extLst>
      <p:ext uri="{BB962C8B-B14F-4D97-AF65-F5344CB8AC3E}">
        <p14:creationId xmlns:p14="http://schemas.microsoft.com/office/powerpoint/2010/main" val="3895010152"/>
      </p:ext>
    </p:extLst>
  </p:cSld>
  <p:clrMap bg1="lt1" tx1="dk1" bg2="lt2" tx2="dk2" accent1="accent1" accent2="accent2" accent3="accent3" accent4="accent4" accent5="accent5" accent6="accent6" hlink="hlink" folHlink="folHlink"/>
  <p:sldLayoutIdLst>
    <p:sldLayoutId id="2147483874" r:id="rId1"/>
    <p:sldLayoutId id="2147483875" r:id="rId2"/>
    <p:sldLayoutId id="2147483876" r:id="rId3"/>
    <p:sldLayoutId id="2147483877" r:id="rId4"/>
    <p:sldLayoutId id="2147483878" r:id="rId5"/>
    <p:sldLayoutId id="2147483879" r:id="rId6"/>
    <p:sldLayoutId id="2147483880" r:id="rId7"/>
    <p:sldLayoutId id="2147483881" r:id="rId8"/>
    <p:sldLayoutId id="2147483882" r:id="rId9"/>
    <p:sldLayoutId id="2147483883" r:id="rId10"/>
    <p:sldLayoutId id="214748388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C3269-32DF-4BDC-823D-ADC08CE915D5}"/>
              </a:ext>
            </a:extLst>
          </p:cNvPr>
          <p:cNvSpPr>
            <a:spLocks noGrp="1"/>
          </p:cNvSpPr>
          <p:nvPr>
            <p:ph type="title"/>
          </p:nvPr>
        </p:nvSpPr>
        <p:spPr>
          <a:xfrm>
            <a:off x="-235527" y="0"/>
            <a:ext cx="11589327" cy="6636327"/>
          </a:xfrm>
        </p:spPr>
        <p:txBody>
          <a:bodyPr>
            <a:normAutofit fontScale="90000"/>
          </a:bodyPr>
          <a:lstStyle/>
          <a:p>
            <a:r>
              <a:rPr lang="en-IN" dirty="0">
                <a:effectLst>
                  <a:outerShdw blurRad="38100" dist="38100" dir="2700000" algn="tl">
                    <a:srgbClr val="000000">
                      <a:alpha val="43137"/>
                    </a:srgbClr>
                  </a:outerShdw>
                </a:effectLst>
              </a:rPr>
              <a:t>                                     </a:t>
            </a:r>
            <a:br>
              <a:rPr lang="en-IN" dirty="0">
                <a:effectLst>
                  <a:outerShdw blurRad="38100" dist="38100" dir="2700000" algn="tl">
                    <a:srgbClr val="000000">
                      <a:alpha val="43137"/>
                    </a:srgbClr>
                  </a:outerShdw>
                </a:effectLst>
              </a:rPr>
            </a:br>
            <a:r>
              <a:rPr lang="en-IN" dirty="0">
                <a:effectLst>
                  <a:outerShdw blurRad="38100" dist="38100" dir="2700000" algn="tl">
                    <a:srgbClr val="000000">
                      <a:alpha val="43137"/>
                    </a:srgbClr>
                  </a:outerShdw>
                </a:effectLst>
              </a:rPr>
              <a:t>                                        </a:t>
            </a:r>
            <a:br>
              <a:rPr lang="en-IN" dirty="0">
                <a:effectLst>
                  <a:outerShdw blurRad="38100" dist="38100" dir="2700000" algn="tl">
                    <a:srgbClr val="000000">
                      <a:alpha val="43137"/>
                    </a:srgbClr>
                  </a:outerShdw>
                </a:effectLst>
              </a:rPr>
            </a:br>
            <a:r>
              <a:rPr lang="en-IN" dirty="0">
                <a:effectLst>
                  <a:outerShdw blurRad="38100" dist="38100" dir="2700000" algn="tl">
                    <a:srgbClr val="000000">
                      <a:alpha val="43137"/>
                    </a:srgbClr>
                  </a:outerShdw>
                </a:effectLst>
              </a:rPr>
              <a:t>                                         </a:t>
            </a:r>
            <a:br>
              <a:rPr lang="en-IN" dirty="0">
                <a:effectLst>
                  <a:outerShdw blurRad="38100" dist="38100" dir="2700000" algn="tl">
                    <a:srgbClr val="000000">
                      <a:alpha val="43137"/>
                    </a:srgbClr>
                  </a:outerShdw>
                </a:effectLst>
              </a:rPr>
            </a:br>
            <a:r>
              <a:rPr lang="en-IN" dirty="0">
                <a:effectLst>
                  <a:outerShdw blurRad="38100" dist="38100" dir="2700000" algn="tl">
                    <a:srgbClr val="000000">
                      <a:alpha val="43137"/>
                    </a:srgbClr>
                  </a:outerShdw>
                </a:effectLst>
              </a:rPr>
              <a:t>                                            </a:t>
            </a:r>
            <a:br>
              <a:rPr lang="en-IN" dirty="0">
                <a:effectLst>
                  <a:outerShdw blurRad="38100" dist="38100" dir="2700000" algn="tl">
                    <a:srgbClr val="000000">
                      <a:alpha val="43137"/>
                    </a:srgbClr>
                  </a:outerShdw>
                </a:effectLst>
              </a:rPr>
            </a:br>
            <a:r>
              <a:rPr lang="en-IN" dirty="0">
                <a:effectLst>
                  <a:outerShdw blurRad="38100" dist="38100" dir="2700000" algn="tl">
                    <a:srgbClr val="000000">
                      <a:alpha val="43137"/>
                    </a:srgbClr>
                  </a:outerShdw>
                </a:effectLst>
              </a:rPr>
              <a:t>                                            </a:t>
            </a:r>
            <a:r>
              <a:rPr lang="en-IN" sz="6000" b="1" u="sng" dirty="0">
                <a:solidFill>
                  <a:srgbClr val="C00000"/>
                </a:solidFill>
                <a:effectLst>
                  <a:outerShdw blurRad="38100" dist="38100" dir="2700000" algn="tl">
                    <a:srgbClr val="000000">
                      <a:alpha val="43137"/>
                    </a:srgbClr>
                  </a:outerShdw>
                </a:effectLst>
              </a:rPr>
              <a:t>HETEROSCEDASTICITY</a:t>
            </a:r>
            <a:r>
              <a:rPr lang="en-IN" sz="4900" dirty="0">
                <a:solidFill>
                  <a:srgbClr val="C00000"/>
                </a:solidFill>
                <a:effectLst>
                  <a:outerShdw blurRad="38100" dist="38100" dir="2700000" algn="tl">
                    <a:srgbClr val="000000">
                      <a:alpha val="43137"/>
                    </a:srgbClr>
                  </a:outerShdw>
                </a:effectLst>
              </a:rPr>
              <a:t> </a:t>
            </a:r>
            <a:br>
              <a:rPr lang="en-IN" sz="4900" dirty="0">
                <a:solidFill>
                  <a:srgbClr val="C00000"/>
                </a:solidFill>
              </a:rPr>
            </a:br>
            <a:br>
              <a:rPr lang="en-IN" dirty="0"/>
            </a:br>
            <a:br>
              <a:rPr lang="en-IN" dirty="0"/>
            </a:br>
            <a:br>
              <a:rPr lang="en-IN" dirty="0"/>
            </a:br>
            <a:r>
              <a:rPr lang="en-IN" b="1" dirty="0"/>
              <a:t>                                                                           Presented by  </a:t>
            </a:r>
            <a:br>
              <a:rPr lang="en-IN" b="1" dirty="0"/>
            </a:br>
            <a:r>
              <a:rPr lang="en-IN" b="1" dirty="0"/>
              <a:t>                                                                         </a:t>
            </a:r>
            <a:r>
              <a:rPr lang="en-IN" dirty="0"/>
              <a:t>  </a:t>
            </a:r>
            <a:r>
              <a:rPr lang="en-IN" b="1" dirty="0"/>
              <a:t>Reshma shah </a:t>
            </a:r>
            <a:br>
              <a:rPr lang="en-IN" dirty="0"/>
            </a:br>
            <a:r>
              <a:rPr lang="en-IN" dirty="0"/>
              <a:t>                                                                          </a:t>
            </a:r>
            <a:r>
              <a:rPr lang="en-IN" b="1" dirty="0" err="1"/>
              <a:t>Msc</a:t>
            </a:r>
            <a:r>
              <a:rPr lang="en-IN" b="1" dirty="0"/>
              <a:t> previous </a:t>
            </a:r>
            <a:br>
              <a:rPr lang="en-IN" dirty="0"/>
            </a:br>
            <a:endParaRPr lang="en-IN" dirty="0"/>
          </a:p>
        </p:txBody>
      </p:sp>
      <p:pic>
        <p:nvPicPr>
          <p:cNvPr id="5" name="Content Placeholder 4">
            <a:extLst>
              <a:ext uri="{FF2B5EF4-FFF2-40B4-BE49-F238E27FC236}">
                <a16:creationId xmlns:a16="http://schemas.microsoft.com/office/drawing/2014/main" id="{5E886C31-F80C-4D51-88C9-05D88E5114F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4174" y="221673"/>
            <a:ext cx="4120325" cy="3879273"/>
          </a:xfrm>
        </p:spPr>
      </p:pic>
    </p:spTree>
    <p:extLst>
      <p:ext uri="{BB962C8B-B14F-4D97-AF65-F5344CB8AC3E}">
        <p14:creationId xmlns:p14="http://schemas.microsoft.com/office/powerpoint/2010/main" val="696378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7DCE2C-579B-43A4-931E-D6B48CA74B09}"/>
              </a:ext>
            </a:extLst>
          </p:cNvPr>
          <p:cNvSpPr>
            <a:spLocks noGrp="1"/>
          </p:cNvSpPr>
          <p:nvPr>
            <p:ph type="title"/>
          </p:nvPr>
        </p:nvSpPr>
        <p:spPr>
          <a:xfrm>
            <a:off x="1622044" y="272830"/>
            <a:ext cx="5249811" cy="705927"/>
          </a:xfrm>
        </p:spPr>
        <p:txBody>
          <a:bodyPr>
            <a:normAutofit/>
          </a:bodyPr>
          <a:lstStyle/>
          <a:p>
            <a:r>
              <a:rPr lang="en-IN" sz="4400" b="1" dirty="0">
                <a:latin typeface="+mn-lt"/>
              </a:rPr>
              <a:t>INTRODUCTION</a:t>
            </a:r>
          </a:p>
        </p:txBody>
      </p:sp>
      <p:sp>
        <p:nvSpPr>
          <p:cNvPr id="3" name="Content Placeholder 2">
            <a:extLst>
              <a:ext uri="{FF2B5EF4-FFF2-40B4-BE49-F238E27FC236}">
                <a16:creationId xmlns:a16="http://schemas.microsoft.com/office/drawing/2014/main" id="{AA5AF4C5-4FC9-4063-94B5-4C0CC0443B07}"/>
              </a:ext>
            </a:extLst>
          </p:cNvPr>
          <p:cNvSpPr>
            <a:spLocks noGrp="1"/>
          </p:cNvSpPr>
          <p:nvPr>
            <p:ph idx="1"/>
          </p:nvPr>
        </p:nvSpPr>
        <p:spPr>
          <a:xfrm>
            <a:off x="1276744" y="1401646"/>
            <a:ext cx="8915400" cy="3777623"/>
          </a:xfrm>
        </p:spPr>
        <p:txBody>
          <a:bodyPr/>
          <a:lstStyle/>
          <a:p>
            <a:pPr>
              <a:buFont typeface="Arial" panose="020B0604020202020204" pitchFamily="34" charset="0"/>
              <a:buChar char="•"/>
            </a:pPr>
            <a:r>
              <a:rPr lang="en-IN" b="1" dirty="0">
                <a:latin typeface="+mj-lt"/>
              </a:rPr>
              <a:t>NATURE OF  HETEROSCEDASTICITY </a:t>
            </a:r>
          </a:p>
          <a:p>
            <a:pPr>
              <a:buFont typeface="Arial" panose="020B0604020202020204" pitchFamily="34" charset="0"/>
              <a:buChar char="•"/>
            </a:pPr>
            <a:r>
              <a:rPr lang="en-IN" b="1" dirty="0">
                <a:latin typeface="+mj-lt"/>
              </a:rPr>
              <a:t>CONSEQUENCES</a:t>
            </a:r>
          </a:p>
          <a:p>
            <a:pPr>
              <a:buFont typeface="Arial" panose="020B0604020202020204" pitchFamily="34" charset="0"/>
              <a:buChar char="•"/>
            </a:pPr>
            <a:r>
              <a:rPr lang="en-IN" b="1" dirty="0">
                <a:latin typeface="+mj-lt"/>
              </a:rPr>
              <a:t>OLS ( Ordinary least square ) and GLS (Generalised least square)</a:t>
            </a:r>
          </a:p>
          <a:p>
            <a:pPr>
              <a:buFont typeface="Arial" panose="020B0604020202020204" pitchFamily="34" charset="0"/>
              <a:buChar char="•"/>
            </a:pPr>
            <a:r>
              <a:rPr lang="en-IN" b="1" dirty="0">
                <a:latin typeface="+mj-lt"/>
              </a:rPr>
              <a:t>DIFFERENCE BETWEEN OLS AND GLS </a:t>
            </a:r>
          </a:p>
          <a:p>
            <a:pPr>
              <a:buFont typeface="Arial" panose="020B0604020202020204" pitchFamily="34" charset="0"/>
              <a:buChar char="•"/>
            </a:pPr>
            <a:r>
              <a:rPr lang="en-IN" b="1" dirty="0">
                <a:latin typeface="+mj-lt"/>
              </a:rPr>
              <a:t>DETECTION OF HETEROSCEDASTICITY </a:t>
            </a:r>
          </a:p>
          <a:p>
            <a:pPr>
              <a:buFont typeface="Arial" panose="020B0604020202020204" pitchFamily="34" charset="0"/>
              <a:buChar char="•"/>
            </a:pPr>
            <a:r>
              <a:rPr lang="en-IN" b="1" dirty="0">
                <a:latin typeface="+mj-lt"/>
              </a:rPr>
              <a:t>REFERENCE </a:t>
            </a:r>
          </a:p>
          <a:p>
            <a:pPr marL="0" indent="0">
              <a:buNone/>
            </a:pPr>
            <a:endParaRPr lang="en-IN" b="1" dirty="0">
              <a:latin typeface="+mj-lt"/>
            </a:endParaRPr>
          </a:p>
          <a:p>
            <a:pPr>
              <a:buFont typeface="Arial" panose="020B0604020202020204" pitchFamily="34" charset="0"/>
              <a:buChar char="•"/>
            </a:pPr>
            <a:endParaRPr lang="en-IN" dirty="0"/>
          </a:p>
        </p:txBody>
      </p:sp>
    </p:spTree>
    <p:extLst>
      <p:ext uri="{BB962C8B-B14F-4D97-AF65-F5344CB8AC3E}">
        <p14:creationId xmlns:p14="http://schemas.microsoft.com/office/powerpoint/2010/main" val="34265001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839FA-E7FB-4EA2-BB1E-DCE9B4A88F45}"/>
              </a:ext>
            </a:extLst>
          </p:cNvPr>
          <p:cNvSpPr>
            <a:spLocks noGrp="1"/>
          </p:cNvSpPr>
          <p:nvPr>
            <p:ph type="ctrTitle"/>
          </p:nvPr>
        </p:nvSpPr>
        <p:spPr>
          <a:xfrm>
            <a:off x="180109" y="166255"/>
            <a:ext cx="12011891" cy="6525491"/>
          </a:xfrm>
        </p:spPr>
        <p:txBody>
          <a:bodyPr>
            <a:noAutofit/>
          </a:bodyPr>
          <a:lstStyle/>
          <a:p>
            <a:r>
              <a:rPr lang="en-IN" b="1" dirty="0"/>
              <a:t>               </a:t>
            </a:r>
            <a:br>
              <a:rPr lang="en-IN" dirty="0"/>
            </a:br>
            <a:r>
              <a:rPr lang="en-IN" b="1" dirty="0"/>
              <a:t> </a:t>
            </a:r>
            <a:br>
              <a:rPr lang="en-IN" dirty="0"/>
            </a:br>
            <a:endParaRPr lang="en-IN" sz="1000" dirty="0"/>
          </a:p>
        </p:txBody>
      </p:sp>
      <mc:AlternateContent xmlns:mc="http://schemas.openxmlformats.org/markup-compatibility/2006">
        <mc:Choice xmlns:a14="http://schemas.microsoft.com/office/drawing/2010/main" Requires="a14">
          <p:sp>
            <p:nvSpPr>
              <p:cNvPr id="3" name="Rectangle 2">
                <a:extLst>
                  <a:ext uri="{FF2B5EF4-FFF2-40B4-BE49-F238E27FC236}">
                    <a16:creationId xmlns:a16="http://schemas.microsoft.com/office/drawing/2014/main" id="{294FE467-0196-47C2-B6C6-F59FB6E3D082}"/>
                  </a:ext>
                </a:extLst>
              </p:cNvPr>
              <p:cNvSpPr/>
              <p:nvPr/>
            </p:nvSpPr>
            <p:spPr>
              <a:xfrm>
                <a:off x="1842658" y="1050288"/>
                <a:ext cx="9331036" cy="4071949"/>
              </a:xfrm>
              <a:prstGeom prst="rect">
                <a:avLst/>
              </a:prstGeom>
            </p:spPr>
            <p:txBody>
              <a:bodyPr wrap="square">
                <a:spAutoFit/>
              </a:bodyPr>
              <a:lstStyle/>
              <a:p>
                <a:pPr>
                  <a:lnSpc>
                    <a:spcPct val="107000"/>
                  </a:lnSpc>
                  <a:spcAft>
                    <a:spcPts val="800"/>
                  </a:spcAft>
                </a:pPr>
                <a:r>
                  <a:rPr lang="en-IN" b="1" dirty="0">
                    <a:latin typeface="Calibri" panose="020F0502020204030204" pitchFamily="34" charset="0"/>
                    <a:ea typeface="Calibri" panose="020F0502020204030204" pitchFamily="34" charset="0"/>
                    <a:cs typeface="Times New Roman" panose="02020603050405020304" pitchFamily="18" charset="0"/>
                  </a:rPr>
                  <a:t>                                              </a:t>
                </a:r>
                <a:r>
                  <a:rPr lang="en-IN" sz="3200" b="1" dirty="0">
                    <a:solidFill>
                      <a:srgbClr val="002060"/>
                    </a:solidFill>
                    <a:latin typeface="Calibri" panose="020F0502020204030204" pitchFamily="34" charset="0"/>
                    <a:ea typeface="Calibri" panose="020F0502020204030204" pitchFamily="34" charset="0"/>
                    <a:cs typeface="Times New Roman" panose="02020603050405020304" pitchFamily="18" charset="0"/>
                  </a:rPr>
                  <a:t>HETEROSCEDASTICITY</a:t>
                </a:r>
                <a:endParaRPr lang="en-IN" b="1" dirty="0">
                  <a:solidFill>
                    <a:srgbClr val="002060"/>
                  </a:solidFill>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b="1" dirty="0">
                    <a:latin typeface="Calibri" panose="020F0502020204030204" pitchFamily="34" charset="0"/>
                    <a:ea typeface="Calibri" panose="020F0502020204030204" pitchFamily="34" charset="0"/>
                    <a:cs typeface="Times New Roman" panose="02020603050405020304" pitchFamily="18" charset="0"/>
                  </a:rPr>
                  <a:t> </a:t>
                </a:r>
                <a:endParaRPr lang="en-IN"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            The word “Heteroscedasticity” comes from Greek , quite literally mean data different (Hetero) dispersion ( </a:t>
                </a:r>
                <a:r>
                  <a:rPr lang="en-IN" sz="2400" dirty="0" err="1">
                    <a:latin typeface="Calibri" panose="020F0502020204030204" pitchFamily="34" charset="0"/>
                    <a:ea typeface="Calibri" panose="020F0502020204030204" pitchFamily="34" charset="0"/>
                    <a:cs typeface="Times New Roman" panose="02020603050405020304" pitchFamily="18" charset="0"/>
                  </a:rPr>
                  <a:t>skedasis</a:t>
                </a:r>
                <a:r>
                  <a:rPr lang="en-IN" sz="2400" dirty="0">
                    <a:latin typeface="Calibri" panose="020F0502020204030204" pitchFamily="34" charset="0"/>
                    <a:ea typeface="Calibri" panose="020F0502020204030204" pitchFamily="34" charset="0"/>
                    <a:cs typeface="Times New Roman" panose="02020603050405020304" pitchFamily="18" charset="0"/>
                  </a:rPr>
                  <a:t> ) .</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             More technically , it refers to data with unequal variability.</a:t>
                </a:r>
              </a:p>
              <a:p>
                <a:pPr>
                  <a:lnSpc>
                    <a:spcPct val="107000"/>
                  </a:lnSpc>
                  <a:spcAft>
                    <a:spcPts val="800"/>
                  </a:spcAft>
                </a:pPr>
                <a:r>
                  <a:rPr lang="en-IN" sz="2400" dirty="0">
                    <a:latin typeface="Calibri" panose="020F0502020204030204" pitchFamily="34" charset="0"/>
                    <a:ea typeface="Calibri" panose="020F0502020204030204" pitchFamily="34" charset="0"/>
                    <a:cs typeface="Times New Roman" panose="02020603050405020304" pitchFamily="18" charset="0"/>
                  </a:rPr>
                  <a:t>              An important assumption of CLRM( classical linear regression model ) that the disturbance  </a:t>
                </a:r>
                <a14:m>
                  <m:oMath xmlns:m="http://schemas.openxmlformats.org/officeDocument/2006/math">
                    <m:sSub>
                      <m:sSubPr>
                        <m:ctrlPr>
                          <a:rPr lang="en-IN" sz="2400" i="1" smtClean="0">
                            <a:latin typeface="Cambria Math" panose="02040503050406030204" pitchFamily="18" charset="0"/>
                            <a:cs typeface="Times New Roman" panose="02020603050405020304" pitchFamily="18" charset="0"/>
                          </a:rPr>
                        </m:ctrlPr>
                      </m:sSubPr>
                      <m:e>
                        <m:r>
                          <a:rPr lang="en-IN" sz="2400" b="0" i="1" smtClean="0">
                            <a:latin typeface="Cambria Math" panose="02040503050406030204" pitchFamily="18" charset="0"/>
                            <a:cs typeface="Times New Roman" panose="02020603050405020304" pitchFamily="18" charset="0"/>
                          </a:rPr>
                          <m:t>𝑢</m:t>
                        </m:r>
                      </m:e>
                      <m:sub>
                        <m:r>
                          <a:rPr lang="en-IN" sz="2400" b="0" i="1" smtClean="0">
                            <a:latin typeface="Cambria Math" panose="02040503050406030204" pitchFamily="18" charset="0"/>
                            <a:cs typeface="Times New Roman" panose="02020603050405020304" pitchFamily="18" charset="0"/>
                          </a:rPr>
                          <m:t>𝑖</m:t>
                        </m:r>
                      </m:sub>
                    </m:sSub>
                  </m:oMath>
                </a14:m>
                <a:r>
                  <a:rPr lang="en-IN" sz="2400" dirty="0">
                    <a:latin typeface="Calibri" panose="020F0502020204030204" pitchFamily="34" charset="0"/>
                    <a:ea typeface="Calibri" panose="020F0502020204030204" pitchFamily="34" charset="0"/>
                    <a:cs typeface="Times New Roman" panose="02020603050405020304" pitchFamily="18" charset="0"/>
                  </a:rPr>
                  <a:t>’s   are homoscedastic means they all have same variance. And if this assumption is not </a:t>
                </a:r>
                <a:r>
                  <a:rPr lang="en-IN" sz="2400" dirty="0" err="1">
                    <a:latin typeface="Calibri" panose="020F0502020204030204" pitchFamily="34" charset="0"/>
                    <a:ea typeface="Calibri" panose="020F0502020204030204" pitchFamily="34" charset="0"/>
                    <a:cs typeface="Times New Roman" panose="02020603050405020304" pitchFamily="18" charset="0"/>
                  </a:rPr>
                  <a:t>fulfill</a:t>
                </a:r>
                <a:r>
                  <a:rPr lang="en-IN" sz="2400" dirty="0">
                    <a:latin typeface="Calibri" panose="020F0502020204030204" pitchFamily="34" charset="0"/>
                    <a:ea typeface="Calibri" panose="020F0502020204030204" pitchFamily="34" charset="0"/>
                    <a:cs typeface="Times New Roman" panose="02020603050405020304" pitchFamily="18" charset="0"/>
                  </a:rPr>
                  <a:t> then there is  Heteroscedasticity present in data. </a:t>
                </a:r>
                <a:endParaRPr lang="en-IN" sz="2400" dirty="0"/>
              </a:p>
            </p:txBody>
          </p:sp>
        </mc:Choice>
        <mc:Fallback>
          <p:sp>
            <p:nvSpPr>
              <p:cNvPr id="3" name="Rectangle 2">
                <a:extLst>
                  <a:ext uri="{FF2B5EF4-FFF2-40B4-BE49-F238E27FC236}">
                    <a16:creationId xmlns:a16="http://schemas.microsoft.com/office/drawing/2014/main" id="{294FE467-0196-47C2-B6C6-F59FB6E3D082}"/>
                  </a:ext>
                </a:extLst>
              </p:cNvPr>
              <p:cNvSpPr>
                <a:spLocks noRot="1" noChangeAspect="1" noMove="1" noResize="1" noEditPoints="1" noAdjustHandles="1" noChangeArrowheads="1" noChangeShapeType="1" noTextEdit="1"/>
              </p:cNvSpPr>
              <p:nvPr/>
            </p:nvSpPr>
            <p:spPr>
              <a:xfrm>
                <a:off x="1842658" y="1050288"/>
                <a:ext cx="9331036" cy="4071949"/>
              </a:xfrm>
              <a:prstGeom prst="rect">
                <a:avLst/>
              </a:prstGeom>
              <a:blipFill>
                <a:blip r:embed="rId2"/>
                <a:stretch>
                  <a:fillRect l="-980" t="-1647" b="-2545"/>
                </a:stretch>
              </a:blipFill>
            </p:spPr>
            <p:txBody>
              <a:bodyPr/>
              <a:lstStyle/>
              <a:p>
                <a:r>
                  <a:rPr lang="en-IN">
                    <a:noFill/>
                  </a:rPr>
                  <a:t> </a:t>
                </a:r>
              </a:p>
            </p:txBody>
          </p:sp>
        </mc:Fallback>
      </mc:AlternateContent>
    </p:spTree>
    <p:extLst>
      <p:ext uri="{BB962C8B-B14F-4D97-AF65-F5344CB8AC3E}">
        <p14:creationId xmlns:p14="http://schemas.microsoft.com/office/powerpoint/2010/main" val="3996664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E8DDABB-05C3-445F-BD75-6CC156D5DBE0}"/>
                  </a:ext>
                </a:extLst>
              </p:cNvPr>
              <p:cNvSpPr>
                <a:spLocks noGrp="1"/>
              </p:cNvSpPr>
              <p:nvPr>
                <p:ph idx="1"/>
              </p:nvPr>
            </p:nvSpPr>
            <p:spPr>
              <a:xfrm>
                <a:off x="1550507" y="172279"/>
                <a:ext cx="9954108" cy="6347792"/>
              </a:xfrm>
            </p:spPr>
            <p:txBody>
              <a:bodyPr>
                <a:normAutofit/>
              </a:bodyPr>
              <a:lstStyle/>
              <a:p>
                <a:pPr marL="0" indent="0">
                  <a:buNone/>
                </a:pPr>
                <a:r>
                  <a:rPr lang="en-IN" b="1" dirty="0"/>
                  <a:t> </a:t>
                </a:r>
                <a:r>
                  <a:rPr lang="en-IN" sz="2800" b="1" dirty="0">
                    <a:solidFill>
                      <a:srgbClr val="002060"/>
                    </a:solidFill>
                  </a:rPr>
                  <a:t>NATURE OF HETEROSCEDASTICITY   </a:t>
                </a:r>
              </a:p>
              <a:p>
                <a:pPr marL="0" indent="0">
                  <a:buNone/>
                </a:pPr>
                <a:r>
                  <a:rPr lang="en-IN" dirty="0"/>
                  <a:t> </a:t>
                </a:r>
              </a:p>
              <a:p>
                <a:pPr marL="0" indent="0">
                  <a:buNone/>
                </a:pPr>
                <a:r>
                  <a:rPr lang="en-IN" sz="2000" b="1" dirty="0"/>
                  <a:t>           </a:t>
                </a:r>
                <a:r>
                  <a:rPr lang="en-IN" sz="2000" b="1" dirty="0" err="1"/>
                  <a:t>Symbollically</a:t>
                </a:r>
                <a:r>
                  <a:rPr lang="en-IN" sz="2000" b="1" dirty="0"/>
                  <a:t> E(</a:t>
                </a:r>
                <a14:m>
                  <m:oMath xmlns:m="http://schemas.openxmlformats.org/officeDocument/2006/math">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oMath>
                </a14:m>
                <a:r>
                  <a:rPr lang="en-IN" sz="2000" b="1" dirty="0"/>
                  <a:t> ) = </a:t>
                </a:r>
                <a14:m>
                  <m:oMath xmlns:m="http://schemas.openxmlformats.org/officeDocument/2006/math">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oMath>
                </a14:m>
                <a:r>
                  <a:rPr lang="en-IN" sz="2000" b="1" dirty="0"/>
                  <a:t> for all </a:t>
                </a:r>
                <a:r>
                  <a:rPr lang="en-IN" sz="2000" b="1" dirty="0" err="1"/>
                  <a:t>i</a:t>
                </a:r>
                <a:r>
                  <a:rPr lang="en-IN" sz="2000" b="1" dirty="0"/>
                  <a:t>=1,2,…n represent the Heteroscedasticity. </a:t>
                </a:r>
              </a:p>
              <a:p>
                <a:pPr marL="0" indent="0">
                  <a:buNone/>
                </a:pPr>
                <a:r>
                  <a:rPr lang="en-IN" sz="2000" b="1" dirty="0"/>
                  <a:t>           To make the difference between Homoscedasticity and Heteroscedasticity more clear that .</a:t>
                </a:r>
              </a:p>
              <a:p>
                <a:pPr marL="0" indent="0">
                  <a:buNone/>
                </a:pPr>
                <a:r>
                  <a:rPr lang="en-IN" sz="2000" b="1" dirty="0"/>
                  <a:t>                           Let , us consider a two variable model </a:t>
                </a:r>
              </a:p>
              <a:p>
                <a:pPr marL="0" indent="0">
                  <a:buNone/>
                </a:pPr>
                <a:r>
                  <a:rPr lang="en-IN" sz="2000" b="1" dirty="0"/>
                  <a:t>                                           </a:t>
                </a:r>
                <a14:m>
                  <m:oMath xmlns:m="http://schemas.openxmlformats.org/officeDocument/2006/math">
                    <m:sSub>
                      <m:sSubPr>
                        <m:ctrlPr>
                          <a:rPr lang="en-IN" sz="2000" b="1" i="1">
                            <a:latin typeface="Cambria Math" panose="02040503050406030204" pitchFamily="18" charset="0"/>
                          </a:rPr>
                        </m:ctrlPr>
                      </m:sSubPr>
                      <m:e>
                        <m:r>
                          <a:rPr lang="en-IN" sz="2000" b="1" i="1">
                            <a:latin typeface="Cambria Math" panose="02040503050406030204" pitchFamily="18" charset="0"/>
                          </a:rPr>
                          <m:t>𝒀</m:t>
                        </m:r>
                      </m:e>
                      <m:sub>
                        <m:r>
                          <a:rPr lang="en-IN" sz="2000" b="1" i="1">
                            <a:latin typeface="Cambria Math" panose="02040503050406030204" pitchFamily="18" charset="0"/>
                          </a:rPr>
                          <m:t>𝒊</m:t>
                        </m:r>
                      </m:sub>
                    </m:sSub>
                    <m:r>
                      <a:rPr lang="en-IN" sz="2000" b="1" i="1">
                        <a:latin typeface="Cambria Math" panose="02040503050406030204" pitchFamily="18" charset="0"/>
                      </a:rPr>
                      <m:t>= </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𝟏</m:t>
                        </m:r>
                        <m:r>
                          <a:rPr lang="en-IN" sz="2000" b="1" i="1">
                            <a:latin typeface="Cambria Math" panose="02040503050406030204" pitchFamily="18" charset="0"/>
                          </a:rPr>
                          <m:t>  </m:t>
                        </m:r>
                      </m:sub>
                    </m:sSub>
                    <m:r>
                      <a:rPr lang="en-IN" sz="2000" b="1" i="1">
                        <a:latin typeface="Cambria Math" panose="02040503050406030204" pitchFamily="18" charset="0"/>
                      </a:rPr>
                      <m:t>+</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𝟐</m:t>
                        </m:r>
                      </m:sub>
                    </m:sSub>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m:t>
                        </m:r>
                      </m:sub>
                    </m:sSub>
                    <m:r>
                      <a:rPr lang="en-IN" sz="2000" b="1" i="1">
                        <a:latin typeface="Cambria Math" panose="02040503050406030204" pitchFamily="18" charset="0"/>
                      </a:rPr>
                      <m:t>+</m:t>
                    </m:r>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oMath>
                </a14:m>
                <a:endParaRPr lang="en-IN" sz="2000" b="1" dirty="0"/>
              </a:p>
              <a:p>
                <a:pPr marL="0" indent="0">
                  <a:buNone/>
                </a:pPr>
                <a:r>
                  <a:rPr lang="en-IN" sz="2000" b="1" dirty="0"/>
                  <a:t> </a:t>
                </a:r>
              </a:p>
              <a:p>
                <a:pPr marL="0" indent="0">
                  <a:buNone/>
                </a:pPr>
                <a:r>
                  <a:rPr lang="en-IN" sz="2000" b="1" dirty="0"/>
                  <a:t>                                   Where , </a:t>
                </a:r>
                <a:r>
                  <a:rPr lang="en-IN" sz="2000" b="1" dirty="0" err="1"/>
                  <a:t>yi</a:t>
                </a:r>
                <a:r>
                  <a:rPr lang="en-IN" sz="2000" b="1" dirty="0"/>
                  <a:t> represent the  saving . </a:t>
                </a:r>
              </a:p>
              <a:p>
                <a:pPr marL="0" indent="0">
                  <a:buNone/>
                </a:pPr>
                <a:r>
                  <a:rPr lang="en-IN" sz="2000" b="1" dirty="0"/>
                  <a:t>                                                       Xi represent the  income. </a:t>
                </a:r>
              </a:p>
              <a:p>
                <a:pPr marL="0" indent="0">
                  <a:buNone/>
                </a:pPr>
                <a:r>
                  <a:rPr lang="en-IN" sz="2000" b="1" dirty="0"/>
                  <a:t>                      As the income increase the saving will also increase but in Homoscedastic case the variance of the saving remain same at all the </a:t>
                </a:r>
                <a:r>
                  <a:rPr lang="en-IN" sz="2000" b="1" dirty="0" err="1"/>
                  <a:t>levals</a:t>
                </a:r>
                <a:r>
                  <a:rPr lang="en-IN" sz="2000" b="1" dirty="0"/>
                  <a:t> of income. </a:t>
                </a:r>
              </a:p>
              <a:p>
                <a:pPr marL="0" indent="0">
                  <a:buNone/>
                </a:pPr>
                <a:r>
                  <a:rPr lang="en-IN" sz="2000" b="1" dirty="0"/>
                  <a:t>   Where as in the Heteroscedasticity case it increase with the income . </a:t>
                </a:r>
              </a:p>
              <a:p>
                <a:pPr marL="0" indent="0">
                  <a:buNone/>
                </a:pPr>
                <a:r>
                  <a:rPr lang="en-IN" sz="2000" b="1" dirty="0"/>
                  <a:t>     It is observed that higher families save more on an average compared to the lower income families and there is more variability in the saving of higher income families .</a:t>
                </a:r>
              </a:p>
              <a:p>
                <a:pPr marL="0" indent="0">
                  <a:buNone/>
                </a:pPr>
                <a:endParaRPr lang="en-IN" dirty="0"/>
              </a:p>
            </p:txBody>
          </p:sp>
        </mc:Choice>
        <mc:Fallback xmlns="">
          <p:sp>
            <p:nvSpPr>
              <p:cNvPr id="3" name="Content Placeholder 2">
                <a:extLst>
                  <a:ext uri="{FF2B5EF4-FFF2-40B4-BE49-F238E27FC236}">
                    <a16:creationId xmlns:a16="http://schemas.microsoft.com/office/drawing/2014/main" id="{DE8DDABB-05C3-445F-BD75-6CC156D5DBE0}"/>
                  </a:ext>
                </a:extLst>
              </p:cNvPr>
              <p:cNvSpPr>
                <a:spLocks noGrp="1" noRot="1" noChangeAspect="1" noMove="1" noResize="1" noEditPoints="1" noAdjustHandles="1" noChangeArrowheads="1" noChangeShapeType="1" noTextEdit="1"/>
              </p:cNvSpPr>
              <p:nvPr>
                <p:ph idx="1"/>
              </p:nvPr>
            </p:nvSpPr>
            <p:spPr>
              <a:xfrm>
                <a:off x="1550507" y="172279"/>
                <a:ext cx="9954108" cy="6347792"/>
              </a:xfrm>
              <a:blipFill>
                <a:blip r:embed="rId2"/>
                <a:stretch>
                  <a:fillRect l="-612" t="-1536"/>
                </a:stretch>
              </a:blipFill>
            </p:spPr>
            <p:txBody>
              <a:bodyPr/>
              <a:lstStyle/>
              <a:p>
                <a:r>
                  <a:rPr lang="en-IN">
                    <a:noFill/>
                  </a:rPr>
                  <a:t> </a:t>
                </a:r>
              </a:p>
            </p:txBody>
          </p:sp>
        </mc:Fallback>
      </mc:AlternateContent>
    </p:spTree>
    <p:extLst>
      <p:ext uri="{BB962C8B-B14F-4D97-AF65-F5344CB8AC3E}">
        <p14:creationId xmlns:p14="http://schemas.microsoft.com/office/powerpoint/2010/main" val="31529303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18E598-3240-4473-B35C-CB74FACCE7DB}"/>
              </a:ext>
            </a:extLst>
          </p:cNvPr>
          <p:cNvSpPr>
            <a:spLocks noGrp="1"/>
          </p:cNvSpPr>
          <p:nvPr>
            <p:ph idx="1"/>
          </p:nvPr>
        </p:nvSpPr>
        <p:spPr>
          <a:xfrm>
            <a:off x="692727" y="611932"/>
            <a:ext cx="10837527" cy="5329335"/>
          </a:xfrm>
        </p:spPr>
        <p:txBody>
          <a:bodyPr>
            <a:normAutofit fontScale="77500" lnSpcReduction="20000"/>
          </a:bodyPr>
          <a:lstStyle/>
          <a:p>
            <a:pPr marL="0" indent="0">
              <a:buNone/>
            </a:pPr>
            <a:r>
              <a:rPr lang="en-IN" sz="3100" b="1" dirty="0">
                <a:solidFill>
                  <a:srgbClr val="002060"/>
                </a:solidFill>
              </a:rPr>
              <a:t>Why the variance is not constant there are several reason listed below</a:t>
            </a:r>
            <a:r>
              <a:rPr lang="en-IN" sz="2000" b="1" dirty="0">
                <a:solidFill>
                  <a:srgbClr val="002060"/>
                </a:solidFill>
              </a:rPr>
              <a:t>. </a:t>
            </a:r>
          </a:p>
          <a:p>
            <a:pPr marL="0" indent="0">
              <a:buNone/>
            </a:pPr>
            <a:endParaRPr lang="en-IN" sz="2000" b="1" dirty="0">
              <a:solidFill>
                <a:srgbClr val="002060"/>
              </a:solidFill>
            </a:endParaRPr>
          </a:p>
          <a:p>
            <a:pPr marL="0" indent="0">
              <a:buNone/>
            </a:pPr>
            <a:r>
              <a:rPr lang="en-IN" b="1" dirty="0"/>
              <a:t>1]  following the error learning models , as people learn from there errors of performance , it is  expected that these errors will become small over a period of time  and this case        </a:t>
            </a:r>
          </a:p>
          <a:p>
            <a:pPr marL="0" indent="0">
              <a:buNone/>
            </a:pPr>
            <a:r>
              <a:rPr lang="en-IN" b="1" dirty="0"/>
              <a:t>variance expected to decrease. </a:t>
            </a:r>
          </a:p>
          <a:p>
            <a:pPr marL="0" indent="0">
              <a:buNone/>
            </a:pPr>
            <a:r>
              <a:rPr lang="en-IN" b="1" dirty="0"/>
              <a:t> </a:t>
            </a:r>
          </a:p>
          <a:p>
            <a:pPr marL="0" indent="0">
              <a:buNone/>
            </a:pPr>
            <a:r>
              <a:rPr lang="en-IN" b="1" dirty="0"/>
              <a:t>2]  As the income grows people have more discretionary income and hence , more scope for </a:t>
            </a:r>
          </a:p>
          <a:p>
            <a:pPr marL="0" indent="0">
              <a:buNone/>
            </a:pPr>
            <a:r>
              <a:rPr lang="en-IN" b="1" dirty="0"/>
              <a:t>     choice about the disposition of income . hence , variance is likely to increase with income </a:t>
            </a:r>
          </a:p>
          <a:p>
            <a:pPr marL="0" indent="0">
              <a:buNone/>
            </a:pPr>
            <a:r>
              <a:rPr lang="en-IN" b="1" dirty="0"/>
              <a:t>     because  people have more choices about their saving behaviour . </a:t>
            </a:r>
          </a:p>
          <a:p>
            <a:pPr marL="0" indent="0">
              <a:buNone/>
            </a:pPr>
            <a:r>
              <a:rPr lang="en-IN" b="1" dirty="0"/>
              <a:t> </a:t>
            </a:r>
          </a:p>
          <a:p>
            <a:pPr marL="0" indent="0">
              <a:buNone/>
            </a:pPr>
            <a:r>
              <a:rPr lang="en-IN" b="1" dirty="0"/>
              <a:t>3]  As the data collecting techniques improves , variance  is likely to decrease. </a:t>
            </a:r>
            <a:r>
              <a:rPr lang="en-IN" b="1" dirty="0" err="1"/>
              <a:t>i.e</a:t>
            </a:r>
            <a:r>
              <a:rPr lang="en-IN" b="1" dirty="0"/>
              <a:t>, saving is </a:t>
            </a:r>
          </a:p>
          <a:p>
            <a:pPr marL="0" indent="0">
              <a:buNone/>
            </a:pPr>
            <a:r>
              <a:rPr lang="en-IN" b="1" dirty="0"/>
              <a:t>      Decrease</a:t>
            </a:r>
            <a:r>
              <a:rPr lang="en-IN" dirty="0"/>
              <a:t>. </a:t>
            </a:r>
          </a:p>
          <a:p>
            <a:pPr marL="0" indent="0">
              <a:buNone/>
            </a:pPr>
            <a:r>
              <a:rPr lang="en-IN" dirty="0"/>
              <a:t> </a:t>
            </a:r>
          </a:p>
          <a:p>
            <a:endParaRPr lang="en-IN" dirty="0"/>
          </a:p>
        </p:txBody>
      </p:sp>
    </p:spTree>
    <p:extLst>
      <p:ext uri="{BB962C8B-B14F-4D97-AF65-F5344CB8AC3E}">
        <p14:creationId xmlns:p14="http://schemas.microsoft.com/office/powerpoint/2010/main" val="296132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FBC971-A2EB-4BB6-91D2-174EF167993C}"/>
              </a:ext>
            </a:extLst>
          </p:cNvPr>
          <p:cNvSpPr>
            <a:spLocks noGrp="1"/>
          </p:cNvSpPr>
          <p:nvPr>
            <p:ph idx="1"/>
          </p:nvPr>
        </p:nvSpPr>
        <p:spPr>
          <a:xfrm>
            <a:off x="795134" y="449944"/>
            <a:ext cx="10671156" cy="6020129"/>
          </a:xfrm>
        </p:spPr>
        <p:txBody>
          <a:bodyPr>
            <a:normAutofit fontScale="77500" lnSpcReduction="20000"/>
          </a:bodyPr>
          <a:lstStyle/>
          <a:p>
            <a:pPr marL="0" indent="0">
              <a:buNone/>
            </a:pPr>
            <a:r>
              <a:rPr lang="en-IN" sz="2100" dirty="0"/>
              <a:t> </a:t>
            </a:r>
            <a:r>
              <a:rPr lang="en-IN" sz="2600" b="1" dirty="0"/>
              <a:t>4]  Heteroscedasticity can also arise as the result of the </a:t>
            </a:r>
            <a:r>
              <a:rPr lang="en-IN" sz="2600" b="1" dirty="0" err="1"/>
              <a:t>prenses</a:t>
            </a:r>
            <a:r>
              <a:rPr lang="en-IN" sz="2600" b="1" dirty="0"/>
              <a:t> of the </a:t>
            </a:r>
            <a:r>
              <a:rPr lang="en-IN" sz="2600" b="1" dirty="0" err="1"/>
              <a:t>outliears</a:t>
            </a:r>
            <a:r>
              <a:rPr lang="en-IN" sz="2600" b="1" dirty="0"/>
              <a:t>. </a:t>
            </a:r>
          </a:p>
          <a:p>
            <a:pPr marL="0" indent="0">
              <a:buNone/>
            </a:pPr>
            <a:r>
              <a:rPr lang="en-IN" sz="2600" b="1" dirty="0"/>
              <a:t>                                                                                                                                                                                    -                                                               </a:t>
            </a:r>
          </a:p>
          <a:p>
            <a:pPr marL="0" indent="0">
              <a:buNone/>
            </a:pPr>
            <a:r>
              <a:rPr lang="en-IN" sz="2600" b="1" dirty="0"/>
              <a:t>  5]  A major source of Heteroscedasticity is the skewed nature of one or more </a:t>
            </a:r>
            <a:r>
              <a:rPr lang="en-IN" sz="2600" b="1" dirty="0" err="1"/>
              <a:t>regressior</a:t>
            </a:r>
            <a:r>
              <a:rPr lang="en-IN" sz="2600" b="1" dirty="0"/>
              <a:t> </a:t>
            </a:r>
          </a:p>
          <a:p>
            <a:pPr marL="0" indent="0">
              <a:buNone/>
            </a:pPr>
            <a:r>
              <a:rPr lang="en-IN" sz="2600" b="1" dirty="0"/>
              <a:t>                   Included in model . </a:t>
            </a:r>
          </a:p>
          <a:p>
            <a:pPr marL="0" indent="0">
              <a:buNone/>
            </a:pPr>
            <a:r>
              <a:rPr lang="en-IN" sz="2600" b="1" dirty="0"/>
              <a:t>  6]  DAVID HENRY points out that the Heteroscedasticity can also arise because of </a:t>
            </a:r>
          </a:p>
          <a:p>
            <a:pPr marL="0" indent="0">
              <a:buNone/>
            </a:pPr>
            <a:r>
              <a:rPr lang="en-IN" sz="2600" b="1" dirty="0"/>
              <a:t>                    (</a:t>
            </a:r>
            <a:r>
              <a:rPr lang="en-IN" sz="2600" b="1" dirty="0" err="1"/>
              <a:t>i</a:t>
            </a:r>
            <a:r>
              <a:rPr lang="en-IN" sz="2600" b="1" dirty="0"/>
              <a:t>)     Incorrect data transformation . </a:t>
            </a:r>
          </a:p>
          <a:p>
            <a:pPr marL="0" indent="0">
              <a:buNone/>
            </a:pPr>
            <a:r>
              <a:rPr lang="en-IN" sz="2600" b="1" dirty="0"/>
              <a:t>                    (ii)    Incorrect functional form of the models . </a:t>
            </a:r>
          </a:p>
          <a:p>
            <a:pPr marL="0" indent="0">
              <a:buNone/>
            </a:pPr>
            <a:r>
              <a:rPr lang="en-IN" sz="2600" b="1" dirty="0"/>
              <a:t> </a:t>
            </a:r>
          </a:p>
          <a:p>
            <a:pPr marL="0" indent="0">
              <a:buNone/>
            </a:pPr>
            <a:r>
              <a:rPr lang="en-IN" sz="2600" b="1" dirty="0"/>
              <a:t>The problem of Heteroscedasticity is more </a:t>
            </a:r>
            <a:r>
              <a:rPr lang="en-IN" sz="2600" b="1" dirty="0" err="1"/>
              <a:t>comman</a:t>
            </a:r>
            <a:r>
              <a:rPr lang="en-IN" sz="2600" b="1" dirty="0"/>
              <a:t> in “CROSS SECTIONAL DATA “ .</a:t>
            </a:r>
          </a:p>
          <a:p>
            <a:pPr marL="0" indent="0">
              <a:buNone/>
            </a:pPr>
            <a:r>
              <a:rPr lang="en-IN" sz="2600" b="1" dirty="0"/>
              <a:t> </a:t>
            </a:r>
          </a:p>
          <a:p>
            <a:pPr marL="0" indent="0">
              <a:buNone/>
            </a:pPr>
            <a:r>
              <a:rPr lang="en-IN" sz="2600" b="1" dirty="0"/>
              <a:t>As in the cross sectional data one usually deals with member of population at a given point in time,  such as </a:t>
            </a:r>
            <a:r>
              <a:rPr lang="en-IN" sz="2600" b="1" dirty="0" err="1"/>
              <a:t>indivisual</a:t>
            </a:r>
            <a:r>
              <a:rPr lang="en-IN" sz="2600" b="1" dirty="0"/>
              <a:t> consumers , families or a geographical location such as city , state or country etc. This is vary in size such </a:t>
            </a:r>
            <a:r>
              <a:rPr lang="en-IN" sz="2600" b="1" dirty="0" err="1"/>
              <a:t>such</a:t>
            </a:r>
            <a:r>
              <a:rPr lang="en-IN" sz="2600" b="1" dirty="0"/>
              <a:t> as small , medium , large which will introduce Heteroscedasticity . </a:t>
            </a:r>
          </a:p>
          <a:p>
            <a:pPr marL="0" indent="0">
              <a:buNone/>
            </a:pPr>
            <a:r>
              <a:rPr lang="en-IN" sz="2600" b="1" dirty="0"/>
              <a:t> </a:t>
            </a:r>
          </a:p>
          <a:p>
            <a:pPr marL="0" indent="0">
              <a:buNone/>
            </a:pPr>
            <a:r>
              <a:rPr lang="en-IN" sz="2600" b="1" dirty="0"/>
              <a:t>In a time series data , there is associated variable tend to be of similar nature and of similar order of because a set of observations on the values that variable takes a different time .  for </a:t>
            </a:r>
            <a:r>
              <a:rPr lang="en-IN" sz="2600" b="1" dirty="0" err="1"/>
              <a:t>eg.</a:t>
            </a:r>
            <a:r>
              <a:rPr lang="en-IN" sz="2600" b="1" dirty="0"/>
              <a:t>, GDP , consumption expenditure, savings , or employment in India , say for the period of 1950-51 to 2009-10.</a:t>
            </a:r>
          </a:p>
          <a:p>
            <a:pPr marL="0" indent="0">
              <a:lnSpc>
                <a:spcPct val="107000"/>
              </a:lnSpc>
              <a:spcAft>
                <a:spcPts val="800"/>
              </a:spcAft>
              <a:buNone/>
            </a:pPr>
            <a:endParaRPr lang="en-IN" dirty="0"/>
          </a:p>
        </p:txBody>
      </p:sp>
    </p:spTree>
    <p:extLst>
      <p:ext uri="{BB962C8B-B14F-4D97-AF65-F5344CB8AC3E}">
        <p14:creationId xmlns:p14="http://schemas.microsoft.com/office/powerpoint/2010/main" val="1385815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9405C26-A65A-4948-85D2-DB6EA0240C0D}"/>
                  </a:ext>
                </a:extLst>
              </p:cNvPr>
              <p:cNvSpPr>
                <a:spLocks noGrp="1"/>
              </p:cNvSpPr>
              <p:nvPr>
                <p:ph idx="1"/>
              </p:nvPr>
            </p:nvSpPr>
            <p:spPr>
              <a:xfrm>
                <a:off x="1144725" y="357813"/>
                <a:ext cx="8915400" cy="5685183"/>
              </a:xfrm>
            </p:spPr>
            <p:txBody>
              <a:bodyPr>
                <a:normAutofit fontScale="92500" lnSpcReduction="10000"/>
              </a:bodyPr>
              <a:lstStyle/>
              <a:p>
                <a:pPr marL="0" indent="0">
                  <a:lnSpc>
                    <a:spcPct val="107000"/>
                  </a:lnSpc>
                  <a:spcAft>
                    <a:spcPts val="800"/>
                  </a:spcAft>
                  <a:buNone/>
                </a:pPr>
                <a:r>
                  <a:rPr lang="en-IN" b="1" dirty="0">
                    <a:latin typeface="Calibri" panose="020F0502020204030204" pitchFamily="34" charset="0"/>
                    <a:ea typeface="Calibri" panose="020F0502020204030204" pitchFamily="34" charset="0"/>
                    <a:cs typeface="Times New Roman" panose="02020603050405020304" pitchFamily="18" charset="0"/>
                  </a:rPr>
                  <a:t> CONSEQUENCES </a:t>
                </a:r>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lgn="ctr">
                  <a:lnSpc>
                    <a:spcPct val="107000"/>
                  </a:lnSpc>
                  <a:spcAft>
                    <a:spcPts val="800"/>
                  </a:spcAft>
                  <a:buNone/>
                </a:pPr>
                <a:r>
                  <a:rPr lang="en-IN" dirty="0">
                    <a:latin typeface="Calibri" panose="020F0502020204030204" pitchFamily="34" charset="0"/>
                    <a:ea typeface="Calibri" panose="020F0502020204030204" pitchFamily="34" charset="0"/>
                    <a:cs typeface="Times New Roman" panose="02020603050405020304" pitchFamily="18" charset="0"/>
                  </a:rPr>
                  <a:t>If Heteroscedasticity is present then E(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b="0" i="1" smtClean="0">
                            <a:latin typeface="Cambria Math" panose="02040503050406030204" pitchFamily="18" charset="0"/>
                            <a:cs typeface="Times New Roman" panose="02020603050405020304" pitchFamily="18" charset="0"/>
                          </a:rPr>
                          <m:t>𝑢</m:t>
                        </m:r>
                      </m:e>
                      <m:sub>
                        <m:r>
                          <a:rPr lang="en-IN" b="0" i="1" smtClean="0">
                            <a:latin typeface="Cambria Math" panose="02040503050406030204" pitchFamily="18" charset="0"/>
                            <a:cs typeface="Times New Roman" panose="02020603050405020304" pitchFamily="18" charset="0"/>
                          </a:rPr>
                          <m:t>𝑖</m:t>
                        </m:r>
                      </m:sub>
                      <m:sup>
                        <m:r>
                          <a:rPr lang="en-IN" b="0" i="1" smtClean="0">
                            <a:latin typeface="Cambria Math" panose="02040503050406030204" pitchFamily="18" charset="0"/>
                            <a:cs typeface="Times New Roman" panose="02020603050405020304" pitchFamily="18" charset="0"/>
                          </a:rPr>
                          <m:t>^2</m:t>
                        </m:r>
                      </m:sup>
                    </m:sSubSup>
                  </m:oMath>
                </a14:m>
                <a:r>
                  <a:rPr lang="en-IN" dirty="0">
                    <a:latin typeface="Calibri" panose="020F0502020204030204" pitchFamily="34" charset="0"/>
                    <a:ea typeface="Calibri" panose="020F0502020204030204" pitchFamily="34" charset="0"/>
                    <a:cs typeface="Times New Roman" panose="02020603050405020304" pitchFamily="18" charset="0"/>
                  </a:rPr>
                  <a:t>)= </a:t>
                </a:r>
                <a14:m>
                  <m:oMath xmlns:m="http://schemas.openxmlformats.org/officeDocument/2006/math">
                    <m:sSubSup>
                      <m:sSubSupPr>
                        <m:ctrlPr>
                          <a:rPr lang="en-IN" i="1" smtClean="0">
                            <a:latin typeface="Cambria Math" panose="02040503050406030204" pitchFamily="18" charset="0"/>
                            <a:cs typeface="Times New Roman" panose="02020603050405020304" pitchFamily="18" charset="0"/>
                          </a:rPr>
                        </m:ctrlPr>
                      </m:sSubSupPr>
                      <m:e>
                        <m:r>
                          <a:rPr lang="en-IN"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b="0" i="1" smtClean="0">
                            <a:latin typeface="Cambria Math" panose="02040503050406030204" pitchFamily="18" charset="0"/>
                            <a:cs typeface="Times New Roman" panose="02020603050405020304" pitchFamily="18" charset="0"/>
                          </a:rPr>
                          <m:t>𝑖</m:t>
                        </m:r>
                      </m:sub>
                      <m:sup>
                        <m:r>
                          <a:rPr lang="en-IN" b="0" i="1" smtClean="0">
                            <a:latin typeface="Cambria Math" panose="02040503050406030204" pitchFamily="18" charset="0"/>
                            <a:cs typeface="Times New Roman" panose="02020603050405020304" pitchFamily="18" charset="0"/>
                          </a:rPr>
                          <m:t>^2 </m:t>
                        </m:r>
                      </m:sup>
                    </m:sSubSup>
                  </m:oMath>
                </a14:m>
                <a:r>
                  <a:rPr lang="en-IN" dirty="0">
                    <a:latin typeface="Calibri" panose="020F0502020204030204" pitchFamily="34" charset="0"/>
                    <a:ea typeface="Calibri" panose="020F0502020204030204" pitchFamily="34" charset="0"/>
                    <a:cs typeface="Times New Roman" panose="02020603050405020304" pitchFamily="18" charset="0"/>
                  </a:rPr>
                  <a:t> , but we retain all the other assumption of CLRM .</a:t>
                </a:r>
              </a:p>
              <a:p>
                <a:pPr marL="0" indent="0">
                  <a:lnSpc>
                    <a:spcPct val="107000"/>
                  </a:lnSpc>
                  <a:spcAft>
                    <a:spcPts val="800"/>
                  </a:spcAft>
                  <a:buNone/>
                </a:pPr>
                <a:r>
                  <a:rPr lang="en-IN" dirty="0">
                    <a:latin typeface="Calibri" panose="020F0502020204030204" pitchFamily="34" charset="0"/>
                    <a:ea typeface="Calibri" panose="020F0502020204030204" pitchFamily="34" charset="0"/>
                    <a:cs typeface="Times New Roman" panose="02020603050405020304" pitchFamily="18" charset="0"/>
                  </a:rPr>
                  <a:t>      Then the consider model : </a:t>
                </a:r>
                <a14:m>
                  <m:oMath xmlns:m="http://schemas.openxmlformats.org/officeDocument/2006/math">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𝑌</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r>
                      <a:rPr lang="en-IN" sz="3200" i="1">
                        <a:latin typeface="Cambria Math" panose="02040503050406030204" pitchFamily="18" charset="0"/>
                        <a:ea typeface="Calibri" panose="020F0502020204030204" pitchFamily="34" charset="0"/>
                        <a:cs typeface="Times New Roman" panose="02020603050405020304" pitchFamily="18" charset="0"/>
                      </a:rPr>
                      <m:t>= </m:t>
                    </m:r>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𝛽</m:t>
                        </m:r>
                      </m:e>
                      <m:sub>
                        <m:r>
                          <a:rPr lang="en-IN" sz="3200" i="1">
                            <a:latin typeface="Cambria Math" panose="02040503050406030204" pitchFamily="18" charset="0"/>
                            <a:ea typeface="Calibri" panose="020F0502020204030204" pitchFamily="34" charset="0"/>
                            <a:cs typeface="Times New Roman" panose="02020603050405020304" pitchFamily="18" charset="0"/>
                          </a:rPr>
                          <m:t>1  </m:t>
                        </m:r>
                      </m:sub>
                    </m:sSub>
                    <m:r>
                      <a:rPr lang="en-IN" sz="32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𝛽</m:t>
                        </m:r>
                      </m:e>
                      <m:sub>
                        <m:r>
                          <a:rPr lang="en-IN" sz="3200" i="1">
                            <a:latin typeface="Cambria Math" panose="02040503050406030204" pitchFamily="18" charset="0"/>
                            <a:ea typeface="Calibri" panose="020F0502020204030204" pitchFamily="34" charset="0"/>
                            <a:cs typeface="Times New Roman" panose="02020603050405020304" pitchFamily="18" charset="0"/>
                          </a:rPr>
                          <m:t>2</m:t>
                        </m:r>
                      </m:sub>
                    </m:sSub>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𝑋</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r>
                      <a:rPr lang="en-IN" sz="32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𝑢</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oMath>
                </a14:m>
                <a:endParaRPr lang="en-IN" dirty="0">
                  <a:latin typeface="Calibri" panose="020F0502020204030204" pitchFamily="34" charset="0"/>
                  <a:ea typeface="Calibri" panose="020F0502020204030204" pitchFamily="34" charset="0"/>
                  <a:cs typeface="Times New Roman" panose="02020603050405020304" pitchFamily="18" charset="0"/>
                </a:endParaRPr>
              </a:p>
              <a:p>
                <a:pPr marL="0" indent="0">
                  <a:lnSpc>
                    <a:spcPct val="107000"/>
                  </a:lnSpc>
                  <a:spcAft>
                    <a:spcPts val="800"/>
                  </a:spcAft>
                  <a:buNone/>
                </a:pPr>
                <a:r>
                  <a:rPr lang="en-IN" dirty="0">
                    <a:latin typeface="Calibri" panose="020F0502020204030204" pitchFamily="34" charset="0"/>
                    <a:ea typeface="Calibri" panose="020F0502020204030204" pitchFamily="34" charset="0"/>
                    <a:cs typeface="Times New Roman" panose="02020603050405020304" pitchFamily="18" charset="0"/>
                  </a:rPr>
                  <a:t>      then OLS estimator of   </a:t>
                </a:r>
              </a:p>
              <a:p>
                <a:pPr marL="0" indent="0">
                  <a:lnSpc>
                    <a:spcPct val="107000"/>
                  </a:lnSpc>
                  <a:spcAft>
                    <a:spcPts val="800"/>
                  </a:spcAft>
                  <a:buNone/>
                </a:pPr>
                <a:br>
                  <a:rPr lang="en-IN" dirty="0">
                    <a:latin typeface="Cambria Math" panose="02040503050406030204" pitchFamily="18" charset="0"/>
                    <a:ea typeface="Calibri" panose="020F0502020204030204" pitchFamily="34" charset="0"/>
                    <a:cs typeface="Times New Roman" panose="02020603050405020304" pitchFamily="18" charset="0"/>
                  </a:rPr>
                </a:br>
                <a14:m>
                  <m:oMath xmlns:m="http://schemas.openxmlformats.org/officeDocument/2006/math">
                    <m:acc>
                      <m:accPr>
                        <m:chr m:val="̂"/>
                        <m:ctrlPr>
                          <a:rPr lang="en-IN" sz="3200" i="1">
                            <a:latin typeface="Cambria Math" panose="02040503050406030204" pitchFamily="18" charset="0"/>
                            <a:ea typeface="Calibri" panose="020F0502020204030204" pitchFamily="34" charset="0"/>
                            <a:cs typeface="Times New Roman" panose="02020603050405020304" pitchFamily="18" charset="0"/>
                          </a:rPr>
                        </m:ctrlPr>
                      </m:accPr>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𝛽</m:t>
                            </m:r>
                          </m:e>
                          <m:sub>
                            <m:r>
                              <a:rPr lang="en-IN" sz="3200" i="1">
                                <a:latin typeface="Cambria Math" panose="02040503050406030204" pitchFamily="18" charset="0"/>
                                <a:ea typeface="Calibri" panose="020F0502020204030204" pitchFamily="34" charset="0"/>
                                <a:cs typeface="Times New Roman" panose="02020603050405020304" pitchFamily="18" charset="0"/>
                              </a:rPr>
                              <m:t>2 </m:t>
                            </m:r>
                          </m:sub>
                        </m:sSub>
                      </m:e>
                    </m:acc>
                    <m:r>
                      <a:rPr lang="en-IN" sz="3200" i="1">
                        <a:latin typeface="Cambria Math" panose="02040503050406030204" pitchFamily="18" charset="0"/>
                        <a:ea typeface="Calibri" panose="020F0502020204030204" pitchFamily="34" charset="0"/>
                        <a:cs typeface="Times New Roman" panose="02020603050405020304" pitchFamily="18" charset="0"/>
                      </a:rPr>
                      <m:t>= </m:t>
                    </m:r>
                    <m:f>
                      <m:fPr>
                        <m:ctrlPr>
                          <a:rPr lang="en-IN" sz="3200" i="1">
                            <a:latin typeface="Cambria Math" panose="02040503050406030204" pitchFamily="18" charset="0"/>
                            <a:ea typeface="Calibri" panose="020F0502020204030204" pitchFamily="34" charset="0"/>
                            <a:cs typeface="Times New Roman" panose="02020603050405020304" pitchFamily="18" charset="0"/>
                          </a:rPr>
                        </m:ctrlPr>
                      </m:fPr>
                      <m:num>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𝑥</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𝑦</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e>
                        </m:nary>
                      </m:num>
                      <m:den>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Sup>
                              <m:sSubSupPr>
                                <m:ctrlPr>
                                  <a:rPr lang="en-IN" sz="3200" i="1">
                                    <a:latin typeface="Cambria Math" panose="02040503050406030204" pitchFamily="18" charset="0"/>
                                    <a:ea typeface="Calibri" panose="020F0502020204030204" pitchFamily="34" charset="0"/>
                                    <a:cs typeface="Times New Roman" panose="02020603050405020304" pitchFamily="18" charset="0"/>
                                  </a:rPr>
                                </m:ctrlPr>
                              </m:sSubSupPr>
                              <m:e>
                                <m:r>
                                  <a:rPr lang="en-IN" sz="3200" i="1">
                                    <a:latin typeface="Cambria Math" panose="02040503050406030204" pitchFamily="18" charset="0"/>
                                    <a:ea typeface="Calibri" panose="020F0502020204030204" pitchFamily="34" charset="0"/>
                                    <a:cs typeface="Times New Roman" panose="02020603050405020304" pitchFamily="18" charset="0"/>
                                  </a:rPr>
                                  <m:t>𝑥</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up>
                                <m:r>
                                  <a:rPr lang="en-IN" sz="3200" i="1">
                                    <a:latin typeface="Cambria Math" panose="02040503050406030204" pitchFamily="18" charset="0"/>
                                    <a:ea typeface="Calibri" panose="020F0502020204030204" pitchFamily="34" charset="0"/>
                                    <a:cs typeface="Times New Roman" panose="02020603050405020304" pitchFamily="18" charset="0"/>
                                  </a:rPr>
                                  <m:t>2</m:t>
                                </m:r>
                              </m:sup>
                            </m:sSubSup>
                          </m:e>
                        </m:nary>
                      </m:den>
                    </m:f>
                  </m:oMath>
                </a14:m>
                <a:r>
                  <a:rPr lang="en-IN" dirty="0">
                    <a:latin typeface="Calibri" panose="020F0502020204030204" pitchFamily="34" charset="0"/>
                    <a:ea typeface="Calibri" panose="020F0502020204030204" pitchFamily="34" charset="0"/>
                    <a:cs typeface="Times New Roman" panose="02020603050405020304" pitchFamily="18" charset="0"/>
                  </a:rPr>
                  <a:t>                           ……. (1)</a:t>
                </a:r>
              </a:p>
              <a:p>
                <a:pPr marL="0" indent="0">
                  <a:lnSpc>
                    <a:spcPct val="107000"/>
                  </a:lnSpc>
                  <a:spcAft>
                    <a:spcPts val="800"/>
                  </a:spcAft>
                  <a:buNone/>
                </a:pPr>
                <a14:m>
                  <m:oMathPara xmlns:m="http://schemas.openxmlformats.org/officeDocument/2006/math">
                    <m:oMathParaPr>
                      <m:jc m:val="centerGroup"/>
                    </m:oMathParaPr>
                    <m:oMath xmlns:m="http://schemas.openxmlformats.org/officeDocument/2006/math">
                      <m:r>
                        <a:rPr lang="en-IN" sz="3200" i="1">
                          <a:latin typeface="Cambria Math" panose="02040503050406030204" pitchFamily="18" charset="0"/>
                          <a:ea typeface="Calibri" panose="020F0502020204030204" pitchFamily="34" charset="0"/>
                          <a:cs typeface="Times New Roman" panose="02020603050405020304" pitchFamily="18" charset="0"/>
                        </a:rPr>
                        <m:t>= </m:t>
                      </m:r>
                      <m:f>
                        <m:fPr>
                          <m:ctrlPr>
                            <a:rPr lang="en-IN" sz="3200" i="1">
                              <a:latin typeface="Cambria Math" panose="02040503050406030204" pitchFamily="18" charset="0"/>
                              <a:ea typeface="Calibri" panose="020F0502020204030204" pitchFamily="34" charset="0"/>
                              <a:cs typeface="Times New Roman" panose="02020603050405020304" pitchFamily="18" charset="0"/>
                            </a:rPr>
                          </m:ctrlPr>
                        </m:fPr>
                        <m:num>
                          <m:r>
                            <a:rPr lang="en-IN" sz="3200" i="1">
                              <a:latin typeface="Cambria Math" panose="02040503050406030204" pitchFamily="18" charset="0"/>
                              <a:ea typeface="Calibri" panose="020F0502020204030204" pitchFamily="34" charset="0"/>
                              <a:cs typeface="Times New Roman" panose="02020603050405020304" pitchFamily="18" charset="0"/>
                            </a:rPr>
                            <m:t>𝑛</m:t>
                          </m:r>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𝑋</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𝑌</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r>
                                <a:rPr lang="en-IN" sz="3200" i="1">
                                  <a:latin typeface="Cambria Math" panose="02040503050406030204" pitchFamily="18" charset="0"/>
                                  <a:ea typeface="Calibri" panose="020F0502020204030204" pitchFamily="34" charset="0"/>
                                  <a:cs typeface="Times New Roman" panose="02020603050405020304" pitchFamily="18" charset="0"/>
                                </a:rPr>
                                <m:t>− </m:t>
                              </m:r>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𝑋</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𝑌</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e>
                                  </m:nary>
                                </m:e>
                              </m:nary>
                            </m:e>
                          </m:nary>
                        </m:num>
                        <m:den>
                          <m:r>
                            <a:rPr lang="en-IN" sz="3200" i="1">
                              <a:latin typeface="Cambria Math" panose="02040503050406030204" pitchFamily="18" charset="0"/>
                              <a:ea typeface="Calibri" panose="020F0502020204030204" pitchFamily="34" charset="0"/>
                              <a:cs typeface="Times New Roman" panose="02020603050405020304" pitchFamily="18" charset="0"/>
                            </a:rPr>
                            <m:t>𝑛</m:t>
                          </m:r>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Sup>
                                <m:sSubSupPr>
                                  <m:ctrlPr>
                                    <a:rPr lang="en-IN" sz="3200" i="1">
                                      <a:latin typeface="Cambria Math" panose="02040503050406030204" pitchFamily="18" charset="0"/>
                                      <a:ea typeface="Calibri" panose="020F0502020204030204" pitchFamily="34" charset="0"/>
                                      <a:cs typeface="Times New Roman" panose="02020603050405020304" pitchFamily="18" charset="0"/>
                                    </a:rPr>
                                  </m:ctrlPr>
                                </m:sSubSupPr>
                                <m:e>
                                  <m:r>
                                    <a:rPr lang="en-IN" sz="3200" i="1">
                                      <a:latin typeface="Cambria Math" panose="02040503050406030204" pitchFamily="18" charset="0"/>
                                      <a:ea typeface="Calibri" panose="020F0502020204030204" pitchFamily="34" charset="0"/>
                                      <a:cs typeface="Times New Roman" panose="02020603050405020304" pitchFamily="18" charset="0"/>
                                    </a:rPr>
                                    <m:t>𝑋</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up>
                                  <m:r>
                                    <a:rPr lang="en-IN" sz="3200" i="1">
                                      <a:latin typeface="Cambria Math" panose="02040503050406030204" pitchFamily="18" charset="0"/>
                                      <a:ea typeface="Calibri" panose="020F0502020204030204" pitchFamily="34" charset="0"/>
                                      <a:cs typeface="Times New Roman" panose="02020603050405020304" pitchFamily="18" charset="0"/>
                                    </a:rPr>
                                    <m:t>2</m:t>
                                  </m:r>
                                </m:sup>
                              </m:sSubSup>
                            </m:e>
                          </m:nary>
                          <m:r>
                            <a:rPr lang="en-IN" sz="3200" i="1">
                              <a:latin typeface="Cambria Math" panose="02040503050406030204" pitchFamily="18" charset="0"/>
                              <a:ea typeface="Calibri" panose="020F0502020204030204" pitchFamily="34" charset="0"/>
                              <a:cs typeface="Times New Roman" panose="02020603050405020304" pitchFamily="18" charset="0"/>
                            </a:rPr>
                            <m:t>−</m:t>
                          </m:r>
                          <m:sSup>
                            <m:sSupPr>
                              <m:ctrlPr>
                                <a:rPr lang="en-IN" sz="3200" i="1">
                                  <a:latin typeface="Cambria Math" panose="02040503050406030204" pitchFamily="18" charset="0"/>
                                  <a:ea typeface="Calibri" panose="020F0502020204030204" pitchFamily="34" charset="0"/>
                                  <a:cs typeface="Times New Roman" panose="02020603050405020304" pitchFamily="18" charset="0"/>
                                </a:rPr>
                              </m:ctrlPr>
                            </m:sSupPr>
                            <m:e>
                              <m:r>
                                <a:rPr lang="en-IN" sz="3200" i="1">
                                  <a:latin typeface="Cambria Math" panose="02040503050406030204" pitchFamily="18" charset="0"/>
                                  <a:ea typeface="Calibri" panose="020F0502020204030204" pitchFamily="34" charset="0"/>
                                  <a:cs typeface="Times New Roman" panose="02020603050405020304" pitchFamily="18" charset="0"/>
                                </a:rPr>
                                <m:t>(</m:t>
                              </m:r>
                              <m:nary>
                                <m:naryPr>
                                  <m:chr m:val="∑"/>
                                  <m:limLoc m:val="undOvr"/>
                                  <m:subHide m:val="on"/>
                                  <m:supHide m:val="on"/>
                                  <m:ctrlPr>
                                    <a:rPr lang="en-IN" sz="3200" i="1">
                                      <a:latin typeface="Cambria Math" panose="02040503050406030204" pitchFamily="18" charset="0"/>
                                      <a:ea typeface="Calibri" panose="020F0502020204030204" pitchFamily="34" charset="0"/>
                                      <a:cs typeface="Times New Roman" panose="02020603050405020304" pitchFamily="18" charset="0"/>
                                    </a:rPr>
                                  </m:ctrlPr>
                                </m:naryPr>
                                <m:sub/>
                                <m:sup/>
                                <m:e>
                                  <m:sSub>
                                    <m:sSubPr>
                                      <m:ctrlPr>
                                        <a:rPr lang="en-IN" sz="3200" i="1">
                                          <a:latin typeface="Cambria Math" panose="02040503050406030204" pitchFamily="18" charset="0"/>
                                          <a:ea typeface="Calibri" panose="020F0502020204030204" pitchFamily="34" charset="0"/>
                                          <a:cs typeface="Times New Roman" panose="02020603050405020304" pitchFamily="18" charset="0"/>
                                        </a:rPr>
                                      </m:ctrlPr>
                                    </m:sSubPr>
                                    <m:e>
                                      <m:r>
                                        <a:rPr lang="en-IN" sz="3200" i="1">
                                          <a:latin typeface="Cambria Math" panose="02040503050406030204" pitchFamily="18" charset="0"/>
                                          <a:ea typeface="Calibri" panose="020F0502020204030204" pitchFamily="34" charset="0"/>
                                          <a:cs typeface="Times New Roman" panose="02020603050405020304" pitchFamily="18" charset="0"/>
                                        </a:rPr>
                                        <m:t>𝑋</m:t>
                                      </m:r>
                                    </m:e>
                                    <m:sub>
                                      <m:r>
                                        <a:rPr lang="en-IN" sz="3200" i="1">
                                          <a:latin typeface="Cambria Math" panose="02040503050406030204" pitchFamily="18" charset="0"/>
                                          <a:ea typeface="Calibri" panose="020F0502020204030204" pitchFamily="34" charset="0"/>
                                          <a:cs typeface="Times New Roman" panose="02020603050405020304" pitchFamily="18" charset="0"/>
                                        </a:rPr>
                                        <m:t>𝑖</m:t>
                                      </m:r>
                                    </m:sub>
                                  </m:sSub>
                                </m:e>
                              </m:nary>
                              <m:r>
                                <a:rPr lang="en-IN" sz="3200" i="1">
                                  <a:latin typeface="Cambria Math" panose="02040503050406030204" pitchFamily="18" charset="0"/>
                                  <a:ea typeface="Calibri" panose="020F0502020204030204" pitchFamily="34" charset="0"/>
                                  <a:cs typeface="Times New Roman" panose="02020603050405020304" pitchFamily="18" charset="0"/>
                                </a:rPr>
                                <m:t>)</m:t>
                              </m:r>
                            </m:e>
                            <m:sup>
                              <m:r>
                                <a:rPr lang="en-IN" sz="3200" i="1">
                                  <a:latin typeface="Cambria Math" panose="02040503050406030204" pitchFamily="18" charset="0"/>
                                  <a:ea typeface="Calibri" panose="020F0502020204030204" pitchFamily="34" charset="0"/>
                                  <a:cs typeface="Times New Roman" panose="02020603050405020304" pitchFamily="18" charset="0"/>
                                </a:rPr>
                                <m:t>2</m:t>
                              </m:r>
                            </m:sup>
                          </m:sSup>
                        </m:den>
                      </m:f>
                    </m:oMath>
                  </m:oMathPara>
                </a14:m>
                <a:endParaRPr lang="en-IN" dirty="0"/>
              </a:p>
            </p:txBody>
          </p:sp>
        </mc:Choice>
        <mc:Fallback xmlns="">
          <p:sp>
            <p:nvSpPr>
              <p:cNvPr id="3" name="Content Placeholder 2">
                <a:extLst>
                  <a:ext uri="{FF2B5EF4-FFF2-40B4-BE49-F238E27FC236}">
                    <a16:creationId xmlns:a16="http://schemas.microsoft.com/office/drawing/2014/main" id="{B9405C26-A65A-4948-85D2-DB6EA0240C0D}"/>
                  </a:ext>
                </a:extLst>
              </p:cNvPr>
              <p:cNvSpPr>
                <a:spLocks noGrp="1" noRot="1" noChangeAspect="1" noMove="1" noResize="1" noEditPoints="1" noAdjustHandles="1" noChangeArrowheads="1" noChangeShapeType="1" noTextEdit="1"/>
              </p:cNvSpPr>
              <p:nvPr>
                <p:ph idx="1"/>
              </p:nvPr>
            </p:nvSpPr>
            <p:spPr>
              <a:xfrm>
                <a:off x="1144725" y="357813"/>
                <a:ext cx="8915400" cy="5685183"/>
              </a:xfrm>
              <a:blipFill>
                <a:blip r:embed="rId2"/>
                <a:stretch>
                  <a:fillRect l="-547" t="-1180" r="-1436"/>
                </a:stretch>
              </a:blipFill>
            </p:spPr>
            <p:txBody>
              <a:bodyPr/>
              <a:lstStyle/>
              <a:p>
                <a:r>
                  <a:rPr lang="en-IN">
                    <a:noFill/>
                  </a:rPr>
                  <a:t> </a:t>
                </a:r>
              </a:p>
            </p:txBody>
          </p:sp>
        </mc:Fallback>
      </mc:AlternateContent>
    </p:spTree>
    <p:extLst>
      <p:ext uri="{BB962C8B-B14F-4D97-AF65-F5344CB8AC3E}">
        <p14:creationId xmlns:p14="http://schemas.microsoft.com/office/powerpoint/2010/main" val="24332661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054F261-A536-4ECF-8DAB-84A76C1CE8A8}"/>
                  </a:ext>
                </a:extLst>
              </p:cNvPr>
              <p:cNvSpPr>
                <a:spLocks noGrp="1"/>
              </p:cNvSpPr>
              <p:nvPr>
                <p:ph idx="1"/>
              </p:nvPr>
            </p:nvSpPr>
            <p:spPr>
              <a:xfrm>
                <a:off x="914403" y="318052"/>
                <a:ext cx="10590212" cy="5593171"/>
              </a:xfrm>
            </p:spPr>
            <p:txBody>
              <a:bodyPr>
                <a:normAutofit fontScale="70000" lnSpcReduction="20000"/>
              </a:bodyPr>
              <a:lstStyle/>
              <a:p>
                <a:pPr marL="0" indent="0">
                  <a:buNone/>
                </a:pPr>
                <a:r>
                  <a:rPr lang="en-IN" b="1" dirty="0"/>
                  <a:t>And its variance is given by </a:t>
                </a:r>
              </a:p>
              <a:p>
                <a:pPr marL="0" indent="0" algn="ctr">
                  <a:buNone/>
                </a:pPr>
                <a14:m>
                  <m:oMath xmlns:m="http://schemas.openxmlformats.org/officeDocument/2006/math">
                    <m:r>
                      <a:rPr lang="en-IN" b="1" i="1" smtClean="0">
                        <a:latin typeface="Cambria Math" panose="02040503050406030204" pitchFamily="18" charset="0"/>
                      </a:rPr>
                      <m:t>𝒗𝒂𝒓</m:t>
                    </m:r>
                    <m:r>
                      <a:rPr lang="en-IN" b="1" i="1" smtClean="0">
                        <a:latin typeface="Cambria Math" panose="02040503050406030204" pitchFamily="18" charset="0"/>
                      </a:rPr>
                      <m:t>(</m:t>
                    </m:r>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𝟐</m:t>
                            </m:r>
                          </m:sub>
                        </m:sSub>
                        <m:r>
                          <a:rPr lang="en-IN" b="1" i="1" smtClean="0">
                            <a:latin typeface="Cambria Math" panose="02040503050406030204" pitchFamily="18" charset="0"/>
                          </a:rPr>
                          <m:t>)</m:t>
                        </m:r>
                      </m:e>
                    </m:acc>
                    <m:r>
                      <a:rPr lang="en-IN" b="1" i="1" smtClean="0">
                        <a:latin typeface="Cambria Math" panose="02040503050406030204" pitchFamily="18" charset="0"/>
                      </a:rPr>
                      <m:t>= </m:t>
                    </m:r>
                    <m:f>
                      <m:fPr>
                        <m:ctrlPr>
                          <a:rPr lang="en-IN" b="1" i="1" smtClean="0">
                            <a:latin typeface="Cambria Math" panose="02040503050406030204" pitchFamily="18" charset="0"/>
                          </a:rPr>
                        </m:ctrlPr>
                      </m:fPr>
                      <m:num>
                        <m:nary>
                          <m:naryPr>
                            <m:chr m:val="∑"/>
                            <m:limLoc m:val="undOvr"/>
                            <m:subHide m:val="on"/>
                            <m:supHide m:val="on"/>
                            <m:ctrlPr>
                              <a:rPr lang="en-IN" b="1" i="1">
                                <a:latin typeface="Cambria Math" panose="02040503050406030204" pitchFamily="18" charset="0"/>
                              </a:rPr>
                            </m:ctrlPr>
                          </m:naryPr>
                          <m:sub/>
                          <m:sup/>
                          <m:e>
                            <m:sSubSup>
                              <m:sSubSupPr>
                                <m:ctrlPr>
                                  <a:rPr lang="en-IN" b="1" i="1">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𝒊</m:t>
                                </m:r>
                              </m:sub>
                              <m:sup>
                                <m:r>
                                  <a:rPr lang="en-IN" b="1" i="1" smtClean="0">
                                    <a:latin typeface="Cambria Math" panose="02040503050406030204" pitchFamily="18" charset="0"/>
                                  </a:rPr>
                                  <m:t>𝟐</m:t>
                                </m:r>
                              </m:sup>
                            </m:sSubSup>
                            <m:sSubSup>
                              <m:sSubSupPr>
                                <m:ctrlPr>
                                  <a:rPr lang="en-IN" b="1" i="1">
                                    <a:latin typeface="Cambria Math" panose="02040503050406030204" pitchFamily="18" charset="0"/>
                                  </a:rPr>
                                </m:ctrlPr>
                              </m:sSubSupPr>
                              <m:e>
                                <m:r>
                                  <a:rPr lang="en-IN" b="1" i="1" smtClean="0">
                                    <a:latin typeface="Cambria Math" panose="02040503050406030204" pitchFamily="18" charset="0"/>
                                  </a:rPr>
                                  <m:t>𝝈</m:t>
                                </m:r>
                              </m:e>
                              <m:sub>
                                <m:r>
                                  <a:rPr lang="en-IN" b="1" i="1" smtClean="0">
                                    <a:latin typeface="Cambria Math" panose="02040503050406030204" pitchFamily="18" charset="0"/>
                                  </a:rPr>
                                  <m:t>𝒊</m:t>
                                </m:r>
                              </m:sub>
                              <m:sup>
                                <m:r>
                                  <a:rPr lang="en-IN" b="1" i="1" smtClean="0">
                                    <a:latin typeface="Cambria Math" panose="02040503050406030204" pitchFamily="18" charset="0"/>
                                  </a:rPr>
                                  <m:t>𝟐</m:t>
                                </m:r>
                              </m:sup>
                            </m:sSubSup>
                          </m:e>
                        </m:nary>
                      </m:num>
                      <m:den>
                        <m:sSup>
                          <m:sSupPr>
                            <m:ctrlPr>
                              <a:rPr lang="en-IN" b="1" i="1">
                                <a:latin typeface="Cambria Math" panose="02040503050406030204" pitchFamily="18" charset="0"/>
                              </a:rPr>
                            </m:ctrlPr>
                          </m:sSupPr>
                          <m:e>
                            <m:d>
                              <m:dPr>
                                <m:ctrlPr>
                                  <a:rPr lang="en-IN" b="1" i="1" smtClean="0">
                                    <a:latin typeface="Cambria Math" panose="02040503050406030204" pitchFamily="18" charset="0"/>
                                  </a:rPr>
                                </m:ctrlPr>
                              </m:dPr>
                              <m:e>
                                <m:nary>
                                  <m:naryPr>
                                    <m:chr m:val="∑"/>
                                    <m:limLoc m:val="undOvr"/>
                                    <m:subHide m:val="on"/>
                                    <m:supHide m:val="on"/>
                                    <m:ctrlPr>
                                      <a:rPr lang="en-IN" b="1" i="1">
                                        <a:latin typeface="Cambria Math" panose="02040503050406030204" pitchFamily="18" charset="0"/>
                                      </a:rPr>
                                    </m:ctrlPr>
                                  </m:naryPr>
                                  <m:sub/>
                                  <m:sup/>
                                  <m:e>
                                    <m:sSubSup>
                                      <m:sSubSupPr>
                                        <m:ctrlPr>
                                          <a:rPr lang="en-IN" b="1" i="1">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𝒊</m:t>
                                        </m:r>
                                      </m:sub>
                                      <m:sup>
                                        <m:r>
                                          <a:rPr lang="en-IN" b="1" i="1" smtClean="0">
                                            <a:latin typeface="Cambria Math" panose="02040503050406030204" pitchFamily="18" charset="0"/>
                                          </a:rPr>
                                          <m:t>𝟐</m:t>
                                        </m:r>
                                      </m:sup>
                                    </m:sSubSup>
                                  </m:e>
                                </m:nary>
                              </m:e>
                            </m:d>
                          </m:e>
                          <m:sup>
                            <m:r>
                              <a:rPr lang="en-IN" b="1" i="1" smtClean="0">
                                <a:latin typeface="Cambria Math" panose="02040503050406030204" pitchFamily="18" charset="0"/>
                              </a:rPr>
                              <m:t>𝟐</m:t>
                            </m:r>
                          </m:sup>
                        </m:sSup>
                      </m:den>
                    </m:f>
                  </m:oMath>
                </a14:m>
                <a:r>
                  <a:rPr lang="en-IN" b="1" dirty="0"/>
                  <a:t>                 ………. ( 2) </a:t>
                </a:r>
              </a:p>
              <a:p>
                <a:pPr marL="0" indent="0">
                  <a:buNone/>
                </a:pPr>
                <a:r>
                  <a:rPr lang="en-IN" b="1" dirty="0"/>
                  <a:t>Which is obviously different from the usual  variance  formula obtained under the homoscedasticity . </a:t>
                </a:r>
              </a:p>
              <a:p>
                <a:pPr marL="0" indent="0">
                  <a:buNone/>
                </a:pPr>
                <a:endParaRPr lang="en-IN" b="1" dirty="0"/>
              </a:p>
              <a:p>
                <a:pPr marL="0" indent="0" algn="ctr">
                  <a:buNone/>
                </a:pPr>
                <a14:m>
                  <m:oMath xmlns:m="http://schemas.openxmlformats.org/officeDocument/2006/math">
                    <m:r>
                      <a:rPr lang="en-IN" b="1" i="1" smtClean="0">
                        <a:latin typeface="Cambria Math" panose="02040503050406030204" pitchFamily="18" charset="0"/>
                      </a:rPr>
                      <m:t>𝒗𝒂𝒓</m:t>
                    </m:r>
                    <m:r>
                      <a:rPr lang="en-IN" b="1" i="1" smtClean="0">
                        <a:latin typeface="Cambria Math" panose="02040503050406030204" pitchFamily="18" charset="0"/>
                      </a:rPr>
                      <m:t>(</m:t>
                    </m:r>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𝟐</m:t>
                            </m:r>
                          </m:sub>
                        </m:sSub>
                        <m:r>
                          <a:rPr lang="en-IN" b="1" i="1" smtClean="0">
                            <a:latin typeface="Cambria Math" panose="02040503050406030204" pitchFamily="18" charset="0"/>
                          </a:rPr>
                          <m:t>)</m:t>
                        </m:r>
                      </m:e>
                    </m:acc>
                    <m:r>
                      <a:rPr lang="en-IN" b="1" i="1" smtClean="0">
                        <a:latin typeface="Cambria Math" panose="02040503050406030204" pitchFamily="18" charset="0"/>
                      </a:rPr>
                      <m:t>= </m:t>
                    </m:r>
                    <m:f>
                      <m:fPr>
                        <m:ctrlPr>
                          <a:rPr lang="en-IN" b="1" i="1">
                            <a:latin typeface="Cambria Math" panose="02040503050406030204" pitchFamily="18" charset="0"/>
                          </a:rPr>
                        </m:ctrlPr>
                      </m:fPr>
                      <m:num>
                        <m:sSup>
                          <m:sSupPr>
                            <m:ctrlPr>
                              <a:rPr lang="en-IN" b="1" i="1">
                                <a:latin typeface="Cambria Math" panose="02040503050406030204" pitchFamily="18" charset="0"/>
                              </a:rPr>
                            </m:ctrlPr>
                          </m:sSupPr>
                          <m:e>
                            <m:r>
                              <a:rPr lang="en-IN" b="1" i="1" smtClean="0">
                                <a:latin typeface="Cambria Math" panose="02040503050406030204" pitchFamily="18" charset="0"/>
                              </a:rPr>
                              <m:t>𝝈</m:t>
                            </m:r>
                          </m:e>
                          <m:sup>
                            <m:r>
                              <a:rPr lang="en-IN" b="1" i="1" smtClean="0">
                                <a:latin typeface="Cambria Math" panose="02040503050406030204" pitchFamily="18" charset="0"/>
                              </a:rPr>
                              <m:t>𝟐</m:t>
                            </m:r>
                          </m:sup>
                        </m:sSup>
                      </m:num>
                      <m:den>
                        <m:nary>
                          <m:naryPr>
                            <m:chr m:val="∑"/>
                            <m:limLoc m:val="undOvr"/>
                            <m:subHide m:val="on"/>
                            <m:supHide m:val="on"/>
                            <m:ctrlPr>
                              <a:rPr lang="en-IN" b="1" i="1">
                                <a:latin typeface="Cambria Math" panose="02040503050406030204" pitchFamily="18" charset="0"/>
                              </a:rPr>
                            </m:ctrlPr>
                          </m:naryPr>
                          <m:sub/>
                          <m:sup/>
                          <m:e>
                            <m:sSubSup>
                              <m:sSubSupPr>
                                <m:ctrlPr>
                                  <a:rPr lang="en-IN" b="1" i="1">
                                    <a:latin typeface="Cambria Math" panose="02040503050406030204" pitchFamily="18" charset="0"/>
                                  </a:rPr>
                                </m:ctrlPr>
                              </m:sSubSupPr>
                              <m:e>
                                <m:r>
                                  <a:rPr lang="en-IN" b="1" i="1" smtClean="0">
                                    <a:latin typeface="Cambria Math" panose="02040503050406030204" pitchFamily="18" charset="0"/>
                                  </a:rPr>
                                  <m:t>𝒙</m:t>
                                </m:r>
                              </m:e>
                              <m:sub>
                                <m:r>
                                  <a:rPr lang="en-IN" b="1" i="1" smtClean="0">
                                    <a:latin typeface="Cambria Math" panose="02040503050406030204" pitchFamily="18" charset="0"/>
                                  </a:rPr>
                                  <m:t>𝒊</m:t>
                                </m:r>
                              </m:sub>
                              <m:sup>
                                <m:r>
                                  <a:rPr lang="en-IN" b="1" i="1" smtClean="0">
                                    <a:latin typeface="Cambria Math" panose="02040503050406030204" pitchFamily="18" charset="0"/>
                                  </a:rPr>
                                  <m:t>𝟐</m:t>
                                </m:r>
                              </m:sup>
                            </m:sSubSup>
                          </m:e>
                        </m:nary>
                      </m:den>
                    </m:f>
                    <m:r>
                      <a:rPr lang="en-IN" b="1" i="1" smtClean="0">
                        <a:latin typeface="Cambria Math" panose="02040503050406030204" pitchFamily="18" charset="0"/>
                      </a:rPr>
                      <m:t> ………</m:t>
                    </m:r>
                  </m:oMath>
                </a14:m>
                <a:r>
                  <a:rPr lang="en-IN" b="1" dirty="0"/>
                  <a:t>( 3 )</a:t>
                </a:r>
              </a:p>
              <a:p>
                <a:pPr marL="0" indent="0" algn="ctr">
                  <a:buNone/>
                </a:pPr>
                <a:r>
                  <a:rPr lang="en-IN" b="1" dirty="0"/>
                  <a:t> </a:t>
                </a:r>
              </a:p>
              <a:p>
                <a:pPr marL="0" indent="0">
                  <a:buNone/>
                </a:pPr>
                <a:r>
                  <a:rPr lang="en-IN" b="1" dirty="0"/>
                  <a:t>Recall that </a:t>
                </a:r>
                <a14:m>
                  <m:oMath xmlns:m="http://schemas.openxmlformats.org/officeDocument/2006/math">
                    <m:sSubSup>
                      <m:sSubSupPr>
                        <m:ctrlPr>
                          <a:rPr lang="en-IN" b="1" i="1">
                            <a:latin typeface="Cambria Math" panose="02040503050406030204" pitchFamily="18" charset="0"/>
                          </a:rPr>
                        </m:ctrlPr>
                      </m:sSubSupPr>
                      <m:e>
                        <m:r>
                          <a:rPr lang="en-IN" b="1" i="1" smtClean="0">
                            <a:latin typeface="Cambria Math" panose="02040503050406030204" pitchFamily="18" charset="0"/>
                          </a:rPr>
                          <m:t>𝜷</m:t>
                        </m:r>
                      </m:e>
                      <m:sub>
                        <m:r>
                          <a:rPr lang="en-IN" b="1" i="1" smtClean="0">
                            <a:latin typeface="Cambria Math" panose="02040503050406030204" pitchFamily="18" charset="0"/>
                          </a:rPr>
                          <m:t>𝟐</m:t>
                        </m:r>
                      </m:sub>
                      <m:sup>
                        <m:r>
                          <a:rPr lang="en-IN" b="1" i="1" smtClean="0">
                            <a:latin typeface="Cambria Math" panose="02040503050406030204" pitchFamily="18" charset="0"/>
                          </a:rPr>
                          <m:t>^</m:t>
                        </m:r>
                      </m:sup>
                    </m:sSubSup>
                  </m:oMath>
                </a14:m>
                <a:r>
                  <a:rPr lang="en-IN" b="1" dirty="0"/>
                  <a:t> is BLUE under the CLRM assumptions. If it is still BLUE if these assumptions are dropped  so it is easy to prove that this estimator is still unbiased and linear but may no be best .</a:t>
                </a:r>
              </a:p>
              <a:p>
                <a:pPr marL="0" indent="0">
                  <a:buNone/>
                </a:pPr>
                <a:r>
                  <a:rPr lang="en-IN" b="1" dirty="0"/>
                  <a:t>Then what is the BLUE in </a:t>
                </a:r>
                <a:r>
                  <a:rPr lang="en-IN" b="1" dirty="0" err="1"/>
                  <a:t>prencens</a:t>
                </a:r>
                <a:r>
                  <a:rPr lang="en-IN" b="1" dirty="0"/>
                  <a:t> of Heteroscedasticity  ? </a:t>
                </a:r>
              </a:p>
              <a:p>
                <a:pPr marL="0" indent="0">
                  <a:buNone/>
                </a:pPr>
                <a:r>
                  <a:rPr lang="en-IN" b="1" dirty="0"/>
                  <a:t>Consider , a two variable model ,</a:t>
                </a:r>
              </a:p>
              <a:p>
                <a:pPr marL="0" indent="0">
                  <a:buNone/>
                </a:pPr>
                <a:r>
                  <a:rPr lang="en-IN" b="1" dirty="0"/>
                  <a:t>Which can be written as     </a:t>
                </a:r>
                <a14:m>
                  <m:oMath xmlns:m="http://schemas.openxmlformats.org/officeDocument/2006/math">
                    <m:sSub>
                      <m:sSubPr>
                        <m:ctrlPr>
                          <a:rPr lang="en-IN" b="1" i="1">
                            <a:latin typeface="Cambria Math" panose="02040503050406030204" pitchFamily="18" charset="0"/>
                          </a:rPr>
                        </m:ctrlPr>
                      </m:sSubPr>
                      <m:e>
                        <m:r>
                          <a:rPr lang="en-IN" b="1" i="1" smtClean="0">
                            <a:latin typeface="Cambria Math" panose="02040503050406030204" pitchFamily="18" charset="0"/>
                          </a:rPr>
                          <m:t>𝒀</m:t>
                        </m:r>
                      </m:e>
                      <m:sub>
                        <m:r>
                          <a:rPr lang="en-IN" b="1" i="1" smtClean="0">
                            <a:latin typeface="Cambria Math" panose="02040503050406030204" pitchFamily="18" charset="0"/>
                          </a:rPr>
                          <m:t>𝒊</m:t>
                        </m:r>
                      </m:sub>
                    </m:sSub>
                    <m:r>
                      <a:rPr lang="en-IN" b="1" i="1" smtClean="0">
                        <a:latin typeface="Cambria Math" panose="02040503050406030204" pitchFamily="18" charset="0"/>
                      </a:rPr>
                      <m:t>= </m:t>
                    </m:r>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𝟏</m:t>
                        </m:r>
                        <m:r>
                          <a:rPr lang="en-IN" b="1" i="1" smtClean="0">
                            <a:latin typeface="Cambria Math" panose="02040503050406030204" pitchFamily="18" charset="0"/>
                          </a:rPr>
                          <m:t>  </m:t>
                        </m:r>
                      </m:sub>
                    </m:sSub>
                    <m:r>
                      <a:rPr lang="en-IN" b="1" i="1" smtClean="0">
                        <a:latin typeface="Cambria Math" panose="02040503050406030204" pitchFamily="18" charset="0"/>
                      </a:rPr>
                      <m:t>+</m:t>
                    </m:r>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𝟐</m:t>
                        </m:r>
                      </m:sub>
                    </m:sSub>
                    <m:sSub>
                      <m:sSubPr>
                        <m:ctrlPr>
                          <a:rPr lang="en-IN" b="1" i="1">
                            <a:latin typeface="Cambria Math" panose="02040503050406030204" pitchFamily="18" charset="0"/>
                          </a:rPr>
                        </m:ctrlPr>
                      </m:sSubPr>
                      <m:e>
                        <m:r>
                          <a:rPr lang="en-IN" b="1" i="1" smtClean="0">
                            <a:latin typeface="Cambria Math" panose="02040503050406030204" pitchFamily="18" charset="0"/>
                          </a:rPr>
                          <m:t>𝑿</m:t>
                        </m:r>
                      </m:e>
                      <m:sub>
                        <m:r>
                          <a:rPr lang="en-IN" b="1" i="1" smtClean="0">
                            <a:latin typeface="Cambria Math" panose="02040503050406030204" pitchFamily="18" charset="0"/>
                          </a:rPr>
                          <m:t>𝒊</m:t>
                        </m:r>
                      </m:sub>
                    </m:sSub>
                    <m:r>
                      <a:rPr lang="en-IN" b="1" i="1" smtClean="0">
                        <a:latin typeface="Cambria Math" panose="02040503050406030204" pitchFamily="18" charset="0"/>
                      </a:rPr>
                      <m:t>+</m:t>
                    </m:r>
                    <m:sSub>
                      <m:sSubPr>
                        <m:ctrlPr>
                          <a:rPr lang="en-IN" b="1" i="1">
                            <a:latin typeface="Cambria Math" panose="02040503050406030204" pitchFamily="18" charset="0"/>
                          </a:rPr>
                        </m:ctrlPr>
                      </m:sSubPr>
                      <m:e>
                        <m:r>
                          <a:rPr lang="en-IN" b="1" i="1" smtClean="0">
                            <a:latin typeface="Cambria Math" panose="02040503050406030204" pitchFamily="18" charset="0"/>
                          </a:rPr>
                          <m:t>𝒖</m:t>
                        </m:r>
                      </m:e>
                      <m:sub>
                        <m:r>
                          <a:rPr lang="en-IN" b="1" i="1" smtClean="0">
                            <a:latin typeface="Cambria Math" panose="02040503050406030204" pitchFamily="18" charset="0"/>
                          </a:rPr>
                          <m:t>𝒊</m:t>
                        </m:r>
                      </m:sub>
                    </m:sSub>
                    <m:r>
                      <a:rPr lang="en-IN" b="1" i="0" smtClean="0">
                        <a:latin typeface="Cambria Math" panose="02040503050406030204" pitchFamily="18" charset="0"/>
                      </a:rPr>
                      <m:t>……………</m:t>
                    </m:r>
                  </m:oMath>
                </a14:m>
                <a:r>
                  <a:rPr lang="en-IN" b="1" dirty="0"/>
                  <a:t> ( 4)</a:t>
                </a:r>
              </a:p>
              <a:p>
                <a:pPr marL="0" indent="0">
                  <a:buNone/>
                </a:pPr>
                <a:r>
                  <a:rPr lang="en-IN" b="1" dirty="0"/>
                  <a:t>                                                       Or   </a:t>
                </a:r>
              </a:p>
              <a:p>
                <a:pPr marL="0" indent="0">
                  <a:buNone/>
                </a:pPr>
                <a:r>
                  <a:rPr lang="en-IN" b="1" dirty="0"/>
                  <a:t>                                               </a:t>
                </a:r>
                <a14:m>
                  <m:oMath xmlns:m="http://schemas.openxmlformats.org/officeDocument/2006/math">
                    <m:sSub>
                      <m:sSubPr>
                        <m:ctrlPr>
                          <a:rPr lang="en-IN" b="1" i="1">
                            <a:latin typeface="Cambria Math" panose="02040503050406030204" pitchFamily="18" charset="0"/>
                          </a:rPr>
                        </m:ctrlPr>
                      </m:sSubPr>
                      <m:e>
                        <m:r>
                          <a:rPr lang="en-IN" b="1" i="1" smtClean="0">
                            <a:latin typeface="Cambria Math" panose="02040503050406030204" pitchFamily="18" charset="0"/>
                          </a:rPr>
                          <m:t>𝒀</m:t>
                        </m:r>
                      </m:e>
                      <m:sub>
                        <m:r>
                          <a:rPr lang="en-IN" b="1" i="1" smtClean="0">
                            <a:latin typeface="Cambria Math" panose="02040503050406030204" pitchFamily="18" charset="0"/>
                          </a:rPr>
                          <m:t>𝒊</m:t>
                        </m:r>
                      </m:sub>
                    </m:sSub>
                    <m:r>
                      <a:rPr lang="en-IN" b="1" i="1" smtClean="0">
                        <a:latin typeface="Cambria Math" panose="02040503050406030204" pitchFamily="18" charset="0"/>
                      </a:rPr>
                      <m:t>= </m:t>
                    </m:r>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𝟏</m:t>
                        </m:r>
                      </m:sub>
                    </m:sSub>
                    <m:sSub>
                      <m:sSubPr>
                        <m:ctrlPr>
                          <a:rPr lang="en-IN" b="1" i="1">
                            <a:latin typeface="Cambria Math" panose="02040503050406030204" pitchFamily="18" charset="0"/>
                          </a:rPr>
                        </m:ctrlPr>
                      </m:sSubPr>
                      <m:e>
                        <m:r>
                          <a:rPr lang="en-IN" b="1" i="1" smtClean="0">
                            <a:latin typeface="Cambria Math" panose="02040503050406030204" pitchFamily="18" charset="0"/>
                          </a:rPr>
                          <m:t>𝑿</m:t>
                        </m:r>
                      </m:e>
                      <m:sub>
                        <m:r>
                          <a:rPr lang="en-IN" b="1" i="1" smtClean="0">
                            <a:latin typeface="Cambria Math" panose="02040503050406030204" pitchFamily="18" charset="0"/>
                          </a:rPr>
                          <m:t>𝟎</m:t>
                        </m:r>
                        <m:r>
                          <a:rPr lang="en-IN" b="1" i="1" smtClean="0">
                            <a:latin typeface="Cambria Math" panose="02040503050406030204" pitchFamily="18" charset="0"/>
                          </a:rPr>
                          <m:t>𝒊</m:t>
                        </m:r>
                      </m:sub>
                    </m:sSub>
                    <m:r>
                      <a:rPr lang="en-IN" b="1" i="1" smtClean="0">
                        <a:latin typeface="Cambria Math" panose="02040503050406030204" pitchFamily="18" charset="0"/>
                      </a:rPr>
                      <m:t>+</m:t>
                    </m:r>
                    <m:sSub>
                      <m:sSubPr>
                        <m:ctrlPr>
                          <a:rPr lang="en-IN" b="1" i="1">
                            <a:latin typeface="Cambria Math" panose="02040503050406030204" pitchFamily="18" charset="0"/>
                          </a:rPr>
                        </m:ctrlPr>
                      </m:sSubPr>
                      <m:e>
                        <m:r>
                          <a:rPr lang="en-IN" b="1" i="1" smtClean="0">
                            <a:latin typeface="Cambria Math" panose="02040503050406030204" pitchFamily="18" charset="0"/>
                          </a:rPr>
                          <m:t>𝜷</m:t>
                        </m:r>
                      </m:e>
                      <m:sub>
                        <m:r>
                          <a:rPr lang="en-IN" b="1" i="1" smtClean="0">
                            <a:latin typeface="Cambria Math" panose="02040503050406030204" pitchFamily="18" charset="0"/>
                          </a:rPr>
                          <m:t>𝟐</m:t>
                        </m:r>
                      </m:sub>
                    </m:sSub>
                    <m:sSub>
                      <m:sSubPr>
                        <m:ctrlPr>
                          <a:rPr lang="en-IN" b="1" i="1">
                            <a:latin typeface="Cambria Math" panose="02040503050406030204" pitchFamily="18" charset="0"/>
                          </a:rPr>
                        </m:ctrlPr>
                      </m:sSubPr>
                      <m:e>
                        <m:r>
                          <a:rPr lang="en-IN" b="1" i="1" smtClean="0">
                            <a:latin typeface="Cambria Math" panose="02040503050406030204" pitchFamily="18" charset="0"/>
                          </a:rPr>
                          <m:t>𝑿</m:t>
                        </m:r>
                      </m:e>
                      <m:sub>
                        <m:r>
                          <a:rPr lang="en-IN" b="1" i="1" smtClean="0">
                            <a:latin typeface="Cambria Math" panose="02040503050406030204" pitchFamily="18" charset="0"/>
                          </a:rPr>
                          <m:t>𝒊</m:t>
                        </m:r>
                      </m:sub>
                    </m:sSub>
                    <m:r>
                      <a:rPr lang="en-IN" b="1" i="1" smtClean="0">
                        <a:latin typeface="Cambria Math" panose="02040503050406030204" pitchFamily="18" charset="0"/>
                      </a:rPr>
                      <m:t>+</m:t>
                    </m:r>
                    <m:sSub>
                      <m:sSubPr>
                        <m:ctrlPr>
                          <a:rPr lang="en-IN" b="1" i="1">
                            <a:latin typeface="Cambria Math" panose="02040503050406030204" pitchFamily="18" charset="0"/>
                          </a:rPr>
                        </m:ctrlPr>
                      </m:sSubPr>
                      <m:e>
                        <m:r>
                          <a:rPr lang="en-IN" b="1" i="1" smtClean="0">
                            <a:latin typeface="Cambria Math" panose="02040503050406030204" pitchFamily="18" charset="0"/>
                          </a:rPr>
                          <m:t>𝒖</m:t>
                        </m:r>
                      </m:e>
                      <m:sub>
                        <m:r>
                          <a:rPr lang="en-IN" b="1" i="1" smtClean="0">
                            <a:latin typeface="Cambria Math" panose="02040503050406030204" pitchFamily="18" charset="0"/>
                          </a:rPr>
                          <m:t>𝒊</m:t>
                        </m:r>
                      </m:sub>
                    </m:sSub>
                    <m:r>
                      <a:rPr lang="en-IN" b="1" i="0" smtClean="0">
                        <a:latin typeface="Cambria Math" panose="02040503050406030204" pitchFamily="18" charset="0"/>
                      </a:rPr>
                      <m:t>…………</m:t>
                    </m:r>
                  </m:oMath>
                </a14:m>
                <a:r>
                  <a:rPr lang="en-IN" b="1" dirty="0"/>
                  <a:t> ( 5 )</a:t>
                </a:r>
              </a:p>
              <a:p>
                <a:pPr marL="0" indent="0">
                  <a:buNone/>
                </a:pPr>
                <a:r>
                  <a:rPr lang="en-IN" b="1" dirty="0"/>
                  <a:t>   </a:t>
                </a:r>
              </a:p>
              <a:p>
                <a:pPr marL="0" indent="0">
                  <a:buNone/>
                </a:pPr>
                <a:r>
                  <a:rPr lang="en-IN" b="1" dirty="0"/>
                  <a:t>                                                                                              </a:t>
                </a:r>
                <a:r>
                  <a:rPr lang="en-IN" b="1" dirty="0" err="1"/>
                  <a:t>Wh</a:t>
                </a:r>
                <a:r>
                  <a:rPr lang="en-IN" b="1" dirty="0"/>
                  <a:t> , </a:t>
                </a:r>
                <a:r>
                  <a:rPr lang="en-IN" b="1" dirty="0" err="1"/>
                  <a:t>Xoi</a:t>
                </a:r>
                <a:r>
                  <a:rPr lang="en-IN" b="1" dirty="0"/>
                  <a:t> = 1  , for all </a:t>
                </a:r>
                <a:r>
                  <a:rPr lang="en-IN" b="1" dirty="0" err="1"/>
                  <a:t>i</a:t>
                </a:r>
                <a:r>
                  <a:rPr lang="en-IN" b="1" dirty="0"/>
                  <a:t> = 1,2,…,n  </a:t>
                </a:r>
              </a:p>
              <a:p>
                <a:endParaRPr lang="en-IN" dirty="0"/>
              </a:p>
            </p:txBody>
          </p:sp>
        </mc:Choice>
        <mc:Fallback>
          <p:sp>
            <p:nvSpPr>
              <p:cNvPr id="3" name="Content Placeholder 2">
                <a:extLst>
                  <a:ext uri="{FF2B5EF4-FFF2-40B4-BE49-F238E27FC236}">
                    <a16:creationId xmlns:a16="http://schemas.microsoft.com/office/drawing/2014/main" id="{7054F261-A536-4ECF-8DAB-84A76C1CE8A8}"/>
                  </a:ext>
                </a:extLst>
              </p:cNvPr>
              <p:cNvSpPr>
                <a:spLocks noGrp="1" noRot="1" noChangeAspect="1" noMove="1" noResize="1" noEditPoints="1" noAdjustHandles="1" noChangeArrowheads="1" noChangeShapeType="1" noTextEdit="1"/>
              </p:cNvSpPr>
              <p:nvPr>
                <p:ph idx="1"/>
              </p:nvPr>
            </p:nvSpPr>
            <p:spPr>
              <a:xfrm>
                <a:off x="914403" y="318052"/>
                <a:ext cx="10590212" cy="5593171"/>
              </a:xfrm>
              <a:blipFill>
                <a:blip r:embed="rId2"/>
                <a:stretch>
                  <a:fillRect l="-576" t="-1961" b="-1525"/>
                </a:stretch>
              </a:blipFill>
            </p:spPr>
            <p:txBody>
              <a:bodyPr/>
              <a:lstStyle/>
              <a:p>
                <a:r>
                  <a:rPr lang="en-IN">
                    <a:noFill/>
                  </a:rPr>
                  <a:t> </a:t>
                </a:r>
              </a:p>
            </p:txBody>
          </p:sp>
        </mc:Fallback>
      </mc:AlternateContent>
    </p:spTree>
    <p:extLst>
      <p:ext uri="{BB962C8B-B14F-4D97-AF65-F5344CB8AC3E}">
        <p14:creationId xmlns:p14="http://schemas.microsoft.com/office/powerpoint/2010/main" val="3854897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CD798B1-1A44-4920-BEB1-143DFCAA1811}"/>
                  </a:ext>
                </a:extLst>
              </p:cNvPr>
              <p:cNvSpPr>
                <a:spLocks noGrp="1"/>
              </p:cNvSpPr>
              <p:nvPr>
                <p:ph idx="1"/>
              </p:nvPr>
            </p:nvSpPr>
            <p:spPr>
              <a:xfrm>
                <a:off x="1553597" y="421125"/>
                <a:ext cx="10174576" cy="5841135"/>
              </a:xfrm>
            </p:spPr>
            <p:txBody>
              <a:bodyPr/>
              <a:lstStyle/>
              <a:p>
                <a:pPr marL="0" indent="0">
                  <a:buNone/>
                </a:pPr>
                <a:r>
                  <a:rPr lang="en-IN" sz="2000" b="1" dirty="0"/>
                  <a:t>Now assume that heteroscedastic variance</a:t>
                </a:r>
                <a14:m>
                  <m:oMath xmlns:m="http://schemas.openxmlformats.org/officeDocument/2006/math">
                    <m:r>
                      <a:rPr lang="en-IN" sz="2000" b="1" i="1">
                        <a:latin typeface="Cambria Math" panose="02040503050406030204" pitchFamily="18" charset="0"/>
                      </a:rPr>
                      <m:t> </m:t>
                    </m:r>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oMath>
                </a14:m>
                <a:r>
                  <a:rPr lang="en-IN" sz="2000" b="1" dirty="0"/>
                  <a:t>   are known then dividing equation ( 5 )  by  </a:t>
                </a:r>
                <a14:m>
                  <m:oMath xmlns:m="http://schemas.openxmlformats.org/officeDocument/2006/math">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oMath>
                </a14:m>
                <a:r>
                  <a:rPr lang="en-IN" sz="2000" b="1" dirty="0"/>
                  <a:t>, so we have        </a:t>
                </a:r>
                <a14:m>
                  <m:oMath xmlns:m="http://schemas.openxmlformats.org/officeDocument/2006/math">
                    <m:f>
                      <m:fPr>
                        <m:ctrlPr>
                          <a:rPr lang="en-IN" sz="2000" b="1" i="1">
                            <a:latin typeface="Cambria Math" panose="02040503050406030204" pitchFamily="18" charset="0"/>
                          </a:rPr>
                        </m:ctrlPr>
                      </m:fPr>
                      <m:num>
                        <m:sSub>
                          <m:sSubPr>
                            <m:ctrlPr>
                              <a:rPr lang="en-IN" sz="2000" b="1" i="1">
                                <a:latin typeface="Cambria Math" panose="02040503050406030204" pitchFamily="18" charset="0"/>
                              </a:rPr>
                            </m:ctrlPr>
                          </m:sSubPr>
                          <m:e>
                            <m:r>
                              <a:rPr lang="en-IN" sz="2000" b="1" i="1">
                                <a:latin typeface="Cambria Math" panose="02040503050406030204" pitchFamily="18" charset="0"/>
                              </a:rPr>
                              <m:t>𝒀</m:t>
                            </m:r>
                          </m:e>
                          <m:sub>
                            <m:r>
                              <a:rPr lang="en-IN" sz="2000" b="1" i="1">
                                <a:latin typeface="Cambria Math" panose="02040503050406030204" pitchFamily="18" charset="0"/>
                              </a:rPr>
                              <m:t>𝒊</m:t>
                            </m:r>
                          </m:sub>
                        </m:sSub>
                      </m:num>
                      <m:den>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den>
                    </m:f>
                    <m:r>
                      <a:rPr lang="en-IN" sz="2000" b="1" i="1">
                        <a:latin typeface="Cambria Math" panose="02040503050406030204" pitchFamily="18" charset="0"/>
                      </a:rPr>
                      <m:t>= </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𝟏</m:t>
                        </m:r>
                      </m:sub>
                    </m:sSub>
                    <m:d>
                      <m:dPr>
                        <m:ctrlPr>
                          <a:rPr lang="en-IN" sz="2000" b="1" i="1">
                            <a:latin typeface="Cambria Math" panose="02040503050406030204" pitchFamily="18" charset="0"/>
                          </a:rPr>
                        </m:ctrlPr>
                      </m:dPr>
                      <m:e>
                        <m:f>
                          <m:fPr>
                            <m:ctrlPr>
                              <a:rPr lang="en-IN" sz="2000" b="1" i="1">
                                <a:latin typeface="Cambria Math" panose="02040503050406030204" pitchFamily="18" charset="0"/>
                              </a:rPr>
                            </m:ctrlPr>
                          </m:fPr>
                          <m:num>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𝟎</m:t>
                                </m:r>
                                <m:r>
                                  <a:rPr lang="en-IN" sz="2000" b="1" i="1">
                                    <a:latin typeface="Cambria Math" panose="02040503050406030204" pitchFamily="18" charset="0"/>
                                  </a:rPr>
                                  <m:t>𝒊</m:t>
                                </m:r>
                              </m:sub>
                            </m:sSub>
                          </m:num>
                          <m:den>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den>
                        </m:f>
                      </m:e>
                    </m:d>
                    <m:r>
                      <a:rPr lang="en-IN" sz="2000" b="1" i="1">
                        <a:latin typeface="Cambria Math" panose="02040503050406030204" pitchFamily="18" charset="0"/>
                      </a:rPr>
                      <m:t>+</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𝟐</m:t>
                        </m:r>
                      </m:sub>
                    </m:sSub>
                    <m:d>
                      <m:dPr>
                        <m:ctrlPr>
                          <a:rPr lang="en-IN" sz="2000" b="1" i="1">
                            <a:latin typeface="Cambria Math" panose="02040503050406030204" pitchFamily="18" charset="0"/>
                          </a:rPr>
                        </m:ctrlPr>
                      </m:dPr>
                      <m:e>
                        <m:f>
                          <m:fPr>
                            <m:ctrlPr>
                              <a:rPr lang="en-IN" sz="2000" b="1" i="1">
                                <a:latin typeface="Cambria Math" panose="02040503050406030204" pitchFamily="18" charset="0"/>
                              </a:rPr>
                            </m:ctrlPr>
                          </m:fPr>
                          <m:num>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m:t>
                                </m:r>
                              </m:sub>
                            </m:sSub>
                          </m:num>
                          <m:den>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den>
                        </m:f>
                      </m:e>
                    </m:d>
                    <m:r>
                      <a:rPr lang="en-IN" sz="2000" b="1" i="1">
                        <a:latin typeface="Cambria Math" panose="02040503050406030204" pitchFamily="18" charset="0"/>
                      </a:rPr>
                      <m:t>+</m:t>
                    </m:r>
                    <m:d>
                      <m:dPr>
                        <m:ctrlPr>
                          <a:rPr lang="en-IN" sz="2000" b="1" i="1">
                            <a:latin typeface="Cambria Math" panose="02040503050406030204" pitchFamily="18" charset="0"/>
                          </a:rPr>
                        </m:ctrlPr>
                      </m:dPr>
                      <m:e>
                        <m:f>
                          <m:fPr>
                            <m:ctrlPr>
                              <a:rPr lang="en-IN" sz="2000" b="1" i="1">
                                <a:latin typeface="Cambria Math" panose="02040503050406030204" pitchFamily="18" charset="0"/>
                              </a:rPr>
                            </m:ctrlPr>
                          </m:fPr>
                          <m:num>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num>
                          <m:den>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den>
                        </m:f>
                      </m:e>
                    </m:d>
                    <m:r>
                      <a:rPr lang="en-IN" sz="2000" b="1" i="1" smtClean="0">
                        <a:latin typeface="Cambria Math" panose="02040503050406030204" pitchFamily="18" charset="0"/>
                      </a:rPr>
                      <m:t>……….</m:t>
                    </m:r>
                  </m:oMath>
                </a14:m>
                <a:r>
                  <a:rPr lang="en-IN" sz="2000" b="1" dirty="0"/>
                  <a:t> ( 6 )</a:t>
                </a:r>
              </a:p>
              <a:p>
                <a:pPr marL="0" indent="0">
                  <a:buNone/>
                </a:pPr>
                <a:endParaRPr lang="en-IN" sz="2000" b="1" dirty="0"/>
              </a:p>
              <a:p>
                <a:pPr marL="0" indent="0">
                  <a:buNone/>
                </a:pPr>
                <a:r>
                  <a:rPr lang="en-IN" sz="2000" b="1" dirty="0"/>
                  <a:t>That is  </a:t>
                </a:r>
                <a14:m>
                  <m:oMath xmlns:m="http://schemas.openxmlformats.org/officeDocument/2006/math">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𝒀</m:t>
                        </m:r>
                      </m:e>
                      <m:sub>
                        <m:r>
                          <a:rPr lang="en-IN" sz="2000" b="1" i="1" smtClean="0">
                            <a:latin typeface="Cambria Math" panose="02040503050406030204" pitchFamily="18" charset="0"/>
                          </a:rPr>
                          <m:t>𝒊</m:t>
                        </m:r>
                      </m:sub>
                      <m:sup>
                        <m:r>
                          <a:rPr lang="en-IN" sz="2000" b="1" i="1" smtClean="0">
                            <a:latin typeface="Cambria Math" panose="02040503050406030204" pitchFamily="18" charset="0"/>
                            <a:ea typeface="Cambria Math" panose="02040503050406030204" pitchFamily="18" charset="0"/>
                          </a:rPr>
                          <m:t>∗</m:t>
                        </m:r>
                      </m:sup>
                    </m:sSubSup>
                  </m:oMath>
                </a14:m>
                <a:r>
                  <a:rPr lang="en-IN" sz="2000" b="1" dirty="0"/>
                  <a:t>  =  </a:t>
                </a: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ea typeface="Cambria Math" panose="02040503050406030204" pitchFamily="18" charset="0"/>
                          </a:rPr>
                          <m:t>𝜷</m:t>
                        </m:r>
                      </m:e>
                      <m:sub>
                        <m:r>
                          <a:rPr lang="en-IN" sz="2000" b="1" i="1" smtClean="0">
                            <a:latin typeface="Cambria Math" panose="02040503050406030204" pitchFamily="18" charset="0"/>
                          </a:rPr>
                          <m:t>𝟏</m:t>
                        </m:r>
                      </m:sub>
                    </m:sSub>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𝑿</m:t>
                        </m:r>
                      </m:e>
                      <m:sub>
                        <m:r>
                          <a:rPr lang="en-IN" sz="2000" b="1" i="1" smtClean="0">
                            <a:latin typeface="Cambria Math" panose="02040503050406030204" pitchFamily="18" charset="0"/>
                          </a:rPr>
                          <m:t>𝟎</m:t>
                        </m:r>
                        <m:r>
                          <a:rPr lang="en-IN" sz="2000" b="1" i="1" smtClean="0">
                            <a:latin typeface="Cambria Math" panose="02040503050406030204" pitchFamily="18" charset="0"/>
                          </a:rPr>
                          <m:t>𝒊</m:t>
                        </m:r>
                      </m:sub>
                      <m:sup>
                        <m:r>
                          <a:rPr lang="en-IN" sz="2000" b="1" i="1" smtClean="0">
                            <a:latin typeface="Cambria Math" panose="02040503050406030204" pitchFamily="18" charset="0"/>
                            <a:ea typeface="Cambria Math" panose="02040503050406030204" pitchFamily="18" charset="0"/>
                          </a:rPr>
                          <m:t>∗</m:t>
                        </m:r>
                      </m:sup>
                    </m:sSubSup>
                  </m:oMath>
                </a14:m>
                <a:r>
                  <a:rPr lang="en-IN" sz="2000" b="1" dirty="0"/>
                  <a:t> + </a:t>
                </a: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ea typeface="Cambria Math" panose="02040503050406030204" pitchFamily="18" charset="0"/>
                          </a:rPr>
                          <m:t>𝜷</m:t>
                        </m:r>
                      </m:e>
                      <m:sub>
                        <m:r>
                          <a:rPr lang="en-IN" sz="2000" b="1" i="1" smtClean="0">
                            <a:latin typeface="Cambria Math" panose="02040503050406030204" pitchFamily="18" charset="0"/>
                          </a:rPr>
                          <m:t>𝟐</m:t>
                        </m:r>
                      </m:sub>
                    </m:sSub>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𝑿</m:t>
                        </m:r>
                      </m:e>
                      <m:sub>
                        <m:r>
                          <a:rPr lang="en-IN" sz="2000" b="1" i="1" smtClean="0">
                            <a:latin typeface="Cambria Math" panose="02040503050406030204" pitchFamily="18" charset="0"/>
                          </a:rPr>
                          <m:t>𝒊</m:t>
                        </m:r>
                      </m:sub>
                      <m:sup>
                        <m:r>
                          <a:rPr lang="en-IN" sz="2000" b="1" i="1" smtClean="0">
                            <a:latin typeface="Cambria Math" panose="02040503050406030204" pitchFamily="18" charset="0"/>
                            <a:ea typeface="Cambria Math" panose="02040503050406030204" pitchFamily="18" charset="0"/>
                          </a:rPr>
                          <m:t>∗</m:t>
                        </m:r>
                      </m:sup>
                    </m:sSubSup>
                  </m:oMath>
                </a14:m>
                <a:r>
                  <a:rPr lang="en-IN" sz="2000" b="1" dirty="0"/>
                  <a:t> + </a:t>
                </a:r>
                <a14:m>
                  <m:oMath xmlns:m="http://schemas.openxmlformats.org/officeDocument/2006/math">
                    <m:sSubSup>
                      <m:sSubSupPr>
                        <m:ctrlPr>
                          <a:rPr lang="en-IN" sz="2000" b="1" i="1" smtClean="0">
                            <a:latin typeface="Cambria Math" panose="02040503050406030204" pitchFamily="18" charset="0"/>
                          </a:rPr>
                        </m:ctrlPr>
                      </m:sSubSupPr>
                      <m:e>
                        <m:r>
                          <a:rPr lang="en-IN" sz="2000" b="1" i="1" smtClean="0">
                            <a:latin typeface="Cambria Math" panose="02040503050406030204" pitchFamily="18" charset="0"/>
                          </a:rPr>
                          <m:t>𝒖</m:t>
                        </m:r>
                      </m:e>
                      <m:sub>
                        <m:r>
                          <a:rPr lang="en-IN" sz="2000" b="1" i="1" smtClean="0">
                            <a:latin typeface="Cambria Math" panose="02040503050406030204" pitchFamily="18" charset="0"/>
                          </a:rPr>
                          <m:t>𝒊</m:t>
                        </m:r>
                      </m:sub>
                      <m:sup>
                        <m:r>
                          <a:rPr lang="en-IN" sz="2000" b="1" i="1" smtClean="0">
                            <a:latin typeface="Cambria Math" panose="02040503050406030204" pitchFamily="18" charset="0"/>
                            <a:ea typeface="Cambria Math" panose="02040503050406030204" pitchFamily="18" charset="0"/>
                          </a:rPr>
                          <m:t>∗</m:t>
                        </m:r>
                      </m:sup>
                    </m:sSubSup>
                  </m:oMath>
                </a14:m>
                <a:r>
                  <a:rPr lang="en-IN" sz="2000" b="1" dirty="0"/>
                  <a:t>    ……………………..( 7 ) </a:t>
                </a:r>
              </a:p>
              <a:p>
                <a:pPr marL="0" indent="0">
                  <a:buNone/>
                </a:pPr>
                <a:r>
                  <a:rPr lang="en-IN" sz="2000" b="1" dirty="0"/>
                  <a:t>With this       </a:t>
                </a:r>
                <a14:m>
                  <m:oMath xmlns:m="http://schemas.openxmlformats.org/officeDocument/2006/math">
                    <m:r>
                      <a:rPr lang="en-IN" sz="2000" b="1" i="1">
                        <a:latin typeface="Cambria Math" panose="02040503050406030204" pitchFamily="18" charset="0"/>
                      </a:rPr>
                      <m:t>𝒗𝒂𝒓</m:t>
                    </m:r>
                    <m:d>
                      <m:dPr>
                        <m:ctrlPr>
                          <a:rPr lang="en-IN" sz="2000" b="1" i="1">
                            <a:latin typeface="Cambria Math" panose="02040503050406030204" pitchFamily="18" charset="0"/>
                          </a:rPr>
                        </m:ctrlPr>
                      </m:dPr>
                      <m:e>
                        <m:sSubSup>
                          <m:sSubSupPr>
                            <m:ctrlPr>
                              <a:rPr lang="en-IN" sz="2000" b="1" i="1">
                                <a:latin typeface="Cambria Math" panose="02040503050406030204" pitchFamily="18" charset="0"/>
                              </a:rPr>
                            </m:ctrlPr>
                          </m:sSubSupPr>
                          <m:e>
                            <m:r>
                              <a:rPr lang="en-IN" sz="2000" b="1" i="1">
                                <a:latin typeface="Cambria Math" panose="02040503050406030204" pitchFamily="18" charset="0"/>
                              </a:rPr>
                              <m:t>𝒖</m:t>
                            </m:r>
                          </m:e>
                          <m:sub>
                            <m:r>
                              <a:rPr lang="en-IN" sz="2000" b="1" i="1">
                                <a:latin typeface="Cambria Math" panose="02040503050406030204" pitchFamily="18" charset="0"/>
                              </a:rPr>
                              <m:t>𝒊</m:t>
                            </m:r>
                          </m:sub>
                          <m:sup>
                            <m:r>
                              <a:rPr lang="en-IN" sz="2000" b="1" i="1">
                                <a:latin typeface="Cambria Math" panose="02040503050406030204" pitchFamily="18" charset="0"/>
                              </a:rPr>
                              <m:t>∗</m:t>
                            </m:r>
                          </m:sup>
                        </m:sSubSup>
                      </m:e>
                    </m:d>
                    <m:r>
                      <a:rPr lang="en-IN" sz="2000" b="1" i="1">
                        <a:latin typeface="Cambria Math" panose="02040503050406030204" pitchFamily="18" charset="0"/>
                      </a:rPr>
                      <m:t>=</m:t>
                    </m:r>
                    <m:sSup>
                      <m:sSupPr>
                        <m:ctrlPr>
                          <a:rPr lang="en-IN" sz="2000" b="1" i="1">
                            <a:latin typeface="Cambria Math" panose="02040503050406030204" pitchFamily="18" charset="0"/>
                          </a:rPr>
                        </m:ctrlPr>
                      </m:sSupPr>
                      <m:e>
                        <m:r>
                          <a:rPr lang="en-IN" sz="2000" b="1" i="1">
                            <a:latin typeface="Cambria Math" panose="02040503050406030204" pitchFamily="18" charset="0"/>
                          </a:rPr>
                          <m:t>𝑬</m:t>
                        </m:r>
                        <m:r>
                          <a:rPr lang="en-IN" sz="2000" b="1" i="1">
                            <a:latin typeface="Cambria Math" panose="02040503050406030204" pitchFamily="18" charset="0"/>
                          </a:rPr>
                          <m:t>(</m:t>
                        </m:r>
                        <m:sSup>
                          <m:sSupPr>
                            <m:ctrlPr>
                              <a:rPr lang="en-IN" sz="2000" b="1" i="1">
                                <a:latin typeface="Cambria Math" panose="02040503050406030204" pitchFamily="18" charset="0"/>
                              </a:rPr>
                            </m:ctrlPr>
                          </m:sSupPr>
                          <m:e>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e>
                          <m:sup>
                            <m:r>
                              <a:rPr lang="en-IN" sz="2000" b="1" i="1">
                                <a:latin typeface="Cambria Math" panose="02040503050406030204" pitchFamily="18" charset="0"/>
                              </a:rPr>
                              <m:t>∗</m:t>
                            </m:r>
                          </m:sup>
                        </m:sSup>
                        <m:r>
                          <a:rPr lang="en-IN" sz="2000" b="1" i="1">
                            <a:latin typeface="Cambria Math" panose="02040503050406030204" pitchFamily="18" charset="0"/>
                          </a:rPr>
                          <m:t>)</m:t>
                        </m:r>
                      </m:e>
                      <m:sup>
                        <m:r>
                          <a:rPr lang="en-IN" sz="2000" b="1" i="1">
                            <a:latin typeface="Cambria Math" panose="02040503050406030204" pitchFamily="18" charset="0"/>
                          </a:rPr>
                          <m:t>𝟐</m:t>
                        </m:r>
                      </m:sup>
                    </m:sSup>
                    <m:r>
                      <a:rPr lang="en-IN" sz="2000" b="1" i="1">
                        <a:latin typeface="Cambria Math" panose="02040503050406030204" pitchFamily="18" charset="0"/>
                      </a:rPr>
                      <m:t>= </m:t>
                    </m:r>
                    <m:sSup>
                      <m:sSupPr>
                        <m:ctrlPr>
                          <a:rPr lang="en-IN" sz="2000" b="1" i="1">
                            <a:latin typeface="Cambria Math" panose="02040503050406030204" pitchFamily="18" charset="0"/>
                          </a:rPr>
                        </m:ctrlPr>
                      </m:sSupPr>
                      <m:e>
                        <m:r>
                          <a:rPr lang="en-IN" sz="2000" b="1" i="1">
                            <a:latin typeface="Cambria Math" panose="02040503050406030204" pitchFamily="18" charset="0"/>
                          </a:rPr>
                          <m:t>𝑬</m:t>
                        </m:r>
                        <m:r>
                          <a:rPr lang="en-IN" sz="2000" b="1" i="1">
                            <a:latin typeface="Cambria Math" panose="02040503050406030204" pitchFamily="18" charset="0"/>
                          </a:rPr>
                          <m:t>(</m:t>
                        </m:r>
                        <m:f>
                          <m:fPr>
                            <m:ctrlPr>
                              <a:rPr lang="en-IN" sz="2000" b="1" i="1">
                                <a:latin typeface="Cambria Math" panose="02040503050406030204" pitchFamily="18" charset="0"/>
                              </a:rPr>
                            </m:ctrlPr>
                          </m:fPr>
                          <m:num>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num>
                          <m:den>
                            <m:sSub>
                              <m:sSubPr>
                                <m:ctrlPr>
                                  <a:rPr lang="en-IN" sz="2000" b="1" i="1">
                                    <a:latin typeface="Cambria Math" panose="02040503050406030204" pitchFamily="18" charset="0"/>
                                  </a:rPr>
                                </m:ctrlPr>
                              </m:sSubPr>
                              <m:e>
                                <m:r>
                                  <a:rPr lang="en-IN" sz="2000" b="1" i="1">
                                    <a:latin typeface="Cambria Math" panose="02040503050406030204" pitchFamily="18" charset="0"/>
                                  </a:rPr>
                                  <m:t>𝝈</m:t>
                                </m:r>
                              </m:e>
                              <m:sub>
                                <m:r>
                                  <a:rPr lang="en-IN" sz="2000" b="1" i="1">
                                    <a:latin typeface="Cambria Math" panose="02040503050406030204" pitchFamily="18" charset="0"/>
                                  </a:rPr>
                                  <m:t>𝒊</m:t>
                                </m:r>
                              </m:sub>
                            </m:sSub>
                          </m:den>
                        </m:f>
                        <m:r>
                          <a:rPr lang="en-IN" sz="2000" b="1" i="1">
                            <a:latin typeface="Cambria Math" panose="02040503050406030204" pitchFamily="18" charset="0"/>
                          </a:rPr>
                          <m:t>)</m:t>
                        </m:r>
                      </m:e>
                      <m:sup>
                        <m:r>
                          <a:rPr lang="en-IN" sz="2000" b="1" i="1">
                            <a:latin typeface="Cambria Math" panose="02040503050406030204" pitchFamily="18" charset="0"/>
                          </a:rPr>
                          <m:t>𝟐</m:t>
                        </m:r>
                      </m:sup>
                    </m:sSup>
                  </m:oMath>
                </a14:m>
                <a:r>
                  <a:rPr lang="en-IN" sz="2000" b="1" dirty="0"/>
                  <a:t>  </a:t>
                </a:r>
              </a:p>
              <a:p>
                <a:pPr marL="0" indent="0">
                  <a:buNone/>
                </a:pPr>
                <a:r>
                  <a:rPr lang="en-IN" sz="2000" b="1" dirty="0"/>
                  <a:t>                                                                           (since </a:t>
                </a:r>
                <a14:m>
                  <m:oMath xmlns:m="http://schemas.openxmlformats.org/officeDocument/2006/math">
                    <m:r>
                      <a:rPr lang="en-IN" sz="2000" b="1" i="1">
                        <a:latin typeface="Cambria Math" panose="02040503050406030204" pitchFamily="18" charset="0"/>
                      </a:rPr>
                      <m:t>𝑬</m:t>
                    </m:r>
                    <m:d>
                      <m:dPr>
                        <m:ctrlPr>
                          <a:rPr lang="en-IN" sz="2000" b="1" i="1">
                            <a:latin typeface="Cambria Math" panose="02040503050406030204" pitchFamily="18" charset="0"/>
                          </a:rPr>
                        </m:ctrlPr>
                      </m:dPr>
                      <m:e>
                        <m:sSup>
                          <m:sSupPr>
                            <m:ctrlPr>
                              <a:rPr lang="en-IN" sz="2000" b="1" i="1">
                                <a:latin typeface="Cambria Math" panose="02040503050406030204" pitchFamily="18" charset="0"/>
                              </a:rPr>
                            </m:ctrlPr>
                          </m:sSupPr>
                          <m:e>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e>
                          <m:sup>
                            <m:r>
                              <a:rPr lang="en-IN" sz="2000" b="1" i="1">
                                <a:latin typeface="Cambria Math" panose="02040503050406030204" pitchFamily="18" charset="0"/>
                              </a:rPr>
                              <m:t>∗</m:t>
                            </m:r>
                          </m:sup>
                        </m:sSup>
                      </m:e>
                    </m:d>
                    <m:r>
                      <a:rPr lang="en-IN" sz="2000" b="1" i="1">
                        <a:latin typeface="Cambria Math" panose="02040503050406030204" pitchFamily="18" charset="0"/>
                      </a:rPr>
                      <m:t>=</m:t>
                    </m:r>
                    <m:r>
                      <a:rPr lang="en-IN" sz="2000" b="1" i="1">
                        <a:latin typeface="Cambria Math" panose="02040503050406030204" pitchFamily="18" charset="0"/>
                      </a:rPr>
                      <m:t>𝟎</m:t>
                    </m:r>
                  </m:oMath>
                </a14:m>
                <a:r>
                  <a:rPr lang="en-IN" sz="2000" b="1" dirty="0"/>
                  <a:t>)</a:t>
                </a:r>
              </a:p>
              <a:p>
                <a:pPr marL="0" indent="0">
                  <a:buNone/>
                </a:pPr>
                <a:r>
                  <a:rPr lang="en-IN" sz="2000" b="1" dirty="0"/>
                  <a:t>                                    = </a:t>
                </a:r>
                <a14:m>
                  <m:oMath xmlns:m="http://schemas.openxmlformats.org/officeDocument/2006/math">
                    <m:f>
                      <m:fPr>
                        <m:ctrlPr>
                          <a:rPr lang="en-IN" sz="2000" b="1" i="1">
                            <a:latin typeface="Cambria Math" panose="02040503050406030204" pitchFamily="18" charset="0"/>
                          </a:rPr>
                        </m:ctrlPr>
                      </m:fPr>
                      <m:num>
                        <m:r>
                          <a:rPr lang="en-IN" sz="2000" b="1" i="1">
                            <a:latin typeface="Cambria Math" panose="02040503050406030204" pitchFamily="18" charset="0"/>
                          </a:rPr>
                          <m:t>𝟏</m:t>
                        </m:r>
                      </m:num>
                      <m:den>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den>
                    </m:f>
                    <m:r>
                      <a:rPr lang="en-IN" sz="2000" b="1" i="1">
                        <a:latin typeface="Cambria Math" panose="02040503050406030204" pitchFamily="18" charset="0"/>
                      </a:rPr>
                      <m:t>𝑬</m:t>
                    </m:r>
                    <m:d>
                      <m:dPr>
                        <m:ctrlPr>
                          <a:rPr lang="en-IN" sz="2000" b="1" i="1">
                            <a:latin typeface="Cambria Math" panose="02040503050406030204" pitchFamily="18" charset="0"/>
                          </a:rPr>
                        </m:ctrlPr>
                      </m:dPr>
                      <m:e>
                        <m:sSubSup>
                          <m:sSubSupPr>
                            <m:ctrlPr>
                              <a:rPr lang="en-IN" sz="2000" b="1" i="1">
                                <a:latin typeface="Cambria Math" panose="02040503050406030204" pitchFamily="18" charset="0"/>
                              </a:rPr>
                            </m:ctrlPr>
                          </m:sSubSupPr>
                          <m:e>
                            <m:r>
                              <a:rPr lang="en-IN" sz="2000" b="1" i="1">
                                <a:latin typeface="Cambria Math" panose="02040503050406030204" pitchFamily="18" charset="0"/>
                              </a:rPr>
                              <m:t>𝒖</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e>
                    </m:d>
                    <m:r>
                      <a:rPr lang="en-IN" sz="2000" b="1" i="1" smtClean="0">
                        <a:latin typeface="Cambria Math" panose="02040503050406030204" pitchFamily="18" charset="0"/>
                      </a:rPr>
                      <m:t>………………….</m:t>
                    </m:r>
                  </m:oMath>
                </a14:m>
                <a:r>
                  <a:rPr lang="en-IN" sz="2000" b="1" dirty="0"/>
                  <a:t> ( 8 )</a:t>
                </a:r>
              </a:p>
              <a:p>
                <a:pPr marL="0" indent="0">
                  <a:buNone/>
                </a:pPr>
                <a:r>
                  <a:rPr lang="en-IN" sz="2000" b="1" dirty="0"/>
                  <a:t>                                                                          ( since </a:t>
                </a:r>
                <a14:m>
                  <m:oMath xmlns:m="http://schemas.openxmlformats.org/officeDocument/2006/math">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r>
                      <a:rPr lang="en-IN" sz="2000" b="1" i="1">
                        <a:latin typeface="Cambria Math" panose="02040503050406030204" pitchFamily="18" charset="0"/>
                      </a:rPr>
                      <m:t> </m:t>
                    </m:r>
                    <m:r>
                      <a:rPr lang="en-IN" sz="2000" b="1" i="1">
                        <a:latin typeface="Cambria Math" panose="02040503050406030204" pitchFamily="18" charset="0"/>
                      </a:rPr>
                      <m:t>𝒌𝒏𝒐𝒘𝒏</m:t>
                    </m:r>
                    <m:r>
                      <a:rPr lang="en-IN" sz="2000" b="1" i="1">
                        <a:latin typeface="Cambria Math" panose="02040503050406030204" pitchFamily="18" charset="0"/>
                      </a:rPr>
                      <m:t>)</m:t>
                    </m:r>
                  </m:oMath>
                </a14:m>
                <a:endParaRPr lang="en-IN" sz="2000" b="1" dirty="0"/>
              </a:p>
              <a:p>
                <a:pPr marL="0" indent="0">
                  <a:buNone/>
                </a:pPr>
                <a:r>
                  <a:rPr lang="en-IN" sz="2000" b="1" dirty="0"/>
                  <a:t>                                    =   </a:t>
                </a:r>
                <a14:m>
                  <m:oMath xmlns:m="http://schemas.openxmlformats.org/officeDocument/2006/math">
                    <m:f>
                      <m:fPr>
                        <m:ctrlPr>
                          <a:rPr lang="en-IN" sz="2000" b="1" i="1">
                            <a:latin typeface="Cambria Math" panose="02040503050406030204" pitchFamily="18" charset="0"/>
                          </a:rPr>
                        </m:ctrlPr>
                      </m:fPr>
                      <m:num>
                        <m:r>
                          <a:rPr lang="en-IN" sz="2000" b="1" i="1">
                            <a:latin typeface="Cambria Math" panose="02040503050406030204" pitchFamily="18" charset="0"/>
                          </a:rPr>
                          <m:t>𝟏</m:t>
                        </m:r>
                      </m:num>
                      <m:den>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den>
                    </m:f>
                    <m:r>
                      <a:rPr lang="en-IN" sz="2000" b="1" i="1">
                        <a:latin typeface="Cambria Math" panose="02040503050406030204" pitchFamily="18" charset="0"/>
                      </a:rPr>
                      <m:t>(</m:t>
                    </m:r>
                    <m:sSubSup>
                      <m:sSubSupPr>
                        <m:ctrlPr>
                          <a:rPr lang="en-IN" sz="2000" b="1" i="1">
                            <a:latin typeface="Cambria Math" panose="02040503050406030204" pitchFamily="18" charset="0"/>
                          </a:rPr>
                        </m:ctrlPr>
                      </m:sSubSupPr>
                      <m:e>
                        <m:r>
                          <a:rPr lang="en-IN" sz="2000" b="1" i="1">
                            <a:latin typeface="Cambria Math" panose="02040503050406030204" pitchFamily="18" charset="0"/>
                          </a:rPr>
                          <m:t>𝝈</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oMath>
                </a14:m>
                <a:r>
                  <a:rPr lang="en-IN" sz="2000" b="1" dirty="0"/>
                  <a:t>)</a:t>
                </a:r>
              </a:p>
              <a:p>
                <a:endParaRPr lang="en-IN" b="1" dirty="0"/>
              </a:p>
            </p:txBody>
          </p:sp>
        </mc:Choice>
        <mc:Fallback xmlns="">
          <p:sp>
            <p:nvSpPr>
              <p:cNvPr id="3" name="Content Placeholder 2">
                <a:extLst>
                  <a:ext uri="{FF2B5EF4-FFF2-40B4-BE49-F238E27FC236}">
                    <a16:creationId xmlns:a16="http://schemas.microsoft.com/office/drawing/2014/main" id="{8CD798B1-1A44-4920-BEB1-143DFCAA1811}"/>
                  </a:ext>
                </a:extLst>
              </p:cNvPr>
              <p:cNvSpPr>
                <a:spLocks noGrp="1" noRot="1" noChangeAspect="1" noMove="1" noResize="1" noEditPoints="1" noAdjustHandles="1" noChangeArrowheads="1" noChangeShapeType="1" noTextEdit="1"/>
              </p:cNvSpPr>
              <p:nvPr>
                <p:ph idx="1"/>
              </p:nvPr>
            </p:nvSpPr>
            <p:spPr>
              <a:xfrm>
                <a:off x="1553597" y="421125"/>
                <a:ext cx="10174576" cy="5841135"/>
              </a:xfrm>
              <a:blipFill>
                <a:blip r:embed="rId2"/>
                <a:stretch>
                  <a:fillRect l="-659" t="-731"/>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BB016EB7-2B74-4882-8BD6-27242D2A7AA6}"/>
                  </a:ext>
                </a:extLst>
              </p:cNvPr>
              <p:cNvSpPr/>
              <p:nvPr/>
            </p:nvSpPr>
            <p:spPr>
              <a:xfrm>
                <a:off x="5632173" y="4797539"/>
                <a:ext cx="6096000" cy="681982"/>
              </a:xfrm>
              <a:prstGeom prst="rect">
                <a:avLst/>
              </a:prstGeom>
            </p:spPr>
            <p:txBody>
              <a:bodyPr>
                <a:spAutoFit/>
              </a:bodyPr>
              <a:lstStyle/>
              <a:p>
                <a:r>
                  <a:rPr lang="en-IN" dirty="0"/>
                  <a:t>( since </a:t>
                </a:r>
                <a14:m>
                  <m:oMath xmlns:m="http://schemas.openxmlformats.org/officeDocument/2006/math">
                    <m:r>
                      <a:rPr lang="en-IN" i="1">
                        <a:latin typeface="Cambria Math" panose="02040503050406030204" pitchFamily="18" charset="0"/>
                      </a:rPr>
                      <m:t>𝐸</m:t>
                    </m:r>
                    <m:d>
                      <m:dPr>
                        <m:ctrlPr>
                          <a:rPr lang="en-IN" i="1">
                            <a:latin typeface="Cambria Math" panose="02040503050406030204" pitchFamily="18" charset="0"/>
                          </a:rPr>
                        </m:ctrlPr>
                      </m:dPr>
                      <m:e>
                        <m:sSubSup>
                          <m:sSubSupPr>
                            <m:ctrlPr>
                              <a:rPr lang="en-IN" i="1">
                                <a:latin typeface="Cambria Math" panose="02040503050406030204" pitchFamily="18" charset="0"/>
                              </a:rPr>
                            </m:ctrlPr>
                          </m:sSubSupPr>
                          <m:e>
                            <m:r>
                              <a:rPr lang="en-IN" i="1">
                                <a:latin typeface="Cambria Math" panose="02040503050406030204" pitchFamily="18" charset="0"/>
                              </a:rPr>
                              <m:t>𝑢</m:t>
                            </m:r>
                          </m:e>
                          <m:sub>
                            <m:r>
                              <a:rPr lang="en-IN" i="1">
                                <a:latin typeface="Cambria Math" panose="02040503050406030204" pitchFamily="18" charset="0"/>
                              </a:rPr>
                              <m:t>𝑖</m:t>
                            </m:r>
                          </m:sub>
                          <m:sup>
                            <m:r>
                              <a:rPr lang="en-IN" i="1">
                                <a:latin typeface="Cambria Math" panose="02040503050406030204" pitchFamily="18" charset="0"/>
                              </a:rPr>
                              <m:t>2</m:t>
                            </m:r>
                          </m:sup>
                        </m:sSubSup>
                      </m:e>
                    </m:d>
                    <m:r>
                      <a:rPr lang="en-IN" i="1">
                        <a:latin typeface="Cambria Math" panose="02040503050406030204" pitchFamily="18" charset="0"/>
                      </a:rPr>
                      <m:t>=</m:t>
                    </m:r>
                    <m:sSubSup>
                      <m:sSubSupPr>
                        <m:ctrlPr>
                          <a:rPr lang="en-IN" i="1">
                            <a:latin typeface="Cambria Math" panose="02040503050406030204" pitchFamily="18" charset="0"/>
                          </a:rPr>
                        </m:ctrlPr>
                      </m:sSubSupPr>
                      <m:e>
                        <m:r>
                          <a:rPr lang="en-IN" i="1">
                            <a:latin typeface="Cambria Math" panose="02040503050406030204" pitchFamily="18" charset="0"/>
                          </a:rPr>
                          <m:t>𝜎</m:t>
                        </m:r>
                      </m:e>
                      <m:sub>
                        <m:r>
                          <a:rPr lang="en-IN" i="1">
                            <a:latin typeface="Cambria Math" panose="02040503050406030204" pitchFamily="18" charset="0"/>
                          </a:rPr>
                          <m:t>𝑖</m:t>
                        </m:r>
                      </m:sub>
                      <m:sup>
                        <m:r>
                          <a:rPr lang="en-IN" i="1">
                            <a:latin typeface="Cambria Math" panose="02040503050406030204" pitchFamily="18" charset="0"/>
                          </a:rPr>
                          <m:t>2</m:t>
                        </m:r>
                      </m:sup>
                    </m:sSubSup>
                  </m:oMath>
                </a14:m>
                <a:r>
                  <a:rPr lang="en-IN" dirty="0"/>
                  <a:t>)</a:t>
                </a:r>
              </a:p>
              <a:p>
                <a:r>
                  <a:rPr lang="en-IN" dirty="0"/>
                  <a:t>                                   </a:t>
                </a:r>
              </a:p>
            </p:txBody>
          </p:sp>
        </mc:Choice>
        <mc:Fallback xmlns="">
          <p:sp>
            <p:nvSpPr>
              <p:cNvPr id="4" name="Rectangle 3">
                <a:extLst>
                  <a:ext uri="{FF2B5EF4-FFF2-40B4-BE49-F238E27FC236}">
                    <a16:creationId xmlns:a16="http://schemas.microsoft.com/office/drawing/2014/main" id="{BB016EB7-2B74-4882-8BD6-27242D2A7AA6}"/>
                  </a:ext>
                </a:extLst>
              </p:cNvPr>
              <p:cNvSpPr>
                <a:spLocks noRot="1" noChangeAspect="1" noMove="1" noResize="1" noEditPoints="1" noAdjustHandles="1" noChangeArrowheads="1" noChangeShapeType="1" noTextEdit="1"/>
              </p:cNvSpPr>
              <p:nvPr/>
            </p:nvSpPr>
            <p:spPr>
              <a:xfrm>
                <a:off x="5632173" y="4797539"/>
                <a:ext cx="6096000" cy="681982"/>
              </a:xfrm>
              <a:prstGeom prst="rect">
                <a:avLst/>
              </a:prstGeom>
              <a:blipFill>
                <a:blip r:embed="rId3"/>
                <a:stretch>
                  <a:fillRect l="-900" t="-1786"/>
                </a:stretch>
              </a:blipFill>
            </p:spPr>
            <p:txBody>
              <a:bodyPr/>
              <a:lstStyle/>
              <a:p>
                <a:r>
                  <a:rPr lang="en-IN">
                    <a:noFill/>
                  </a:rPr>
                  <a:t> </a:t>
                </a:r>
              </a:p>
            </p:txBody>
          </p:sp>
        </mc:Fallback>
      </mc:AlternateContent>
      <p:sp>
        <p:nvSpPr>
          <p:cNvPr id="5" name="Rectangle 4">
            <a:extLst>
              <a:ext uri="{FF2B5EF4-FFF2-40B4-BE49-F238E27FC236}">
                <a16:creationId xmlns:a16="http://schemas.microsoft.com/office/drawing/2014/main" id="{C92D0E44-9BDA-4B41-A910-C4E2C8BE2E6C}"/>
              </a:ext>
            </a:extLst>
          </p:cNvPr>
          <p:cNvSpPr/>
          <p:nvPr/>
        </p:nvSpPr>
        <p:spPr>
          <a:xfrm>
            <a:off x="3354044" y="5294855"/>
            <a:ext cx="580608" cy="369332"/>
          </a:xfrm>
          <a:prstGeom prst="rect">
            <a:avLst/>
          </a:prstGeom>
        </p:spPr>
        <p:txBody>
          <a:bodyPr wrap="none">
            <a:spAutoFit/>
          </a:bodyPr>
          <a:lstStyle/>
          <a:p>
            <a:r>
              <a:rPr lang="en-IN" dirty="0"/>
              <a:t> </a:t>
            </a:r>
            <a:r>
              <a:rPr lang="en-IN" b="1" dirty="0"/>
              <a:t>= 1</a:t>
            </a:r>
          </a:p>
        </p:txBody>
      </p:sp>
    </p:spTree>
    <p:extLst>
      <p:ext uri="{BB962C8B-B14F-4D97-AF65-F5344CB8AC3E}">
        <p14:creationId xmlns:p14="http://schemas.microsoft.com/office/powerpoint/2010/main" val="951097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42C543-542A-494B-A4D3-D4DDEE623D5A}"/>
                  </a:ext>
                </a:extLst>
              </p:cNvPr>
              <p:cNvSpPr>
                <a:spLocks noGrp="1"/>
              </p:cNvSpPr>
              <p:nvPr>
                <p:ph idx="1"/>
              </p:nvPr>
            </p:nvSpPr>
            <p:spPr>
              <a:xfrm>
                <a:off x="980665" y="715618"/>
                <a:ext cx="10523951" cy="5195605"/>
              </a:xfrm>
            </p:spPr>
            <p:txBody>
              <a:bodyPr>
                <a:normAutofit/>
              </a:bodyPr>
              <a:lstStyle/>
              <a:p>
                <a:pPr marL="0" indent="0">
                  <a:buNone/>
                </a:pPr>
                <a:r>
                  <a:rPr lang="en-IN" sz="2000" b="1" dirty="0" err="1"/>
                  <a:t>i.e</a:t>
                </a:r>
                <a:r>
                  <a:rPr lang="en-IN" sz="2000" b="1" dirty="0"/>
                  <a:t>, the variance of transformed disturbance term </a:t>
                </a:r>
                <a14:m>
                  <m:oMath xmlns:m="http://schemas.openxmlformats.org/officeDocument/2006/math">
                    <m:sSubSup>
                      <m:sSubSupPr>
                        <m:ctrlPr>
                          <a:rPr lang="en-IN" sz="2000" b="1" i="1">
                            <a:latin typeface="Cambria Math" panose="02040503050406030204" pitchFamily="18" charset="0"/>
                          </a:rPr>
                        </m:ctrlPr>
                      </m:sSubSupPr>
                      <m:e>
                        <m:r>
                          <a:rPr lang="en-IN" sz="2000" b="1" i="1">
                            <a:latin typeface="Cambria Math" panose="02040503050406030204" pitchFamily="18" charset="0"/>
                          </a:rPr>
                          <m:t>𝒖</m:t>
                        </m:r>
                      </m:e>
                      <m:sub>
                        <m:r>
                          <a:rPr lang="en-IN" sz="2000" b="1" i="1">
                            <a:latin typeface="Cambria Math" panose="02040503050406030204" pitchFamily="18" charset="0"/>
                          </a:rPr>
                          <m:t>𝒊</m:t>
                        </m:r>
                      </m:sub>
                      <m:sup>
                        <m:r>
                          <a:rPr lang="en-IN" sz="2000" b="1" i="1">
                            <a:latin typeface="Cambria Math" panose="02040503050406030204" pitchFamily="18" charset="0"/>
                          </a:rPr>
                          <m:t>∗  </m:t>
                        </m:r>
                      </m:sup>
                    </m:sSubSup>
                  </m:oMath>
                </a14:m>
                <a:r>
                  <a:rPr lang="en-IN" sz="2000" b="1" dirty="0"/>
                  <a:t>is a constant . </a:t>
                </a:r>
              </a:p>
              <a:p>
                <a:pPr marL="0" indent="0">
                  <a:buNone/>
                </a:pPr>
                <a:r>
                  <a:rPr lang="en-IN" sz="2000" b="1" dirty="0"/>
                  <a:t>since we are all still </a:t>
                </a:r>
                <a:r>
                  <a:rPr lang="en-IN" sz="2000" b="1" dirty="0" err="1"/>
                  <a:t>retaning</a:t>
                </a:r>
                <a:r>
                  <a:rPr lang="en-IN" sz="2000" b="1" dirty="0"/>
                  <a:t> the other assumption of CLRM . </a:t>
                </a:r>
              </a:p>
              <a:p>
                <a:pPr marL="0" indent="0">
                  <a:buNone/>
                </a:pPr>
                <a:r>
                  <a:rPr lang="en-IN" sz="2000" b="1" dirty="0"/>
                  <a:t>under the transformation </a:t>
                </a:r>
                <a14:m>
                  <m:oMath xmlns:m="http://schemas.openxmlformats.org/officeDocument/2006/math">
                    <m:sSubSup>
                      <m:sSubSupPr>
                        <m:ctrlPr>
                          <a:rPr lang="en-IN" sz="2000" b="1" i="1">
                            <a:latin typeface="Cambria Math" panose="02040503050406030204" pitchFamily="18" charset="0"/>
                          </a:rPr>
                        </m:ctrlPr>
                      </m:sSubSupPr>
                      <m:e>
                        <m:r>
                          <a:rPr lang="en-IN" sz="2000" b="1" i="1">
                            <a:latin typeface="Cambria Math" panose="02040503050406030204" pitchFamily="18" charset="0"/>
                          </a:rPr>
                          <m:t>𝒖</m:t>
                        </m:r>
                      </m:e>
                      <m:sub>
                        <m:r>
                          <a:rPr lang="en-IN" sz="2000" b="1" i="1">
                            <a:latin typeface="Cambria Math" panose="02040503050406030204" pitchFamily="18" charset="0"/>
                          </a:rPr>
                          <m:t>𝒊</m:t>
                        </m:r>
                      </m:sub>
                      <m:sup>
                        <m:r>
                          <a:rPr lang="en-IN" sz="2000" b="1" i="1">
                            <a:latin typeface="Cambria Math" panose="02040503050406030204" pitchFamily="18" charset="0"/>
                          </a:rPr>
                          <m:t>∗  </m:t>
                        </m:r>
                      </m:sup>
                    </m:sSubSup>
                  </m:oMath>
                </a14:m>
                <a:r>
                  <a:rPr lang="en-IN" sz="2000" b="1" dirty="0"/>
                  <a:t> is homoscedastic , it suggest that if we apply OLS to the transformed model ( 6 )  it will be produced the estimator which are BLUE. </a:t>
                </a:r>
              </a:p>
              <a:p>
                <a:pPr marL="0" indent="0">
                  <a:buNone/>
                </a:pPr>
                <a:endParaRPr lang="en-IN" sz="2000" b="1" dirty="0"/>
              </a:p>
              <a:p>
                <a:pPr marL="0" indent="0">
                  <a:buNone/>
                </a:pPr>
                <a:r>
                  <a:rPr lang="en-IN" b="1" dirty="0">
                    <a:solidFill>
                      <a:srgbClr val="002060"/>
                    </a:solidFill>
                  </a:rPr>
                  <a:t>GLS ( </a:t>
                </a:r>
                <a:r>
                  <a:rPr lang="en-IN" b="1" dirty="0" err="1">
                    <a:solidFill>
                      <a:srgbClr val="002060"/>
                    </a:solidFill>
                  </a:rPr>
                  <a:t>Genralised</a:t>
                </a:r>
                <a:r>
                  <a:rPr lang="en-IN" b="1" dirty="0">
                    <a:solidFill>
                      <a:srgbClr val="002060"/>
                    </a:solidFill>
                  </a:rPr>
                  <a:t> least square ) </a:t>
                </a:r>
              </a:p>
              <a:p>
                <a:pPr marL="0" indent="0">
                  <a:buNone/>
                </a:pPr>
                <a:r>
                  <a:rPr lang="en-IN" b="1" dirty="0"/>
                  <a:t> </a:t>
                </a:r>
              </a:p>
              <a:p>
                <a:pPr marL="0" indent="0">
                  <a:buNone/>
                </a:pPr>
                <a:r>
                  <a:rPr lang="en-IN" sz="2000" b="1" dirty="0"/>
                  <a:t>The procedure of transforming the original variables in a such way that the transformed variable satisfy the assumption of CLRM and then apply OLS  to then is known as the GLS. </a:t>
                </a:r>
              </a:p>
              <a:p>
                <a:pPr marL="0" indent="0">
                  <a:buNone/>
                </a:pPr>
                <a:r>
                  <a:rPr lang="en-IN" sz="2000" b="1" dirty="0"/>
                  <a:t>The estimator thus obtained are known as GLS  estimators and it is observed that these are BLUE. </a:t>
                </a:r>
              </a:p>
            </p:txBody>
          </p:sp>
        </mc:Choice>
        <mc:Fallback xmlns="">
          <p:sp>
            <p:nvSpPr>
              <p:cNvPr id="3" name="Content Placeholder 2">
                <a:extLst>
                  <a:ext uri="{FF2B5EF4-FFF2-40B4-BE49-F238E27FC236}">
                    <a16:creationId xmlns:a16="http://schemas.microsoft.com/office/drawing/2014/main" id="{A742C543-542A-494B-A4D3-D4DDEE623D5A}"/>
                  </a:ext>
                </a:extLst>
              </p:cNvPr>
              <p:cNvSpPr>
                <a:spLocks noGrp="1" noRot="1" noChangeAspect="1" noMove="1" noResize="1" noEditPoints="1" noAdjustHandles="1" noChangeArrowheads="1" noChangeShapeType="1" noTextEdit="1"/>
              </p:cNvSpPr>
              <p:nvPr>
                <p:ph idx="1"/>
              </p:nvPr>
            </p:nvSpPr>
            <p:spPr>
              <a:xfrm>
                <a:off x="980665" y="715618"/>
                <a:ext cx="10523951" cy="5195605"/>
              </a:xfrm>
              <a:blipFill>
                <a:blip r:embed="rId2"/>
                <a:stretch>
                  <a:fillRect l="-1217" t="-1172" r="-985"/>
                </a:stretch>
              </a:blipFill>
            </p:spPr>
            <p:txBody>
              <a:bodyPr/>
              <a:lstStyle/>
              <a:p>
                <a:r>
                  <a:rPr lang="en-IN">
                    <a:noFill/>
                  </a:rPr>
                  <a:t> </a:t>
                </a:r>
              </a:p>
            </p:txBody>
          </p:sp>
        </mc:Fallback>
      </mc:AlternateContent>
    </p:spTree>
    <p:extLst>
      <p:ext uri="{BB962C8B-B14F-4D97-AF65-F5344CB8AC3E}">
        <p14:creationId xmlns:p14="http://schemas.microsoft.com/office/powerpoint/2010/main" val="29466094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F97DDC9-27EA-48B6-ADA8-3707DE91D050}"/>
                  </a:ext>
                </a:extLst>
              </p:cNvPr>
              <p:cNvSpPr>
                <a:spLocks noGrp="1"/>
              </p:cNvSpPr>
              <p:nvPr>
                <p:ph idx="1"/>
              </p:nvPr>
            </p:nvSpPr>
            <p:spPr>
              <a:xfrm>
                <a:off x="1103545" y="172278"/>
                <a:ext cx="10484195" cy="6513443"/>
              </a:xfrm>
            </p:spPr>
            <p:txBody>
              <a:bodyPr>
                <a:normAutofit fontScale="77500" lnSpcReduction="20000"/>
              </a:bodyPr>
              <a:lstStyle/>
              <a:p>
                <a:pPr marL="0" indent="0">
                  <a:buNone/>
                </a:pPr>
                <a:r>
                  <a:rPr lang="en-IN" b="1" dirty="0"/>
                  <a:t> METHOD            </a:t>
                </a:r>
                <a:endParaRPr lang="en-IN" dirty="0"/>
              </a:p>
              <a:p>
                <a:pPr marL="0" indent="0">
                  <a:buNone/>
                </a:pPr>
                <a:r>
                  <a:rPr lang="en-IN" b="1" dirty="0"/>
                  <a:t> </a:t>
                </a:r>
                <a:endParaRPr lang="en-IN" dirty="0"/>
              </a:p>
              <a:p>
                <a:pPr marL="0" indent="0">
                  <a:buNone/>
                </a:pPr>
                <a:r>
                  <a:rPr lang="en-IN" b="1" dirty="0"/>
                  <a:t>The actual mechanics pf </a:t>
                </a:r>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𝜷</m:t>
                        </m:r>
                      </m:e>
                      <m:sub>
                        <m:r>
                          <a:rPr lang="en-IN" b="1" i="1">
                            <a:latin typeface="Cambria Math" panose="02040503050406030204" pitchFamily="18" charset="0"/>
                          </a:rPr>
                          <m:t>𝟏</m:t>
                        </m:r>
                      </m:sub>
                      <m:sup>
                        <m:r>
                          <a:rPr lang="en-IN" b="1" i="1">
                            <a:latin typeface="Cambria Math" panose="02040503050406030204" pitchFamily="18" charset="0"/>
                          </a:rPr>
                          <m:t>∗</m:t>
                        </m:r>
                      </m:sup>
                    </m:sSubSup>
                  </m:oMath>
                </a14:m>
                <a:r>
                  <a:rPr lang="en-IN" b="1" dirty="0"/>
                  <a:t> and beta </a:t>
                </a:r>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𝜷</m:t>
                        </m:r>
                      </m:e>
                      <m:sub>
                        <m:r>
                          <a:rPr lang="en-IN" b="1" i="1">
                            <a:latin typeface="Cambria Math" panose="02040503050406030204" pitchFamily="18" charset="0"/>
                          </a:rPr>
                          <m:t>𝟐</m:t>
                        </m:r>
                      </m:sub>
                      <m:sup>
                        <m:r>
                          <a:rPr lang="en-IN" b="1" i="1">
                            <a:latin typeface="Cambria Math" panose="02040503050406030204" pitchFamily="18" charset="0"/>
                          </a:rPr>
                          <m:t>∗</m:t>
                        </m:r>
                      </m:sup>
                    </m:sSubSup>
                  </m:oMath>
                </a14:m>
                <a:r>
                  <a:rPr lang="en-IN" b="1" dirty="0"/>
                  <a:t> is from ( 7 ) </a:t>
                </a:r>
              </a:p>
              <a:p>
                <a:pPr marL="0" indent="0">
                  <a:buNone/>
                </a:pPr>
                <a:r>
                  <a:rPr lang="en-IN" b="1" dirty="0"/>
                  <a:t> </a:t>
                </a:r>
              </a:p>
              <a:p>
                <a:pPr marL="0" indent="0">
                  <a:buNone/>
                </a:pPr>
                <a14:m>
                  <m:oMathPara xmlns:m="http://schemas.openxmlformats.org/officeDocument/2006/math">
                    <m:oMathParaPr>
                      <m:jc m:val="centerGroup"/>
                    </m:oMathParaPr>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𝒀</m:t>
                          </m:r>
                        </m:e>
                        <m:sub>
                          <m:r>
                            <a:rPr lang="en-IN" b="1" i="1">
                              <a:latin typeface="Cambria Math" panose="02040503050406030204" pitchFamily="18" charset="0"/>
                            </a:rPr>
                            <m:t>𝒊</m:t>
                          </m:r>
                        </m:sub>
                        <m:sup>
                          <m:r>
                            <a:rPr lang="en-IN" b="1" i="1">
                              <a:latin typeface="Cambria Math" panose="02040503050406030204" pitchFamily="18" charset="0"/>
                            </a:rPr>
                            <m:t>∗</m:t>
                          </m:r>
                        </m:sup>
                      </m:sSubSup>
                      <m:r>
                        <a:rPr lang="en-IN" b="1" i="1">
                          <a:latin typeface="Cambria Math" panose="02040503050406030204" pitchFamily="18" charset="0"/>
                        </a:rPr>
                        <m:t>= </m:t>
                      </m:r>
                      <m:acc>
                        <m:accPr>
                          <m:chr m:val="̂"/>
                          <m:ctrlPr>
                            <a:rPr lang="en-IN" b="1" i="1">
                              <a:latin typeface="Cambria Math" panose="02040503050406030204" pitchFamily="18" charset="0"/>
                            </a:rPr>
                          </m:ctrlPr>
                        </m:accPr>
                        <m:e>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𝟏</m:t>
                                  </m:r>
                                </m:sub>
                              </m:sSub>
                            </m:e>
                            <m:sup>
                              <m:r>
                                <a:rPr lang="en-IN" b="1" i="1">
                                  <a:latin typeface="Cambria Math" panose="02040503050406030204" pitchFamily="18" charset="0"/>
                                </a:rPr>
                                <m:t>∗</m:t>
                              </m:r>
                            </m:sup>
                          </m:sSup>
                        </m:e>
                      </m:acc>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𝟎</m:t>
                              </m:r>
                              <m:r>
                                <a:rPr lang="en-IN" b="1" i="1">
                                  <a:latin typeface="Cambria Math" panose="02040503050406030204" pitchFamily="18" charset="0"/>
                                </a:rPr>
                                <m:t>𝒊</m:t>
                              </m:r>
                            </m:sub>
                          </m:sSub>
                        </m:e>
                        <m:sup>
                          <m:r>
                            <a:rPr lang="en-IN" b="1" i="1">
                              <a:latin typeface="Cambria Math" panose="02040503050406030204" pitchFamily="18" charset="0"/>
                            </a:rPr>
                            <m:t>∗</m:t>
                          </m:r>
                        </m:sup>
                      </m:sSup>
                      <m:r>
                        <a:rPr lang="en-IN" b="1" i="1">
                          <a:latin typeface="Cambria Math" panose="02040503050406030204" pitchFamily="18" charset="0"/>
                        </a:rPr>
                        <m:t>+</m:t>
                      </m:r>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acc>
                                <m:accPr>
                                  <m:chr m:val="̂"/>
                                  <m:ctrlPr>
                                    <a:rPr lang="en-IN" b="1" i="1">
                                      <a:latin typeface="Cambria Math" panose="02040503050406030204" pitchFamily="18" charset="0"/>
                                    </a:rPr>
                                  </m:ctrlPr>
                                </m:accPr>
                                <m:e>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sub>
                                      </m:sSub>
                                    </m:e>
                                    <m:sup>
                                      <m:r>
                                        <a:rPr lang="en-IN" b="1" i="1">
                                          <a:latin typeface="Cambria Math" panose="02040503050406030204" pitchFamily="18" charset="0"/>
                                        </a:rPr>
                                        <m:t>∗</m:t>
                                      </m:r>
                                    </m:sup>
                                  </m:sSup>
                                </m:e>
                              </m:acc>
                              <m:r>
                                <a:rPr lang="en-IN" b="1" i="1">
                                  <a:latin typeface="Cambria Math" panose="02040503050406030204" pitchFamily="18" charset="0"/>
                                </a:rPr>
                                <m:t>𝑿</m:t>
                              </m:r>
                            </m:e>
                            <m:sub>
                              <m:r>
                                <a:rPr lang="en-IN" b="1" i="1">
                                  <a:latin typeface="Cambria Math" panose="02040503050406030204" pitchFamily="18" charset="0"/>
                                </a:rPr>
                                <m:t>𝒊</m:t>
                              </m:r>
                            </m:sub>
                          </m:sSub>
                        </m:e>
                        <m:sup>
                          <m:r>
                            <a:rPr lang="en-IN" b="1" i="1">
                              <a:latin typeface="Cambria Math" panose="02040503050406030204" pitchFamily="18" charset="0"/>
                            </a:rPr>
                            <m:t>∗</m:t>
                          </m:r>
                        </m:sup>
                      </m:sSup>
                      <m:r>
                        <a:rPr lang="en-IN" b="1" i="1">
                          <a:latin typeface="Cambria Math" panose="02040503050406030204" pitchFamily="18" charset="0"/>
                        </a:rPr>
                        <m:t>+</m:t>
                      </m:r>
                      <m:acc>
                        <m:accPr>
                          <m:chr m:val="̂"/>
                          <m:ctrlPr>
                            <a:rPr lang="en-IN" b="1" i="1">
                              <a:latin typeface="Cambria Math" panose="02040503050406030204" pitchFamily="18" charset="0"/>
                            </a:rPr>
                          </m:ctrlPr>
                        </m:accPr>
                        <m:e>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𝒖</m:t>
                                  </m:r>
                                </m:e>
                                <m:sub>
                                  <m:r>
                                    <a:rPr lang="en-IN" b="1" i="1">
                                      <a:latin typeface="Cambria Math" panose="02040503050406030204" pitchFamily="18" charset="0"/>
                                    </a:rPr>
                                    <m:t>𝒊</m:t>
                                  </m:r>
                                </m:sub>
                              </m:sSub>
                            </m:e>
                            <m:sup>
                              <m:r>
                                <a:rPr lang="en-IN" b="1" i="1">
                                  <a:latin typeface="Cambria Math" panose="02040503050406030204" pitchFamily="18" charset="0"/>
                                </a:rPr>
                                <m:t>∗</m:t>
                              </m:r>
                            </m:sup>
                          </m:sSup>
                        </m:e>
                      </m:acc>
                    </m:oMath>
                  </m:oMathPara>
                </a14:m>
                <a:endParaRPr lang="en-IN" b="1" dirty="0"/>
              </a:p>
              <a:p>
                <a:pPr marL="0" indent="0">
                  <a:buNone/>
                </a:pPr>
                <a:r>
                  <a:rPr lang="en-IN" b="1" dirty="0"/>
                  <a:t> Consider , the unweighted least square method which minimises</a:t>
                </a:r>
              </a:p>
              <a:p>
                <a:pPr marL="0" indent="0">
                  <a:buNone/>
                </a:pPr>
                <a:endParaRPr lang="en-IN" b="1" dirty="0"/>
              </a:p>
              <a:p>
                <a:pPr marL="0" indent="0">
                  <a:buNone/>
                </a:pPr>
                <a14:m>
                  <m:oMathPara xmlns:m="http://schemas.openxmlformats.org/officeDocument/2006/math">
                    <m:oMathParaPr>
                      <m:jc m:val="centerGroup"/>
                    </m:oMathParaPr>
                    <m:oMath xmlns:m="http://schemas.openxmlformats.org/officeDocument/2006/math">
                      <m:nary>
                        <m:naryPr>
                          <m:chr m:val="∑"/>
                          <m:limLoc m:val="undOvr"/>
                          <m:subHide m:val="on"/>
                          <m:supHide m:val="on"/>
                          <m:ctrlPr>
                            <a:rPr lang="en-IN" b="1" i="1">
                              <a:latin typeface="Cambria Math" panose="02040503050406030204" pitchFamily="18" charset="0"/>
                            </a:rPr>
                          </m:ctrlPr>
                        </m:naryPr>
                        <m:sub/>
                        <m:sup/>
                        <m:e>
                          <m:acc>
                            <m:accPr>
                              <m:chr m:val="̂"/>
                              <m:ctrlPr>
                                <a:rPr lang="en-IN" b="1" i="1">
                                  <a:latin typeface="Cambria Math" panose="02040503050406030204" pitchFamily="18" charset="0"/>
                                </a:rPr>
                              </m:ctrlPr>
                            </m:accPr>
                            <m:e>
                              <m:sSubSup>
                                <m:sSubSupPr>
                                  <m:ctrlPr>
                                    <a:rPr lang="en-IN" b="1" i="1">
                                      <a:latin typeface="Cambria Math" panose="02040503050406030204" pitchFamily="18" charset="0"/>
                                    </a:rPr>
                                  </m:ctrlPr>
                                </m:sSubSupPr>
                                <m:e>
                                  <m:r>
                                    <a:rPr lang="en-IN" b="1" i="1">
                                      <a:latin typeface="Cambria Math" panose="02040503050406030204" pitchFamily="18" charset="0"/>
                                    </a:rPr>
                                    <m:t>𝒖</m:t>
                                  </m:r>
                                </m:e>
                                <m:sub>
                                  <m:r>
                                    <a:rPr lang="en-IN" b="1" i="1">
                                      <a:latin typeface="Cambria Math" panose="02040503050406030204" pitchFamily="18" charset="0"/>
                                    </a:rPr>
                                    <m:t>𝒊</m:t>
                                  </m:r>
                                </m:sub>
                                <m:sup>
                                  <m:r>
                                    <a:rPr lang="en-IN" b="1" i="1">
                                      <a:latin typeface="Cambria Math" panose="02040503050406030204" pitchFamily="18" charset="0"/>
                                    </a:rPr>
                                    <m:t>𝟐</m:t>
                                  </m:r>
                                  <m:r>
                                    <a:rPr lang="en-IN" b="1" i="1">
                                      <a:latin typeface="Cambria Math" panose="02040503050406030204" pitchFamily="18" charset="0"/>
                                    </a:rPr>
                                    <m:t>∗</m:t>
                                  </m:r>
                                </m:sup>
                              </m:sSubSup>
                            </m:e>
                          </m:acc>
                        </m:e>
                      </m:nary>
                      <m:r>
                        <a:rPr lang="en-IN" b="1" i="1">
                          <a:latin typeface="Cambria Math" panose="02040503050406030204" pitchFamily="18" charset="0"/>
                        </a:rPr>
                        <m:t> </m:t>
                      </m:r>
                      <m:r>
                        <a:rPr lang="en-IN" b="1" i="1" smtClean="0">
                          <a:latin typeface="Cambria Math" panose="02040503050406030204" pitchFamily="18" charset="0"/>
                        </a:rPr>
                        <m:t>  = </m:t>
                      </m:r>
                      <m:nary>
                        <m:naryPr>
                          <m:chr m:val="∑"/>
                          <m:limLoc m:val="undOvr"/>
                          <m:subHide m:val="on"/>
                          <m:supHide m:val="on"/>
                          <m:ctrlPr>
                            <a:rPr lang="en-IN" b="1" i="1">
                              <a:latin typeface="Cambria Math" panose="02040503050406030204" pitchFamily="18" charset="0"/>
                            </a:rPr>
                          </m:ctrlPr>
                        </m:naryPr>
                        <m:sub/>
                        <m:sup/>
                        <m:e>
                          <m:r>
                            <a:rPr lang="en-IN" b="1" i="1">
                              <a:latin typeface="Cambria Math" panose="02040503050406030204" pitchFamily="18" charset="0"/>
                            </a:rPr>
                            <m:t>(</m:t>
                          </m:r>
                          <m:sSup>
                            <m:sSupPr>
                              <m:ctrlPr>
                                <a:rPr lang="en-IN" b="1" i="1">
                                  <a:latin typeface="Cambria Math" panose="02040503050406030204" pitchFamily="18" charset="0"/>
                                </a:rPr>
                              </m:ctrlPr>
                            </m:sSupPr>
                            <m:e>
                              <m:sSubSup>
                                <m:sSubSupPr>
                                  <m:ctrlPr>
                                    <a:rPr lang="en-IN" b="1" i="1">
                                      <a:latin typeface="Cambria Math" panose="02040503050406030204" pitchFamily="18" charset="0"/>
                                    </a:rPr>
                                  </m:ctrlPr>
                                </m:sSubSupPr>
                                <m:e>
                                  <m:r>
                                    <a:rPr lang="en-IN" b="1" i="1">
                                      <a:latin typeface="Cambria Math" panose="02040503050406030204" pitchFamily="18" charset="0"/>
                                    </a:rPr>
                                    <m:t>𝒀</m:t>
                                  </m:r>
                                </m:e>
                                <m:sub>
                                  <m:r>
                                    <a:rPr lang="en-IN" b="1" i="1">
                                      <a:latin typeface="Cambria Math" panose="02040503050406030204" pitchFamily="18" charset="0"/>
                                    </a:rPr>
                                    <m:t>𝒊</m:t>
                                  </m:r>
                                </m:sub>
                                <m:sup>
                                  <m:r>
                                    <a:rPr lang="en-IN" b="1" i="1">
                                      <a:latin typeface="Cambria Math" panose="02040503050406030204" pitchFamily="18" charset="0"/>
                                    </a:rPr>
                                    <m:t>∗</m:t>
                                  </m:r>
                                </m:sup>
                              </m:sSubSup>
                              <m:r>
                                <a:rPr lang="en-IN" b="1" i="1">
                                  <a:latin typeface="Cambria Math" panose="02040503050406030204" pitchFamily="18" charset="0"/>
                                </a:rPr>
                                <m:t>−</m:t>
                              </m:r>
                              <m:acc>
                                <m:accPr>
                                  <m:chr m:val="̂"/>
                                  <m:ctrlPr>
                                    <a:rPr lang="en-IN" b="1" i="1">
                                      <a:latin typeface="Cambria Math" panose="02040503050406030204" pitchFamily="18" charset="0"/>
                                    </a:rPr>
                                  </m:ctrlPr>
                                </m:accPr>
                                <m:e>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𝟏</m:t>
                                          </m:r>
                                        </m:sub>
                                      </m:sSub>
                                    </m:e>
                                    <m:sup>
                                      <m:r>
                                        <a:rPr lang="en-IN" b="1" i="1">
                                          <a:latin typeface="Cambria Math" panose="02040503050406030204" pitchFamily="18" charset="0"/>
                                        </a:rPr>
                                        <m:t>∗</m:t>
                                      </m:r>
                                    </m:sup>
                                  </m:sSup>
                                </m:e>
                              </m:acc>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𝟎</m:t>
                                      </m:r>
                                      <m:r>
                                        <a:rPr lang="en-IN" b="1" i="1">
                                          <a:latin typeface="Cambria Math" panose="02040503050406030204" pitchFamily="18" charset="0"/>
                                        </a:rPr>
                                        <m:t>𝒊</m:t>
                                      </m:r>
                                    </m:sub>
                                  </m:sSub>
                                </m:e>
                                <m:sup>
                                  <m:r>
                                    <a:rPr lang="en-IN" b="1" i="1">
                                      <a:latin typeface="Cambria Math" panose="02040503050406030204" pitchFamily="18" charset="0"/>
                                    </a:rPr>
                                    <m:t>∗</m:t>
                                  </m:r>
                                </m:sup>
                              </m:sSup>
                              <m:r>
                                <a:rPr lang="en-IN" b="1" i="1">
                                  <a:latin typeface="Cambria Math" panose="02040503050406030204" pitchFamily="18" charset="0"/>
                                </a:rPr>
                                <m:t>− </m:t>
                              </m:r>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acc>
                                        <m:accPr>
                                          <m:chr m:val="̂"/>
                                          <m:ctrlPr>
                                            <a:rPr lang="en-IN" b="1" i="1">
                                              <a:latin typeface="Cambria Math" panose="02040503050406030204" pitchFamily="18" charset="0"/>
                                            </a:rPr>
                                          </m:ctrlPr>
                                        </m:accPr>
                                        <m:e>
                                          <m:sSup>
                                            <m:sSupPr>
                                              <m:ctrlPr>
                                                <a:rPr lang="en-IN" b="1" i="1">
                                                  <a:latin typeface="Cambria Math" panose="02040503050406030204" pitchFamily="18" charset="0"/>
                                                </a:rPr>
                                              </m:ctrlPr>
                                            </m:sSup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sub>
                                              </m:sSub>
                                            </m:e>
                                            <m:sup>
                                              <m:r>
                                                <a:rPr lang="en-IN" b="1" i="1">
                                                  <a:latin typeface="Cambria Math" panose="02040503050406030204" pitchFamily="18" charset="0"/>
                                                </a:rPr>
                                                <m:t>∗</m:t>
                                              </m:r>
                                            </m:sup>
                                          </m:sSup>
                                        </m:e>
                                      </m:acc>
                                      <m:r>
                                        <a:rPr lang="en-IN" b="1" i="1">
                                          <a:latin typeface="Cambria Math" panose="02040503050406030204" pitchFamily="18" charset="0"/>
                                        </a:rPr>
                                        <m:t>𝑿</m:t>
                                      </m:r>
                                    </m:e>
                                    <m:sub>
                                      <m:r>
                                        <a:rPr lang="en-IN" b="1" i="1">
                                          <a:latin typeface="Cambria Math" panose="02040503050406030204" pitchFamily="18" charset="0"/>
                                        </a:rPr>
                                        <m:t>𝒊</m:t>
                                      </m:r>
                                    </m:sub>
                                  </m:sSub>
                                </m:e>
                                <m:sup>
                                  <m:r>
                                    <a:rPr lang="en-IN" b="1" i="1">
                                      <a:latin typeface="Cambria Math" panose="02040503050406030204" pitchFamily="18" charset="0"/>
                                    </a:rPr>
                                    <m:t>∗</m:t>
                                  </m:r>
                                </m:sup>
                              </m:sSup>
                              <m:r>
                                <a:rPr lang="en-IN" b="1" i="1">
                                  <a:latin typeface="Cambria Math" panose="02040503050406030204" pitchFamily="18" charset="0"/>
                                </a:rPr>
                                <m:t>)</m:t>
                              </m:r>
                            </m:e>
                            <m:sup>
                              <m:r>
                                <a:rPr lang="en-IN" b="1" i="1">
                                  <a:latin typeface="Cambria Math" panose="02040503050406030204" pitchFamily="18" charset="0"/>
                                </a:rPr>
                                <m:t>𝟐</m:t>
                              </m:r>
                            </m:sup>
                          </m:sSup>
                        </m:e>
                      </m:nary>
                    </m:oMath>
                  </m:oMathPara>
                </a14:m>
                <a:endParaRPr lang="en-IN" b="1" dirty="0"/>
              </a:p>
              <a:p>
                <a:pPr marL="0" indent="0">
                  <a:buNone/>
                </a:pPr>
                <a:endParaRPr lang="en-IN" b="1" dirty="0"/>
              </a:p>
              <a:p>
                <a:pPr marL="0" indent="0">
                  <a:buNone/>
                </a:pPr>
                <a:r>
                  <a:rPr lang="en-IN" b="1" dirty="0"/>
                  <a:t>That is, </a:t>
                </a:r>
                <a14:m>
                  <m:oMath xmlns:m="http://schemas.openxmlformats.org/officeDocument/2006/math">
                    <m:nary>
                      <m:naryPr>
                        <m:chr m:val="∑"/>
                        <m:limLoc m:val="undOvr"/>
                        <m:subHide m:val="on"/>
                        <m:supHide m:val="on"/>
                        <m:ctrlPr>
                          <a:rPr lang="en-IN" b="1" i="1">
                            <a:latin typeface="Cambria Math" panose="02040503050406030204" pitchFamily="18" charset="0"/>
                          </a:rPr>
                        </m:ctrlPr>
                      </m:naryPr>
                      <m:sub/>
                      <m:sup/>
                      <m:e>
                        <m:sSup>
                          <m:sSupPr>
                            <m:ctrlPr>
                              <a:rPr lang="en-IN" b="1" i="1">
                                <a:latin typeface="Cambria Math" panose="02040503050406030204" pitchFamily="18" charset="0"/>
                              </a:rPr>
                            </m:ctrlPr>
                          </m:sSupPr>
                          <m:e>
                            <m:r>
                              <a:rPr lang="en-IN" b="1" i="1">
                                <a:latin typeface="Cambria Math" panose="02040503050406030204" pitchFamily="18" charset="0"/>
                              </a:rPr>
                              <m:t>(</m:t>
                            </m:r>
                            <m:f>
                              <m:fPr>
                                <m:ctrlPr>
                                  <a:rPr lang="en-IN" b="1" i="1">
                                    <a:latin typeface="Cambria Math" panose="02040503050406030204" pitchFamily="18" charset="0"/>
                                  </a:rPr>
                                </m:ctrlPr>
                              </m:fPr>
                              <m:num>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𝒖</m:t>
                                        </m:r>
                                      </m:e>
                                      <m:sub>
                                        <m:r>
                                          <a:rPr lang="en-IN" b="1" i="1">
                                            <a:latin typeface="Cambria Math" panose="02040503050406030204" pitchFamily="18" charset="0"/>
                                          </a:rPr>
                                          <m:t>𝒊</m:t>
                                        </m:r>
                                      </m:sub>
                                    </m:sSub>
                                  </m:e>
                                </m:acc>
                              </m:num>
                              <m:den>
                                <m:sSub>
                                  <m:sSubPr>
                                    <m:ctrlPr>
                                      <a:rPr lang="en-IN" b="1" i="1">
                                        <a:latin typeface="Cambria Math" panose="02040503050406030204" pitchFamily="18" charset="0"/>
                                      </a:rPr>
                                    </m:ctrlPr>
                                  </m:sSubPr>
                                  <m:e>
                                    <m:r>
                                      <a:rPr lang="en-IN" b="1" i="1">
                                        <a:latin typeface="Cambria Math" panose="02040503050406030204" pitchFamily="18" charset="0"/>
                                      </a:rPr>
                                      <m:t>𝝈</m:t>
                                    </m:r>
                                  </m:e>
                                  <m:sub>
                                    <m:r>
                                      <a:rPr lang="en-IN" b="1" i="1">
                                        <a:latin typeface="Cambria Math" panose="02040503050406030204" pitchFamily="18" charset="0"/>
                                      </a:rPr>
                                      <m:t>𝒊</m:t>
                                    </m:r>
                                  </m:sub>
                                </m:sSub>
                              </m:den>
                            </m:f>
                            <m:r>
                              <a:rPr lang="en-IN" b="1" i="1">
                                <a:latin typeface="Cambria Math" panose="02040503050406030204" pitchFamily="18" charset="0"/>
                              </a:rPr>
                              <m:t>)</m:t>
                            </m:r>
                          </m:e>
                          <m:sup>
                            <m:r>
                              <a:rPr lang="en-IN" b="1" i="1">
                                <a:latin typeface="Cambria Math" panose="02040503050406030204" pitchFamily="18" charset="0"/>
                              </a:rPr>
                              <m:t>𝟐</m:t>
                            </m:r>
                          </m:sup>
                        </m:sSup>
                        <m:r>
                          <a:rPr lang="en-IN" b="1" i="1">
                            <a:latin typeface="Cambria Math" panose="02040503050406030204" pitchFamily="18" charset="0"/>
                          </a:rPr>
                          <m:t>= </m:t>
                        </m:r>
                        <m:nary>
                          <m:naryPr>
                            <m:chr m:val="∑"/>
                            <m:limLoc m:val="undOvr"/>
                            <m:subHide m:val="on"/>
                            <m:supHide m:val="on"/>
                            <m:ctrlPr>
                              <a:rPr lang="en-IN" b="1" i="1">
                                <a:latin typeface="Cambria Math" panose="02040503050406030204" pitchFamily="18" charset="0"/>
                              </a:rPr>
                            </m:ctrlPr>
                          </m:naryPr>
                          <m:sub/>
                          <m:sup/>
                          <m:e>
                            <m:r>
                              <a:rPr lang="en-IN" b="1" i="1">
                                <a:latin typeface="Cambria Math" panose="02040503050406030204" pitchFamily="18" charset="0"/>
                              </a:rPr>
                              <m:t>[(</m:t>
                            </m:r>
                          </m:e>
                        </m:nary>
                      </m:e>
                    </m:nary>
                    <m:f>
                      <m:fPr>
                        <m:ctrlPr>
                          <a:rPr lang="en-IN" b="1" i="1">
                            <a:latin typeface="Cambria Math" panose="02040503050406030204" pitchFamily="18" charset="0"/>
                          </a:rPr>
                        </m:ctrlPr>
                      </m:fPr>
                      <m:num>
                        <m:sSub>
                          <m:sSubPr>
                            <m:ctrlPr>
                              <a:rPr lang="en-IN" b="1" i="1">
                                <a:latin typeface="Cambria Math" panose="02040503050406030204" pitchFamily="18" charset="0"/>
                              </a:rPr>
                            </m:ctrlPr>
                          </m:sSubPr>
                          <m:e>
                            <m:r>
                              <a:rPr lang="en-IN" b="1" i="1">
                                <a:latin typeface="Cambria Math" panose="02040503050406030204" pitchFamily="18" charset="0"/>
                              </a:rPr>
                              <m:t>𝒀</m:t>
                            </m:r>
                          </m:e>
                          <m:sub>
                            <m:r>
                              <a:rPr lang="en-IN" b="1" i="1">
                                <a:latin typeface="Cambria Math" panose="02040503050406030204" pitchFamily="18" charset="0"/>
                              </a:rPr>
                              <m:t>𝒊</m:t>
                            </m:r>
                          </m:sub>
                        </m:sSub>
                      </m:num>
                      <m:den>
                        <m:sSub>
                          <m:sSubPr>
                            <m:ctrlPr>
                              <a:rPr lang="en-IN" b="1" i="1">
                                <a:latin typeface="Cambria Math" panose="02040503050406030204" pitchFamily="18" charset="0"/>
                              </a:rPr>
                            </m:ctrlPr>
                          </m:sSubPr>
                          <m:e>
                            <m:r>
                              <a:rPr lang="en-IN" b="1" i="1">
                                <a:latin typeface="Cambria Math" panose="02040503050406030204" pitchFamily="18" charset="0"/>
                              </a:rPr>
                              <m:t>𝝈</m:t>
                            </m:r>
                          </m:e>
                          <m:sub>
                            <m:r>
                              <a:rPr lang="en-IN" b="1" i="1">
                                <a:latin typeface="Cambria Math" panose="02040503050406030204" pitchFamily="18" charset="0"/>
                              </a:rPr>
                              <m:t>𝒊</m:t>
                            </m:r>
                          </m:sub>
                        </m:sSub>
                      </m:den>
                    </m:f>
                    <m:r>
                      <a:rPr lang="en-IN" b="1" i="1">
                        <a:latin typeface="Cambria Math" panose="02040503050406030204" pitchFamily="18" charset="0"/>
                      </a:rPr>
                      <m:t>)− </m:t>
                    </m:r>
                    <m:sSup>
                      <m:sSupPr>
                        <m:ctrlPr>
                          <a:rPr lang="en-IN" b="1" i="1">
                            <a:latin typeface="Cambria Math" panose="02040503050406030204" pitchFamily="18" charset="0"/>
                          </a:rPr>
                        </m:ctrlPr>
                      </m:sSupPr>
                      <m:e>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𝟏</m:t>
                                </m:r>
                              </m:sub>
                            </m:sSub>
                          </m:e>
                        </m:acc>
                      </m:e>
                      <m:sup>
                        <m:r>
                          <a:rPr lang="en-IN" b="1" i="1">
                            <a:latin typeface="Cambria Math" panose="02040503050406030204" pitchFamily="18" charset="0"/>
                          </a:rPr>
                          <m:t>∗</m:t>
                        </m:r>
                      </m:sup>
                    </m:sSup>
                    <m:d>
                      <m:dPr>
                        <m:ctrlPr>
                          <a:rPr lang="en-IN" b="1" i="1">
                            <a:latin typeface="Cambria Math" panose="02040503050406030204" pitchFamily="18" charset="0"/>
                          </a:rPr>
                        </m:ctrlPr>
                      </m:dPr>
                      <m:e>
                        <m:f>
                          <m:fPr>
                            <m:ctrlPr>
                              <a:rPr lang="en-IN" b="1" i="1">
                                <a:latin typeface="Cambria Math" panose="02040503050406030204" pitchFamily="18" charset="0"/>
                              </a:rPr>
                            </m:ctrlPr>
                          </m:fPr>
                          <m:num>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𝟎</m:t>
                                </m:r>
                                <m:r>
                                  <a:rPr lang="en-IN" b="1" i="1">
                                    <a:latin typeface="Cambria Math" panose="02040503050406030204" pitchFamily="18" charset="0"/>
                                  </a:rPr>
                                  <m:t>𝒊</m:t>
                                </m:r>
                              </m:sub>
                            </m:sSub>
                          </m:num>
                          <m:den>
                            <m:sSub>
                              <m:sSubPr>
                                <m:ctrlPr>
                                  <a:rPr lang="en-IN" b="1" i="1">
                                    <a:latin typeface="Cambria Math" panose="02040503050406030204" pitchFamily="18" charset="0"/>
                                  </a:rPr>
                                </m:ctrlPr>
                              </m:sSubPr>
                              <m:e>
                                <m:r>
                                  <a:rPr lang="en-IN" b="1" i="1">
                                    <a:latin typeface="Cambria Math" panose="02040503050406030204" pitchFamily="18" charset="0"/>
                                  </a:rPr>
                                  <m:t>𝝈</m:t>
                                </m:r>
                              </m:e>
                              <m:sub>
                                <m:r>
                                  <a:rPr lang="en-IN" b="1" i="1">
                                    <a:latin typeface="Cambria Math" panose="02040503050406030204" pitchFamily="18" charset="0"/>
                                  </a:rPr>
                                  <m:t>𝒊</m:t>
                                </m:r>
                              </m:sub>
                            </m:sSub>
                          </m:den>
                        </m:f>
                      </m:e>
                    </m:d>
                    <m:r>
                      <a:rPr lang="en-IN" b="1" i="1">
                        <a:latin typeface="Cambria Math" panose="02040503050406030204" pitchFamily="18" charset="0"/>
                      </a:rPr>
                      <m:t>−</m:t>
                    </m:r>
                    <m:sSup>
                      <m:sSupPr>
                        <m:ctrlPr>
                          <a:rPr lang="en-IN" b="1" i="1">
                            <a:latin typeface="Cambria Math" panose="02040503050406030204" pitchFamily="18" charset="0"/>
                          </a:rPr>
                        </m:ctrlPr>
                      </m:sSupPr>
                      <m:e>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sub>
                            </m:sSub>
                          </m:e>
                        </m:acc>
                      </m:e>
                      <m:sup>
                        <m:r>
                          <a:rPr lang="en-IN" b="1" i="1">
                            <a:latin typeface="Cambria Math" panose="02040503050406030204" pitchFamily="18" charset="0"/>
                          </a:rPr>
                          <m:t>∗</m:t>
                        </m:r>
                      </m:sup>
                    </m:sSup>
                    <m:r>
                      <a:rPr lang="en-IN" b="1" i="1">
                        <a:latin typeface="Cambria Math" panose="02040503050406030204" pitchFamily="18" charset="0"/>
                      </a:rPr>
                      <m:t>(</m:t>
                    </m:r>
                    <m:f>
                      <m:fPr>
                        <m:ctrlPr>
                          <a:rPr lang="en-IN" b="1" i="1">
                            <a:latin typeface="Cambria Math" panose="02040503050406030204" pitchFamily="18" charset="0"/>
                          </a:rPr>
                        </m:ctrlPr>
                      </m:fPr>
                      <m:num>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𝒊</m:t>
                            </m:r>
                          </m:sub>
                        </m:sSub>
                      </m:num>
                      <m:den>
                        <m:sSub>
                          <m:sSubPr>
                            <m:ctrlPr>
                              <a:rPr lang="en-IN" b="1" i="1">
                                <a:latin typeface="Cambria Math" panose="02040503050406030204" pitchFamily="18" charset="0"/>
                              </a:rPr>
                            </m:ctrlPr>
                          </m:sSubPr>
                          <m:e>
                            <m:r>
                              <a:rPr lang="en-IN" b="1" i="1">
                                <a:latin typeface="Cambria Math" panose="02040503050406030204" pitchFamily="18" charset="0"/>
                              </a:rPr>
                              <m:t>𝝈</m:t>
                            </m:r>
                          </m:e>
                          <m:sub>
                            <m:r>
                              <a:rPr lang="en-IN" b="1" i="1">
                                <a:latin typeface="Cambria Math" panose="02040503050406030204" pitchFamily="18" charset="0"/>
                              </a:rPr>
                              <m:t>𝒊</m:t>
                            </m:r>
                          </m:sub>
                        </m:sSub>
                      </m:den>
                    </m:f>
                    <m:r>
                      <a:rPr lang="en-IN" b="1" i="1">
                        <a:latin typeface="Cambria Math" panose="02040503050406030204" pitchFamily="18" charset="0"/>
                      </a:rPr>
                      <m:t>)]^</m:t>
                    </m:r>
                    <m:r>
                      <a:rPr lang="en-IN" b="1" i="1">
                        <a:latin typeface="Cambria Math" panose="02040503050406030204" pitchFamily="18" charset="0"/>
                      </a:rPr>
                      <m:t>𝟐</m:t>
                    </m:r>
                  </m:oMath>
                </a14:m>
                <a:endParaRPr lang="en-IN" b="1" dirty="0"/>
              </a:p>
              <a:p>
                <a:pPr marL="0" indent="0">
                  <a:buNone/>
                </a:pPr>
                <a:r>
                  <a:rPr lang="en-IN" b="1" dirty="0"/>
                  <a:t>The GLS estimator of </a:t>
                </a:r>
                <a14:m>
                  <m:oMath xmlns:m="http://schemas.openxmlformats.org/officeDocument/2006/math">
                    <m:sSup>
                      <m:sSupPr>
                        <m:ctrlPr>
                          <a:rPr lang="en-IN" b="1" i="1">
                            <a:latin typeface="Cambria Math" panose="02040503050406030204" pitchFamily="18" charset="0"/>
                          </a:rPr>
                        </m:ctrlPr>
                      </m:sSupPr>
                      <m:e>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r>
                                  <a:rPr lang="en-IN" b="1" i="1">
                                    <a:latin typeface="Cambria Math" panose="02040503050406030204" pitchFamily="18" charset="0"/>
                                  </a:rPr>
                                  <m:t> </m:t>
                                </m:r>
                              </m:sub>
                            </m:sSub>
                          </m:e>
                        </m:acc>
                      </m:e>
                      <m:sup>
                        <m:r>
                          <a:rPr lang="en-IN" b="1" i="1">
                            <a:latin typeface="Cambria Math" panose="02040503050406030204" pitchFamily="18" charset="0"/>
                          </a:rPr>
                          <m:t>∗</m:t>
                        </m:r>
                      </m:sup>
                    </m:sSup>
                  </m:oMath>
                </a14:m>
                <a:r>
                  <a:rPr lang="en-IN" b="1" dirty="0"/>
                  <a:t> is </a:t>
                </a:r>
              </a:p>
              <a:p>
                <a:pPr marL="0" indent="0">
                  <a:buNone/>
                </a:pPr>
                <a14:m>
                  <m:oMathPara xmlns:m="http://schemas.openxmlformats.org/officeDocument/2006/math">
                    <m:oMathParaPr>
                      <m:jc m:val="centerGroup"/>
                    </m:oMathParaPr>
                    <m:oMath xmlns:m="http://schemas.openxmlformats.org/officeDocument/2006/math">
                      <m:sSup>
                        <m:sSupPr>
                          <m:ctrlPr>
                            <a:rPr lang="en-IN" b="1" i="1">
                              <a:latin typeface="Cambria Math" panose="02040503050406030204" pitchFamily="18" charset="0"/>
                            </a:rPr>
                          </m:ctrlPr>
                        </m:sSupPr>
                        <m:e>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r>
                                    <a:rPr lang="en-IN" b="1" i="1">
                                      <a:latin typeface="Cambria Math" panose="02040503050406030204" pitchFamily="18" charset="0"/>
                                    </a:rPr>
                                    <m:t> </m:t>
                                  </m:r>
                                </m:sub>
                              </m:sSub>
                            </m:e>
                          </m:acc>
                        </m:e>
                        <m:sup>
                          <m:r>
                            <a:rPr lang="en-IN" b="1" i="1">
                              <a:latin typeface="Cambria Math" panose="02040503050406030204" pitchFamily="18" charset="0"/>
                            </a:rPr>
                            <m:t>∗</m:t>
                          </m:r>
                        </m:sup>
                      </m:sSup>
                      <m:r>
                        <a:rPr lang="en-IN" b="1" i="1">
                          <a:latin typeface="Cambria Math" panose="02040503050406030204" pitchFamily="18" charset="0"/>
                        </a:rPr>
                        <m:t>= </m:t>
                      </m:r>
                      <m:f>
                        <m:fPr>
                          <m:ctrlPr>
                            <a:rPr lang="en-IN" b="1" i="1">
                              <a:latin typeface="Cambria Math" panose="02040503050406030204" pitchFamily="18" charset="0"/>
                            </a:rPr>
                          </m:ctrlPr>
                        </m:fPr>
                        <m:num>
                          <m:r>
                            <a:rPr lang="en-IN" b="1" i="1">
                              <a:latin typeface="Cambria Math" panose="02040503050406030204" pitchFamily="18" charset="0"/>
                            </a:rPr>
                            <m:t>(</m:t>
                          </m:r>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r>
                                <a:rPr lang="en-IN" b="1" i="1">
                                  <a:latin typeface="Cambria Math" panose="02040503050406030204" pitchFamily="18" charset="0"/>
                                </a:rPr>
                                <m:t>)(</m:t>
                              </m:r>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𝒀</m:t>
                                      </m:r>
                                    </m:e>
                                    <m:sub>
                                      <m:r>
                                        <a:rPr lang="en-IN" b="1" i="1">
                                          <a:latin typeface="Cambria Math" panose="02040503050406030204" pitchFamily="18" charset="0"/>
                                        </a:rPr>
                                        <m:t>𝒊</m:t>
                                      </m:r>
                                    </m:sub>
                                  </m:sSub>
                                  <m:r>
                                    <a:rPr lang="en-IN" b="1" i="1">
                                      <a:latin typeface="Cambria Math" panose="02040503050406030204" pitchFamily="18" charset="0"/>
                                    </a:rPr>
                                    <m:t>)−(</m:t>
                                  </m:r>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𝒊</m:t>
                                          </m:r>
                                        </m:sub>
                                      </m:sSub>
                                      <m:r>
                                        <a:rPr lang="en-IN" b="1" i="1">
                                          <a:latin typeface="Cambria Math" panose="02040503050406030204" pitchFamily="18" charset="0"/>
                                        </a:rPr>
                                        <m:t>)(</m:t>
                                      </m:r>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𝒀</m:t>
                                              </m:r>
                                            </m:e>
                                            <m:sub>
                                              <m:r>
                                                <a:rPr lang="en-IN" b="1" i="1">
                                                  <a:latin typeface="Cambria Math" panose="02040503050406030204" pitchFamily="18" charset="0"/>
                                                </a:rPr>
                                                <m:t>𝒊</m:t>
                                              </m:r>
                                            </m:sub>
                                          </m:sSub>
                                        </m:e>
                                      </m:nary>
                                      <m:r>
                                        <a:rPr lang="en-IN" b="1" i="1">
                                          <a:latin typeface="Cambria Math" panose="02040503050406030204" pitchFamily="18" charset="0"/>
                                        </a:rPr>
                                        <m:t>)</m:t>
                                      </m:r>
                                    </m:e>
                                  </m:nary>
                                </m:e>
                              </m:nary>
                            </m:e>
                          </m:nary>
                        </m:num>
                        <m:den>
                          <m:d>
                            <m:dPr>
                              <m:ctrlPr>
                                <a:rPr lang="en-IN" b="1" i="1">
                                  <a:latin typeface="Cambria Math" panose="02040503050406030204" pitchFamily="18" charset="0"/>
                                </a:rPr>
                              </m:ctrlPr>
                            </m:d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e>
                              </m:nary>
                            </m:e>
                          </m:d>
                          <m:d>
                            <m:dPr>
                              <m:ctrlPr>
                                <a:rPr lang="en-IN" b="1" i="1">
                                  <a:latin typeface="Cambria Math" panose="02040503050406030204" pitchFamily="18" charset="0"/>
                                </a:rPr>
                              </m:ctrlPr>
                            </m:d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𝒊</m:t>
                                      </m:r>
                                    </m:sub>
                                    <m:sup>
                                      <m:r>
                                        <a:rPr lang="en-IN" b="1" i="1">
                                          <a:latin typeface="Cambria Math" panose="02040503050406030204" pitchFamily="18" charset="0"/>
                                        </a:rPr>
                                        <m:t>𝟐</m:t>
                                      </m:r>
                                    </m:sup>
                                  </m:sSubSup>
                                </m:e>
                              </m:nary>
                            </m:e>
                          </m:d>
                          <m:r>
                            <a:rPr lang="en-IN" b="1" i="1">
                              <a:latin typeface="Cambria Math" panose="02040503050406030204" pitchFamily="18" charset="0"/>
                            </a:rPr>
                            <m:t>−(</m:t>
                          </m:r>
                          <m:sSup>
                            <m:sSupPr>
                              <m:ctrlPr>
                                <a:rPr lang="en-IN" b="1" i="1">
                                  <a:latin typeface="Cambria Math" panose="02040503050406030204" pitchFamily="18" charset="0"/>
                                </a:rPr>
                              </m:ctrlPr>
                            </m:sSup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𝒊</m:t>
                                      </m:r>
                                    </m:sub>
                                  </m:sSub>
                                  <m:r>
                                    <a:rPr lang="en-IN" b="1" i="1">
                                      <a:latin typeface="Cambria Math" panose="02040503050406030204" pitchFamily="18" charset="0"/>
                                    </a:rPr>
                                    <m:t>)</m:t>
                                  </m:r>
                                </m:e>
                              </m:nary>
                            </m:e>
                            <m:sup>
                              <m:r>
                                <a:rPr lang="en-IN" b="1" i="1">
                                  <a:latin typeface="Cambria Math" panose="02040503050406030204" pitchFamily="18" charset="0"/>
                                </a:rPr>
                                <m:t>𝟐</m:t>
                              </m:r>
                            </m:sup>
                          </m:sSup>
                        </m:den>
                      </m:f>
                    </m:oMath>
                  </m:oMathPara>
                </a14:m>
                <a:endParaRPr lang="en-IN" b="1" dirty="0"/>
              </a:p>
              <a:p>
                <a:pPr marL="0" indent="0">
                  <a:buNone/>
                </a:pPr>
                <a:r>
                  <a:rPr lang="en-IN" b="1" dirty="0"/>
                  <a:t> And its variance is given by </a:t>
                </a:r>
              </a:p>
              <a:p>
                <a:pPr marL="0" indent="0">
                  <a:buNone/>
                </a:pPr>
                <a14:m>
                  <m:oMathPara xmlns:m="http://schemas.openxmlformats.org/officeDocument/2006/math">
                    <m:oMathParaPr>
                      <m:jc m:val="centerGroup"/>
                    </m:oMathParaPr>
                    <m:oMath xmlns:m="http://schemas.openxmlformats.org/officeDocument/2006/math">
                      <m:sSup>
                        <m:sSupPr>
                          <m:ctrlPr>
                            <a:rPr lang="en-IN" b="1" i="1">
                              <a:latin typeface="Cambria Math" panose="02040503050406030204" pitchFamily="18" charset="0"/>
                            </a:rPr>
                          </m:ctrlPr>
                        </m:sSupPr>
                        <m:e>
                          <m:r>
                            <a:rPr lang="en-IN" b="1" i="1">
                              <a:latin typeface="Cambria Math" panose="02040503050406030204" pitchFamily="18" charset="0"/>
                            </a:rPr>
                            <m:t>𝒗𝒂𝒓</m:t>
                          </m:r>
                          <m:r>
                            <a:rPr lang="en-IN" b="1" i="1">
                              <a:latin typeface="Cambria Math" panose="02040503050406030204" pitchFamily="18" charset="0"/>
                            </a:rPr>
                            <m:t>(</m:t>
                          </m:r>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r>
                                    <a:rPr lang="en-IN" b="1" i="1">
                                      <a:latin typeface="Cambria Math" panose="02040503050406030204" pitchFamily="18" charset="0"/>
                                    </a:rPr>
                                    <m:t> </m:t>
                                  </m:r>
                                </m:sub>
                              </m:sSub>
                            </m:e>
                          </m:acc>
                        </m:e>
                        <m:sup>
                          <m:r>
                            <a:rPr lang="en-IN" b="1" i="1">
                              <a:latin typeface="Cambria Math" panose="02040503050406030204" pitchFamily="18" charset="0"/>
                            </a:rPr>
                            <m:t>∗</m:t>
                          </m:r>
                        </m:sup>
                      </m:sSup>
                      <m:r>
                        <a:rPr lang="en-IN" b="1" i="1">
                          <a:latin typeface="Cambria Math" panose="02040503050406030204" pitchFamily="18" charset="0"/>
                        </a:rPr>
                        <m:t>) = </m:t>
                      </m:r>
                      <m:f>
                        <m:fPr>
                          <m:ctrlPr>
                            <a:rPr lang="en-IN" b="1" i="1">
                              <a:latin typeface="Cambria Math" panose="02040503050406030204" pitchFamily="18" charset="0"/>
                            </a:rPr>
                          </m:ctrlPr>
                        </m:fPr>
                        <m:num>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e>
                          </m:nary>
                        </m:num>
                        <m:den>
                          <m:d>
                            <m:dPr>
                              <m:ctrlPr>
                                <a:rPr lang="en-IN" b="1" i="1">
                                  <a:latin typeface="Cambria Math" panose="02040503050406030204" pitchFamily="18" charset="0"/>
                                </a:rPr>
                              </m:ctrlPr>
                            </m:d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e>
                              </m:nary>
                            </m:e>
                          </m:d>
                          <m:d>
                            <m:dPr>
                              <m:ctrlPr>
                                <a:rPr lang="en-IN" b="1" i="1">
                                  <a:latin typeface="Cambria Math" panose="02040503050406030204" pitchFamily="18" charset="0"/>
                                </a:rPr>
                              </m:ctrlPr>
                            </m:d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Sup>
                                    <m:sSubSupPr>
                                      <m:ctrlPr>
                                        <a:rPr lang="en-IN" b="1" i="1">
                                          <a:latin typeface="Cambria Math" panose="02040503050406030204" pitchFamily="18" charset="0"/>
                                        </a:rPr>
                                      </m:ctrlPr>
                                    </m:sSubSupPr>
                                    <m:e>
                                      <m:r>
                                        <a:rPr lang="en-IN" b="1" i="1">
                                          <a:latin typeface="Cambria Math" panose="02040503050406030204" pitchFamily="18" charset="0"/>
                                        </a:rPr>
                                        <m:t>𝑿</m:t>
                                      </m:r>
                                    </m:e>
                                    <m:sub>
                                      <m:r>
                                        <a:rPr lang="en-IN" b="1" i="1">
                                          <a:latin typeface="Cambria Math" panose="02040503050406030204" pitchFamily="18" charset="0"/>
                                        </a:rPr>
                                        <m:t>𝒊</m:t>
                                      </m:r>
                                    </m:sub>
                                    <m:sup>
                                      <m:r>
                                        <a:rPr lang="en-IN" b="1" i="1">
                                          <a:latin typeface="Cambria Math" panose="02040503050406030204" pitchFamily="18" charset="0"/>
                                        </a:rPr>
                                        <m:t>𝟐</m:t>
                                      </m:r>
                                    </m:sup>
                                  </m:sSubSup>
                                </m:e>
                              </m:nary>
                            </m:e>
                          </m:d>
                          <m:r>
                            <a:rPr lang="en-IN" b="1" i="1">
                              <a:latin typeface="Cambria Math" panose="02040503050406030204" pitchFamily="18" charset="0"/>
                            </a:rPr>
                            <m:t>−(</m:t>
                          </m:r>
                          <m:sSup>
                            <m:sSupPr>
                              <m:ctrlPr>
                                <a:rPr lang="en-IN" b="1" i="1">
                                  <a:latin typeface="Cambria Math" panose="02040503050406030204" pitchFamily="18" charset="0"/>
                                </a:rPr>
                              </m:ctrlPr>
                            </m:sSupPr>
                            <m:e>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sSub>
                                    <m:sSubPr>
                                      <m:ctrlPr>
                                        <a:rPr lang="en-IN" b="1" i="1">
                                          <a:latin typeface="Cambria Math" panose="02040503050406030204" pitchFamily="18" charset="0"/>
                                        </a:rPr>
                                      </m:ctrlPr>
                                    </m:sSubPr>
                                    <m:e>
                                      <m:r>
                                        <a:rPr lang="en-IN" b="1" i="1">
                                          <a:latin typeface="Cambria Math" panose="02040503050406030204" pitchFamily="18" charset="0"/>
                                        </a:rPr>
                                        <m:t>𝑿</m:t>
                                      </m:r>
                                    </m:e>
                                    <m:sub>
                                      <m:r>
                                        <a:rPr lang="en-IN" b="1" i="1">
                                          <a:latin typeface="Cambria Math" panose="02040503050406030204" pitchFamily="18" charset="0"/>
                                        </a:rPr>
                                        <m:t>𝒊</m:t>
                                      </m:r>
                                    </m:sub>
                                  </m:sSub>
                                  <m:r>
                                    <a:rPr lang="en-IN" b="1" i="1">
                                      <a:latin typeface="Cambria Math" panose="02040503050406030204" pitchFamily="18" charset="0"/>
                                    </a:rPr>
                                    <m:t>)</m:t>
                                  </m:r>
                                </m:e>
                              </m:nary>
                            </m:e>
                            <m:sup>
                              <m:r>
                                <a:rPr lang="en-IN" b="1" i="1">
                                  <a:latin typeface="Cambria Math" panose="02040503050406030204" pitchFamily="18" charset="0"/>
                                </a:rPr>
                                <m:t>𝟐</m:t>
                              </m:r>
                            </m:sup>
                          </m:sSup>
                          <m:r>
                            <a:rPr lang="en-IN" b="1" i="1">
                              <a:latin typeface="Cambria Math" panose="02040503050406030204" pitchFamily="18" charset="0"/>
                            </a:rPr>
                            <m:t> </m:t>
                          </m:r>
                        </m:den>
                      </m:f>
                    </m:oMath>
                  </m:oMathPara>
                </a14:m>
                <a:endParaRPr lang="en-IN" b="1" dirty="0"/>
              </a:p>
              <a:p>
                <a:endParaRPr lang="en-IN" dirty="0"/>
              </a:p>
            </p:txBody>
          </p:sp>
        </mc:Choice>
        <mc:Fallback xmlns="">
          <p:sp>
            <p:nvSpPr>
              <p:cNvPr id="3" name="Content Placeholder 2">
                <a:extLst>
                  <a:ext uri="{FF2B5EF4-FFF2-40B4-BE49-F238E27FC236}">
                    <a16:creationId xmlns:a16="http://schemas.microsoft.com/office/drawing/2014/main" id="{CF97DDC9-27EA-48B6-ADA8-3707DE91D050}"/>
                  </a:ext>
                </a:extLst>
              </p:cNvPr>
              <p:cNvSpPr>
                <a:spLocks noGrp="1" noRot="1" noChangeAspect="1" noMove="1" noResize="1" noEditPoints="1" noAdjustHandles="1" noChangeArrowheads="1" noChangeShapeType="1" noTextEdit="1"/>
              </p:cNvSpPr>
              <p:nvPr>
                <p:ph idx="1"/>
              </p:nvPr>
            </p:nvSpPr>
            <p:spPr>
              <a:xfrm>
                <a:off x="1103545" y="172278"/>
                <a:ext cx="10484195" cy="6513443"/>
              </a:xfrm>
              <a:blipFill>
                <a:blip r:embed="rId2"/>
                <a:stretch>
                  <a:fillRect l="-756" t="-1871"/>
                </a:stretch>
              </a:blipFill>
            </p:spPr>
            <p:txBody>
              <a:bodyPr/>
              <a:lstStyle/>
              <a:p>
                <a:r>
                  <a:rPr lang="en-IN">
                    <a:noFill/>
                  </a:rPr>
                  <a:t> </a:t>
                </a:r>
              </a:p>
            </p:txBody>
          </p:sp>
        </mc:Fallback>
      </mc:AlternateContent>
    </p:spTree>
    <p:extLst>
      <p:ext uri="{BB962C8B-B14F-4D97-AF65-F5344CB8AC3E}">
        <p14:creationId xmlns:p14="http://schemas.microsoft.com/office/powerpoint/2010/main" val="1605067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CC16A21-9B3F-441F-A34F-B911C3F38535}"/>
                  </a:ext>
                </a:extLst>
              </p:cNvPr>
              <p:cNvSpPr>
                <a:spLocks noGrp="1"/>
              </p:cNvSpPr>
              <p:nvPr>
                <p:ph idx="1"/>
              </p:nvPr>
            </p:nvSpPr>
            <p:spPr>
              <a:xfrm>
                <a:off x="834888" y="768630"/>
                <a:ext cx="10669725" cy="5142596"/>
              </a:xfrm>
            </p:spPr>
            <p:txBody>
              <a:bodyPr>
                <a:normAutofit fontScale="70000" lnSpcReduction="20000"/>
              </a:bodyPr>
              <a:lstStyle/>
              <a:p>
                <a:pPr marL="0" indent="0">
                  <a:buNone/>
                </a:pPr>
                <a:r>
                  <a:rPr lang="en-IN" b="1" dirty="0"/>
                  <a:t> </a:t>
                </a:r>
                <a:endParaRPr lang="en-IN" dirty="0"/>
              </a:p>
              <a:p>
                <a:pPr marL="0" indent="0">
                  <a:buNone/>
                </a:pPr>
                <a:r>
                  <a:rPr lang="en-IN" b="1" dirty="0"/>
                  <a:t> DIFFERENCE BETWEEN OLS AND GLS .</a:t>
                </a:r>
              </a:p>
              <a:p>
                <a:pPr marL="0" indent="0">
                  <a:buNone/>
                </a:pPr>
                <a:endParaRPr lang="en-IN" dirty="0"/>
              </a:p>
              <a:p>
                <a:pPr marL="0" indent="0">
                  <a:buNone/>
                </a:pPr>
                <a:r>
                  <a:rPr lang="en-IN" b="1" dirty="0"/>
                  <a:t>In OLS we minimise </a:t>
                </a:r>
                <a14:m>
                  <m:oMath xmlns:m="http://schemas.openxmlformats.org/officeDocument/2006/math">
                    <m:nary>
                      <m:naryPr>
                        <m:chr m:val="∑"/>
                        <m:limLoc m:val="undOvr"/>
                        <m:subHide m:val="on"/>
                        <m:supHide m:val="on"/>
                        <m:ctrlPr>
                          <a:rPr lang="en-IN" b="1" i="1">
                            <a:latin typeface="Cambria Math" panose="02040503050406030204" pitchFamily="18" charset="0"/>
                          </a:rPr>
                        </m:ctrlPr>
                      </m:naryPr>
                      <m:sub/>
                      <m:sup/>
                      <m:e>
                        <m:acc>
                          <m:accPr>
                            <m:chr m:val="̂"/>
                            <m:ctrlPr>
                              <a:rPr lang="en-IN" b="1" i="1">
                                <a:latin typeface="Cambria Math" panose="02040503050406030204" pitchFamily="18" charset="0"/>
                              </a:rPr>
                            </m:ctrlPr>
                          </m:accPr>
                          <m:e>
                            <m:sSubSup>
                              <m:sSubSupPr>
                                <m:ctrlPr>
                                  <a:rPr lang="en-IN" b="1" i="1">
                                    <a:latin typeface="Cambria Math" panose="02040503050406030204" pitchFamily="18" charset="0"/>
                                  </a:rPr>
                                </m:ctrlPr>
                              </m:sSubSupPr>
                              <m:e>
                                <m:r>
                                  <a:rPr lang="en-IN" b="1" i="1">
                                    <a:latin typeface="Cambria Math" panose="02040503050406030204" pitchFamily="18" charset="0"/>
                                  </a:rPr>
                                  <m:t>𝒖</m:t>
                                </m:r>
                              </m:e>
                              <m:sub>
                                <m:r>
                                  <a:rPr lang="en-IN" b="1" i="1">
                                    <a:latin typeface="Cambria Math" panose="02040503050406030204" pitchFamily="18" charset="0"/>
                                  </a:rPr>
                                  <m:t>𝒊</m:t>
                                </m:r>
                              </m:sub>
                              <m:sup>
                                <m:r>
                                  <a:rPr lang="en-IN" b="1" i="1">
                                    <a:latin typeface="Cambria Math" panose="02040503050406030204" pitchFamily="18" charset="0"/>
                                  </a:rPr>
                                  <m:t>𝟐</m:t>
                                </m:r>
                              </m:sup>
                            </m:sSubSup>
                          </m:e>
                        </m:acc>
                      </m:e>
                    </m:nary>
                    <m:r>
                      <a:rPr lang="en-IN" b="1" i="1">
                        <a:latin typeface="Cambria Math" panose="02040503050406030204" pitchFamily="18" charset="0"/>
                      </a:rPr>
                      <m:t>= </m:t>
                    </m:r>
                    <m:nary>
                      <m:naryPr>
                        <m:chr m:val="∑"/>
                        <m:limLoc m:val="undOvr"/>
                        <m:subHide m:val="on"/>
                        <m:supHide m:val="on"/>
                        <m:ctrlPr>
                          <a:rPr lang="en-IN" b="1" i="1">
                            <a:latin typeface="Cambria Math" panose="02040503050406030204" pitchFamily="18" charset="0"/>
                          </a:rPr>
                        </m:ctrlPr>
                      </m:naryPr>
                      <m:sub/>
                      <m:sup/>
                      <m:e>
                        <m:r>
                          <a:rPr lang="en-IN" b="1" i="1">
                            <a:latin typeface="Cambria Math" panose="02040503050406030204" pitchFamily="18" charset="0"/>
                          </a:rPr>
                          <m:t>(</m:t>
                        </m:r>
                        <m:r>
                          <a:rPr lang="en-IN" b="1" i="1">
                            <a:latin typeface="Cambria Math" panose="02040503050406030204" pitchFamily="18" charset="0"/>
                          </a:rPr>
                          <m:t>𝒀𝒊</m:t>
                        </m:r>
                        <m:r>
                          <a:rPr lang="en-IN" b="1" i="1">
                            <a:latin typeface="Cambria Math" panose="02040503050406030204" pitchFamily="18" charset="0"/>
                          </a:rPr>
                          <m:t>− </m:t>
                        </m:r>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𝟏</m:t>
                                </m:r>
                                <m:r>
                                  <a:rPr lang="en-IN" b="1" i="1">
                                    <a:latin typeface="Cambria Math" panose="02040503050406030204" pitchFamily="18" charset="0"/>
                                  </a:rPr>
                                  <m:t> </m:t>
                                </m:r>
                              </m:sub>
                            </m:sSub>
                          </m:e>
                        </m:acc>
                        <m:r>
                          <a:rPr lang="en-IN" b="1" i="1">
                            <a:latin typeface="Cambria Math" panose="02040503050406030204" pitchFamily="18" charset="0"/>
                          </a:rPr>
                          <m:t>− </m:t>
                        </m:r>
                      </m:e>
                    </m:nary>
                    <m:acc>
                      <m:accPr>
                        <m:chr m:val="̂"/>
                        <m:ctrlPr>
                          <a:rPr lang="en-IN" b="1" i="1">
                            <a:latin typeface="Cambria Math" panose="02040503050406030204" pitchFamily="18" charset="0"/>
                          </a:rPr>
                        </m:ctrlPr>
                      </m:accPr>
                      <m:e>
                        <m:sSub>
                          <m:sSubPr>
                            <m:ctrlPr>
                              <a:rPr lang="en-IN" b="1" i="1">
                                <a:latin typeface="Cambria Math" panose="02040503050406030204" pitchFamily="18" charset="0"/>
                              </a:rPr>
                            </m:ctrlPr>
                          </m:sSubPr>
                          <m:e>
                            <m:r>
                              <a:rPr lang="en-IN" b="1" i="1">
                                <a:latin typeface="Cambria Math" panose="02040503050406030204" pitchFamily="18" charset="0"/>
                              </a:rPr>
                              <m:t>𝜷</m:t>
                            </m:r>
                          </m:e>
                          <m:sub>
                            <m:r>
                              <a:rPr lang="en-IN" b="1" i="1">
                                <a:latin typeface="Cambria Math" panose="02040503050406030204" pitchFamily="18" charset="0"/>
                              </a:rPr>
                              <m:t>𝟐</m:t>
                            </m:r>
                          </m:sub>
                        </m:sSub>
                      </m:e>
                    </m:acc>
                    <m:r>
                      <a:rPr lang="en-IN" b="1" i="1">
                        <a:latin typeface="Cambria Math" panose="02040503050406030204" pitchFamily="18" charset="0"/>
                      </a:rPr>
                      <m:t>(</m:t>
                    </m:r>
                    <m:r>
                      <a:rPr lang="en-IN" b="1" i="1">
                        <a:latin typeface="Cambria Math" panose="02040503050406030204" pitchFamily="18" charset="0"/>
                      </a:rPr>
                      <m:t>𝑿𝒊</m:t>
                    </m:r>
                    <m:r>
                      <a:rPr lang="en-IN" b="1" i="1">
                        <a:latin typeface="Cambria Math" panose="02040503050406030204" pitchFamily="18" charset="0"/>
                      </a:rPr>
                      <m:t>))^</m:t>
                    </m:r>
                    <m:r>
                      <a:rPr lang="en-IN" b="1" i="1">
                        <a:latin typeface="Cambria Math" panose="02040503050406030204" pitchFamily="18" charset="0"/>
                      </a:rPr>
                      <m:t>𝟐</m:t>
                    </m:r>
                  </m:oMath>
                </a14:m>
                <a:endParaRPr lang="en-IN" b="1" dirty="0"/>
              </a:p>
              <a:p>
                <a:pPr marL="0" lvl="0" indent="0">
                  <a:buNone/>
                </a:pPr>
                <a:r>
                  <a:rPr lang="en-IN" b="1" dirty="0"/>
                  <a:t> </a:t>
                </a:r>
              </a:p>
              <a:p>
                <a:pPr marL="0" lvl="0" indent="0">
                  <a:buNone/>
                </a:pPr>
                <a:r>
                  <a:rPr lang="en-IN" b="1" dirty="0"/>
                  <a:t>In GLS we minimise </a:t>
                </a:r>
                <a14:m>
                  <m:oMath xmlns:m="http://schemas.openxmlformats.org/officeDocument/2006/math">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acc>
                          <m:accPr>
                            <m:chr m:val="̂"/>
                            <m:ctrlPr>
                              <a:rPr lang="en-IN" b="1" i="1">
                                <a:latin typeface="Cambria Math" panose="02040503050406030204" pitchFamily="18" charset="0"/>
                              </a:rPr>
                            </m:ctrlPr>
                          </m:accPr>
                          <m:e>
                            <m:sSubSup>
                              <m:sSubSupPr>
                                <m:ctrlPr>
                                  <a:rPr lang="en-IN" b="1" i="1">
                                    <a:latin typeface="Cambria Math" panose="02040503050406030204" pitchFamily="18" charset="0"/>
                                  </a:rPr>
                                </m:ctrlPr>
                              </m:sSubSupPr>
                              <m:e>
                                <m:r>
                                  <a:rPr lang="en-IN" b="1" i="1">
                                    <a:latin typeface="Cambria Math" panose="02040503050406030204" pitchFamily="18" charset="0"/>
                                  </a:rPr>
                                  <m:t>𝒖</m:t>
                                </m:r>
                              </m:e>
                              <m:sub>
                                <m:r>
                                  <a:rPr lang="en-IN" b="1" i="1">
                                    <a:latin typeface="Cambria Math" panose="02040503050406030204" pitchFamily="18" charset="0"/>
                                  </a:rPr>
                                  <m:t>𝒊</m:t>
                                </m:r>
                              </m:sub>
                              <m:sup>
                                <m:r>
                                  <a:rPr lang="en-IN" b="1" i="1">
                                    <a:latin typeface="Cambria Math" panose="02040503050406030204" pitchFamily="18" charset="0"/>
                                  </a:rPr>
                                  <m:t>𝟐</m:t>
                                </m:r>
                              </m:sup>
                            </m:sSubSup>
                          </m:e>
                        </m:acc>
                      </m:e>
                    </m:nary>
                    <m:r>
                      <a:rPr lang="en-IN" b="1" i="1">
                        <a:latin typeface="Cambria Math" panose="02040503050406030204" pitchFamily="18" charset="0"/>
                      </a:rPr>
                      <m:t>= </m:t>
                    </m:r>
                    <m:nary>
                      <m:naryPr>
                        <m:chr m:val="∑"/>
                        <m:limLoc m:val="undOvr"/>
                        <m:subHide m:val="on"/>
                        <m:supHide m:val="on"/>
                        <m:ctrlPr>
                          <a:rPr lang="en-IN" b="1" i="1">
                            <a:latin typeface="Cambria Math" panose="02040503050406030204" pitchFamily="18" charset="0"/>
                          </a:rPr>
                        </m:ctrlPr>
                      </m:naryPr>
                      <m:sub/>
                      <m:sup/>
                      <m:e>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r>
                          <a:rPr lang="en-IN" b="1" i="1">
                            <a:latin typeface="Cambria Math" panose="02040503050406030204" pitchFamily="18" charset="0"/>
                          </a:rPr>
                          <m:t>(</m:t>
                        </m:r>
                        <m:sSub>
                          <m:sSubPr>
                            <m:ctrlPr>
                              <a:rPr lang="en-IN" b="1" i="1">
                                <a:latin typeface="Cambria Math" panose="02040503050406030204" pitchFamily="18" charset="0"/>
                              </a:rPr>
                            </m:ctrlPr>
                          </m:sSubPr>
                          <m:e>
                            <m:r>
                              <a:rPr lang="en-IN" b="1" i="1">
                                <a:latin typeface="Cambria Math" panose="02040503050406030204" pitchFamily="18" charset="0"/>
                              </a:rPr>
                              <m:t>𝒀</m:t>
                            </m:r>
                          </m:e>
                          <m:sub>
                            <m:r>
                              <a:rPr lang="en-IN" b="1" i="1">
                                <a:latin typeface="Cambria Math" panose="02040503050406030204" pitchFamily="18" charset="0"/>
                              </a:rPr>
                              <m:t>𝒊</m:t>
                            </m:r>
                          </m:sub>
                        </m:sSub>
                      </m:e>
                    </m:nary>
                    <m:r>
                      <a:rPr lang="en-IN" b="1" i="1">
                        <a:latin typeface="Cambria Math" panose="02040503050406030204" pitchFamily="18" charset="0"/>
                      </a:rPr>
                      <m:t>−</m:t>
                    </m:r>
                    <m:acc>
                      <m:accPr>
                        <m:chr m:val="̂"/>
                        <m:ctrlPr>
                          <a:rPr lang="en-IN" b="1" i="1">
                            <a:latin typeface="Cambria Math" panose="02040503050406030204" pitchFamily="18" charset="0"/>
                          </a:rPr>
                        </m:ctrlPr>
                      </m:accPr>
                      <m:e>
                        <m:sSubSup>
                          <m:sSubSupPr>
                            <m:ctrlPr>
                              <a:rPr lang="en-IN" b="1" i="1">
                                <a:latin typeface="Cambria Math" panose="02040503050406030204" pitchFamily="18" charset="0"/>
                              </a:rPr>
                            </m:ctrlPr>
                          </m:sSubSupPr>
                          <m:e>
                            <m:r>
                              <a:rPr lang="en-IN" b="1" i="1">
                                <a:latin typeface="Cambria Math" panose="02040503050406030204" pitchFamily="18" charset="0"/>
                              </a:rPr>
                              <m:t>𝜷</m:t>
                            </m:r>
                          </m:e>
                          <m:sub>
                            <m:r>
                              <a:rPr lang="en-IN" b="1" i="1">
                                <a:latin typeface="Cambria Math" panose="02040503050406030204" pitchFamily="18" charset="0"/>
                              </a:rPr>
                              <m:t>𝟏</m:t>
                            </m:r>
                          </m:sub>
                          <m:sup>
                            <m:r>
                              <a:rPr lang="en-IN" b="1" i="1">
                                <a:latin typeface="Cambria Math" panose="02040503050406030204" pitchFamily="18" charset="0"/>
                              </a:rPr>
                              <m:t>∗</m:t>
                            </m:r>
                          </m:sup>
                        </m:sSubSup>
                      </m:e>
                    </m:acc>
                    <m:r>
                      <a:rPr lang="en-IN" b="1" i="1">
                        <a:latin typeface="Cambria Math" panose="02040503050406030204" pitchFamily="18" charset="0"/>
                      </a:rPr>
                      <m:t>𝑿𝒐𝒊</m:t>
                    </m:r>
                    <m:r>
                      <a:rPr lang="en-IN" b="1" i="1">
                        <a:latin typeface="Cambria Math" panose="02040503050406030204" pitchFamily="18" charset="0"/>
                      </a:rPr>
                      <m:t>− </m:t>
                    </m:r>
                    <m:acc>
                      <m:accPr>
                        <m:chr m:val="̂"/>
                        <m:ctrlPr>
                          <a:rPr lang="en-IN" b="1" i="1">
                            <a:latin typeface="Cambria Math" panose="02040503050406030204" pitchFamily="18" charset="0"/>
                          </a:rPr>
                        </m:ctrlPr>
                      </m:accPr>
                      <m:e>
                        <m:sSubSup>
                          <m:sSubSupPr>
                            <m:ctrlPr>
                              <a:rPr lang="en-IN" b="1" i="1">
                                <a:latin typeface="Cambria Math" panose="02040503050406030204" pitchFamily="18" charset="0"/>
                              </a:rPr>
                            </m:ctrlPr>
                          </m:sSubSupPr>
                          <m:e>
                            <m:r>
                              <a:rPr lang="en-IN" b="1" i="1">
                                <a:latin typeface="Cambria Math" panose="02040503050406030204" pitchFamily="18" charset="0"/>
                              </a:rPr>
                              <m:t>𝜷</m:t>
                            </m:r>
                          </m:e>
                          <m:sub>
                            <m:r>
                              <a:rPr lang="en-IN" b="1" i="1">
                                <a:latin typeface="Cambria Math" panose="02040503050406030204" pitchFamily="18" charset="0"/>
                              </a:rPr>
                              <m:t>𝟐</m:t>
                            </m:r>
                          </m:sub>
                          <m:sup>
                            <m:r>
                              <a:rPr lang="en-IN" b="1" i="1">
                                <a:latin typeface="Cambria Math" panose="02040503050406030204" pitchFamily="18" charset="0"/>
                              </a:rPr>
                              <m:t>∗</m:t>
                            </m:r>
                          </m:sup>
                        </m:sSubSup>
                      </m:e>
                    </m:acc>
                    <m:r>
                      <a:rPr lang="en-IN" b="1" i="1">
                        <a:latin typeface="Cambria Math" panose="02040503050406030204" pitchFamily="18" charset="0"/>
                      </a:rPr>
                      <m:t>𝑿𝒊</m:t>
                    </m:r>
                    <m:r>
                      <a:rPr lang="en-IN" b="1" i="1">
                        <a:latin typeface="Cambria Math" panose="02040503050406030204" pitchFamily="18" charset="0"/>
                      </a:rPr>
                      <m:t>)^</m:t>
                    </m:r>
                    <m:r>
                      <a:rPr lang="en-IN" b="1" i="1">
                        <a:latin typeface="Cambria Math" panose="02040503050406030204" pitchFamily="18" charset="0"/>
                      </a:rPr>
                      <m:t>𝟐</m:t>
                    </m:r>
                  </m:oMath>
                </a14:m>
                <a:r>
                  <a:rPr lang="en-IN" b="1" dirty="0"/>
                  <a:t> </a:t>
                </a:r>
              </a:p>
              <a:p>
                <a:pPr marL="0" lvl="0" indent="0">
                  <a:buNone/>
                </a:pPr>
                <a:r>
                  <a:rPr lang="en-IN" b="1" dirty="0"/>
                  <a:t>Where </a:t>
                </a:r>
                <a14:m>
                  <m:oMath xmlns:m="http://schemas.openxmlformats.org/officeDocument/2006/math">
                    <m:sSub>
                      <m:sSubPr>
                        <m:ctrlPr>
                          <a:rPr lang="en-IN" b="1" i="1">
                            <a:latin typeface="Cambria Math" panose="02040503050406030204" pitchFamily="18" charset="0"/>
                          </a:rPr>
                        </m:ctrlPr>
                      </m:sSubPr>
                      <m:e>
                        <m:r>
                          <a:rPr lang="en-IN" b="1" i="1">
                            <a:latin typeface="Cambria Math" panose="02040503050406030204" pitchFamily="18" charset="0"/>
                          </a:rPr>
                          <m:t>𝒘</m:t>
                        </m:r>
                      </m:e>
                      <m:sub>
                        <m:r>
                          <a:rPr lang="en-IN" b="1" i="1">
                            <a:latin typeface="Cambria Math" panose="02040503050406030204" pitchFamily="18" charset="0"/>
                          </a:rPr>
                          <m:t>𝒊</m:t>
                        </m:r>
                      </m:sub>
                    </m:sSub>
                    <m:r>
                      <a:rPr lang="en-IN" b="1" i="1">
                        <a:latin typeface="Cambria Math" panose="02040503050406030204" pitchFamily="18" charset="0"/>
                      </a:rPr>
                      <m:t>= </m:t>
                    </m:r>
                    <m:f>
                      <m:fPr>
                        <m:ctrlPr>
                          <a:rPr lang="en-IN" b="1" i="1">
                            <a:latin typeface="Cambria Math" panose="02040503050406030204" pitchFamily="18" charset="0"/>
                          </a:rPr>
                        </m:ctrlPr>
                      </m:fPr>
                      <m:num>
                        <m:r>
                          <a:rPr lang="en-IN" b="1" i="1">
                            <a:latin typeface="Cambria Math" panose="02040503050406030204" pitchFamily="18" charset="0"/>
                          </a:rPr>
                          <m:t>𝟏</m:t>
                        </m:r>
                      </m:num>
                      <m:den>
                        <m:sSubSup>
                          <m:sSubSupPr>
                            <m:ctrlPr>
                              <a:rPr lang="en-IN" b="1" i="1">
                                <a:latin typeface="Cambria Math" panose="02040503050406030204" pitchFamily="18" charset="0"/>
                              </a:rPr>
                            </m:ctrlPr>
                          </m:sSubSupPr>
                          <m:e>
                            <m:r>
                              <a:rPr lang="en-IN" b="1" i="1">
                                <a:latin typeface="Cambria Math" panose="02040503050406030204" pitchFamily="18" charset="0"/>
                              </a:rPr>
                              <m:t>𝝈</m:t>
                            </m:r>
                          </m:e>
                          <m:sub>
                            <m:r>
                              <a:rPr lang="en-IN" b="1" i="1">
                                <a:latin typeface="Cambria Math" panose="02040503050406030204" pitchFamily="18" charset="0"/>
                              </a:rPr>
                              <m:t>𝒊</m:t>
                            </m:r>
                          </m:sub>
                          <m:sup>
                            <m:r>
                              <a:rPr lang="en-IN" b="1" i="1">
                                <a:latin typeface="Cambria Math" panose="02040503050406030204" pitchFamily="18" charset="0"/>
                              </a:rPr>
                              <m:t>𝟐</m:t>
                            </m:r>
                          </m:sup>
                        </m:sSubSup>
                      </m:den>
                    </m:f>
                  </m:oMath>
                </a14:m>
                <a:endParaRPr lang="en-IN" b="1" dirty="0"/>
              </a:p>
              <a:p>
                <a:pPr marL="0" lvl="0" indent="0">
                  <a:buNone/>
                </a:pPr>
                <a:r>
                  <a:rPr lang="en-IN" b="1" dirty="0"/>
                  <a:t>Thus , in GLS we minimise a weighted RSS ( residual sum of square ) </a:t>
                </a:r>
              </a:p>
              <a:p>
                <a:pPr marL="0" lvl="0" indent="0">
                  <a:buNone/>
                </a:pPr>
                <a:r>
                  <a:rPr lang="en-IN" b="1" dirty="0"/>
                  <a:t>But in OLS we minimise the unweighted or equally weighted RSS ( residual sum of square ) </a:t>
                </a:r>
              </a:p>
              <a:p>
                <a:pPr marL="0" lvl="0" indent="0">
                  <a:buNone/>
                </a:pPr>
                <a:r>
                  <a:rPr lang="en-IN" b="1" dirty="0"/>
                  <a:t>To see the difference between the OLS and GLS clearly , consider the hypothetical graph given as below . </a:t>
                </a:r>
              </a:p>
              <a:p>
                <a:pPr marL="0" lvl="0" indent="0">
                  <a:buNone/>
                </a:pPr>
                <a:r>
                  <a:rPr lang="en-IN" b="1" dirty="0"/>
                  <a:t>DRAW GRAPH. </a:t>
                </a:r>
              </a:p>
              <a:p>
                <a:pPr marL="0" lvl="0" indent="0">
                  <a:buNone/>
                </a:pPr>
                <a:r>
                  <a:rPr lang="en-IN" b="1" dirty="0"/>
                  <a:t>In OLS , each </a:t>
                </a:r>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𝒖</m:t>
                        </m:r>
                      </m:e>
                      <m:sub>
                        <m:r>
                          <a:rPr lang="en-IN" b="1" i="1">
                            <a:latin typeface="Cambria Math" panose="02040503050406030204" pitchFamily="18" charset="0"/>
                          </a:rPr>
                          <m:t>𝒊</m:t>
                        </m:r>
                      </m:sub>
                      <m:sup>
                        <m:r>
                          <a:rPr lang="en-IN" b="1" i="1">
                            <a:latin typeface="Cambria Math" panose="02040503050406030204" pitchFamily="18" charset="0"/>
                          </a:rPr>
                          <m:t>^</m:t>
                        </m:r>
                        <m:r>
                          <a:rPr lang="en-IN" b="1" i="1">
                            <a:latin typeface="Cambria Math" panose="02040503050406030204" pitchFamily="18" charset="0"/>
                          </a:rPr>
                          <m:t>𝟐</m:t>
                        </m:r>
                      </m:sup>
                    </m:sSubSup>
                  </m:oMath>
                </a14:m>
                <a:r>
                  <a:rPr lang="en-IN" b="1" dirty="0"/>
                  <a:t> associated with pts A,B,C will </a:t>
                </a:r>
                <a:r>
                  <a:rPr lang="en-IN" b="1" dirty="0" err="1"/>
                  <a:t>recive</a:t>
                </a:r>
                <a:r>
                  <a:rPr lang="en-IN" b="1" dirty="0"/>
                  <a:t> the same weight in minimizing the RSS. </a:t>
                </a:r>
              </a:p>
              <a:p>
                <a:pPr marL="0" lvl="0" indent="0">
                  <a:buNone/>
                </a:pPr>
                <a:r>
                  <a:rPr lang="en-IN" b="1" dirty="0"/>
                  <a:t>In this case the   </a:t>
                </a:r>
                <a14:m>
                  <m:oMath xmlns:m="http://schemas.openxmlformats.org/officeDocument/2006/math">
                    <m:sSubSup>
                      <m:sSubSupPr>
                        <m:ctrlPr>
                          <a:rPr lang="en-IN" b="1" i="1">
                            <a:latin typeface="Cambria Math" panose="02040503050406030204" pitchFamily="18" charset="0"/>
                          </a:rPr>
                        </m:ctrlPr>
                      </m:sSubSupPr>
                      <m:e>
                        <m:r>
                          <a:rPr lang="en-IN" b="1" i="1">
                            <a:latin typeface="Cambria Math" panose="02040503050406030204" pitchFamily="18" charset="0"/>
                          </a:rPr>
                          <m:t>𝒖</m:t>
                        </m:r>
                      </m:e>
                      <m:sub>
                        <m:r>
                          <a:rPr lang="en-IN" b="1" i="1">
                            <a:latin typeface="Cambria Math" panose="02040503050406030204" pitchFamily="18" charset="0"/>
                          </a:rPr>
                          <m:t>𝒊</m:t>
                        </m:r>
                      </m:sub>
                      <m:sup>
                        <m:r>
                          <a:rPr lang="en-IN" b="1" i="1">
                            <a:latin typeface="Cambria Math" panose="02040503050406030204" pitchFamily="18" charset="0"/>
                          </a:rPr>
                          <m:t>^</m:t>
                        </m:r>
                        <m:r>
                          <a:rPr lang="en-IN" b="1" i="1">
                            <a:latin typeface="Cambria Math" panose="02040503050406030204" pitchFamily="18" charset="0"/>
                          </a:rPr>
                          <m:t>𝟐</m:t>
                        </m:r>
                      </m:sup>
                    </m:sSubSup>
                  </m:oMath>
                </a14:m>
                <a:r>
                  <a:rPr lang="en-IN" b="1" dirty="0"/>
                  <a:t>    associated with point C will be dominated RSS. </a:t>
                </a:r>
              </a:p>
            </p:txBody>
          </p:sp>
        </mc:Choice>
        <mc:Fallback xmlns="">
          <p:sp>
            <p:nvSpPr>
              <p:cNvPr id="3" name="Content Placeholder 2">
                <a:extLst>
                  <a:ext uri="{FF2B5EF4-FFF2-40B4-BE49-F238E27FC236}">
                    <a16:creationId xmlns:a16="http://schemas.microsoft.com/office/drawing/2014/main" id="{3CC16A21-9B3F-441F-A34F-B911C3F38535}"/>
                  </a:ext>
                </a:extLst>
              </p:cNvPr>
              <p:cNvSpPr>
                <a:spLocks noGrp="1" noRot="1" noChangeAspect="1" noMove="1" noResize="1" noEditPoints="1" noAdjustHandles="1" noChangeArrowheads="1" noChangeShapeType="1" noTextEdit="1"/>
              </p:cNvSpPr>
              <p:nvPr>
                <p:ph idx="1"/>
              </p:nvPr>
            </p:nvSpPr>
            <p:spPr>
              <a:xfrm>
                <a:off x="834888" y="768630"/>
                <a:ext cx="10669725" cy="5142596"/>
              </a:xfrm>
              <a:blipFill>
                <a:blip r:embed="rId2"/>
                <a:stretch>
                  <a:fillRect l="-629"/>
                </a:stretch>
              </a:blipFill>
            </p:spPr>
            <p:txBody>
              <a:bodyPr/>
              <a:lstStyle/>
              <a:p>
                <a:r>
                  <a:rPr lang="en-IN">
                    <a:noFill/>
                  </a:rPr>
                  <a:t> </a:t>
                </a:r>
              </a:p>
            </p:txBody>
          </p:sp>
        </mc:Fallback>
      </mc:AlternateContent>
    </p:spTree>
    <p:extLst>
      <p:ext uri="{BB962C8B-B14F-4D97-AF65-F5344CB8AC3E}">
        <p14:creationId xmlns:p14="http://schemas.microsoft.com/office/powerpoint/2010/main" val="5311185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9982676-56A8-4CF8-B818-FE701348F316}"/>
                  </a:ext>
                </a:extLst>
              </p:cNvPr>
              <p:cNvSpPr>
                <a:spLocks noGrp="1"/>
              </p:cNvSpPr>
              <p:nvPr>
                <p:ph idx="1"/>
              </p:nvPr>
            </p:nvSpPr>
            <p:spPr>
              <a:xfrm>
                <a:off x="914403" y="463830"/>
                <a:ext cx="10590212" cy="5447396"/>
              </a:xfrm>
            </p:spPr>
            <p:txBody>
              <a:bodyPr>
                <a:normAutofit fontScale="85000" lnSpcReduction="10000"/>
              </a:bodyPr>
              <a:lstStyle/>
              <a:p>
                <a:pPr marL="0" lvl="0" indent="0">
                  <a:buNone/>
                </a:pPr>
                <a:r>
                  <a:rPr lang="en-IN" sz="2600" b="1" dirty="0"/>
                  <a:t>  In GLS the extreme observation C will be get relatively smaller weighted RSS , It is appropriately known as Weighted least squares . </a:t>
                </a:r>
              </a:p>
              <a:p>
                <a:pPr marL="0" lvl="0" indent="0">
                  <a:buNone/>
                </a:pPr>
                <a:r>
                  <a:rPr lang="en-IN" sz="2600" b="1" dirty="0"/>
                  <a:t>WLS is special case of GLS. </a:t>
                </a:r>
              </a:p>
              <a:p>
                <a:pPr marL="0" lvl="0" indent="0">
                  <a:buNone/>
                </a:pPr>
                <a:r>
                  <a:rPr lang="en-IN" sz="2600" b="1" dirty="0"/>
                  <a:t>In passing , note that if </a:t>
                </a:r>
                <a14:m>
                  <m:oMath xmlns:m="http://schemas.openxmlformats.org/officeDocument/2006/math">
                    <m:sSub>
                      <m:sSubPr>
                        <m:ctrlPr>
                          <a:rPr lang="en-IN" sz="2600" b="1" i="1">
                            <a:latin typeface="Cambria Math" panose="02040503050406030204" pitchFamily="18" charset="0"/>
                          </a:rPr>
                        </m:ctrlPr>
                      </m:sSubPr>
                      <m:e>
                        <m:r>
                          <a:rPr lang="en-IN" sz="2600" b="1" i="1" smtClean="0">
                            <a:latin typeface="Cambria Math" panose="02040503050406030204" pitchFamily="18" charset="0"/>
                          </a:rPr>
                          <m:t>𝒘</m:t>
                        </m:r>
                      </m:e>
                      <m:sub>
                        <m:r>
                          <a:rPr lang="en-IN" sz="2600" b="1" i="1" smtClean="0">
                            <a:latin typeface="Cambria Math" panose="02040503050406030204" pitchFamily="18" charset="0"/>
                          </a:rPr>
                          <m:t>𝒊</m:t>
                        </m:r>
                      </m:sub>
                    </m:sSub>
                  </m:oMath>
                </a14:m>
                <a:r>
                  <a:rPr lang="en-IN" sz="2600" b="1" dirty="0"/>
                  <a:t>=w , a constant for all </a:t>
                </a:r>
                <a:r>
                  <a:rPr lang="en-IN" sz="2600" b="1" dirty="0" err="1"/>
                  <a:t>i</a:t>
                </a:r>
                <a:r>
                  <a:rPr lang="en-IN" sz="2600" b="1" dirty="0"/>
                  <a:t>,   </a:t>
                </a:r>
                <a14:m>
                  <m:oMath xmlns:m="http://schemas.openxmlformats.org/officeDocument/2006/math">
                    <m:sSubSup>
                      <m:sSubSupPr>
                        <m:ctrlPr>
                          <a:rPr lang="en-IN" sz="2600" b="1" i="1">
                            <a:latin typeface="Cambria Math" panose="02040503050406030204" pitchFamily="18" charset="0"/>
                          </a:rPr>
                        </m:ctrlPr>
                      </m:sSubSupPr>
                      <m:e>
                        <m:r>
                          <a:rPr lang="en-IN" sz="2600" b="1" i="1" smtClean="0">
                            <a:latin typeface="Cambria Math" panose="02040503050406030204" pitchFamily="18" charset="0"/>
                          </a:rPr>
                          <m:t>𝜷</m:t>
                        </m:r>
                      </m:e>
                      <m:sub>
                        <m:r>
                          <a:rPr lang="en-IN" sz="2600" b="1" i="1" smtClean="0">
                            <a:latin typeface="Cambria Math" panose="02040503050406030204" pitchFamily="18" charset="0"/>
                          </a:rPr>
                          <m:t>𝟐</m:t>
                        </m:r>
                      </m:sub>
                      <m:sup>
                        <m:r>
                          <a:rPr lang="en-IN" sz="2600" b="1" i="1" smtClean="0">
                            <a:latin typeface="Cambria Math" panose="02040503050406030204" pitchFamily="18" charset="0"/>
                          </a:rPr>
                          <m:t>^∗</m:t>
                        </m:r>
                      </m:sup>
                    </m:sSubSup>
                    <m:r>
                      <a:rPr lang="en-IN" sz="2600" b="1" i="1" smtClean="0">
                        <a:latin typeface="Cambria Math" panose="02040503050406030204" pitchFamily="18" charset="0"/>
                      </a:rPr>
                      <m:t>  </m:t>
                    </m:r>
                  </m:oMath>
                </a14:m>
                <a:r>
                  <a:rPr lang="en-IN" sz="2600" b="1" dirty="0"/>
                  <a:t>is identical with </a:t>
                </a:r>
                <a14:m>
                  <m:oMath xmlns:m="http://schemas.openxmlformats.org/officeDocument/2006/math">
                    <m:sSubSup>
                      <m:sSubSupPr>
                        <m:ctrlPr>
                          <a:rPr lang="en-IN" sz="2600" b="1" i="1">
                            <a:latin typeface="Cambria Math" panose="02040503050406030204" pitchFamily="18" charset="0"/>
                          </a:rPr>
                        </m:ctrlPr>
                      </m:sSubSupPr>
                      <m:e>
                        <m:r>
                          <a:rPr lang="en-IN" sz="2600" b="1" i="1" smtClean="0">
                            <a:latin typeface="Cambria Math" panose="02040503050406030204" pitchFamily="18" charset="0"/>
                          </a:rPr>
                          <m:t>𝜷</m:t>
                        </m:r>
                      </m:e>
                      <m:sub>
                        <m:r>
                          <a:rPr lang="en-IN" sz="2600" b="1" i="1" smtClean="0">
                            <a:latin typeface="Cambria Math" panose="02040503050406030204" pitchFamily="18" charset="0"/>
                          </a:rPr>
                          <m:t>𝟐</m:t>
                        </m:r>
                      </m:sub>
                      <m:sup>
                        <m:r>
                          <a:rPr lang="en-IN" sz="2600" b="1" i="1" smtClean="0">
                            <a:latin typeface="Cambria Math" panose="02040503050406030204" pitchFamily="18" charset="0"/>
                          </a:rPr>
                          <m:t>^</m:t>
                        </m:r>
                      </m:sup>
                    </m:sSubSup>
                  </m:oMath>
                </a14:m>
                <a:r>
                  <a:rPr lang="en-IN" sz="2600" b="1" dirty="0"/>
                  <a:t> and var </a:t>
                </a:r>
                <a14:m>
                  <m:oMath xmlns:m="http://schemas.openxmlformats.org/officeDocument/2006/math">
                    <m:sSubSup>
                      <m:sSubSupPr>
                        <m:ctrlPr>
                          <a:rPr lang="en-IN" sz="2600" b="1" i="1">
                            <a:latin typeface="Cambria Math" panose="02040503050406030204" pitchFamily="18" charset="0"/>
                          </a:rPr>
                        </m:ctrlPr>
                      </m:sSubSupPr>
                      <m:e>
                        <m:r>
                          <a:rPr lang="en-IN" sz="2600" b="1" i="1" smtClean="0">
                            <a:latin typeface="Cambria Math" panose="02040503050406030204" pitchFamily="18" charset="0"/>
                          </a:rPr>
                          <m:t>𝜷</m:t>
                        </m:r>
                      </m:e>
                      <m:sub>
                        <m:r>
                          <a:rPr lang="en-IN" sz="2600" b="1" i="1" smtClean="0">
                            <a:latin typeface="Cambria Math" panose="02040503050406030204" pitchFamily="18" charset="0"/>
                          </a:rPr>
                          <m:t>𝟐</m:t>
                        </m:r>
                      </m:sub>
                      <m:sup>
                        <m:r>
                          <a:rPr lang="en-IN" sz="2600" b="1" i="1" smtClean="0">
                            <a:latin typeface="Cambria Math" panose="02040503050406030204" pitchFamily="18" charset="0"/>
                          </a:rPr>
                          <m:t>^∗</m:t>
                        </m:r>
                      </m:sup>
                    </m:sSubSup>
                    <m:r>
                      <a:rPr lang="en-IN" sz="2600" b="1" i="1" smtClean="0">
                        <a:latin typeface="Cambria Math" panose="02040503050406030204" pitchFamily="18" charset="0"/>
                      </a:rPr>
                      <m:t>  </m:t>
                    </m:r>
                  </m:oMath>
                </a14:m>
                <a:r>
                  <a:rPr lang="en-IN" sz="2600" b="1" dirty="0"/>
                  <a:t>is identical with the usual var(</a:t>
                </a:r>
                <a14:m>
                  <m:oMath xmlns:m="http://schemas.openxmlformats.org/officeDocument/2006/math">
                    <m:sSub>
                      <m:sSubPr>
                        <m:ctrlPr>
                          <a:rPr lang="en-IN" sz="2600" b="1" i="1">
                            <a:latin typeface="Cambria Math" panose="02040503050406030204" pitchFamily="18" charset="0"/>
                          </a:rPr>
                        </m:ctrlPr>
                      </m:sSubPr>
                      <m:e>
                        <m:r>
                          <a:rPr lang="en-IN" sz="2600" b="1" i="1" smtClean="0">
                            <a:latin typeface="Cambria Math" panose="02040503050406030204" pitchFamily="18" charset="0"/>
                          </a:rPr>
                          <m:t>𝜷</m:t>
                        </m:r>
                      </m:e>
                      <m:sub>
                        <m:r>
                          <a:rPr lang="en-IN" sz="2600" b="1" i="1" smtClean="0">
                            <a:latin typeface="Cambria Math" panose="02040503050406030204" pitchFamily="18" charset="0"/>
                          </a:rPr>
                          <m:t>𝟐</m:t>
                        </m:r>
                      </m:sub>
                    </m:sSub>
                  </m:oMath>
                </a14:m>
                <a:r>
                  <a:rPr lang="en-IN" sz="2600" b="1" dirty="0"/>
                  <a:t>).</a:t>
                </a:r>
              </a:p>
              <a:p>
                <a:pPr marL="0" lvl="0" indent="0">
                  <a:buNone/>
                </a:pPr>
                <a:endParaRPr lang="en-IN" sz="2600" b="1" dirty="0"/>
              </a:p>
              <a:p>
                <a:pPr marL="0" indent="0">
                  <a:buNone/>
                </a:pPr>
                <a:r>
                  <a:rPr lang="en-IN" sz="2600" b="1" dirty="0"/>
                  <a:t>                                         </a:t>
                </a:r>
                <a:r>
                  <a:rPr lang="en-IN" sz="2600" b="1" dirty="0">
                    <a:solidFill>
                      <a:srgbClr val="002060"/>
                    </a:solidFill>
                  </a:rPr>
                  <a:t>DETECTION OF HETEROSCEDASTICITY </a:t>
                </a:r>
              </a:p>
              <a:p>
                <a:pPr marL="0" indent="0">
                  <a:buNone/>
                </a:pPr>
                <a:endParaRPr lang="en-IN" sz="2600" b="1" dirty="0"/>
              </a:p>
              <a:p>
                <a:pPr marL="0" lvl="0" indent="0">
                  <a:buNone/>
                </a:pPr>
                <a:r>
                  <a:rPr lang="en-IN" sz="2600" b="1" dirty="0"/>
                  <a:t>There is 3 method  to detect the </a:t>
                </a:r>
                <a:r>
                  <a:rPr lang="en-IN" sz="2600" b="1" dirty="0" err="1"/>
                  <a:t>hetroscedasticity</a:t>
                </a:r>
                <a:r>
                  <a:rPr lang="en-IN" sz="2600" b="1" dirty="0"/>
                  <a:t> . </a:t>
                </a:r>
              </a:p>
              <a:p>
                <a:pPr marL="0" indent="0">
                  <a:buNone/>
                </a:pPr>
                <a:r>
                  <a:rPr lang="en-IN" sz="2600" b="1" dirty="0"/>
                  <a:t>[ 1 ]   INFORMAL  METHOD </a:t>
                </a:r>
              </a:p>
              <a:p>
                <a:pPr marL="0" lvl="0" indent="0">
                  <a:buNone/>
                </a:pPr>
                <a:r>
                  <a:rPr lang="en-IN" sz="2600" b="1" dirty="0"/>
                  <a:t>NATURE OF PROBLEM </a:t>
                </a:r>
              </a:p>
              <a:p>
                <a:pPr marL="0" lvl="0" indent="0">
                  <a:buNone/>
                </a:pPr>
                <a:r>
                  <a:rPr lang="en-IN" sz="2600" b="1" dirty="0"/>
                  <a:t>Very often the nature of problem under the consideration suggests that Hetero is likely to remain present . </a:t>
                </a:r>
              </a:p>
              <a:p>
                <a:pPr marL="0" lvl="0" indent="0">
                  <a:buNone/>
                </a:pPr>
                <a:r>
                  <a:rPr lang="en-IN" sz="2600" b="1" dirty="0"/>
                  <a:t>For </a:t>
                </a:r>
                <a:r>
                  <a:rPr lang="en-IN" sz="2600" b="1" dirty="0" err="1"/>
                  <a:t>eg.</a:t>
                </a:r>
                <a:r>
                  <a:rPr lang="en-IN" sz="2600" b="1" dirty="0"/>
                  <a:t>, The family budget study by PARIS and HOTHUKKAR , they found in 1995 that residual variance around the regression consumption of income increases with income . </a:t>
                </a:r>
              </a:p>
              <a:p>
                <a:endParaRPr lang="en-IN" dirty="0"/>
              </a:p>
            </p:txBody>
          </p:sp>
        </mc:Choice>
        <mc:Fallback xmlns="">
          <p:sp>
            <p:nvSpPr>
              <p:cNvPr id="3" name="Content Placeholder 2">
                <a:extLst>
                  <a:ext uri="{FF2B5EF4-FFF2-40B4-BE49-F238E27FC236}">
                    <a16:creationId xmlns:a16="http://schemas.microsoft.com/office/drawing/2014/main" id="{D9982676-56A8-4CF8-B818-FE701348F316}"/>
                  </a:ext>
                </a:extLst>
              </p:cNvPr>
              <p:cNvSpPr>
                <a:spLocks noGrp="1" noRot="1" noChangeAspect="1" noMove="1" noResize="1" noEditPoints="1" noAdjustHandles="1" noChangeArrowheads="1" noChangeShapeType="1" noTextEdit="1"/>
              </p:cNvSpPr>
              <p:nvPr>
                <p:ph idx="1"/>
              </p:nvPr>
            </p:nvSpPr>
            <p:spPr>
              <a:xfrm>
                <a:off x="914403" y="463830"/>
                <a:ext cx="10590212" cy="5447396"/>
              </a:xfrm>
              <a:blipFill>
                <a:blip r:embed="rId2"/>
                <a:stretch>
                  <a:fillRect l="-748" t="-1902" r="-864" b="-1566"/>
                </a:stretch>
              </a:blipFill>
            </p:spPr>
            <p:txBody>
              <a:bodyPr/>
              <a:lstStyle/>
              <a:p>
                <a:r>
                  <a:rPr lang="en-IN">
                    <a:noFill/>
                  </a:rPr>
                  <a:t> </a:t>
                </a:r>
              </a:p>
            </p:txBody>
          </p:sp>
        </mc:Fallback>
      </mc:AlternateContent>
    </p:spTree>
    <p:extLst>
      <p:ext uri="{BB962C8B-B14F-4D97-AF65-F5344CB8AC3E}">
        <p14:creationId xmlns:p14="http://schemas.microsoft.com/office/powerpoint/2010/main" val="24883954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04FCB5-1743-41FA-9A26-6A6EF998FDC5}"/>
              </a:ext>
            </a:extLst>
          </p:cNvPr>
          <p:cNvSpPr>
            <a:spLocks noGrp="1"/>
          </p:cNvSpPr>
          <p:nvPr>
            <p:ph idx="1"/>
          </p:nvPr>
        </p:nvSpPr>
        <p:spPr>
          <a:xfrm>
            <a:off x="1086681" y="861395"/>
            <a:ext cx="10417935" cy="5049831"/>
          </a:xfrm>
        </p:spPr>
        <p:txBody>
          <a:bodyPr>
            <a:normAutofit/>
          </a:bodyPr>
          <a:lstStyle/>
          <a:p>
            <a:pPr marL="0" indent="0">
              <a:buNone/>
            </a:pPr>
            <a:r>
              <a:rPr lang="en-IN" b="1" dirty="0"/>
              <a:t> </a:t>
            </a:r>
            <a:r>
              <a:rPr lang="en-IN" b="1" dirty="0">
                <a:solidFill>
                  <a:srgbClr val="002060"/>
                </a:solidFill>
              </a:rPr>
              <a:t>GRAPHICAL METHOD </a:t>
            </a:r>
          </a:p>
          <a:p>
            <a:pPr marL="0" lvl="0" indent="0">
              <a:buNone/>
            </a:pPr>
            <a:r>
              <a:rPr lang="en-IN" sz="2200" b="1" dirty="0"/>
              <a:t>Figure (a) indicates that the Heteroscedasticity is absent in the data where as figures from (b) to ( e ) indicate the presences of Heteroscedasticity . </a:t>
            </a:r>
          </a:p>
          <a:p>
            <a:pPr marL="0" lvl="0" indent="0">
              <a:buNone/>
            </a:pPr>
            <a:r>
              <a:rPr lang="en-IN" sz="2200" b="1" dirty="0"/>
              <a:t>A pattern such as that show in above figure , it suggest that the variance of the disturbance term is linearly related to the X variable . </a:t>
            </a:r>
          </a:p>
          <a:p>
            <a:pPr marL="0" lvl="0" indent="0">
              <a:buNone/>
            </a:pPr>
            <a:r>
              <a:rPr lang="en-IN" sz="2200" b="1" dirty="0"/>
              <a:t>It suggest that the variance is proportional to the value of income variable . </a:t>
            </a:r>
          </a:p>
          <a:p>
            <a:pPr marL="0" lvl="0" indent="0">
              <a:buNone/>
            </a:pPr>
            <a:endParaRPr lang="en-IN" sz="2200" b="1" dirty="0"/>
          </a:p>
          <a:p>
            <a:pPr marL="0" indent="0">
              <a:buNone/>
            </a:pPr>
            <a:r>
              <a:rPr lang="en-IN" sz="2200" b="1" dirty="0"/>
              <a:t> </a:t>
            </a:r>
            <a:r>
              <a:rPr lang="en-IN" sz="2400" b="1" dirty="0">
                <a:solidFill>
                  <a:srgbClr val="002060"/>
                </a:solidFill>
              </a:rPr>
              <a:t>                            FORMAL TEST </a:t>
            </a:r>
          </a:p>
          <a:p>
            <a:pPr marL="0" indent="0">
              <a:buNone/>
            </a:pPr>
            <a:r>
              <a:rPr lang="en-IN" sz="2000" b="1" dirty="0"/>
              <a:t>There is many test to detect or to reduce the heteroscedasticity </a:t>
            </a:r>
          </a:p>
          <a:p>
            <a:pPr marL="0" lvl="0" indent="0">
              <a:buNone/>
            </a:pPr>
            <a:r>
              <a:rPr lang="en-IN" sz="2000" b="1" dirty="0"/>
              <a:t>Here , we use  two test that is  </a:t>
            </a:r>
          </a:p>
          <a:p>
            <a:pPr marL="0" lvl="0" indent="0">
              <a:buNone/>
            </a:pPr>
            <a:r>
              <a:rPr lang="en-IN" sz="2000" b="1" dirty="0"/>
              <a:t> [1]  PARK      TEST                              [2] GLEJSER  TEST    </a:t>
            </a:r>
          </a:p>
          <a:p>
            <a:endParaRPr lang="en-IN" dirty="0"/>
          </a:p>
        </p:txBody>
      </p:sp>
    </p:spTree>
    <p:extLst>
      <p:ext uri="{BB962C8B-B14F-4D97-AF65-F5344CB8AC3E}">
        <p14:creationId xmlns:p14="http://schemas.microsoft.com/office/powerpoint/2010/main" val="104825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EA24C1-F1A5-4409-AE0E-66A780D7AF3D}"/>
                  </a:ext>
                </a:extLst>
              </p:cNvPr>
              <p:cNvSpPr>
                <a:spLocks noGrp="1"/>
              </p:cNvSpPr>
              <p:nvPr>
                <p:ph idx="1"/>
              </p:nvPr>
            </p:nvSpPr>
            <p:spPr>
              <a:xfrm>
                <a:off x="848144" y="768630"/>
                <a:ext cx="10656473" cy="5142596"/>
              </a:xfrm>
            </p:spPr>
            <p:txBody>
              <a:bodyPr>
                <a:normAutofit/>
              </a:bodyPr>
              <a:lstStyle/>
              <a:p>
                <a:pPr marL="0" indent="0">
                  <a:buNone/>
                </a:pPr>
                <a:r>
                  <a:rPr lang="en-IN" b="1" dirty="0"/>
                  <a:t> </a:t>
                </a:r>
                <a:r>
                  <a:rPr lang="en-IN" b="1" dirty="0">
                    <a:solidFill>
                      <a:srgbClr val="002060"/>
                    </a:solidFill>
                  </a:rPr>
                  <a:t>PARK TEST </a:t>
                </a:r>
                <a:endParaRPr lang="en-IN" dirty="0">
                  <a:solidFill>
                    <a:srgbClr val="002060"/>
                  </a:solidFill>
                </a:endParaRPr>
              </a:p>
              <a:p>
                <a:pPr marL="0" lvl="0" indent="0">
                  <a:buNone/>
                </a:pPr>
                <a:r>
                  <a:rPr lang="en-IN" sz="2200" b="1" dirty="0"/>
                  <a:t>Park formalizes the graphical method by suggesting that </a:t>
                </a:r>
                <a14:m>
                  <m:oMath xmlns:m="http://schemas.openxmlformats.org/officeDocument/2006/math">
                    <m:sSubSup>
                      <m:sSubSupPr>
                        <m:ctrlPr>
                          <a:rPr lang="en-IN" sz="2200" b="1" i="1">
                            <a:latin typeface="Cambria Math" panose="02040503050406030204" pitchFamily="18" charset="0"/>
                          </a:rPr>
                        </m:ctrlPr>
                      </m:sSubSupPr>
                      <m:e>
                        <m:r>
                          <a:rPr lang="en-IN" sz="2200" b="1" i="1">
                            <a:latin typeface="Cambria Math" panose="02040503050406030204" pitchFamily="18" charset="0"/>
                          </a:rPr>
                          <m:t>𝝈</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oMath>
                </a14:m>
                <a:r>
                  <a:rPr lang="en-IN" sz="2200" b="1" dirty="0"/>
                  <a:t> ,   is some function of the explanatory variable </a:t>
                </a:r>
                <a14:m>
                  <m:oMath xmlns:m="http://schemas.openxmlformats.org/officeDocument/2006/math">
                    <m:sSub>
                      <m:sSubPr>
                        <m:ctrlPr>
                          <a:rPr lang="en-IN" sz="2200" b="1" i="1">
                            <a:latin typeface="Cambria Math" panose="02040503050406030204" pitchFamily="18" charset="0"/>
                          </a:rPr>
                        </m:ctrlPr>
                      </m:sSubPr>
                      <m:e>
                        <m:r>
                          <a:rPr lang="en-IN" sz="2200" b="1" i="1">
                            <a:latin typeface="Cambria Math" panose="02040503050406030204" pitchFamily="18" charset="0"/>
                          </a:rPr>
                          <m:t>𝑿</m:t>
                        </m:r>
                      </m:e>
                      <m:sub>
                        <m:r>
                          <a:rPr lang="en-IN" sz="2200" b="1" i="1">
                            <a:latin typeface="Cambria Math" panose="02040503050406030204" pitchFamily="18" charset="0"/>
                          </a:rPr>
                          <m:t>𝒊</m:t>
                        </m:r>
                      </m:sub>
                    </m:sSub>
                  </m:oMath>
                </a14:m>
                <a:r>
                  <a:rPr lang="en-IN" sz="2200" b="1" dirty="0"/>
                  <a:t> ,</a:t>
                </a:r>
              </a:p>
              <a:p>
                <a:pPr marL="0" indent="0">
                  <a:buNone/>
                </a:pPr>
                <a:r>
                  <a:rPr lang="en-IN" sz="2200" b="1" dirty="0"/>
                  <a:t>      The functional form he suggests is : </a:t>
                </a:r>
                <a14:m>
                  <m:oMath xmlns:m="http://schemas.openxmlformats.org/officeDocument/2006/math">
                    <m:sSubSup>
                      <m:sSubSupPr>
                        <m:ctrlPr>
                          <a:rPr lang="en-IN" sz="2200" b="1" i="1">
                            <a:latin typeface="Cambria Math" panose="02040503050406030204" pitchFamily="18" charset="0"/>
                          </a:rPr>
                        </m:ctrlPr>
                      </m:sSubSupPr>
                      <m:e>
                        <m:r>
                          <a:rPr lang="en-IN" sz="2200" b="1" i="1">
                            <a:latin typeface="Cambria Math" panose="02040503050406030204" pitchFamily="18" charset="0"/>
                          </a:rPr>
                          <m:t>𝝈</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r>
                      <a:rPr lang="en-IN" sz="2200" b="1" i="1">
                        <a:latin typeface="Cambria Math" panose="02040503050406030204" pitchFamily="18" charset="0"/>
                      </a:rPr>
                      <m:t>= </m:t>
                    </m:r>
                    <m:sSup>
                      <m:sSupPr>
                        <m:ctrlPr>
                          <a:rPr lang="en-IN" sz="2200" b="1" i="1">
                            <a:latin typeface="Cambria Math" panose="02040503050406030204" pitchFamily="18" charset="0"/>
                          </a:rPr>
                        </m:ctrlPr>
                      </m:sSupPr>
                      <m:e>
                        <m:r>
                          <a:rPr lang="en-IN" sz="2200" b="1" i="1">
                            <a:latin typeface="Cambria Math" panose="02040503050406030204" pitchFamily="18" charset="0"/>
                          </a:rPr>
                          <m:t>𝝈</m:t>
                        </m:r>
                      </m:e>
                      <m:sup>
                        <m:r>
                          <a:rPr lang="en-IN" sz="2200" b="1" i="1">
                            <a:latin typeface="Cambria Math" panose="02040503050406030204" pitchFamily="18" charset="0"/>
                          </a:rPr>
                          <m:t>𝟐</m:t>
                        </m:r>
                      </m:sup>
                    </m:sSup>
                    <m:sSubSup>
                      <m:sSubSupPr>
                        <m:ctrlPr>
                          <a:rPr lang="en-IN" sz="2200" b="1" i="1">
                            <a:latin typeface="Cambria Math" panose="02040503050406030204" pitchFamily="18" charset="0"/>
                          </a:rPr>
                        </m:ctrlPr>
                      </m:sSubSupPr>
                      <m:e>
                        <m:r>
                          <a:rPr lang="en-IN" sz="2200" b="1" i="1">
                            <a:latin typeface="Cambria Math" panose="02040503050406030204" pitchFamily="18" charset="0"/>
                          </a:rPr>
                          <m:t>𝑿</m:t>
                        </m:r>
                      </m:e>
                      <m:sub>
                        <m:r>
                          <a:rPr lang="en-IN" sz="2200" b="1" i="1">
                            <a:latin typeface="Cambria Math" panose="02040503050406030204" pitchFamily="18" charset="0"/>
                          </a:rPr>
                          <m:t>𝒊</m:t>
                        </m:r>
                      </m:sub>
                      <m:sup>
                        <m:r>
                          <a:rPr lang="en-IN" sz="2200" b="1" i="1">
                            <a:latin typeface="Cambria Math" panose="02040503050406030204" pitchFamily="18" charset="0"/>
                          </a:rPr>
                          <m:t>𝜷</m:t>
                        </m:r>
                      </m:sup>
                    </m:sSubSup>
                    <m:sSup>
                      <m:sSupPr>
                        <m:ctrlPr>
                          <a:rPr lang="en-IN" sz="2200" b="1" i="1">
                            <a:latin typeface="Cambria Math" panose="02040503050406030204" pitchFamily="18" charset="0"/>
                          </a:rPr>
                        </m:ctrlPr>
                      </m:sSupPr>
                      <m:e>
                        <m:r>
                          <a:rPr lang="en-IN" sz="2200" b="1" i="1">
                            <a:latin typeface="Cambria Math" panose="02040503050406030204" pitchFamily="18" charset="0"/>
                          </a:rPr>
                          <m:t>𝒆</m:t>
                        </m:r>
                      </m:e>
                      <m:sup>
                        <m:r>
                          <a:rPr lang="en-IN" sz="2200" b="1" i="1">
                            <a:latin typeface="Cambria Math" panose="02040503050406030204" pitchFamily="18" charset="0"/>
                          </a:rPr>
                          <m:t>𝒗𝒊</m:t>
                        </m:r>
                      </m:sup>
                    </m:sSup>
                  </m:oMath>
                </a14:m>
                <a:endParaRPr lang="en-IN" sz="2200" b="1" dirty="0"/>
              </a:p>
              <a:p>
                <a:pPr marL="0" indent="0">
                  <a:buNone/>
                </a:pPr>
                <a:r>
                  <a:rPr lang="en-IN" sz="2200" b="1" dirty="0"/>
                  <a:t>                                                                                        Or </a:t>
                </a:r>
              </a:p>
              <a:p>
                <a:pPr marL="0" indent="0">
                  <a:buNone/>
                </a:pPr>
                <a:br>
                  <a:rPr lang="en-IN" sz="2200" b="1" dirty="0"/>
                </a:br>
                <a14:m>
                  <m:oMathPara xmlns:m="http://schemas.openxmlformats.org/officeDocument/2006/math">
                    <m:oMathParaPr>
                      <m:jc m:val="centerGroup"/>
                    </m:oMathParaPr>
                    <m:oMath xmlns:m="http://schemas.openxmlformats.org/officeDocument/2006/math">
                      <m:r>
                        <a:rPr lang="en-IN" sz="2200" b="1" i="1">
                          <a:latin typeface="Cambria Math" panose="02040503050406030204" pitchFamily="18" charset="0"/>
                        </a:rPr>
                        <m:t>𝒍𝒏</m:t>
                      </m:r>
                      <m:sSubSup>
                        <m:sSubSupPr>
                          <m:ctrlPr>
                            <a:rPr lang="en-IN" sz="2200" b="1" i="1">
                              <a:latin typeface="Cambria Math" panose="02040503050406030204" pitchFamily="18" charset="0"/>
                            </a:rPr>
                          </m:ctrlPr>
                        </m:sSubSupPr>
                        <m:e>
                          <m:r>
                            <a:rPr lang="en-IN" sz="2200" b="1" i="1">
                              <a:latin typeface="Cambria Math" panose="02040503050406030204" pitchFamily="18" charset="0"/>
                            </a:rPr>
                            <m:t>𝝈</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r>
                        <a:rPr lang="en-IN" sz="2200" b="1" i="1">
                          <a:latin typeface="Cambria Math" panose="02040503050406030204" pitchFamily="18" charset="0"/>
                        </a:rPr>
                        <m:t>=</m:t>
                      </m:r>
                      <m:r>
                        <a:rPr lang="en-IN" sz="2200" b="1" i="1">
                          <a:latin typeface="Cambria Math" panose="02040503050406030204" pitchFamily="18" charset="0"/>
                        </a:rPr>
                        <m:t>𝒍𝒏</m:t>
                      </m:r>
                      <m:sSup>
                        <m:sSupPr>
                          <m:ctrlPr>
                            <a:rPr lang="en-IN" sz="2200" b="1" i="1">
                              <a:latin typeface="Cambria Math" panose="02040503050406030204" pitchFamily="18" charset="0"/>
                            </a:rPr>
                          </m:ctrlPr>
                        </m:sSupPr>
                        <m:e>
                          <m:r>
                            <a:rPr lang="en-IN" sz="2200" b="1" i="1">
                              <a:latin typeface="Cambria Math" panose="02040503050406030204" pitchFamily="18" charset="0"/>
                            </a:rPr>
                            <m:t>𝝈</m:t>
                          </m:r>
                        </m:e>
                        <m:sup>
                          <m:r>
                            <a:rPr lang="en-IN" sz="2200" b="1" i="1">
                              <a:latin typeface="Cambria Math" panose="02040503050406030204" pitchFamily="18" charset="0"/>
                            </a:rPr>
                            <m:t>𝟐</m:t>
                          </m:r>
                        </m:sup>
                      </m:sSup>
                      <m:r>
                        <a:rPr lang="en-IN" sz="2200" b="1" i="1">
                          <a:latin typeface="Cambria Math" panose="02040503050406030204" pitchFamily="18" charset="0"/>
                        </a:rPr>
                        <m:t>+ </m:t>
                      </m:r>
                      <m:r>
                        <a:rPr lang="en-IN" sz="2200" b="1" i="1">
                          <a:latin typeface="Cambria Math" panose="02040503050406030204" pitchFamily="18" charset="0"/>
                        </a:rPr>
                        <m:t>𝜷</m:t>
                      </m:r>
                      <m:r>
                        <a:rPr lang="en-IN" sz="2200" b="1" i="1">
                          <a:latin typeface="Cambria Math" panose="02040503050406030204" pitchFamily="18" charset="0"/>
                        </a:rPr>
                        <m:t>𝒍𝒏</m:t>
                      </m:r>
                      <m:sSub>
                        <m:sSubPr>
                          <m:ctrlPr>
                            <a:rPr lang="en-IN" sz="2200" b="1" i="1">
                              <a:latin typeface="Cambria Math" panose="02040503050406030204" pitchFamily="18" charset="0"/>
                            </a:rPr>
                          </m:ctrlPr>
                        </m:sSubPr>
                        <m:e>
                          <m:r>
                            <a:rPr lang="en-IN" sz="2200" b="1" i="1">
                              <a:latin typeface="Cambria Math" panose="02040503050406030204" pitchFamily="18" charset="0"/>
                            </a:rPr>
                            <m:t>𝑿</m:t>
                          </m:r>
                        </m:e>
                        <m:sub>
                          <m:r>
                            <a:rPr lang="en-IN" sz="2200" b="1" i="1">
                              <a:latin typeface="Cambria Math" panose="02040503050406030204" pitchFamily="18" charset="0"/>
                            </a:rPr>
                            <m:t>𝒊</m:t>
                          </m:r>
                        </m:sub>
                      </m:sSub>
                      <m:r>
                        <a:rPr lang="en-IN" sz="2200" b="1" i="1">
                          <a:latin typeface="Cambria Math" panose="02040503050406030204" pitchFamily="18" charset="0"/>
                        </a:rPr>
                        <m:t>+</m:t>
                      </m:r>
                      <m:r>
                        <a:rPr lang="en-IN" sz="2200" b="1" i="1">
                          <a:latin typeface="Cambria Math" panose="02040503050406030204" pitchFamily="18" charset="0"/>
                        </a:rPr>
                        <m:t>𝒗𝒊</m:t>
                      </m:r>
                    </m:oMath>
                  </m:oMathPara>
                </a14:m>
                <a:endParaRPr lang="en-IN" sz="2200" b="1" dirty="0"/>
              </a:p>
              <a:p>
                <a:pPr marL="0" lvl="0" indent="0">
                  <a:buNone/>
                </a:pPr>
                <a:r>
                  <a:rPr lang="en-IN" sz="2200" b="1" dirty="0"/>
                  <a:t>Where , vi is the disturbance term . </a:t>
                </a:r>
              </a:p>
              <a:p>
                <a:pPr marL="0" indent="0">
                  <a:buNone/>
                </a:pPr>
                <a:r>
                  <a:rPr lang="en-IN" sz="2200" b="1" dirty="0"/>
                  <a:t>Since , </a:t>
                </a:r>
                <a14:m>
                  <m:oMath xmlns:m="http://schemas.openxmlformats.org/officeDocument/2006/math">
                    <m:sSubSup>
                      <m:sSubSupPr>
                        <m:ctrlPr>
                          <a:rPr lang="en-IN" sz="2200" b="1" i="1">
                            <a:latin typeface="Cambria Math" panose="02040503050406030204" pitchFamily="18" charset="0"/>
                          </a:rPr>
                        </m:ctrlPr>
                      </m:sSubSupPr>
                      <m:e>
                        <m:r>
                          <a:rPr lang="en-IN" sz="2200" b="1" i="1">
                            <a:latin typeface="Cambria Math" panose="02040503050406030204" pitchFamily="18" charset="0"/>
                          </a:rPr>
                          <m:t>𝝈</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oMath>
                </a14:m>
                <a:r>
                  <a:rPr lang="en-IN" sz="2200" b="1" dirty="0"/>
                  <a:t>  is generally not known . Park suggest using </a:t>
                </a:r>
                <a14:m>
                  <m:oMath xmlns:m="http://schemas.openxmlformats.org/officeDocument/2006/math">
                    <m:sSubSup>
                      <m:sSubSupPr>
                        <m:ctrlPr>
                          <a:rPr lang="en-IN" sz="2200" b="1" i="1">
                            <a:latin typeface="Cambria Math" panose="02040503050406030204" pitchFamily="18" charset="0"/>
                          </a:rPr>
                        </m:ctrlPr>
                      </m:sSubSupPr>
                      <m:e>
                        <m:r>
                          <a:rPr lang="en-IN" sz="2200" b="1" i="1">
                            <a:latin typeface="Cambria Math" panose="02040503050406030204" pitchFamily="18" charset="0"/>
                          </a:rPr>
                          <m:t>𝒖</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oMath>
                </a14:m>
                <a:r>
                  <a:rPr lang="en-IN" sz="2200" b="1" dirty="0"/>
                  <a:t> as a proxy and running the following regression .</a:t>
                </a:r>
                <a14:m>
                  <m:oMath xmlns:m="http://schemas.openxmlformats.org/officeDocument/2006/math">
                    <m:r>
                      <a:rPr lang="en-IN" sz="2200" b="1" i="1">
                        <a:latin typeface="Cambria Math" panose="02040503050406030204" pitchFamily="18" charset="0"/>
                      </a:rPr>
                      <m:t>𝒍𝒏</m:t>
                    </m:r>
                    <m:acc>
                      <m:accPr>
                        <m:chr m:val="̂"/>
                        <m:ctrlPr>
                          <a:rPr lang="en-IN" sz="2200" b="1" i="1">
                            <a:latin typeface="Cambria Math" panose="02040503050406030204" pitchFamily="18" charset="0"/>
                          </a:rPr>
                        </m:ctrlPr>
                      </m:accPr>
                      <m:e>
                        <m:sSubSup>
                          <m:sSubSupPr>
                            <m:ctrlPr>
                              <a:rPr lang="en-IN" sz="2200" b="1" i="1">
                                <a:latin typeface="Cambria Math" panose="02040503050406030204" pitchFamily="18" charset="0"/>
                              </a:rPr>
                            </m:ctrlPr>
                          </m:sSubSupPr>
                          <m:e>
                            <m:r>
                              <a:rPr lang="en-IN" sz="2200" b="1" i="1">
                                <a:latin typeface="Cambria Math" panose="02040503050406030204" pitchFamily="18" charset="0"/>
                              </a:rPr>
                              <m:t>𝒖</m:t>
                            </m:r>
                          </m:e>
                          <m:sub>
                            <m:r>
                              <a:rPr lang="en-IN" sz="2200" b="1" i="1">
                                <a:latin typeface="Cambria Math" panose="02040503050406030204" pitchFamily="18" charset="0"/>
                              </a:rPr>
                              <m:t>𝒊</m:t>
                            </m:r>
                          </m:sub>
                          <m:sup>
                            <m:r>
                              <a:rPr lang="en-IN" sz="2200" b="1" i="1">
                                <a:latin typeface="Cambria Math" panose="02040503050406030204" pitchFamily="18" charset="0"/>
                              </a:rPr>
                              <m:t>𝟐</m:t>
                            </m:r>
                          </m:sup>
                        </m:sSubSup>
                      </m:e>
                    </m:acc>
                    <m:r>
                      <a:rPr lang="en-IN" sz="2200" b="1" i="1">
                        <a:latin typeface="Cambria Math" panose="02040503050406030204" pitchFamily="18" charset="0"/>
                      </a:rPr>
                      <m:t>= </m:t>
                    </m:r>
                    <m:r>
                      <a:rPr lang="en-IN" sz="2200" b="1" i="1">
                        <a:latin typeface="Cambria Math" panose="02040503050406030204" pitchFamily="18" charset="0"/>
                      </a:rPr>
                      <m:t>𝒍𝒏</m:t>
                    </m:r>
                    <m:sSup>
                      <m:sSupPr>
                        <m:ctrlPr>
                          <a:rPr lang="en-IN" sz="2200" b="1" i="1">
                            <a:latin typeface="Cambria Math" panose="02040503050406030204" pitchFamily="18" charset="0"/>
                          </a:rPr>
                        </m:ctrlPr>
                      </m:sSupPr>
                      <m:e>
                        <m:r>
                          <a:rPr lang="en-IN" sz="2200" b="1" i="1">
                            <a:latin typeface="Cambria Math" panose="02040503050406030204" pitchFamily="18" charset="0"/>
                          </a:rPr>
                          <m:t>𝝈</m:t>
                        </m:r>
                      </m:e>
                      <m:sup>
                        <m:r>
                          <a:rPr lang="en-IN" sz="2200" b="1" i="1">
                            <a:latin typeface="Cambria Math" panose="02040503050406030204" pitchFamily="18" charset="0"/>
                          </a:rPr>
                          <m:t>𝟐</m:t>
                        </m:r>
                      </m:sup>
                    </m:sSup>
                    <m:r>
                      <a:rPr lang="en-IN" sz="2200" b="1" i="1">
                        <a:latin typeface="Cambria Math" panose="02040503050406030204" pitchFamily="18" charset="0"/>
                      </a:rPr>
                      <m:t>+ </m:t>
                    </m:r>
                    <m:r>
                      <a:rPr lang="en-IN" sz="2200" b="1" i="1">
                        <a:latin typeface="Cambria Math" panose="02040503050406030204" pitchFamily="18" charset="0"/>
                      </a:rPr>
                      <m:t>𝜷</m:t>
                    </m:r>
                    <m:r>
                      <a:rPr lang="en-IN" sz="2200" b="1" i="1">
                        <a:latin typeface="Cambria Math" panose="02040503050406030204" pitchFamily="18" charset="0"/>
                      </a:rPr>
                      <m:t>𝒍𝒏</m:t>
                    </m:r>
                    <m:sSub>
                      <m:sSubPr>
                        <m:ctrlPr>
                          <a:rPr lang="en-IN" sz="2200" b="1" i="1">
                            <a:latin typeface="Cambria Math" panose="02040503050406030204" pitchFamily="18" charset="0"/>
                          </a:rPr>
                        </m:ctrlPr>
                      </m:sSubPr>
                      <m:e>
                        <m:r>
                          <a:rPr lang="en-IN" sz="2200" b="1" i="1">
                            <a:latin typeface="Cambria Math" panose="02040503050406030204" pitchFamily="18" charset="0"/>
                          </a:rPr>
                          <m:t>𝑿</m:t>
                        </m:r>
                      </m:e>
                      <m:sub>
                        <m:r>
                          <a:rPr lang="en-IN" sz="2200" b="1" i="1">
                            <a:latin typeface="Cambria Math" panose="02040503050406030204" pitchFamily="18" charset="0"/>
                          </a:rPr>
                          <m:t>𝒊</m:t>
                        </m:r>
                      </m:sub>
                    </m:sSub>
                    <m:r>
                      <a:rPr lang="en-IN" sz="2200" b="1" i="1">
                        <a:latin typeface="Cambria Math" panose="02040503050406030204" pitchFamily="18" charset="0"/>
                      </a:rPr>
                      <m:t>+</m:t>
                    </m:r>
                    <m:r>
                      <a:rPr lang="en-IN" sz="2200" b="1" i="1">
                        <a:latin typeface="Cambria Math" panose="02040503050406030204" pitchFamily="18" charset="0"/>
                      </a:rPr>
                      <m:t>𝒗𝒊</m:t>
                    </m:r>
                  </m:oMath>
                </a14:m>
                <a:endParaRPr lang="en-IN" sz="2200" b="1" dirty="0"/>
              </a:p>
              <a:p>
                <a:pPr marL="0" indent="0">
                  <a:buNone/>
                </a:pPr>
                <a:r>
                  <a:rPr lang="en-IN" sz="2200" b="1" dirty="0"/>
                  <a:t>                                          </a:t>
                </a:r>
                <a14:m>
                  <m:oMath xmlns:m="http://schemas.openxmlformats.org/officeDocument/2006/math">
                    <m:r>
                      <a:rPr lang="en-IN" sz="2200" b="1" i="1">
                        <a:latin typeface="Cambria Math" panose="02040503050406030204" pitchFamily="18" charset="0"/>
                      </a:rPr>
                      <m:t>= </m:t>
                    </m:r>
                    <m:r>
                      <a:rPr lang="en-IN" sz="2200" b="1" i="1">
                        <a:latin typeface="Cambria Math" panose="02040503050406030204" pitchFamily="18" charset="0"/>
                      </a:rPr>
                      <m:t>𝜶</m:t>
                    </m:r>
                    <m:r>
                      <a:rPr lang="en-IN" sz="2200" b="1" i="1">
                        <a:latin typeface="Cambria Math" panose="02040503050406030204" pitchFamily="18" charset="0"/>
                      </a:rPr>
                      <m:t>+ </m:t>
                    </m:r>
                    <m:r>
                      <a:rPr lang="en-IN" sz="2200" b="1" i="1">
                        <a:latin typeface="Cambria Math" panose="02040503050406030204" pitchFamily="18" charset="0"/>
                      </a:rPr>
                      <m:t>𝜷</m:t>
                    </m:r>
                    <m:r>
                      <a:rPr lang="en-IN" sz="2200" b="1" i="1">
                        <a:latin typeface="Cambria Math" panose="02040503050406030204" pitchFamily="18" charset="0"/>
                      </a:rPr>
                      <m:t>𝒍𝒏</m:t>
                    </m:r>
                    <m:sSub>
                      <m:sSubPr>
                        <m:ctrlPr>
                          <a:rPr lang="en-IN" sz="2200" b="1" i="1">
                            <a:latin typeface="Cambria Math" panose="02040503050406030204" pitchFamily="18" charset="0"/>
                          </a:rPr>
                        </m:ctrlPr>
                      </m:sSubPr>
                      <m:e>
                        <m:r>
                          <a:rPr lang="en-IN" sz="2200" b="1" i="1">
                            <a:latin typeface="Cambria Math" panose="02040503050406030204" pitchFamily="18" charset="0"/>
                          </a:rPr>
                          <m:t>𝑿</m:t>
                        </m:r>
                      </m:e>
                      <m:sub>
                        <m:r>
                          <a:rPr lang="en-IN" sz="2200" b="1" i="1">
                            <a:latin typeface="Cambria Math" panose="02040503050406030204" pitchFamily="18" charset="0"/>
                          </a:rPr>
                          <m:t>𝒊</m:t>
                        </m:r>
                      </m:sub>
                    </m:sSub>
                    <m:r>
                      <a:rPr lang="en-IN" sz="2200" b="1" i="1">
                        <a:latin typeface="Cambria Math" panose="02040503050406030204" pitchFamily="18" charset="0"/>
                      </a:rPr>
                      <m:t>+</m:t>
                    </m:r>
                    <m:r>
                      <a:rPr lang="en-IN" sz="2200" b="1" i="1">
                        <a:latin typeface="Cambria Math" panose="02040503050406030204" pitchFamily="18" charset="0"/>
                      </a:rPr>
                      <m:t>𝒗𝒊</m:t>
                    </m:r>
                  </m:oMath>
                </a14:m>
                <a:endParaRPr lang="en-IN" sz="2200" b="1" dirty="0"/>
              </a:p>
              <a:p>
                <a:pPr marL="0" indent="0">
                  <a:buNone/>
                </a:pPr>
                <a:r>
                  <a:rPr lang="en-IN" dirty="0"/>
                  <a:t> </a:t>
                </a:r>
              </a:p>
            </p:txBody>
          </p:sp>
        </mc:Choice>
        <mc:Fallback xmlns="">
          <p:sp>
            <p:nvSpPr>
              <p:cNvPr id="3" name="Content Placeholder 2">
                <a:extLst>
                  <a:ext uri="{FF2B5EF4-FFF2-40B4-BE49-F238E27FC236}">
                    <a16:creationId xmlns:a16="http://schemas.microsoft.com/office/drawing/2014/main" id="{57EA24C1-F1A5-4409-AE0E-66A780D7AF3D}"/>
                  </a:ext>
                </a:extLst>
              </p:cNvPr>
              <p:cNvSpPr>
                <a:spLocks noGrp="1" noRot="1" noChangeAspect="1" noMove="1" noResize="1" noEditPoints="1" noAdjustHandles="1" noChangeArrowheads="1" noChangeShapeType="1" noTextEdit="1"/>
              </p:cNvSpPr>
              <p:nvPr>
                <p:ph idx="1"/>
              </p:nvPr>
            </p:nvSpPr>
            <p:spPr>
              <a:xfrm>
                <a:off x="848144" y="768630"/>
                <a:ext cx="10656473" cy="5142596"/>
              </a:xfrm>
              <a:blipFill>
                <a:blip r:embed="rId2"/>
                <a:stretch>
                  <a:fillRect l="-744" t="-1896"/>
                </a:stretch>
              </a:blipFill>
            </p:spPr>
            <p:txBody>
              <a:bodyPr/>
              <a:lstStyle/>
              <a:p>
                <a:r>
                  <a:rPr lang="en-IN">
                    <a:noFill/>
                  </a:rPr>
                  <a:t> </a:t>
                </a:r>
              </a:p>
            </p:txBody>
          </p:sp>
        </mc:Fallback>
      </mc:AlternateContent>
    </p:spTree>
    <p:extLst>
      <p:ext uri="{BB962C8B-B14F-4D97-AF65-F5344CB8AC3E}">
        <p14:creationId xmlns:p14="http://schemas.microsoft.com/office/powerpoint/2010/main" val="9632449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40CC0D9-82B8-4B60-817A-6349B3D2DA9C}"/>
                  </a:ext>
                </a:extLst>
              </p:cNvPr>
              <p:cNvSpPr>
                <a:spLocks noGrp="1"/>
              </p:cNvSpPr>
              <p:nvPr>
                <p:ph idx="1"/>
              </p:nvPr>
            </p:nvSpPr>
            <p:spPr>
              <a:xfrm>
                <a:off x="593337" y="387927"/>
                <a:ext cx="10007117" cy="5458691"/>
              </a:xfrm>
            </p:spPr>
            <p:txBody>
              <a:bodyPr>
                <a:normAutofit/>
              </a:bodyPr>
              <a:lstStyle/>
              <a:p>
                <a:pPr marL="0" lvl="0" indent="0">
                  <a:buNone/>
                </a:pPr>
                <a:r>
                  <a:rPr lang="en-IN" sz="2400" dirty="0"/>
                  <a:t>If beta turns to be statistically significant , it would suggest that Heteroscedasticity is present in data. </a:t>
                </a:r>
              </a:p>
              <a:p>
                <a:pPr marL="0" lvl="0" indent="0">
                  <a:buNone/>
                </a:pPr>
                <a:r>
                  <a:rPr lang="en-IN" sz="2400" dirty="0"/>
                  <a:t>If it turns out to be insignificant , we may accept that the assumption of Homoscedasticity .</a:t>
                </a:r>
              </a:p>
              <a:p>
                <a:pPr marL="0" lvl="0" indent="0">
                  <a:buNone/>
                </a:pPr>
                <a:r>
                  <a:rPr lang="en-IN" sz="2400" dirty="0"/>
                  <a:t>The park test is 2 stage procedure . </a:t>
                </a:r>
              </a:p>
              <a:p>
                <a:pPr marL="0" lvl="0" indent="0">
                  <a:buNone/>
                </a:pPr>
                <a:r>
                  <a:rPr lang="en-IN" sz="2400" dirty="0"/>
                  <a:t>In a first stage we run the OLS regression disregarding the Heteroscedasticity question .  we obtain </a:t>
                </a:r>
                <a14:m>
                  <m:oMath xmlns:m="http://schemas.openxmlformats.org/officeDocument/2006/math">
                    <m:sSubSup>
                      <m:sSubSupPr>
                        <m:ctrlPr>
                          <a:rPr lang="en-IN" sz="2400" i="1">
                            <a:latin typeface="Cambria Math" panose="02040503050406030204" pitchFamily="18" charset="0"/>
                          </a:rPr>
                        </m:ctrlPr>
                      </m:sSubSupPr>
                      <m:e>
                        <m:r>
                          <a:rPr lang="en-IN" sz="2400" i="1">
                            <a:latin typeface="Cambria Math" panose="02040503050406030204" pitchFamily="18" charset="0"/>
                          </a:rPr>
                          <m:t>𝑢</m:t>
                        </m:r>
                      </m:e>
                      <m:sub>
                        <m:r>
                          <a:rPr lang="en-IN" sz="2400" i="1">
                            <a:latin typeface="Cambria Math" panose="02040503050406030204" pitchFamily="18" charset="0"/>
                          </a:rPr>
                          <m:t>𝑖</m:t>
                        </m:r>
                      </m:sub>
                      <m:sup>
                        <m:r>
                          <a:rPr lang="en-IN" sz="2400" i="1">
                            <a:latin typeface="Cambria Math" panose="02040503050406030204" pitchFamily="18" charset="0"/>
                          </a:rPr>
                          <m:t>^</m:t>
                        </m:r>
                      </m:sup>
                    </m:sSubSup>
                  </m:oMath>
                </a14:m>
                <a:r>
                  <a:rPr lang="en-IN" sz="2400" dirty="0"/>
                  <a:t>  from this regression  and  then in second stage we run  the regression . </a:t>
                </a:r>
              </a:p>
              <a:p>
                <a:pPr marL="0" lvl="0" indent="0">
                  <a:buNone/>
                </a:pPr>
                <a:r>
                  <a:rPr lang="en-IN" sz="2400" dirty="0"/>
                  <a:t>Although , the Park test has some problems . </a:t>
                </a:r>
              </a:p>
              <a:p>
                <a:pPr marL="0" lvl="0" indent="0">
                  <a:buNone/>
                </a:pPr>
                <a:r>
                  <a:rPr lang="en-IN" sz="2400" dirty="0" err="1"/>
                  <a:t>Goldfeld</a:t>
                </a:r>
                <a:r>
                  <a:rPr lang="en-IN" sz="2400" dirty="0"/>
                  <a:t> and </a:t>
                </a:r>
                <a:r>
                  <a:rPr lang="en-IN" sz="2400" dirty="0" err="1"/>
                  <a:t>Quandt</a:t>
                </a:r>
                <a:r>
                  <a:rPr lang="en-IN" sz="2400" dirty="0"/>
                  <a:t> have argued the error term </a:t>
                </a:r>
                <a14:m>
                  <m:oMath xmlns:m="http://schemas.openxmlformats.org/officeDocument/2006/math">
                    <m:sSub>
                      <m:sSubPr>
                        <m:ctrlPr>
                          <a:rPr lang="en-IN" sz="2400" i="1">
                            <a:latin typeface="Cambria Math" panose="02040503050406030204" pitchFamily="18" charset="0"/>
                          </a:rPr>
                        </m:ctrlPr>
                      </m:sSubPr>
                      <m:e>
                        <m:r>
                          <a:rPr lang="en-IN" sz="2400" i="1">
                            <a:latin typeface="Cambria Math" panose="02040503050406030204" pitchFamily="18" charset="0"/>
                          </a:rPr>
                          <m:t>𝑣</m:t>
                        </m:r>
                      </m:e>
                      <m:sub>
                        <m:r>
                          <a:rPr lang="en-IN" sz="2400" i="1">
                            <a:latin typeface="Cambria Math" panose="02040503050406030204" pitchFamily="18" charset="0"/>
                          </a:rPr>
                          <m:t>𝑖</m:t>
                        </m:r>
                      </m:sub>
                    </m:sSub>
                  </m:oMath>
                </a14:m>
                <a:r>
                  <a:rPr lang="en-IN" sz="2400" dirty="0"/>
                  <a:t> entering the  may not satisfy the OLS assumption and many itself be Heteroscedastic . </a:t>
                </a:r>
              </a:p>
              <a:p>
                <a:pPr marL="0" indent="0">
                  <a:buNone/>
                </a:pPr>
                <a:r>
                  <a:rPr lang="en-IN" b="1" dirty="0"/>
                  <a:t> </a:t>
                </a:r>
                <a:endParaRPr lang="en-IN" dirty="0"/>
              </a:p>
              <a:p>
                <a:endParaRPr lang="en-IN" dirty="0"/>
              </a:p>
              <a:p>
                <a:endParaRPr lang="en-IN" dirty="0"/>
              </a:p>
            </p:txBody>
          </p:sp>
        </mc:Choice>
        <mc:Fallback xmlns="">
          <p:sp>
            <p:nvSpPr>
              <p:cNvPr id="3" name="Content Placeholder 2">
                <a:extLst>
                  <a:ext uri="{FF2B5EF4-FFF2-40B4-BE49-F238E27FC236}">
                    <a16:creationId xmlns:a16="http://schemas.microsoft.com/office/drawing/2014/main" id="{740CC0D9-82B8-4B60-817A-6349B3D2DA9C}"/>
                  </a:ext>
                </a:extLst>
              </p:cNvPr>
              <p:cNvSpPr>
                <a:spLocks noGrp="1" noRot="1" noChangeAspect="1" noMove="1" noResize="1" noEditPoints="1" noAdjustHandles="1" noChangeArrowheads="1" noChangeShapeType="1" noTextEdit="1"/>
              </p:cNvSpPr>
              <p:nvPr>
                <p:ph idx="1"/>
              </p:nvPr>
            </p:nvSpPr>
            <p:spPr>
              <a:xfrm>
                <a:off x="593337" y="387927"/>
                <a:ext cx="10007117" cy="5458691"/>
              </a:xfrm>
              <a:blipFill>
                <a:blip r:embed="rId2"/>
                <a:stretch>
                  <a:fillRect l="-914" t="-1564" r="-1949"/>
                </a:stretch>
              </a:blipFill>
            </p:spPr>
            <p:txBody>
              <a:bodyPr/>
              <a:lstStyle/>
              <a:p>
                <a:r>
                  <a:rPr lang="en-IN">
                    <a:noFill/>
                  </a:rPr>
                  <a:t> </a:t>
                </a:r>
              </a:p>
            </p:txBody>
          </p:sp>
        </mc:Fallback>
      </mc:AlternateContent>
    </p:spTree>
    <p:extLst>
      <p:ext uri="{BB962C8B-B14F-4D97-AF65-F5344CB8AC3E}">
        <p14:creationId xmlns:p14="http://schemas.microsoft.com/office/powerpoint/2010/main" val="7316213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412792A-8018-4B39-8736-69794C6F7E30}"/>
                  </a:ext>
                </a:extLst>
              </p:cNvPr>
              <p:cNvSpPr>
                <a:spLocks noGrp="1"/>
              </p:cNvSpPr>
              <p:nvPr>
                <p:ph idx="1"/>
              </p:nvPr>
            </p:nvSpPr>
            <p:spPr>
              <a:xfrm>
                <a:off x="1277247" y="596348"/>
                <a:ext cx="8915400" cy="6261652"/>
              </a:xfrm>
            </p:spPr>
            <p:txBody>
              <a:bodyPr>
                <a:normAutofit fontScale="55000" lnSpcReduction="20000"/>
              </a:bodyPr>
              <a:lstStyle/>
              <a:p>
                <a:r>
                  <a:rPr lang="en-IN" b="1" dirty="0"/>
                  <a:t> </a:t>
                </a:r>
                <a:endParaRPr lang="en-IN" dirty="0"/>
              </a:p>
              <a:p>
                <a:pPr marL="0" indent="0">
                  <a:buNone/>
                </a:pPr>
                <a:r>
                  <a:rPr lang="en-IN" b="1" dirty="0">
                    <a:solidFill>
                      <a:srgbClr val="002060"/>
                    </a:solidFill>
                  </a:rPr>
                  <a:t>                                                                 </a:t>
                </a:r>
                <a:r>
                  <a:rPr lang="en-IN" sz="4200" b="1" dirty="0">
                    <a:solidFill>
                      <a:srgbClr val="002060"/>
                    </a:solidFill>
                  </a:rPr>
                  <a:t>GLEJSER TEST </a:t>
                </a:r>
              </a:p>
              <a:p>
                <a:pPr marL="0" indent="0">
                  <a:buNone/>
                </a:pPr>
                <a:endParaRPr lang="en-IN" dirty="0">
                  <a:solidFill>
                    <a:srgbClr val="002060"/>
                  </a:solidFill>
                </a:endParaRPr>
              </a:p>
              <a:p>
                <a:pPr marL="0" lvl="0" indent="0">
                  <a:buNone/>
                </a:pPr>
                <a:r>
                  <a:rPr lang="en-IN" sz="3600" b="1" dirty="0"/>
                  <a:t>The  </a:t>
                </a:r>
                <a:r>
                  <a:rPr lang="en-IN" sz="3600" b="1" dirty="0" err="1"/>
                  <a:t>Glesjer</a:t>
                </a:r>
                <a:r>
                  <a:rPr lang="en-IN" sz="3600" b="1" dirty="0"/>
                  <a:t> test is similar in spirit to the Park test. </a:t>
                </a:r>
                <a:endParaRPr lang="en-IN" sz="3600" dirty="0"/>
              </a:p>
              <a:p>
                <a:pPr marL="0" lvl="0" indent="0">
                  <a:buNone/>
                </a:pPr>
                <a:r>
                  <a:rPr lang="en-IN" sz="3600" b="1" dirty="0"/>
                  <a:t>After </a:t>
                </a:r>
                <a:r>
                  <a:rPr lang="en-IN" sz="3600" b="1" dirty="0" err="1"/>
                  <a:t>obatning</a:t>
                </a:r>
                <a:r>
                  <a:rPr lang="en-IN" sz="3600" b="1" dirty="0"/>
                  <a:t> the residuals </a:t>
                </a:r>
                <a14:m>
                  <m:oMath xmlns:m="http://schemas.openxmlformats.org/officeDocument/2006/math">
                    <m:sSubSup>
                      <m:sSubSupPr>
                        <m:ctrlPr>
                          <a:rPr lang="en-IN" sz="3600" b="1" i="1">
                            <a:latin typeface="Cambria Math" panose="02040503050406030204" pitchFamily="18" charset="0"/>
                          </a:rPr>
                        </m:ctrlPr>
                      </m:sSubSupPr>
                      <m:e>
                        <m:r>
                          <a:rPr lang="en-IN" sz="3600" b="1" i="1">
                            <a:latin typeface="Cambria Math" panose="02040503050406030204" pitchFamily="18" charset="0"/>
                          </a:rPr>
                          <m:t>𝒖</m:t>
                        </m:r>
                      </m:e>
                      <m:sub>
                        <m:r>
                          <a:rPr lang="en-IN" sz="3600" b="1" i="1">
                            <a:latin typeface="Cambria Math" panose="02040503050406030204" pitchFamily="18" charset="0"/>
                          </a:rPr>
                          <m:t>𝒊</m:t>
                        </m:r>
                      </m:sub>
                      <m:sup>
                        <m:r>
                          <a:rPr lang="en-IN" sz="3600" b="1" i="1">
                            <a:latin typeface="Cambria Math" panose="02040503050406030204" pitchFamily="18" charset="0"/>
                          </a:rPr>
                          <m:t>^ </m:t>
                        </m:r>
                      </m:sup>
                    </m:sSubSup>
                  </m:oMath>
                </a14:m>
                <a:r>
                  <a:rPr lang="en-IN" sz="3600" b="1" dirty="0"/>
                  <a:t> from the OLS regression .</a:t>
                </a:r>
                <a:endParaRPr lang="en-IN" sz="3600" dirty="0"/>
              </a:p>
              <a:p>
                <a:pPr marL="0" lvl="0" indent="0">
                  <a:buNone/>
                </a:pPr>
                <a:r>
                  <a:rPr lang="en-IN" sz="3600" b="1" dirty="0" err="1"/>
                  <a:t>Glejser</a:t>
                </a:r>
                <a:r>
                  <a:rPr lang="en-IN" sz="3600" b="1" dirty="0"/>
                  <a:t> suggesting regressing the absolute value of  </a:t>
                </a:r>
                <a14:m>
                  <m:oMath xmlns:m="http://schemas.openxmlformats.org/officeDocument/2006/math">
                    <m:sSubSup>
                      <m:sSubSupPr>
                        <m:ctrlPr>
                          <a:rPr lang="en-IN" sz="3600" b="1" i="1">
                            <a:latin typeface="Cambria Math" panose="02040503050406030204" pitchFamily="18" charset="0"/>
                          </a:rPr>
                        </m:ctrlPr>
                      </m:sSubSupPr>
                      <m:e>
                        <m:r>
                          <a:rPr lang="en-IN" sz="3600" b="1" i="1">
                            <a:latin typeface="Cambria Math" panose="02040503050406030204" pitchFamily="18" charset="0"/>
                          </a:rPr>
                          <m:t>𝒖</m:t>
                        </m:r>
                      </m:e>
                      <m:sub>
                        <m:r>
                          <a:rPr lang="en-IN" sz="3600" b="1" i="1">
                            <a:latin typeface="Cambria Math" panose="02040503050406030204" pitchFamily="18" charset="0"/>
                          </a:rPr>
                          <m:t>𝒊</m:t>
                        </m:r>
                      </m:sub>
                      <m:sup>
                        <m:r>
                          <a:rPr lang="en-IN" sz="3600" b="1" i="1">
                            <a:latin typeface="Cambria Math" panose="02040503050406030204" pitchFamily="18" charset="0"/>
                          </a:rPr>
                          <m:t>^</m:t>
                        </m:r>
                      </m:sup>
                    </m:sSubSup>
                  </m:oMath>
                </a14:m>
                <a:r>
                  <a:rPr lang="en-IN" sz="3600" b="1" dirty="0"/>
                  <a:t> on the X variable that is associated with </a:t>
                </a:r>
                <a14:m>
                  <m:oMath xmlns:m="http://schemas.openxmlformats.org/officeDocument/2006/math">
                    <m:sSubSup>
                      <m:sSubSupPr>
                        <m:ctrlPr>
                          <a:rPr lang="en-IN" sz="3600" i="1">
                            <a:latin typeface="Cambria Math" panose="02040503050406030204" pitchFamily="18" charset="0"/>
                          </a:rPr>
                        </m:ctrlPr>
                      </m:sSubSupPr>
                      <m:e>
                        <m:r>
                          <a:rPr lang="en-IN" sz="3600" i="1">
                            <a:latin typeface="Cambria Math" panose="02040503050406030204" pitchFamily="18" charset="0"/>
                          </a:rPr>
                          <m:t>𝜎</m:t>
                        </m:r>
                      </m:e>
                      <m:sub>
                        <m:r>
                          <a:rPr lang="en-IN" sz="3600" i="1">
                            <a:latin typeface="Cambria Math" panose="02040503050406030204" pitchFamily="18" charset="0"/>
                          </a:rPr>
                          <m:t>𝑖</m:t>
                        </m:r>
                      </m:sub>
                      <m:sup>
                        <m:r>
                          <a:rPr lang="en-IN" sz="3600" i="1">
                            <a:latin typeface="Cambria Math" panose="02040503050406030204" pitchFamily="18" charset="0"/>
                          </a:rPr>
                          <m:t>2</m:t>
                        </m:r>
                      </m:sup>
                    </m:sSubSup>
                  </m:oMath>
                </a14:m>
                <a:endParaRPr lang="en-IN" sz="3600" dirty="0"/>
              </a:p>
              <a:p>
                <a:pPr marL="0" indent="0">
                  <a:buNone/>
                </a:pPr>
                <a:r>
                  <a:rPr lang="en-IN" sz="3600" b="1" dirty="0" err="1"/>
                  <a:t>Glejser</a:t>
                </a:r>
                <a:r>
                  <a:rPr lang="en-IN" sz="3600" b="1" dirty="0"/>
                  <a:t> use following forms </a:t>
                </a:r>
                <a:r>
                  <a:rPr lang="en-IN" b="1" dirty="0"/>
                  <a:t>.          </a:t>
                </a:r>
                <a14:m>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𝑖</m:t>
                        </m:r>
                      </m:sub>
                    </m:sSub>
                    <m:r>
                      <a:rPr lang="en-IN" i="1">
                        <a:latin typeface="Cambria Math" panose="02040503050406030204" pitchFamily="18" charset="0"/>
                      </a:rPr>
                      <m:t>+</m:t>
                    </m:r>
                    <m:r>
                      <a:rPr lang="en-IN" i="1">
                        <a:latin typeface="Cambria Math" panose="02040503050406030204" pitchFamily="18" charset="0"/>
                      </a:rPr>
                      <m:t>𝑣𝑖</m:t>
                    </m:r>
                  </m:oMath>
                </a14:m>
                <a:endParaRPr lang="en-IN" dirty="0"/>
              </a:p>
              <a:p>
                <a:pPr marL="0" indent="0">
                  <a:buNone/>
                </a:pPr>
                <a:endParaRPr lang="en-IN" i="1" dirty="0">
                  <a:latin typeface="Cambria Math" panose="02040503050406030204" pitchFamily="18" charset="0"/>
                </a:endParaRPr>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rad>
                        <m:radPr>
                          <m:degHide m:val="on"/>
                          <m:ctrlPr>
                            <a:rPr lang="en-IN" i="1">
                              <a:latin typeface="Cambria Math" panose="02040503050406030204" pitchFamily="18" charset="0"/>
                            </a:rPr>
                          </m:ctrlPr>
                        </m:radPr>
                        <m:deg/>
                        <m:e>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𝑖</m:t>
                              </m:r>
                            </m:sub>
                          </m:sSub>
                        </m:e>
                      </m:rad>
                      <m:r>
                        <a:rPr lang="en-IN" i="1">
                          <a:latin typeface="Cambria Math" panose="02040503050406030204" pitchFamily="18" charset="0"/>
                        </a:rPr>
                        <m:t>+</m:t>
                      </m:r>
                      <m:r>
                        <a:rPr lang="en-IN" i="1">
                          <a:latin typeface="Cambria Math" panose="02040503050406030204" pitchFamily="18" charset="0"/>
                        </a:rPr>
                        <m:t>𝑣𝑖</m:t>
                      </m:r>
                    </m:oMath>
                  </m:oMathPara>
                </a14:m>
                <a:endParaRPr lang="en-IN" dirty="0"/>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f>
                        <m:fPr>
                          <m:ctrlPr>
                            <a:rPr lang="en-IN" i="1">
                              <a:latin typeface="Cambria Math" panose="02040503050406030204" pitchFamily="18" charset="0"/>
                            </a:rPr>
                          </m:ctrlPr>
                        </m:fPr>
                        <m:num>
                          <m:r>
                            <a:rPr lang="en-IN" i="1">
                              <a:latin typeface="Cambria Math" panose="02040503050406030204" pitchFamily="18" charset="0"/>
                            </a:rPr>
                            <m:t>1</m:t>
                          </m:r>
                        </m:num>
                        <m:den>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𝑖</m:t>
                              </m:r>
                            </m:sub>
                          </m:sSub>
                        </m:den>
                      </m:f>
                      <m:r>
                        <a:rPr lang="en-IN" i="1">
                          <a:latin typeface="Cambria Math" panose="02040503050406030204" pitchFamily="18" charset="0"/>
                        </a:rPr>
                        <m:t>+</m:t>
                      </m:r>
                      <m:r>
                        <a:rPr lang="en-IN" i="1">
                          <a:latin typeface="Cambria Math" panose="02040503050406030204" pitchFamily="18" charset="0"/>
                        </a:rPr>
                        <m:t>𝑣𝑖</m:t>
                      </m:r>
                    </m:oMath>
                  </m:oMathPara>
                </a14:m>
                <a:endParaRPr lang="en-IN" dirty="0"/>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 </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f>
                        <m:fPr>
                          <m:ctrlPr>
                            <a:rPr lang="en-IN" i="1">
                              <a:latin typeface="Cambria Math" panose="02040503050406030204" pitchFamily="18" charset="0"/>
                            </a:rPr>
                          </m:ctrlPr>
                        </m:fPr>
                        <m:num>
                          <m:r>
                            <a:rPr lang="en-IN" i="1">
                              <a:latin typeface="Cambria Math" panose="02040503050406030204" pitchFamily="18" charset="0"/>
                            </a:rPr>
                            <m:t>1</m:t>
                          </m:r>
                        </m:num>
                        <m:den>
                          <m:rad>
                            <m:radPr>
                              <m:degHide m:val="on"/>
                              <m:ctrlPr>
                                <a:rPr lang="en-IN" i="1">
                                  <a:latin typeface="Cambria Math" panose="02040503050406030204" pitchFamily="18" charset="0"/>
                                </a:rPr>
                              </m:ctrlPr>
                            </m:radPr>
                            <m:deg/>
                            <m:e>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𝑖</m:t>
                                  </m:r>
                                </m:sub>
                              </m:sSub>
                            </m:e>
                          </m:rad>
                        </m:den>
                      </m:f>
                      <m:r>
                        <a:rPr lang="en-IN" i="1">
                          <a:latin typeface="Cambria Math" panose="02040503050406030204" pitchFamily="18" charset="0"/>
                        </a:rPr>
                        <m:t>+</m:t>
                      </m:r>
                      <m:r>
                        <a:rPr lang="en-IN" i="1">
                          <a:latin typeface="Cambria Math" panose="02040503050406030204" pitchFamily="18" charset="0"/>
                        </a:rPr>
                        <m:t>𝑣𝑖</m:t>
                      </m:r>
                    </m:oMath>
                  </m:oMathPara>
                </a14:m>
                <a:endParaRPr lang="en-IN" dirty="0"/>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m:t>
                      </m:r>
                      <m:rad>
                        <m:radPr>
                          <m:degHide m:val="on"/>
                          <m:ctrlPr>
                            <a:rPr lang="en-IN" i="1">
                              <a:latin typeface="Cambria Math" panose="02040503050406030204" pitchFamily="18" charset="0"/>
                            </a:rPr>
                          </m:ctrlPr>
                        </m:radPr>
                        <m:deg/>
                        <m:e>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sSub>
                            <m:sSubPr>
                              <m:ctrlPr>
                                <a:rPr lang="en-IN" i="1">
                                  <a:latin typeface="Cambria Math" panose="02040503050406030204" pitchFamily="18" charset="0"/>
                                </a:rPr>
                              </m:ctrlPr>
                            </m:sSubPr>
                            <m:e>
                              <m:r>
                                <a:rPr lang="en-IN" i="1">
                                  <a:latin typeface="Cambria Math" panose="02040503050406030204" pitchFamily="18" charset="0"/>
                                </a:rPr>
                                <m:t>𝑋</m:t>
                              </m:r>
                            </m:e>
                            <m:sub>
                              <m:r>
                                <a:rPr lang="en-IN" i="1">
                                  <a:latin typeface="Cambria Math" panose="02040503050406030204" pitchFamily="18" charset="0"/>
                                </a:rPr>
                                <m:t>𝑖</m:t>
                              </m:r>
                            </m:sub>
                          </m:sSub>
                        </m:e>
                      </m:rad>
                      <m:r>
                        <a:rPr lang="en-IN" i="1">
                          <a:latin typeface="Cambria Math" panose="02040503050406030204" pitchFamily="18" charset="0"/>
                        </a:rPr>
                        <m:t> +</m:t>
                      </m:r>
                      <m:r>
                        <a:rPr lang="en-IN" i="1">
                          <a:latin typeface="Cambria Math" panose="02040503050406030204" pitchFamily="18" charset="0"/>
                        </a:rPr>
                        <m:t>𝑣𝑖</m:t>
                      </m:r>
                    </m:oMath>
                  </m:oMathPara>
                </a14:m>
                <a:endParaRPr lang="en-IN" dirty="0"/>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i="1">
                          <a:latin typeface="Cambria Math" panose="02040503050406030204" pitchFamily="18" charset="0"/>
                        </a:rPr>
                        <m:t>|</m:t>
                      </m:r>
                      <m:acc>
                        <m:accPr>
                          <m:chr m:val="̂"/>
                          <m:ctrlPr>
                            <a:rPr lang="en-IN" i="1">
                              <a:latin typeface="Cambria Math" panose="02040503050406030204" pitchFamily="18" charset="0"/>
                            </a:rPr>
                          </m:ctrlPr>
                        </m:accPr>
                        <m:e>
                          <m:sSub>
                            <m:sSubPr>
                              <m:ctrlPr>
                                <a:rPr lang="en-IN" i="1">
                                  <a:latin typeface="Cambria Math" panose="02040503050406030204" pitchFamily="18" charset="0"/>
                                </a:rPr>
                              </m:ctrlPr>
                            </m:sSubPr>
                            <m:e>
                              <m:r>
                                <a:rPr lang="en-IN" i="1">
                                  <a:latin typeface="Cambria Math" panose="02040503050406030204" pitchFamily="18" charset="0"/>
                                </a:rPr>
                                <m:t>𝑢</m:t>
                              </m:r>
                            </m:e>
                            <m:sub>
                              <m:r>
                                <a:rPr lang="en-IN" i="1">
                                  <a:latin typeface="Cambria Math" panose="02040503050406030204" pitchFamily="18" charset="0"/>
                                </a:rPr>
                                <m:t>𝑖</m:t>
                              </m:r>
                            </m:sub>
                          </m:sSub>
                        </m:e>
                      </m:acc>
                      <m:r>
                        <a:rPr lang="en-IN" i="1">
                          <a:latin typeface="Cambria Math" panose="02040503050406030204" pitchFamily="18" charset="0"/>
                        </a:rPr>
                        <m:t>|=</m:t>
                      </m:r>
                      <m:rad>
                        <m:radPr>
                          <m:degHide m:val="on"/>
                          <m:ctrlPr>
                            <a:rPr lang="en-IN" i="1">
                              <a:latin typeface="Cambria Math" panose="02040503050406030204" pitchFamily="18" charset="0"/>
                            </a:rPr>
                          </m:ctrlPr>
                        </m:radPr>
                        <m:deg/>
                        <m:e>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1</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𝛽</m:t>
                              </m:r>
                            </m:e>
                            <m:sub>
                              <m:r>
                                <a:rPr lang="en-IN" i="1">
                                  <a:latin typeface="Cambria Math" panose="02040503050406030204" pitchFamily="18" charset="0"/>
                                </a:rPr>
                                <m:t>2</m:t>
                              </m:r>
                            </m:sub>
                          </m:sSub>
                          <m:sSubSup>
                            <m:sSubSupPr>
                              <m:ctrlPr>
                                <a:rPr lang="en-IN" i="1">
                                  <a:latin typeface="Cambria Math" panose="02040503050406030204" pitchFamily="18" charset="0"/>
                                </a:rPr>
                              </m:ctrlPr>
                            </m:sSubSupPr>
                            <m:e>
                              <m:r>
                                <a:rPr lang="en-IN" i="1">
                                  <a:latin typeface="Cambria Math" panose="02040503050406030204" pitchFamily="18" charset="0"/>
                                </a:rPr>
                                <m:t>𝑋</m:t>
                              </m:r>
                            </m:e>
                            <m:sub>
                              <m:r>
                                <a:rPr lang="en-IN" i="1">
                                  <a:latin typeface="Cambria Math" panose="02040503050406030204" pitchFamily="18" charset="0"/>
                                </a:rPr>
                                <m:t>𝑖</m:t>
                              </m:r>
                            </m:sub>
                            <m:sup>
                              <m:r>
                                <a:rPr lang="en-IN" i="1">
                                  <a:latin typeface="Cambria Math" panose="02040503050406030204" pitchFamily="18" charset="0"/>
                                </a:rPr>
                                <m:t>2</m:t>
                              </m:r>
                            </m:sup>
                          </m:sSubSup>
                        </m:e>
                      </m:rad>
                      <m:r>
                        <a:rPr lang="en-IN" i="1">
                          <a:latin typeface="Cambria Math" panose="02040503050406030204" pitchFamily="18" charset="0"/>
                        </a:rPr>
                        <m:t> +</m:t>
                      </m:r>
                      <m:r>
                        <a:rPr lang="en-IN" i="1">
                          <a:latin typeface="Cambria Math" panose="02040503050406030204" pitchFamily="18" charset="0"/>
                        </a:rPr>
                        <m:t>𝑣𝑖</m:t>
                      </m:r>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D412792A-8018-4B39-8736-69794C6F7E30}"/>
                  </a:ext>
                </a:extLst>
              </p:cNvPr>
              <p:cNvSpPr>
                <a:spLocks noGrp="1" noRot="1" noChangeAspect="1" noMove="1" noResize="1" noEditPoints="1" noAdjustHandles="1" noChangeArrowheads="1" noChangeShapeType="1" noTextEdit="1"/>
              </p:cNvSpPr>
              <p:nvPr>
                <p:ph idx="1"/>
              </p:nvPr>
            </p:nvSpPr>
            <p:spPr>
              <a:xfrm>
                <a:off x="1277247" y="596348"/>
                <a:ext cx="8915400" cy="6261652"/>
              </a:xfrm>
              <a:blipFill>
                <a:blip r:embed="rId2"/>
                <a:stretch>
                  <a:fillRect l="-752" t="-974"/>
                </a:stretch>
              </a:blipFill>
            </p:spPr>
            <p:txBody>
              <a:bodyPr/>
              <a:lstStyle/>
              <a:p>
                <a:r>
                  <a:rPr lang="en-IN">
                    <a:noFill/>
                  </a:rPr>
                  <a:t> </a:t>
                </a:r>
              </a:p>
            </p:txBody>
          </p:sp>
        </mc:Fallback>
      </mc:AlternateContent>
    </p:spTree>
    <p:extLst>
      <p:ext uri="{BB962C8B-B14F-4D97-AF65-F5344CB8AC3E}">
        <p14:creationId xmlns:p14="http://schemas.microsoft.com/office/powerpoint/2010/main" val="36630016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ED5749B-D423-4E53-BD32-42323B2D6366}"/>
                  </a:ext>
                </a:extLst>
              </p:cNvPr>
              <p:cNvSpPr>
                <a:spLocks noGrp="1"/>
              </p:cNvSpPr>
              <p:nvPr>
                <p:ph idx="1"/>
              </p:nvPr>
            </p:nvSpPr>
            <p:spPr>
              <a:xfrm>
                <a:off x="675865" y="675865"/>
                <a:ext cx="10828751" cy="5235361"/>
              </a:xfrm>
            </p:spPr>
            <p:txBody>
              <a:bodyPr>
                <a:normAutofit/>
              </a:bodyPr>
              <a:lstStyle/>
              <a:p>
                <a:pPr marL="0" lvl="0" indent="0">
                  <a:buNone/>
                </a:pPr>
                <a:r>
                  <a:rPr lang="en-IN" sz="2000" b="1" dirty="0"/>
                  <a:t>Where ,</a:t>
                </a:r>
                <a14:m>
                  <m:oMath xmlns:m="http://schemas.openxmlformats.org/officeDocument/2006/math">
                    <m:r>
                      <a:rPr lang="en-IN" sz="2000" b="1" i="1">
                        <a:latin typeface="Cambria Math" panose="02040503050406030204" pitchFamily="18" charset="0"/>
                      </a:rPr>
                      <m:t> </m:t>
                    </m:r>
                    <m:sSub>
                      <m:sSubPr>
                        <m:ctrlPr>
                          <a:rPr lang="en-IN" sz="2000" b="1" i="1">
                            <a:latin typeface="Cambria Math" panose="02040503050406030204" pitchFamily="18" charset="0"/>
                          </a:rPr>
                        </m:ctrlPr>
                      </m:sSubPr>
                      <m:e>
                        <m:r>
                          <a:rPr lang="en-IN" sz="2000" b="1" i="1">
                            <a:latin typeface="Cambria Math" panose="02040503050406030204" pitchFamily="18" charset="0"/>
                          </a:rPr>
                          <m:t>𝒗</m:t>
                        </m:r>
                      </m:e>
                      <m:sub>
                        <m:r>
                          <a:rPr lang="en-IN" sz="2000" b="1" i="1">
                            <a:latin typeface="Cambria Math" panose="02040503050406030204" pitchFamily="18" charset="0"/>
                          </a:rPr>
                          <m:t>𝒊</m:t>
                        </m:r>
                      </m:sub>
                    </m:sSub>
                    <m:r>
                      <a:rPr lang="en-IN" sz="2000" b="1" i="1">
                        <a:latin typeface="Cambria Math" panose="02040503050406030204" pitchFamily="18" charset="0"/>
                      </a:rPr>
                      <m:t> </m:t>
                    </m:r>
                  </m:oMath>
                </a14:m>
                <a:r>
                  <a:rPr lang="en-IN" sz="2000" b="1" dirty="0"/>
                  <a:t>  is error term . </a:t>
                </a:r>
              </a:p>
              <a:p>
                <a:pPr marL="0" lvl="0" indent="0">
                  <a:buNone/>
                </a:pPr>
                <a:r>
                  <a:rPr lang="en-IN" sz="2000" b="1" dirty="0"/>
                  <a:t>Here </a:t>
                </a:r>
                <a:r>
                  <a:rPr lang="en-IN" sz="2000" b="1" dirty="0" err="1"/>
                  <a:t>Goldfeld</a:t>
                </a:r>
                <a:r>
                  <a:rPr lang="en-IN" sz="2000" b="1" dirty="0"/>
                  <a:t> and </a:t>
                </a:r>
                <a:r>
                  <a:rPr lang="en-IN" sz="2000" b="1" dirty="0" err="1"/>
                  <a:t>Quandt</a:t>
                </a:r>
                <a:r>
                  <a:rPr lang="en-IN" sz="2000" b="1" dirty="0"/>
                  <a:t> point out </a:t>
                </a:r>
                <a:r>
                  <a:rPr lang="en-IN" sz="2000" b="1" dirty="0" err="1"/>
                  <a:t>thata</a:t>
                </a:r>
                <a:r>
                  <a:rPr lang="en-IN" sz="2000" b="1" dirty="0"/>
                  <a:t> the error term vi has some problem in that its expected value is non zero , it is autocorrelated , it is </a:t>
                </a:r>
                <a:r>
                  <a:rPr lang="en-IN" sz="2000" b="1" dirty="0" err="1"/>
                  <a:t>Heterscedastic</a:t>
                </a:r>
                <a:r>
                  <a:rPr lang="en-IN" sz="2000" b="1" dirty="0"/>
                  <a:t> . </a:t>
                </a:r>
              </a:p>
              <a:p>
                <a:pPr marL="0" indent="0">
                  <a:buNone/>
                </a:pPr>
                <a:r>
                  <a:rPr lang="en-IN" sz="2000" b="1" dirty="0"/>
                  <a:t>An additional difficulty with </a:t>
                </a:r>
                <a:r>
                  <a:rPr lang="en-IN" sz="2000" b="1" dirty="0" err="1"/>
                  <a:t>Glejser</a:t>
                </a:r>
                <a:r>
                  <a:rPr lang="en-IN" sz="2000" b="1" dirty="0"/>
                  <a:t> method is      </a:t>
                </a:r>
                <a14:m>
                  <m:oMath xmlns:m="http://schemas.openxmlformats.org/officeDocument/2006/math">
                    <m:r>
                      <a:rPr lang="en-IN" sz="2000" b="1" i="1">
                        <a:latin typeface="Cambria Math" panose="02040503050406030204" pitchFamily="18" charset="0"/>
                      </a:rPr>
                      <m:t>|</m:t>
                    </m:r>
                    <m:acc>
                      <m:accPr>
                        <m:chr m:val="̂"/>
                        <m:ctrlPr>
                          <a:rPr lang="en-IN" sz="2000" b="1" i="1">
                            <a:latin typeface="Cambria Math" panose="02040503050406030204" pitchFamily="18" charset="0"/>
                          </a:rPr>
                        </m:ctrlPr>
                      </m:accPr>
                      <m:e>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e>
                    </m:acc>
                    <m:r>
                      <a:rPr lang="en-IN" sz="2000" b="1" i="1">
                        <a:latin typeface="Cambria Math" panose="02040503050406030204" pitchFamily="18" charset="0"/>
                      </a:rPr>
                      <m:t>|=</m:t>
                    </m:r>
                    <m:rad>
                      <m:radPr>
                        <m:degHide m:val="on"/>
                        <m:ctrlPr>
                          <a:rPr lang="en-IN" sz="2000" b="1" i="1">
                            <a:latin typeface="Cambria Math" panose="02040503050406030204" pitchFamily="18" charset="0"/>
                          </a:rPr>
                        </m:ctrlPr>
                      </m:radPr>
                      <m:deg/>
                      <m:e>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𝟏</m:t>
                            </m:r>
                          </m:sub>
                        </m:sSub>
                        <m:r>
                          <a:rPr lang="en-IN" sz="2000" b="1" i="1">
                            <a:latin typeface="Cambria Math" panose="02040503050406030204" pitchFamily="18" charset="0"/>
                          </a:rPr>
                          <m:t>+</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𝟐</m:t>
                            </m:r>
                          </m:sub>
                        </m:sSub>
                        <m:sSub>
                          <m:sSubPr>
                            <m:ctrlPr>
                              <a:rPr lang="en-IN" sz="2000" b="1" i="1">
                                <a:latin typeface="Cambria Math" panose="02040503050406030204" pitchFamily="18" charset="0"/>
                              </a:rPr>
                            </m:ctrlPr>
                          </m:sSubPr>
                          <m:e>
                            <m:r>
                              <a:rPr lang="en-IN" sz="2000" b="1" i="1">
                                <a:latin typeface="Cambria Math" panose="02040503050406030204" pitchFamily="18" charset="0"/>
                              </a:rPr>
                              <m:t>𝑿</m:t>
                            </m:r>
                          </m:e>
                          <m:sub>
                            <m:r>
                              <a:rPr lang="en-IN" sz="2000" b="1" i="1">
                                <a:latin typeface="Cambria Math" panose="02040503050406030204" pitchFamily="18" charset="0"/>
                              </a:rPr>
                              <m:t>𝒊</m:t>
                            </m:r>
                          </m:sub>
                        </m:sSub>
                      </m:e>
                    </m:rad>
                    <m:r>
                      <a:rPr lang="en-IN" sz="2000" b="1" i="1">
                        <a:latin typeface="Cambria Math" panose="02040503050406030204" pitchFamily="18" charset="0"/>
                      </a:rPr>
                      <m:t> +</m:t>
                    </m:r>
                    <m:r>
                      <a:rPr lang="en-IN" sz="2000" b="1" i="1">
                        <a:latin typeface="Cambria Math" panose="02040503050406030204" pitchFamily="18" charset="0"/>
                      </a:rPr>
                      <m:t>𝒗𝒊</m:t>
                    </m:r>
                  </m:oMath>
                </a14:m>
                <a:r>
                  <a:rPr lang="en-IN" sz="2000" b="1" dirty="0"/>
                  <a:t>    and</a:t>
                </a:r>
              </a:p>
              <a:p>
                <a:pPr marL="0" indent="0">
                  <a:buNone/>
                </a:pPr>
                <a:endParaRPr lang="en-IN" sz="2000" b="1" dirty="0"/>
              </a:p>
              <a:p>
                <a:pPr marL="0" indent="0">
                  <a:buNone/>
                </a:pPr>
                <a14:m>
                  <m:oMathPara xmlns:m="http://schemas.openxmlformats.org/officeDocument/2006/math">
                    <m:oMathParaPr>
                      <m:jc m:val="centerGroup"/>
                    </m:oMathParaPr>
                    <m:oMath xmlns:m="http://schemas.openxmlformats.org/officeDocument/2006/math">
                      <m:r>
                        <a:rPr lang="en-IN" sz="2000" b="1" i="1">
                          <a:latin typeface="Cambria Math" panose="02040503050406030204" pitchFamily="18" charset="0"/>
                        </a:rPr>
                        <m:t>|</m:t>
                      </m:r>
                      <m:acc>
                        <m:accPr>
                          <m:chr m:val="̂"/>
                          <m:ctrlPr>
                            <a:rPr lang="en-IN" sz="2000" b="1" i="1">
                              <a:latin typeface="Cambria Math" panose="02040503050406030204" pitchFamily="18" charset="0"/>
                            </a:rPr>
                          </m:ctrlPr>
                        </m:accPr>
                        <m:e>
                          <m:sSub>
                            <m:sSubPr>
                              <m:ctrlPr>
                                <a:rPr lang="en-IN" sz="2000" b="1" i="1">
                                  <a:latin typeface="Cambria Math" panose="02040503050406030204" pitchFamily="18" charset="0"/>
                                </a:rPr>
                              </m:ctrlPr>
                            </m:sSubPr>
                            <m:e>
                              <m:r>
                                <a:rPr lang="en-IN" sz="2000" b="1" i="1">
                                  <a:latin typeface="Cambria Math" panose="02040503050406030204" pitchFamily="18" charset="0"/>
                                </a:rPr>
                                <m:t>𝒖</m:t>
                              </m:r>
                            </m:e>
                            <m:sub>
                              <m:r>
                                <a:rPr lang="en-IN" sz="2000" b="1" i="1">
                                  <a:latin typeface="Cambria Math" panose="02040503050406030204" pitchFamily="18" charset="0"/>
                                </a:rPr>
                                <m:t>𝒊</m:t>
                              </m:r>
                            </m:sub>
                          </m:sSub>
                        </m:e>
                      </m:acc>
                      <m:r>
                        <a:rPr lang="en-IN" sz="2000" b="1" i="1">
                          <a:latin typeface="Cambria Math" panose="02040503050406030204" pitchFamily="18" charset="0"/>
                        </a:rPr>
                        <m:t>|=</m:t>
                      </m:r>
                      <m:rad>
                        <m:radPr>
                          <m:degHide m:val="on"/>
                          <m:ctrlPr>
                            <a:rPr lang="en-IN" sz="2000" b="1" i="1">
                              <a:latin typeface="Cambria Math" panose="02040503050406030204" pitchFamily="18" charset="0"/>
                            </a:rPr>
                          </m:ctrlPr>
                        </m:radPr>
                        <m:deg/>
                        <m:e>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𝟏</m:t>
                              </m:r>
                            </m:sub>
                          </m:sSub>
                          <m:r>
                            <a:rPr lang="en-IN" sz="2000" b="1" i="1">
                              <a:latin typeface="Cambria Math" panose="02040503050406030204" pitchFamily="18" charset="0"/>
                            </a:rPr>
                            <m:t>+</m:t>
                          </m:r>
                          <m:sSub>
                            <m:sSubPr>
                              <m:ctrlPr>
                                <a:rPr lang="en-IN" sz="2000" b="1" i="1">
                                  <a:latin typeface="Cambria Math" panose="02040503050406030204" pitchFamily="18" charset="0"/>
                                </a:rPr>
                              </m:ctrlPr>
                            </m:sSubPr>
                            <m:e>
                              <m:r>
                                <a:rPr lang="en-IN" sz="2000" b="1" i="1">
                                  <a:latin typeface="Cambria Math" panose="02040503050406030204" pitchFamily="18" charset="0"/>
                                </a:rPr>
                                <m:t>𝜷</m:t>
                              </m:r>
                            </m:e>
                            <m:sub>
                              <m:r>
                                <a:rPr lang="en-IN" sz="2000" b="1" i="1">
                                  <a:latin typeface="Cambria Math" panose="02040503050406030204" pitchFamily="18" charset="0"/>
                                </a:rPr>
                                <m:t>𝟐</m:t>
                              </m:r>
                            </m:sub>
                          </m:sSub>
                          <m:sSubSup>
                            <m:sSubSupPr>
                              <m:ctrlPr>
                                <a:rPr lang="en-IN" sz="2000" b="1" i="1">
                                  <a:latin typeface="Cambria Math" panose="02040503050406030204" pitchFamily="18" charset="0"/>
                                </a:rPr>
                              </m:ctrlPr>
                            </m:sSubSupPr>
                            <m:e>
                              <m:r>
                                <a:rPr lang="en-IN" sz="2000" b="1" i="1">
                                  <a:latin typeface="Cambria Math" panose="02040503050406030204" pitchFamily="18" charset="0"/>
                                </a:rPr>
                                <m:t>𝑿</m:t>
                              </m:r>
                            </m:e>
                            <m:sub>
                              <m:r>
                                <a:rPr lang="en-IN" sz="2000" b="1" i="1">
                                  <a:latin typeface="Cambria Math" panose="02040503050406030204" pitchFamily="18" charset="0"/>
                                </a:rPr>
                                <m:t>𝒊</m:t>
                              </m:r>
                            </m:sub>
                            <m:sup>
                              <m:r>
                                <a:rPr lang="en-IN" sz="2000" b="1" i="1">
                                  <a:latin typeface="Cambria Math" panose="02040503050406030204" pitchFamily="18" charset="0"/>
                                </a:rPr>
                                <m:t>𝟐</m:t>
                              </m:r>
                            </m:sup>
                          </m:sSubSup>
                        </m:e>
                      </m:rad>
                      <m:r>
                        <a:rPr lang="en-IN" sz="2000" b="1" i="1">
                          <a:latin typeface="Cambria Math" panose="02040503050406030204" pitchFamily="18" charset="0"/>
                        </a:rPr>
                        <m:t> +</m:t>
                      </m:r>
                      <m:r>
                        <a:rPr lang="en-IN" sz="2000" b="1" i="1">
                          <a:latin typeface="Cambria Math" panose="02040503050406030204" pitchFamily="18" charset="0"/>
                        </a:rPr>
                        <m:t>𝒗𝒊</m:t>
                      </m:r>
                    </m:oMath>
                  </m:oMathPara>
                </a14:m>
                <a:endParaRPr lang="en-IN" sz="2000" b="1" dirty="0"/>
              </a:p>
              <a:p>
                <a:pPr marL="0" lvl="0" indent="0">
                  <a:buNone/>
                </a:pPr>
                <a:r>
                  <a:rPr lang="en-IN" sz="2000" b="1" dirty="0"/>
                  <a:t> </a:t>
                </a:r>
              </a:p>
              <a:p>
                <a:pPr marL="0" indent="0">
                  <a:buNone/>
                </a:pPr>
                <a:r>
                  <a:rPr lang="en-IN" sz="2000" b="1" dirty="0"/>
                  <a:t>           are non linear in the parameter and therefore cant be estimated with usual OLS procedure. </a:t>
                </a:r>
              </a:p>
              <a:p>
                <a:pPr marL="0" lvl="0" indent="0">
                  <a:buNone/>
                </a:pPr>
                <a:r>
                  <a:rPr lang="en-IN" sz="2000" b="1" dirty="0" err="1"/>
                  <a:t>Glejser</a:t>
                </a:r>
                <a:r>
                  <a:rPr lang="en-IN" sz="2000" b="1" dirty="0"/>
                  <a:t> has found that for large samples that first four of preceding models give generally satisfactory result in detecting Heteroscedasticity. </a:t>
                </a:r>
              </a:p>
              <a:p>
                <a:pPr marL="0" indent="0">
                  <a:buNone/>
                </a:pPr>
                <a:r>
                  <a:rPr lang="en-IN" sz="2000" b="1" dirty="0"/>
                  <a:t>Therefore, the </a:t>
                </a:r>
                <a:r>
                  <a:rPr lang="en-IN" sz="2000" b="1" dirty="0" err="1"/>
                  <a:t>Glejser</a:t>
                </a:r>
                <a:r>
                  <a:rPr lang="en-IN" sz="2000" b="1" dirty="0"/>
                  <a:t> method used for large sample and may be used in small sample strictly as a qualitative device to learn something about Heteroscedasticity </a:t>
                </a:r>
              </a:p>
            </p:txBody>
          </p:sp>
        </mc:Choice>
        <mc:Fallback xmlns="">
          <p:sp>
            <p:nvSpPr>
              <p:cNvPr id="3" name="Content Placeholder 2">
                <a:extLst>
                  <a:ext uri="{FF2B5EF4-FFF2-40B4-BE49-F238E27FC236}">
                    <a16:creationId xmlns:a16="http://schemas.microsoft.com/office/drawing/2014/main" id="{BED5749B-D423-4E53-BD32-42323B2D6366}"/>
                  </a:ext>
                </a:extLst>
              </p:cNvPr>
              <p:cNvSpPr>
                <a:spLocks noGrp="1" noRot="1" noChangeAspect="1" noMove="1" noResize="1" noEditPoints="1" noAdjustHandles="1" noChangeArrowheads="1" noChangeShapeType="1" noTextEdit="1"/>
              </p:cNvSpPr>
              <p:nvPr>
                <p:ph idx="1"/>
              </p:nvPr>
            </p:nvSpPr>
            <p:spPr>
              <a:xfrm>
                <a:off x="675865" y="675865"/>
                <a:ext cx="10828751" cy="5235361"/>
              </a:xfrm>
              <a:blipFill>
                <a:blip r:embed="rId2"/>
                <a:stretch>
                  <a:fillRect l="-619" t="-1281" r="-957"/>
                </a:stretch>
              </a:blipFill>
            </p:spPr>
            <p:txBody>
              <a:bodyPr/>
              <a:lstStyle/>
              <a:p>
                <a:r>
                  <a:rPr lang="en-IN">
                    <a:noFill/>
                  </a:rPr>
                  <a:t> </a:t>
                </a:r>
              </a:p>
            </p:txBody>
          </p:sp>
        </mc:Fallback>
      </mc:AlternateContent>
    </p:spTree>
    <p:extLst>
      <p:ext uri="{BB962C8B-B14F-4D97-AF65-F5344CB8AC3E}">
        <p14:creationId xmlns:p14="http://schemas.microsoft.com/office/powerpoint/2010/main" val="37660516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F818840-BD96-4604-8767-6E9E5780D519}"/>
                  </a:ext>
                </a:extLst>
              </p:cNvPr>
              <p:cNvSpPr>
                <a:spLocks noGrp="1"/>
              </p:cNvSpPr>
              <p:nvPr>
                <p:ph idx="1"/>
              </p:nvPr>
            </p:nvSpPr>
            <p:spPr>
              <a:xfrm>
                <a:off x="801978" y="623456"/>
                <a:ext cx="8915400" cy="4932218"/>
              </a:xfrm>
            </p:spPr>
            <p:txBody>
              <a:bodyPr>
                <a:normAutofit/>
              </a:bodyPr>
              <a:lstStyle/>
              <a:p>
                <a:pPr marL="0" indent="0">
                  <a:buNone/>
                </a:pPr>
                <a:r>
                  <a:rPr lang="en-IN" sz="2000" b="1" dirty="0">
                    <a:solidFill>
                      <a:srgbClr val="002060"/>
                    </a:solidFill>
                  </a:rPr>
                  <a:t>EXAMPLE </a:t>
                </a:r>
              </a:p>
              <a:p>
                <a:pPr marL="0" indent="0">
                  <a:buNone/>
                </a:pPr>
                <a:r>
                  <a:rPr lang="en-IN" sz="2000" b="1" dirty="0"/>
                  <a:t>Data from 93 cars on sale in the USA in 1993.</a:t>
                </a:r>
              </a:p>
              <a:p>
                <a:pPr marL="0" indent="0">
                  <a:buNone/>
                </a:pPr>
                <a:r>
                  <a:rPr lang="en-IN" sz="2000" b="1" dirty="0"/>
                  <a:t>Detection of heteroscedasticity . </a:t>
                </a:r>
              </a:p>
              <a:p>
                <a:pPr marL="0" indent="0">
                  <a:buNone/>
                </a:pPr>
                <a:r>
                  <a:rPr lang="en-IN" sz="2000" b="1" dirty="0"/>
                  <a:t>Y= price of car ( dependent variable)</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𝟏</m:t>
                        </m:r>
                      </m:sub>
                    </m:sSub>
                  </m:oMath>
                </a14:m>
                <a:r>
                  <a:rPr lang="en-IN" sz="2000" b="1" dirty="0"/>
                  <a:t>= length of the car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𝟐</m:t>
                        </m:r>
                        <m:r>
                          <a:rPr lang="en-IN" sz="2000" b="1" i="1" smtClean="0">
                            <a:latin typeface="Cambria Math" panose="02040503050406030204" pitchFamily="18" charset="0"/>
                          </a:rPr>
                          <m:t>  </m:t>
                        </m:r>
                      </m:sub>
                    </m:sSub>
                  </m:oMath>
                </a14:m>
                <a:r>
                  <a:rPr lang="en-IN" sz="2000" b="1" dirty="0"/>
                  <a:t>= </a:t>
                </a:r>
                <a:r>
                  <a:rPr lang="en-IN" sz="2000" b="1" dirty="0" err="1"/>
                  <a:t>Passangers</a:t>
                </a:r>
                <a:r>
                  <a:rPr lang="en-IN" sz="2000" b="1" dirty="0"/>
                  <a:t>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𝟑</m:t>
                        </m:r>
                      </m:sub>
                    </m:sSub>
                  </m:oMath>
                </a14:m>
                <a:r>
                  <a:rPr lang="en-IN" sz="2000" b="1" dirty="0"/>
                  <a:t>= weight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𝟒</m:t>
                        </m:r>
                      </m:sub>
                    </m:sSub>
                  </m:oMath>
                </a14:m>
                <a:r>
                  <a:rPr lang="en-IN" sz="2000" b="1" dirty="0"/>
                  <a:t>= </a:t>
                </a:r>
                <a:r>
                  <a:rPr lang="en-IN" sz="2000" b="1" dirty="0" err="1"/>
                  <a:t>fuel.tank</a:t>
                </a:r>
                <a:r>
                  <a:rPr lang="en-IN" sz="2000" b="1" dirty="0"/>
                  <a:t> capacity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𝟓</m:t>
                        </m:r>
                      </m:sub>
                    </m:sSub>
                  </m:oMath>
                </a14:m>
                <a:r>
                  <a:rPr lang="en-IN" sz="2000" b="1" dirty="0"/>
                  <a:t>= </a:t>
                </a:r>
                <a:r>
                  <a:rPr lang="en-IN" sz="2000" b="1" dirty="0" err="1"/>
                  <a:t>MPG.city</a:t>
                </a:r>
                <a:r>
                  <a:rPr lang="en-IN" sz="2000" b="1" dirty="0"/>
                  <a:t>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𝟔</m:t>
                        </m:r>
                      </m:sub>
                    </m:sSub>
                  </m:oMath>
                </a14:m>
                <a:r>
                  <a:rPr lang="en-IN" sz="2000" b="1" dirty="0"/>
                  <a:t>= Horsepower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𝟕</m:t>
                        </m:r>
                      </m:sub>
                    </m:sSub>
                  </m:oMath>
                </a14:m>
                <a:r>
                  <a:rPr lang="en-IN" sz="2000" b="1" dirty="0"/>
                  <a:t>= Airbags </a:t>
                </a:r>
              </a:p>
              <a:p>
                <a:pPr marL="0" indent="0">
                  <a:buNone/>
                </a:pPr>
                <a14:m>
                  <m:oMath xmlns:m="http://schemas.openxmlformats.org/officeDocument/2006/math">
                    <m:sSub>
                      <m:sSubPr>
                        <m:ctrlPr>
                          <a:rPr lang="en-IN" sz="2000" b="1" i="1" smtClean="0">
                            <a:latin typeface="Cambria Math" panose="02040503050406030204" pitchFamily="18" charset="0"/>
                          </a:rPr>
                        </m:ctrlPr>
                      </m:sSubPr>
                      <m:e>
                        <m:r>
                          <a:rPr lang="en-IN" sz="2000" b="1" i="1" smtClean="0">
                            <a:latin typeface="Cambria Math" panose="02040503050406030204" pitchFamily="18" charset="0"/>
                          </a:rPr>
                          <m:t>𝑿</m:t>
                        </m:r>
                      </m:e>
                      <m:sub>
                        <m:r>
                          <a:rPr lang="en-IN" sz="2000" b="1" i="1" smtClean="0">
                            <a:latin typeface="Cambria Math" panose="02040503050406030204" pitchFamily="18" charset="0"/>
                          </a:rPr>
                          <m:t>𝟖</m:t>
                        </m:r>
                      </m:sub>
                    </m:sSub>
                  </m:oMath>
                </a14:m>
                <a:r>
                  <a:rPr lang="en-IN" sz="2000" b="1" dirty="0"/>
                  <a:t>= wheel base </a:t>
                </a:r>
              </a:p>
              <a:p>
                <a:endParaRPr lang="en-IN" dirty="0"/>
              </a:p>
            </p:txBody>
          </p:sp>
        </mc:Choice>
        <mc:Fallback xmlns="">
          <p:sp>
            <p:nvSpPr>
              <p:cNvPr id="3" name="Content Placeholder 2">
                <a:extLst>
                  <a:ext uri="{FF2B5EF4-FFF2-40B4-BE49-F238E27FC236}">
                    <a16:creationId xmlns:a16="http://schemas.microsoft.com/office/drawing/2014/main" id="{3F818840-BD96-4604-8767-6E9E5780D519}"/>
                  </a:ext>
                </a:extLst>
              </p:cNvPr>
              <p:cNvSpPr>
                <a:spLocks noGrp="1" noRot="1" noChangeAspect="1" noMove="1" noResize="1" noEditPoints="1" noAdjustHandles="1" noChangeArrowheads="1" noChangeShapeType="1" noTextEdit="1"/>
              </p:cNvSpPr>
              <p:nvPr>
                <p:ph idx="1"/>
              </p:nvPr>
            </p:nvSpPr>
            <p:spPr>
              <a:xfrm>
                <a:off x="801978" y="623456"/>
                <a:ext cx="8915400" cy="4932218"/>
              </a:xfrm>
              <a:blipFill>
                <a:blip r:embed="rId2"/>
                <a:stretch>
                  <a:fillRect l="-752" t="-1236"/>
                </a:stretch>
              </a:blipFill>
            </p:spPr>
            <p:txBody>
              <a:bodyPr/>
              <a:lstStyle/>
              <a:p>
                <a:r>
                  <a:rPr lang="en-IN">
                    <a:noFill/>
                  </a:rPr>
                  <a:t> </a:t>
                </a:r>
              </a:p>
            </p:txBody>
          </p:sp>
        </mc:Fallback>
      </mc:AlternateContent>
    </p:spTree>
    <p:extLst>
      <p:ext uri="{BB962C8B-B14F-4D97-AF65-F5344CB8AC3E}">
        <p14:creationId xmlns:p14="http://schemas.microsoft.com/office/powerpoint/2010/main" val="8062980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TotalTime>
  <Words>818</Words>
  <Application>Microsoft Office PowerPoint</Application>
  <PresentationFormat>Widescreen</PresentationFormat>
  <Paragraphs>191</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                                                                                                                                                                                                                  HETEROSCEDASTICITY                                                                                Presented by                                                                              Reshma shah                                                                            Msc previous  </vt:lpstr>
      <vt:lpstr>INTRODUCTION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HETEROSCEDASTICITY   The word “Heteroscedasticity” comes from Greek , quite literally mean data different (Hetro) dispersion( skedasis )  More technically , it refers to data with unequal variability. An important assumption of CLRM( classical linear regression model ) that the disturbance  ui’s  are homoscedastic means they all have same variance. And if this assumption is not fullfill then there is  Heteroscedasticity present in data.</dc:title>
  <dc:creator>reshu</dc:creator>
  <cp:lastModifiedBy>reshu</cp:lastModifiedBy>
  <cp:revision>27</cp:revision>
  <dcterms:created xsi:type="dcterms:W3CDTF">2019-09-27T06:23:35Z</dcterms:created>
  <dcterms:modified xsi:type="dcterms:W3CDTF">2019-09-27T16:44:20Z</dcterms:modified>
</cp:coreProperties>
</file>