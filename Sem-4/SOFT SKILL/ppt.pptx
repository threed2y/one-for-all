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ts val="32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965B-87A4-4F43-BE02-800BCCDF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 anchor="ctr" anchorCtr="0"/>
          <a:lstStyle/>
          <a:p>
            <a:fld id="{403CB87E-4591-47A1-9046-CF63F17215EF}" type="datetime2">
              <a:rPr lang="en-US" smtClean="0"/>
              <a:t>Thursday, December 30,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35B-CBF1-40D9-BAA7-CF9E1E22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7328" y="6217920"/>
            <a:ext cx="7196328" cy="640080"/>
          </a:xfrm>
        </p:spPr>
        <p:txBody>
          <a:bodyPr anchor="ctr" anchorCtr="0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653A-450D-4BDE-8718-99F2D931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>
            <a:lvl1pPr algn="ctr">
              <a:defRPr/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825625"/>
            <a:ext cx="10543031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A7D4-E57E-4789-896B-B2A051BF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3DE70B-B772-416E-A790-995760B1742E}" type="datetime2">
              <a:rPr lang="en-US" smtClean="0"/>
              <a:t>Thursday, December 30,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63EE-3B35-4F8A-BDA3-E778BFE1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9EF2-7937-4C30-A883-7F7BD028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748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43032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43032" cy="1500187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E2B4-314C-4D4F-8938-E437A2E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0CDE-A6F1-4138-AF12-ED09E8E5FB6B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2F23-6986-4A36-97F0-13F305A2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BA1B9-2423-42BD-A553-DC5703F6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9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599176" cy="4206382"/>
          </a:xfrm>
        </p:spPr>
        <p:txBody>
          <a:bodyPr/>
          <a:lstStyle>
            <a:lvl1pPr marL="457200" indent="-457200">
              <a:buFont typeface="Wingdings 2" panose="05020102010507070707" pitchFamily="18" charset="2"/>
              <a:buChar char="¬"/>
              <a:defRPr/>
            </a:lvl1pPr>
            <a:lvl2pPr marL="800100" indent="-342900">
              <a:buFont typeface="Wingdings 2" panose="05020102010507070707" pitchFamily="18" charset="2"/>
              <a:buChar char="¬"/>
              <a:defRPr/>
            </a:lvl2pPr>
            <a:lvl3pPr marL="1257300" indent="-342900">
              <a:buFont typeface="Wingdings 2" panose="05020102010507070707" pitchFamily="18" charset="2"/>
              <a:buChar char="¬"/>
              <a:defRPr/>
            </a:lvl3pPr>
            <a:lvl4pPr marL="1657350" indent="-285750">
              <a:buFont typeface="Wingdings 2" panose="05020102010507070707" pitchFamily="18" charset="2"/>
              <a:buChar char="¬"/>
              <a:defRPr/>
            </a:lvl4pPr>
            <a:lvl5pPr marL="2114550" indent="-28575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9145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1B49-6AAA-4DA7-970F-B75899F1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F8B1-DB7B-4D28-A97D-40FB2DD1EF78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649A-B9A2-4737-B47E-758DC14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C1407-C705-451C-878E-8175DCCD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5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681163"/>
            <a:ext cx="554969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624" y="2505075"/>
            <a:ext cx="554969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70321" y="1681163"/>
            <a:ext cx="499333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0321" y="2505075"/>
            <a:ext cx="4993335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298F3-0AEC-4811-99A4-B78AE3A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14039161-23B8-4738-9069-73EBE8884FDD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690B4-8A9A-4717-8B0B-2C921292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8F00A-44BE-4E0A-B1CE-1FC4896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3A871-5A76-4349-99F0-C46C7738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4D44-7693-499F-AC6C-11696134FE3F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2E803-8BD9-40A2-8389-C19DA114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414ED-B772-4B84-813E-E34C9A9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7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62BDD-CBFF-4046-A6B2-A9ECCB7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F2AE-472C-4EF3-ABB2-24BAA9AE3CF7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B5F6-6C28-4A86-AFD0-D7F93D46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0D5C-1634-451B-8D99-4D47EB3A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43032" cy="1600200"/>
          </a:xfrm>
        </p:spPr>
        <p:txBody>
          <a:bodyPr anchor="b">
            <a:no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199340"/>
            <a:ext cx="5780468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4813E-250B-4422-AE46-5E1AB964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EAEA162C-A7C1-4263-9453-1BAFF8C39559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5B81-E9CC-45F3-8EF1-35D2C8FF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A7E97-5A73-4602-9582-6CDACB91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8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4489180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6305-9768-4792-866C-91238D45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64DF6793-3458-4587-8168-65F0C37A92D2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F050-0FF1-499F-936E-FAAE50DC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2C2E-1542-46B4-85B1-7A4B3F77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7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8191-8A0C-4077-9A2D-0255BF81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17F0E-8070-4DFE-A821-9A699EDBAD7E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1B40-57AC-45F3-9AAC-DC2BEBB1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D65F4-29FA-451A-878F-768E426A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6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41D6-1E1A-4A54-A9B4-57F86865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34AE-C7BF-46E5-A968-01C6641F6476}" type="datetime2">
              <a:rPr lang="en-US" smtClean="0"/>
              <a:t>Thursday, December 30,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41D6-4702-4421-AEB2-D6CA3AAD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9F43-CD60-4C38-94C9-0E6D3B7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6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86836B-C327-49CB-ADF2-2E730C4A91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10F61-136C-42B3-981B-FDE3DD0A8135}"/>
              </a:ext>
            </a:extLst>
          </p:cNvPr>
          <p:cNvSpPr/>
          <p:nvPr/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430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E8352ED3-3C46-4C9A-9738-67B2D875E7E2}" type="datetime2">
              <a:rPr lang="en-US" smtClean="0"/>
              <a:pPr/>
              <a:t>Thursday, December 30,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64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xlstat.com/en/products-solutions/feature/linear-regressio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tfeature.com/glossary/varianc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tfeature.com/glossary/varian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955B3A-C08D-43E6-ABEF-A4F616FB6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9694A-8B4E-4127-9C08-9B8F39B6F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36E6B-D7EF-409B-B48D-1628C06E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8FA46-C7D9-4BD9-A1DE-0CC6CB27D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017" y="3758847"/>
            <a:ext cx="9875518" cy="1040726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C7654-5BEE-4E8C-B313-41097AA0A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2831" y="4729327"/>
            <a:ext cx="7068456" cy="1513119"/>
          </a:xfrm>
        </p:spPr>
        <p:txBody>
          <a:bodyPr anchor="t">
            <a:normAutofit/>
          </a:bodyPr>
          <a:lstStyle/>
          <a:p>
            <a:pPr algn="l"/>
            <a:r>
              <a:rPr lang="en-IN" b="1" dirty="0">
                <a:solidFill>
                  <a:schemeClr val="tx1"/>
                </a:solidFill>
              </a:rPr>
              <a:t>PRESENTED BY </a:t>
            </a:r>
            <a:r>
              <a:rPr lang="en-IN" dirty="0"/>
              <a:t>: </a:t>
            </a:r>
            <a:r>
              <a:rPr lang="en-IN" dirty="0">
                <a:solidFill>
                  <a:schemeClr val="tx1"/>
                </a:solidFill>
              </a:rPr>
              <a:t>RICHA , VISHVA PATEL , MAHEK , DHRUVI ,YASHODEEP , MOHAMMAD SAEED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D2053-BB10-4615-A38D-86EEC0D8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422144" cy="3599020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 descr="Top view of a wooden desk with a white keyboard, drawing plan and drawing compass, and pens.">
            <a:extLst>
              <a:ext uri="{FF2B5EF4-FFF2-40B4-BE49-F238E27FC236}">
                <a16:creationId xmlns:a16="http://schemas.microsoft.com/office/drawing/2014/main" id="{1AE3D9AE-6330-4ED6-9839-659ECF9E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51348"/>
          <a:stretch/>
        </p:blipFill>
        <p:spPr>
          <a:xfrm>
            <a:off x="422145" y="10"/>
            <a:ext cx="11082529" cy="35990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2CC60F-C99A-48C5-856F-3C79856E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2ED1C-4B10-41E7-9BF6-7447B99B9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60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16D1-8761-4091-A33E-0261B996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45CC-12BA-4284-A98E-436D66A2B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27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5A66-7601-4FAE-8FE0-B105240D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23557"/>
            <a:ext cx="10543032" cy="1338995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chemeClr val="tx1"/>
                </a:solidFill>
              </a:rPr>
              <a:t>Multicollinearity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8AC83-250D-4FB6-8F11-A672A3DA7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825625"/>
            <a:ext cx="10543031" cy="229620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Multicollinearity is a statistical concept where independent variables in a model are </a:t>
            </a:r>
            <a:r>
              <a:rPr lang="en-IN" dirty="0" err="1">
                <a:solidFill>
                  <a:schemeClr val="tx1"/>
                </a:solidFill>
              </a:rPr>
              <a:t>correlated.Multicollinearity</a:t>
            </a:r>
            <a:r>
              <a:rPr lang="en-IN" dirty="0">
                <a:solidFill>
                  <a:schemeClr val="tx1"/>
                </a:solidFill>
              </a:rPr>
              <a:t> among independent variables will result in less reliable statistical </a:t>
            </a:r>
            <a:r>
              <a:rPr lang="en-IN" dirty="0" err="1">
                <a:solidFill>
                  <a:schemeClr val="tx1"/>
                </a:solidFill>
              </a:rPr>
              <a:t>inferences.It</a:t>
            </a:r>
            <a:r>
              <a:rPr lang="en-IN" dirty="0">
                <a:solidFill>
                  <a:schemeClr val="tx1"/>
                </a:solidFill>
              </a:rPr>
              <a:t> is better to use independent variables that are not correlated or repetitive when building multiple regression models that use two or more variables.</a:t>
            </a:r>
          </a:p>
        </p:txBody>
      </p:sp>
    </p:spTree>
    <p:extLst>
      <p:ext uri="{BB962C8B-B14F-4D97-AF65-F5344CB8AC3E}">
        <p14:creationId xmlns:p14="http://schemas.microsoft.com/office/powerpoint/2010/main" val="164354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4449-42CD-460A-9258-86AB0C72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0A1B-6821-4BAB-AE7F-3FDAFEFE5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Ordinary Least Squares regression</a:t>
            </a:r>
            <a:r>
              <a:rPr lang="en-IN" b="0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 (</a:t>
            </a:r>
            <a:r>
              <a:rPr lang="en-IN" b="1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OLS</a:t>
            </a:r>
            <a:r>
              <a:rPr lang="en-IN" b="0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) is a common technique for estimating coefficients of </a:t>
            </a:r>
            <a:r>
              <a:rPr lang="en-IN" b="0" i="0" u="none" strike="noStrike" dirty="0">
                <a:solidFill>
                  <a:srgbClr val="C9510D"/>
                </a:solidFill>
                <a:effectLst/>
                <a:latin typeface="Poppins" panose="020B0502040204020203" pitchFamily="2" charset="0"/>
                <a:hlinkClick r:id="rId2"/>
              </a:rPr>
              <a:t>linear regression</a:t>
            </a:r>
            <a:r>
              <a:rPr lang="en-IN" b="0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 equations which describe the relationship between one or more independent variables and a dependent variable (simple or multiple linear regression). </a:t>
            </a:r>
            <a:r>
              <a:rPr lang="en-IN" b="1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Least squares</a:t>
            </a:r>
            <a:r>
              <a:rPr lang="en-IN" b="0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 stands for the minimum </a:t>
            </a:r>
            <a:r>
              <a:rPr lang="en-IN" b="1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squares error (SSE)</a:t>
            </a:r>
            <a:r>
              <a:rPr lang="en-IN" b="0" i="0" dirty="0">
                <a:solidFill>
                  <a:srgbClr val="6C757D"/>
                </a:solidFill>
                <a:effectLst/>
                <a:latin typeface="Poppins" panose="020B0502040204020203" pitchFamily="2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35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2899-BC1D-4AFF-8F38-86690327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89" y="154109"/>
            <a:ext cx="10543032" cy="1325563"/>
          </a:xfrm>
        </p:spPr>
        <p:txBody>
          <a:bodyPr>
            <a:normAutofit/>
          </a:bodyPr>
          <a:lstStyle/>
          <a:p>
            <a:r>
              <a:rPr lang="en-IN" sz="5400" b="1" dirty="0"/>
              <a:t>HOMOSCEDASTICITY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1C425B4-10AC-49EF-9282-9E14599955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0793" y="1799440"/>
            <a:ext cx="11030414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An important assumption of OLS is that the disturbances 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μ</a:t>
            </a:r>
            <a:r>
              <a:rPr kumimoji="0" lang="en-US" altLang="en-US" sz="1600" b="0" i="1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 appearing in the population regression function are homoscedastic (Error term have the same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  <a:hlinkClick r:id="rId2"/>
              </a:rPr>
              <a:t>variance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).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i.e. 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  <a:hlinkClick r:id="rId2"/>
              </a:rPr>
              <a:t>variance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 of each disturbance term 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μ</a:t>
            </a:r>
            <a:r>
              <a:rPr kumimoji="0" lang="en-US" altLang="en-US" sz="1600" b="0" i="1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, conditional on the chosen values of explanatory variables is some constant number equal to σ</a:t>
            </a:r>
            <a:r>
              <a:rPr kumimoji="0" lang="en-US" altLang="en-US" sz="2800" b="0" i="0" u="non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. E(μi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)=σ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; where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=1,2,⋯,n.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Homo means equal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scedasticity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means spread.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48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C1628-F646-4B7B-9340-02D3F00C2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336431"/>
            <a:ext cx="10543031" cy="4695577"/>
          </a:xfrm>
        </p:spPr>
        <p:txBody>
          <a:bodyPr/>
          <a:lstStyle/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Consider the general linear regression model</a:t>
            </a:r>
            <a:b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</a:br>
            <a:r>
              <a:rPr lang="en-IN" sz="2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y</a:t>
            </a:r>
            <a:r>
              <a:rPr lang="en-IN" sz="2800" b="0" i="0" baseline="-2500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=β</a:t>
            </a:r>
            <a:r>
              <a:rPr lang="en-IN" sz="2800" b="0" i="0" baseline="-25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1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+β</a:t>
            </a:r>
            <a:r>
              <a:rPr lang="en-IN" sz="2800" b="0" i="0" baseline="-25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en-IN" sz="2800" b="0" i="0" baseline="-25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2i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+β</a:t>
            </a:r>
            <a:r>
              <a:rPr lang="en-IN" sz="2800" b="0" i="0" baseline="-25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3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en-IN" sz="2800" b="0" i="0" baseline="-25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3i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+⋯+β</a:t>
            </a:r>
            <a:r>
              <a:rPr lang="en-IN" sz="2800" b="0" i="0" baseline="-2500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en-IN" sz="2800" b="0" i="0" baseline="-2500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ki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+ε</a:t>
            </a:r>
            <a:endParaRPr lang="en-IN" sz="2800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If E(εi</a:t>
            </a:r>
            <a:r>
              <a:rPr lang="en-IN" sz="2800" b="0" i="0" baseline="30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)=σ</a:t>
            </a:r>
            <a:r>
              <a:rPr lang="en-IN" sz="2800" b="0" i="0" baseline="30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for all 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=1,2,⋯,n then the assumption of constant 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hlinkClick r:id="rId2"/>
              </a:rPr>
              <a:t>variance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of the error term or 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homoscedasticity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is satisfied.</a:t>
            </a:r>
          </a:p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If E(εi</a:t>
            </a:r>
            <a:r>
              <a:rPr lang="en-IN" sz="2800" b="0" i="0" baseline="30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)≠σ</a:t>
            </a:r>
            <a:r>
              <a:rPr lang="en-IN" sz="2800" b="0" i="0" baseline="3000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then assumption of homoscedasticity is violated and 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heteroscedasticity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is said to be present.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378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Facet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Dante">
      <a:majorFont>
        <a:latin typeface="Univers Light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</TotalTime>
  <Words>274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Dante (Headings)2</vt:lpstr>
      <vt:lpstr>Helvetica Neue Medium</vt:lpstr>
      <vt:lpstr>Open Sans</vt:lpstr>
      <vt:lpstr>Poppins</vt:lpstr>
      <vt:lpstr>Times New Roman</vt:lpstr>
      <vt:lpstr>Univers</vt:lpstr>
      <vt:lpstr>Univers Light</vt:lpstr>
      <vt:lpstr>Wingdings 2</vt:lpstr>
      <vt:lpstr>OffsetVTI</vt:lpstr>
      <vt:lpstr>    STATISTICAL CONCEPTS</vt:lpstr>
      <vt:lpstr>CONTENTS</vt:lpstr>
      <vt:lpstr>Multicollinearity</vt:lpstr>
      <vt:lpstr>PowerPoint Presentation</vt:lpstr>
      <vt:lpstr>HOMOSCEDASTICITY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STATISTICAL CONCEPTS</dc:title>
  <dc:creator>Kandarp Kirit Patel</dc:creator>
  <cp:lastModifiedBy>Kandarp Kirit Patel</cp:lastModifiedBy>
  <cp:revision>5</cp:revision>
  <dcterms:created xsi:type="dcterms:W3CDTF">2021-12-30T12:58:47Z</dcterms:created>
  <dcterms:modified xsi:type="dcterms:W3CDTF">2021-12-30T17:53:21Z</dcterms:modified>
</cp:coreProperties>
</file>